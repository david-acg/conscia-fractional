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4pzlRBPrDqxRXM5jXbgv4kRwe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4D99D2-26C0-4E69-9BA2-07DF6A91B270}">
  <a:tblStyle styleId="{0D4D99D2-26C0-4E69-9BA2-07DF6A91B27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 name="Google Shape;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 name="Google Shape;7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400"/>
              <a:t>Semantic</a:t>
            </a:r>
            <a:r>
              <a:rPr lang="en-US" sz="1400"/>
              <a:t> here means "based on meaning and relationships" rather than "based on rows and columns". </a:t>
            </a:r>
            <a:endParaRPr/>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rPr lang="en-US" sz="1400"/>
              <a:t>A traditional product database stores facts: SKU 12345 has fabric "Charcoal Chenille", price $199, weight 14 lbs. </a:t>
            </a:r>
            <a:endParaRPr/>
          </a:p>
          <a:p>
            <a:pPr indent="0" lvl="0" marL="0" rtl="0" algn="l">
              <a:lnSpc>
                <a:spcPct val="100000"/>
              </a:lnSpc>
              <a:spcBef>
                <a:spcPts val="0"/>
              </a:spcBef>
              <a:spcAft>
                <a:spcPts val="0"/>
              </a:spcAft>
              <a:buSzPts val="1400"/>
              <a:buNone/>
            </a:pPr>
            <a:r>
              <a:t/>
            </a:r>
            <a:endParaRPr sz="1400"/>
          </a:p>
          <a:p>
            <a:pPr indent="0" lvl="0" marL="0" rtl="0" algn="l">
              <a:lnSpc>
                <a:spcPct val="100000"/>
              </a:lnSpc>
              <a:spcBef>
                <a:spcPts val="0"/>
              </a:spcBef>
              <a:spcAft>
                <a:spcPts val="0"/>
              </a:spcAft>
              <a:buSzPts val="1400"/>
              <a:buNone/>
            </a:pPr>
            <a:r>
              <a:rPr lang="en-US" sz="1400"/>
              <a:t>A semantic model stores facts </a:t>
            </a:r>
            <a:r>
              <a:rPr i="1" lang="en-US" sz="1400"/>
              <a:t>plus</a:t>
            </a:r>
            <a:r>
              <a:rPr lang="en-US" sz="1400"/>
              <a:t> the meaningful connections between them: SKU 12345 </a:t>
            </a:r>
            <a:r>
              <a:rPr i="1" lang="en-US" sz="1400"/>
              <a:t>is a</a:t>
            </a:r>
            <a:r>
              <a:rPr lang="en-US" sz="1400"/>
              <a:t> Cover, </a:t>
            </a:r>
            <a:r>
              <a:rPr i="1" lang="en-US" sz="1400"/>
              <a:t>belongs to</a:t>
            </a:r>
            <a:r>
              <a:rPr lang="en-US" sz="1400"/>
              <a:t> the 6 Series, </a:t>
            </a:r>
            <a:r>
              <a:rPr i="1" lang="en-US" sz="1400"/>
              <a:t>is compatible with</a:t>
            </a:r>
            <a:r>
              <a:rPr lang="en-US" sz="1400"/>
              <a:t> these 47 Inserts, </a:t>
            </a:r>
            <a:r>
              <a:rPr i="1" lang="en-US" sz="1400"/>
              <a:t>is part of</a:t>
            </a:r>
            <a:r>
              <a:rPr lang="en-US" sz="1400"/>
              <a:t> these 12 finished-good Bundles, </a:t>
            </a:r>
            <a:r>
              <a:rPr i="1" lang="en-US" sz="1400"/>
              <a:t>maps to</a:t>
            </a:r>
            <a:r>
              <a:rPr lang="en-US" sz="1400"/>
              <a:t> "Living Room &gt; Sofas &gt; Sectionals" in the Lovesac.com taxonomy and "Home &amp; Garden &gt; Furniture &gt; Sofas" in the Google Shopping taxonomy. The relationships are first-class citizens, not joins you have to figure out at query time.</a:t>
            </a:r>
            <a:endParaRPr sz="1400"/>
          </a:p>
        </p:txBody>
      </p:sp>
      <p:sp>
        <p:nvSpPr>
          <p:cNvPr id="175" name="Google Shape;17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Laurel or Sana</a:t>
            </a:r>
            <a:endParaRPr/>
          </a:p>
        </p:txBody>
      </p:sp>
      <p:sp>
        <p:nvSpPr>
          <p:cNvPr id="275" name="Google Shape;275;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Laurel </a:t>
            </a:r>
            <a:endParaRPr/>
          </a:p>
        </p:txBody>
      </p:sp>
      <p:sp>
        <p:nvSpPr>
          <p:cNvPr id="355" name="Google Shape;35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Laurel</a:t>
            </a:r>
            <a:endParaRPr/>
          </a:p>
        </p:txBody>
      </p:sp>
      <p:sp>
        <p:nvSpPr>
          <p:cNvPr id="374" name="Google Shape;37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0" name="Google Shape;530;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7" name="Google Shape;57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8" name="Google Shape;57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32:notes"/>
          <p:cNvSpPr txBox="1"/>
          <p:nvPr>
            <p:ph idx="1" type="body"/>
          </p:nvPr>
        </p:nvSpPr>
        <p:spPr>
          <a:xfrm>
            <a:off x="685800" y="4525963"/>
            <a:ext cx="5486400" cy="3600963"/>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sz="1200"/>
              <a:t>SPEAKER NOTES — Threekit &amp; Conscia: Different Jobs, Different Tools</a:t>
            </a:r>
            <a:endParaRPr/>
          </a:p>
          <a:p>
            <a:pPr indent="-228600" lvl="0" marL="457200" marR="0" rtl="0" algn="l">
              <a:lnSpc>
                <a:spcPct val="100000"/>
              </a:lnSpc>
              <a:spcBef>
                <a:spcPts val="0"/>
              </a:spcBef>
              <a:spcAft>
                <a:spcPts val="0"/>
              </a:spcAft>
              <a:buSzPts val="1400"/>
              <a:buNone/>
            </a:pPr>
            <a:r>
              <a:rPr lang="en-US" sz="1200"/>
              <a:t> </a:t>
            </a:r>
            <a:endParaRPr/>
          </a:p>
          <a:p>
            <a:pPr indent="-228600" lvl="0" marL="457200" marR="0" rtl="0" algn="l">
              <a:lnSpc>
                <a:spcPct val="100000"/>
              </a:lnSpc>
              <a:spcBef>
                <a:spcPts val="0"/>
              </a:spcBef>
              <a:spcAft>
                <a:spcPts val="0"/>
              </a:spcAft>
              <a:buSzPts val="1400"/>
              <a:buNone/>
            </a:pPr>
            <a:r>
              <a:rPr lang="en-US" sz="1200"/>
              <a:t>The goal is to reframe the conversation: Threekit is not being replaced — it is being enhanced. Conscia sits above it and reads from it.</a:t>
            </a:r>
            <a:endParaRPr/>
          </a:p>
          <a:p>
            <a:pPr indent="-228600" lvl="0" marL="457200" marR="0" rtl="0" algn="l">
              <a:lnSpc>
                <a:spcPct val="100000"/>
              </a:lnSpc>
              <a:spcBef>
                <a:spcPts val="0"/>
              </a:spcBef>
              <a:spcAft>
                <a:spcPts val="0"/>
              </a:spcAft>
              <a:buSzPts val="1400"/>
              <a:buNone/>
            </a:pPr>
            <a:r>
              <a:rPr lang="en-US" sz="1200"/>
              <a:t> </a:t>
            </a:r>
            <a:endParaRPr/>
          </a:p>
          <a:p>
            <a:pPr indent="-228600" lvl="0" marL="457200" marR="0" rtl="0" algn="l">
              <a:lnSpc>
                <a:spcPct val="100000"/>
              </a:lnSpc>
              <a:spcBef>
                <a:spcPts val="0"/>
              </a:spcBef>
              <a:spcAft>
                <a:spcPts val="0"/>
              </a:spcAft>
              <a:buSzPts val="1400"/>
              <a:buNone/>
            </a:pPr>
            <a:r>
              <a:rPr lang="en-US" sz="1200"/>
              <a:t>Key points:</a:t>
            </a:r>
            <a:endParaRPr/>
          </a:p>
          <a:p>
            <a:pPr indent="-228600" lvl="0" marL="457200" marR="0" rtl="0" algn="l">
              <a:lnSpc>
                <a:spcPct val="100000"/>
              </a:lnSpc>
              <a:spcBef>
                <a:spcPts val="0"/>
              </a:spcBef>
              <a:spcAft>
                <a:spcPts val="0"/>
              </a:spcAft>
              <a:buSzPts val="1400"/>
              <a:buNone/>
            </a:pPr>
            <a:r>
              <a:rPr lang="en-US" sz="1200"/>
              <a:t>• Threekit was built to solve a hard visual problem. The constraint is a scoping decision, not a product flaw — Threekit is a renderer, not an integration layer.</a:t>
            </a:r>
            <a:endParaRPr/>
          </a:p>
          <a:p>
            <a:pPr indent="-228600" lvl="0" marL="457200" marR="0" rtl="0" algn="l">
              <a:lnSpc>
                <a:spcPct val="100000"/>
              </a:lnSpc>
              <a:spcBef>
                <a:spcPts val="0"/>
              </a:spcBef>
              <a:spcAft>
                <a:spcPts val="0"/>
              </a:spcAft>
              <a:buSzPts val="1400"/>
              <a:buNone/>
            </a:pPr>
            <a:r>
              <a:rPr lang="en-US" sz="1200"/>
              <a:t>• Conscia is the integration layer. The two products are designed for different layers of the stack and are genuinely complementary.</a:t>
            </a:r>
            <a:endParaRPr/>
          </a:p>
          <a:p>
            <a:pPr indent="-228600" lvl="0" marL="457200" marR="0" rtl="0" algn="l">
              <a:lnSpc>
                <a:spcPct val="100000"/>
              </a:lnSpc>
              <a:spcBef>
                <a:spcPts val="0"/>
              </a:spcBef>
              <a:spcAft>
                <a:spcPts val="0"/>
              </a:spcAft>
              <a:buSzPts val="1400"/>
              <a:buNone/>
            </a:pPr>
            <a:r>
              <a:rPr lang="en-US" sz="1200"/>
              <a:t>• Phase 1 preserves Threekit as the configurator. Conscia ingests from it — it does not replace it.</a:t>
            </a:r>
            <a:endParaRPr/>
          </a:p>
          <a:p>
            <a:pPr indent="-228600" lvl="0" marL="457200" marR="0" rtl="0" algn="l">
              <a:lnSpc>
                <a:spcPct val="100000"/>
              </a:lnSpc>
              <a:spcBef>
                <a:spcPts val="0"/>
              </a:spcBef>
              <a:spcAft>
                <a:spcPts val="0"/>
              </a:spcAft>
              <a:buSzPts val="1400"/>
              <a:buNone/>
            </a:pPr>
            <a:r>
              <a:rPr lang="en-US" sz="1200"/>
              <a:t>• Adding Conscia reduces integration burden: every new channel uses the same Experience API rather than building a new Threekit connector.</a:t>
            </a:r>
            <a:endParaRPr/>
          </a:p>
          <a:p>
            <a:pPr indent="-228600" lvl="0" marL="457200" marR="0" rtl="0" algn="l">
              <a:lnSpc>
                <a:spcPct val="100000"/>
              </a:lnSpc>
              <a:spcBef>
                <a:spcPts val="0"/>
              </a:spcBef>
              <a:spcAft>
                <a:spcPts val="0"/>
              </a:spcAft>
              <a:buSzPts val="1400"/>
              <a:buNone/>
            </a:pPr>
            <a:r>
              <a:rPr lang="en-US" sz="1200"/>
              <a:t> </a:t>
            </a:r>
            <a:endParaRPr/>
          </a:p>
          <a:p>
            <a:pPr indent="-228600" lvl="0" marL="457200" marR="0" rtl="0" algn="l">
              <a:lnSpc>
                <a:spcPct val="100000"/>
              </a:lnSpc>
              <a:spcBef>
                <a:spcPts val="0"/>
              </a:spcBef>
              <a:spcAft>
                <a:spcPts val="0"/>
              </a:spcAft>
              <a:buSzPts val="1400"/>
              <a:buNone/>
            </a:pPr>
            <a:r>
              <a:rPr lang="en-US" sz="1200"/>
              <a:t>Do not use the word 'limitation' or 'weakness' when referring to Threekit. Frame all differences as design intent.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Lovesac is already a Celigo customer — Kimberly Dietz is publicly quoted endorsing the NetSuite-Magento Integration App. We are not displacing any Celigo flow.</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Celigo is genuinely good at what it does: moving customer records, orders, inventory, fulfilments, and item master data between NetSuite, Magento, Manhattan Active Omni, and Salesforce Retail Cloud.</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What Celigo cannot do — by category, not by quality — is hold a governed semantic model of what a Sactional is, encode component compatibility as queryable graph relationships, or serve a synchronous sub-second Experience API to a POS terminal during checkout.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Those are different categories of problem and they need different categories of tool. The kickoff narrative is additive, not substitutive.</a:t>
            </a:r>
            <a:endParaRPr/>
          </a:p>
        </p:txBody>
      </p:sp>
      <p:sp>
        <p:nvSpPr>
          <p:cNvPr id="670" name="Google Shape;670;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9" name="Google Shape;709;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Pattern B is the real-time read path: POS hits Conscia directly because synchronous sub-second validation is exactly the latency profile iPaaS isn't built for.</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Pattern C is the downstream hand-off — DX Engine does the configuration brain work, but the consumer (Manhattan Active Omni) is reached via an existing Celigo flow rather than building a new direct connection.</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endParaRPr/>
          </a:p>
        </p:txBody>
      </p:sp>
      <p:sp>
        <p:nvSpPr>
          <p:cNvPr id="710" name="Google Shape;710;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F5EDF0"/>
            </a:gs>
          </a:gsLst>
          <a:lin ang="5400012" scaled="0"/>
        </a:gra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14"/>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4"/>
          <p:cNvSpPr/>
          <p:nvPr/>
        </p:nvSpPr>
        <p:spPr>
          <a:xfrm>
            <a:off x="457200" y="6096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4"/>
          <p:cNvSpPr/>
          <p:nvPr/>
        </p:nvSpPr>
        <p:spPr>
          <a:xfrm>
            <a:off x="457200" y="762000"/>
            <a:ext cx="3302000" cy="279400"/>
          </a:xfrm>
          <a:prstGeom prst="roundRect">
            <a:avLst>
              <a:gd fmla="val 50000" name="adj"/>
            </a:avLst>
          </a:prstGeom>
          <a:solidFill>
            <a:srgbClr val="EB1A63"/>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PROJECT KICK-OFF  ·  APRIL 8, 2026</a:t>
            </a:r>
            <a:endParaRPr b="1" i="0" sz="900" u="none" cap="none" strike="noStrike">
              <a:solidFill>
                <a:srgbClr val="FFFFFF"/>
              </a:solidFill>
              <a:latin typeface="Calibri"/>
              <a:ea typeface="Calibri"/>
              <a:cs typeface="Calibri"/>
              <a:sym typeface="Calibri"/>
            </a:endParaRPr>
          </a:p>
        </p:txBody>
      </p:sp>
      <p:sp>
        <p:nvSpPr>
          <p:cNvPr id="19" name="Google Shape;19;p14"/>
          <p:cNvSpPr/>
          <p:nvPr/>
        </p:nvSpPr>
        <p:spPr>
          <a:xfrm>
            <a:off x="457200" y="1270000"/>
            <a:ext cx="8229600" cy="101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200"/>
              <a:buFont typeface="Arial"/>
              <a:buNone/>
            </a:pPr>
            <a:r>
              <a:rPr b="1" i="0" lang="en-US" sz="4200" u="none" cap="none" strike="noStrike">
                <a:solidFill>
                  <a:srgbClr val="111827"/>
                </a:solidFill>
                <a:latin typeface="Calibri"/>
                <a:ea typeface="Calibri"/>
                <a:cs typeface="Calibri"/>
                <a:sym typeface="Calibri"/>
              </a:rPr>
              <a:t>Conscia: Beyond Traditional </a:t>
            </a:r>
            <a:r>
              <a:rPr b="1" i="0" lang="en-US" sz="4200" u="none" cap="none" strike="noStrike">
                <a:solidFill>
                  <a:srgbClr val="EB1A63"/>
                </a:solidFill>
                <a:latin typeface="Calibri"/>
                <a:ea typeface="Calibri"/>
                <a:cs typeface="Calibri"/>
                <a:sym typeface="Calibri"/>
              </a:rPr>
              <a:t>PIM</a:t>
            </a:r>
            <a:endParaRPr b="0" i="0" sz="1400" u="none" cap="none" strike="noStrike">
              <a:solidFill>
                <a:srgbClr val="000000"/>
              </a:solidFill>
              <a:latin typeface="Arial"/>
              <a:ea typeface="Arial"/>
              <a:cs typeface="Arial"/>
              <a:sym typeface="Arial"/>
            </a:endParaRPr>
          </a:p>
        </p:txBody>
      </p:sp>
      <p:sp>
        <p:nvSpPr>
          <p:cNvPr id="20" name="Google Shape;20;p14"/>
          <p:cNvSpPr/>
          <p:nvPr/>
        </p:nvSpPr>
        <p:spPr>
          <a:xfrm>
            <a:off x="457200" y="2476500"/>
            <a:ext cx="5588000" cy="5715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00000"/>
              </a:buClr>
              <a:buSzPts val="1500"/>
              <a:buFont typeface="Arial"/>
              <a:buNone/>
            </a:pPr>
            <a:r>
              <a:rPr b="0" i="0" lang="en-US" sz="1500" u="none" cap="none" strike="noStrike">
                <a:solidFill>
                  <a:srgbClr val="6B7280"/>
                </a:solidFill>
                <a:latin typeface="Calibri"/>
                <a:ea typeface="Calibri"/>
                <a:cs typeface="Calibri"/>
                <a:sym typeface="Calibri"/>
              </a:rPr>
              <a:t>A governed semantic foundation and real-time orchestration engine for complex, configurable commerce</a:t>
            </a:r>
            <a:endParaRPr b="0" i="0" sz="1400" u="none" cap="none" strike="noStrike">
              <a:solidFill>
                <a:srgbClr val="000000"/>
              </a:solidFill>
              <a:latin typeface="Arial"/>
              <a:ea typeface="Arial"/>
              <a:cs typeface="Arial"/>
              <a:sym typeface="Arial"/>
            </a:endParaRPr>
          </a:p>
        </p:txBody>
      </p:sp>
      <p:sp>
        <p:nvSpPr>
          <p:cNvPr id="21" name="Google Shape;21;p14"/>
          <p:cNvSpPr/>
          <p:nvPr/>
        </p:nvSpPr>
        <p:spPr>
          <a:xfrm>
            <a:off x="457200" y="3429000"/>
            <a:ext cx="3810000" cy="279400"/>
          </a:xfrm>
          <a:prstGeom prst="roundRect">
            <a:avLst>
              <a:gd fmla="val 30000" name="adj"/>
            </a:avLst>
          </a:prstGeom>
          <a:solidFill>
            <a:srgbClr val="07BCD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POWERED BY: DX GRAPH + DX ENGINE</a:t>
            </a:r>
            <a:endParaRPr b="0" i="0" sz="1400" u="none" cap="none" strike="noStrike">
              <a:solidFill>
                <a:srgbClr val="000000"/>
              </a:solidFill>
              <a:latin typeface="Arial"/>
              <a:ea typeface="Arial"/>
              <a:cs typeface="Arial"/>
              <a:sym typeface="Arial"/>
            </a:endParaRPr>
          </a:p>
        </p:txBody>
      </p:sp>
      <p:sp>
        <p:nvSpPr>
          <p:cNvPr id="22" name="Google Shape;22;p14"/>
          <p:cNvSpPr/>
          <p:nvPr/>
        </p:nvSpPr>
        <p:spPr>
          <a:xfrm>
            <a:off x="457200" y="3937000"/>
            <a:ext cx="50800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Conscia × Lovesac Joint Kick-off</a:t>
            </a:r>
            <a:endParaRPr b="0" i="0" sz="1400" u="none" cap="none" strike="noStrike">
              <a:solidFill>
                <a:srgbClr val="000000"/>
              </a:solidFill>
              <a:latin typeface="Arial"/>
              <a:ea typeface="Arial"/>
              <a:cs typeface="Arial"/>
              <a:sym typeface="Arial"/>
            </a:endParaRPr>
          </a:p>
        </p:txBody>
      </p:sp>
      <p:sp>
        <p:nvSpPr>
          <p:cNvPr id="23" name="Google Shape;23;p14"/>
          <p:cNvSpPr/>
          <p:nvPr/>
        </p:nvSpPr>
        <p:spPr>
          <a:xfrm>
            <a:off x="2540000" y="228600"/>
            <a:ext cx="46990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US" sz="900" u="none" cap="none" strike="noStrike">
                <a:solidFill>
                  <a:srgbClr val="9CA3AF"/>
                </a:solidFill>
                <a:latin typeface="Calibri"/>
                <a:ea typeface="Calibri"/>
                <a:cs typeface="Calibri"/>
                <a:sym typeface="Calibri"/>
              </a:rPr>
              <a:t>The API and Data Foundation for Agentic Commerce</a:t>
            </a:r>
            <a:endParaRPr b="0" i="0" sz="1400" u="none" cap="none" strike="noStrike">
              <a:solidFill>
                <a:srgbClr val="000000"/>
              </a:solidFill>
              <a:latin typeface="Arial"/>
              <a:ea typeface="Arial"/>
              <a:cs typeface="Arial"/>
              <a:sym typeface="Arial"/>
            </a:endParaRPr>
          </a:p>
        </p:txBody>
      </p:sp>
      <p:sp>
        <p:nvSpPr>
          <p:cNvPr id="24" name="Google Shape;24;p14"/>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 name="Google Shape;25;p14"/>
          <p:cNvPicPr preferRelativeResize="0"/>
          <p:nvPr/>
        </p:nvPicPr>
        <p:blipFill rotWithShape="1">
          <a:blip r:embed="rId3">
            <a:alphaModFix/>
          </a:blip>
          <a:srcRect b="0" l="0" r="0" t="0"/>
          <a:stretch/>
        </p:blipFill>
        <p:spPr>
          <a:xfrm>
            <a:off x="7493000" y="203200"/>
            <a:ext cx="1232572" cy="3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15"/>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5"/>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Today's Agenda</a:t>
            </a:r>
            <a:endParaRPr b="0" i="0" sz="1400" u="none" cap="none" strike="noStrike">
              <a:solidFill>
                <a:srgbClr val="000000"/>
              </a:solidFill>
              <a:latin typeface="Arial"/>
              <a:ea typeface="Arial"/>
              <a:cs typeface="Arial"/>
              <a:sym typeface="Arial"/>
            </a:endParaRPr>
          </a:p>
        </p:txBody>
      </p:sp>
      <p:sp>
        <p:nvSpPr>
          <p:cNvPr id="33" name="Google Shape;33;p15"/>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5"/>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35" name="Google Shape;35;p15"/>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5"/>
          <p:cNvSpPr/>
          <p:nvPr/>
        </p:nvSpPr>
        <p:spPr>
          <a:xfrm>
            <a:off x="355600" y="800100"/>
            <a:ext cx="50800" cy="419100"/>
          </a:xfrm>
          <a:prstGeom prst="rect">
            <a:avLst/>
          </a:prstGeom>
          <a:solidFill>
            <a:srgbClr val="EB1A63"/>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5"/>
          <p:cNvSpPr/>
          <p:nvPr/>
        </p:nvSpPr>
        <p:spPr>
          <a:xfrm>
            <a:off x="482600" y="12319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15"/>
          <p:cNvSpPr/>
          <p:nvPr/>
        </p:nvSpPr>
        <p:spPr>
          <a:xfrm>
            <a:off x="508000" y="8255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B1A63"/>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
        <p:nvSpPr>
          <p:cNvPr id="39" name="Google Shape;39;p15"/>
          <p:cNvSpPr/>
          <p:nvPr/>
        </p:nvSpPr>
        <p:spPr>
          <a:xfrm>
            <a:off x="889000" y="8001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Problem Statement</a:t>
            </a:r>
            <a:r>
              <a:rPr b="0" i="0" lang="en-US" sz="1100" u="none" cap="none" strike="noStrike">
                <a:solidFill>
                  <a:srgbClr val="9CA3AF"/>
                </a:solidFill>
                <a:latin typeface="Calibri"/>
                <a:ea typeface="Calibri"/>
                <a:cs typeface="Calibri"/>
                <a:sym typeface="Calibri"/>
              </a:rPr>
              <a:t>  —  Recap of the challenges we’re here to solve</a:t>
            </a:r>
            <a:endParaRPr b="0" i="0" sz="1400" u="none" cap="none" strike="noStrike">
              <a:solidFill>
                <a:srgbClr val="000000"/>
              </a:solidFill>
              <a:latin typeface="Arial"/>
              <a:ea typeface="Arial"/>
              <a:cs typeface="Arial"/>
              <a:sym typeface="Arial"/>
            </a:endParaRPr>
          </a:p>
        </p:txBody>
      </p:sp>
      <p:sp>
        <p:nvSpPr>
          <p:cNvPr id="40" name="Google Shape;40;p15"/>
          <p:cNvSpPr/>
          <p:nvPr/>
        </p:nvSpPr>
        <p:spPr>
          <a:xfrm>
            <a:off x="355600" y="1231900"/>
            <a:ext cx="50800" cy="419100"/>
          </a:xfrm>
          <a:prstGeom prst="rect">
            <a:avLst/>
          </a:prstGeom>
          <a:solidFill>
            <a:srgbClr val="07BCD6"/>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5"/>
          <p:cNvSpPr/>
          <p:nvPr/>
        </p:nvSpPr>
        <p:spPr>
          <a:xfrm>
            <a:off x="482600" y="16637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5"/>
          <p:cNvSpPr/>
          <p:nvPr/>
        </p:nvSpPr>
        <p:spPr>
          <a:xfrm>
            <a:off x="508000" y="12573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7BCD6"/>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
        <p:nvSpPr>
          <p:cNvPr id="43" name="Google Shape;43;p15"/>
          <p:cNvSpPr/>
          <p:nvPr/>
        </p:nvSpPr>
        <p:spPr>
          <a:xfrm>
            <a:off x="889000" y="12319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Meet the Teams</a:t>
            </a:r>
            <a:r>
              <a:rPr b="0" i="0" lang="en-US" sz="1100" u="none" cap="none" strike="noStrike">
                <a:solidFill>
                  <a:srgbClr val="9CA3AF"/>
                </a:solidFill>
                <a:latin typeface="Calibri"/>
                <a:ea typeface="Calibri"/>
                <a:cs typeface="Calibri"/>
                <a:sym typeface="Calibri"/>
              </a:rPr>
              <a:t>  —  Introductions and roles</a:t>
            </a:r>
            <a:endParaRPr b="0" i="0" sz="1400" u="none" cap="none" strike="noStrike">
              <a:solidFill>
                <a:srgbClr val="000000"/>
              </a:solidFill>
              <a:latin typeface="Arial"/>
              <a:ea typeface="Arial"/>
              <a:cs typeface="Arial"/>
              <a:sym typeface="Arial"/>
            </a:endParaRPr>
          </a:p>
        </p:txBody>
      </p:sp>
      <p:sp>
        <p:nvSpPr>
          <p:cNvPr id="44" name="Google Shape;44;p15"/>
          <p:cNvSpPr/>
          <p:nvPr/>
        </p:nvSpPr>
        <p:spPr>
          <a:xfrm>
            <a:off x="355600" y="1663700"/>
            <a:ext cx="50800" cy="419100"/>
          </a:xfrm>
          <a:prstGeom prst="rect">
            <a:avLst/>
          </a:prstGeom>
          <a:solidFill>
            <a:srgbClr val="8AC542"/>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5"/>
          <p:cNvSpPr/>
          <p:nvPr/>
        </p:nvSpPr>
        <p:spPr>
          <a:xfrm>
            <a:off x="482600" y="20955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5"/>
          <p:cNvSpPr/>
          <p:nvPr/>
        </p:nvSpPr>
        <p:spPr>
          <a:xfrm>
            <a:off x="508000" y="16891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AC542"/>
                </a:solidFill>
                <a:latin typeface="Calibri"/>
                <a:ea typeface="Calibri"/>
                <a:cs typeface="Calibri"/>
                <a:sym typeface="Calibri"/>
              </a:rPr>
              <a:t>03</a:t>
            </a:r>
            <a:endParaRPr b="0" i="0" sz="1400" u="none" cap="none" strike="noStrike">
              <a:solidFill>
                <a:srgbClr val="000000"/>
              </a:solidFill>
              <a:latin typeface="Arial"/>
              <a:ea typeface="Arial"/>
              <a:cs typeface="Arial"/>
              <a:sym typeface="Arial"/>
            </a:endParaRPr>
          </a:p>
        </p:txBody>
      </p:sp>
      <p:sp>
        <p:nvSpPr>
          <p:cNvPr id="47" name="Google Shape;47;p15"/>
          <p:cNvSpPr/>
          <p:nvPr/>
        </p:nvSpPr>
        <p:spPr>
          <a:xfrm>
            <a:off x="889000" y="16637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Conscia Platform Overview</a:t>
            </a:r>
            <a:r>
              <a:rPr b="0" i="0" lang="en-US" sz="1100" u="none" cap="none" strike="noStrike">
                <a:solidFill>
                  <a:srgbClr val="9CA3AF"/>
                </a:solidFill>
                <a:latin typeface="Calibri"/>
                <a:ea typeface="Calibri"/>
                <a:cs typeface="Calibri"/>
                <a:sym typeface="Calibri"/>
              </a:rPr>
              <a:t>  —  How DX Graph and DX Engine address Lovesac’s needs</a:t>
            </a:r>
            <a:endParaRPr b="0" i="0" sz="1400" u="none" cap="none" strike="noStrike">
              <a:solidFill>
                <a:srgbClr val="000000"/>
              </a:solidFill>
              <a:latin typeface="Arial"/>
              <a:ea typeface="Arial"/>
              <a:cs typeface="Arial"/>
              <a:sym typeface="Arial"/>
            </a:endParaRPr>
          </a:p>
        </p:txBody>
      </p:sp>
      <p:sp>
        <p:nvSpPr>
          <p:cNvPr id="48" name="Google Shape;48;p15"/>
          <p:cNvSpPr/>
          <p:nvPr/>
        </p:nvSpPr>
        <p:spPr>
          <a:xfrm>
            <a:off x="355600" y="2095500"/>
            <a:ext cx="50800" cy="419100"/>
          </a:xfrm>
          <a:prstGeom prst="rect">
            <a:avLst/>
          </a:prstGeom>
          <a:solidFill>
            <a:srgbClr val="458CCB"/>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5"/>
          <p:cNvSpPr/>
          <p:nvPr/>
        </p:nvSpPr>
        <p:spPr>
          <a:xfrm>
            <a:off x="482600" y="25273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5"/>
          <p:cNvSpPr/>
          <p:nvPr/>
        </p:nvSpPr>
        <p:spPr>
          <a:xfrm>
            <a:off x="508000" y="21209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458CCB"/>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
        <p:nvSpPr>
          <p:cNvPr id="51" name="Google Shape;51;p15"/>
          <p:cNvSpPr/>
          <p:nvPr/>
        </p:nvSpPr>
        <p:spPr>
          <a:xfrm>
            <a:off x="889000" y="20955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Proposed Architecture</a:t>
            </a:r>
            <a:r>
              <a:rPr b="0" i="0" lang="en-US" sz="1100" u="none" cap="none" strike="noStrike">
                <a:solidFill>
                  <a:srgbClr val="9CA3AF"/>
                </a:solidFill>
                <a:latin typeface="Calibri"/>
                <a:ea typeface="Calibri"/>
                <a:cs typeface="Calibri"/>
                <a:sym typeface="Calibri"/>
              </a:rPr>
              <a:t>  —  Where Conscia sits within your existing stack</a:t>
            </a:r>
            <a:endParaRPr b="0" i="0" sz="1400" u="none" cap="none" strike="noStrike">
              <a:solidFill>
                <a:srgbClr val="000000"/>
              </a:solidFill>
              <a:latin typeface="Arial"/>
              <a:ea typeface="Arial"/>
              <a:cs typeface="Arial"/>
              <a:sym typeface="Arial"/>
            </a:endParaRPr>
          </a:p>
        </p:txBody>
      </p:sp>
      <p:sp>
        <p:nvSpPr>
          <p:cNvPr id="52" name="Google Shape;52;p15"/>
          <p:cNvSpPr/>
          <p:nvPr/>
        </p:nvSpPr>
        <p:spPr>
          <a:xfrm>
            <a:off x="355600" y="2527300"/>
            <a:ext cx="50800" cy="419100"/>
          </a:xfrm>
          <a:prstGeom prst="rect">
            <a:avLst/>
          </a:prstGeom>
          <a:solidFill>
            <a:srgbClr val="C49500"/>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5"/>
          <p:cNvSpPr/>
          <p:nvPr/>
        </p:nvSpPr>
        <p:spPr>
          <a:xfrm>
            <a:off x="482600" y="29591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15"/>
          <p:cNvSpPr/>
          <p:nvPr/>
        </p:nvSpPr>
        <p:spPr>
          <a:xfrm>
            <a:off x="508000" y="25527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C49500"/>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
        <p:nvSpPr>
          <p:cNvPr id="55" name="Google Shape;55;p15"/>
          <p:cNvSpPr/>
          <p:nvPr/>
        </p:nvSpPr>
        <p:spPr>
          <a:xfrm>
            <a:off x="889000" y="25273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Data Model Deep-Dive</a:t>
            </a:r>
            <a:r>
              <a:rPr b="0" i="0" lang="en-US" sz="1100" u="none" cap="none" strike="noStrike">
                <a:solidFill>
                  <a:srgbClr val="9CA3AF"/>
                </a:solidFill>
                <a:latin typeface="Calibri"/>
                <a:ea typeface="Calibri"/>
                <a:cs typeface="Calibri"/>
                <a:sym typeface="Calibri"/>
              </a:rPr>
              <a:t>  —  Collections, hierarchies, taxonomies and relationships</a:t>
            </a:r>
            <a:endParaRPr b="0" i="0" sz="1400" u="none" cap="none" strike="noStrike">
              <a:solidFill>
                <a:srgbClr val="000000"/>
              </a:solidFill>
              <a:latin typeface="Arial"/>
              <a:ea typeface="Arial"/>
              <a:cs typeface="Arial"/>
              <a:sym typeface="Arial"/>
            </a:endParaRPr>
          </a:p>
        </p:txBody>
      </p:sp>
      <p:sp>
        <p:nvSpPr>
          <p:cNvPr id="56" name="Google Shape;56;p15"/>
          <p:cNvSpPr/>
          <p:nvPr/>
        </p:nvSpPr>
        <p:spPr>
          <a:xfrm>
            <a:off x="355600" y="2959100"/>
            <a:ext cx="50800" cy="419100"/>
          </a:xfrm>
          <a:prstGeom prst="rect">
            <a:avLst/>
          </a:prstGeom>
          <a:solidFill>
            <a:srgbClr val="C4690A"/>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5"/>
          <p:cNvSpPr/>
          <p:nvPr/>
        </p:nvSpPr>
        <p:spPr>
          <a:xfrm>
            <a:off x="482600" y="33909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5"/>
          <p:cNvSpPr/>
          <p:nvPr/>
        </p:nvSpPr>
        <p:spPr>
          <a:xfrm>
            <a:off x="508000" y="29845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C4690A"/>
                </a:solidFill>
                <a:latin typeface="Calibri"/>
                <a:ea typeface="Calibri"/>
                <a:cs typeface="Calibri"/>
                <a:sym typeface="Calibri"/>
              </a:rPr>
              <a:t>06</a:t>
            </a:r>
            <a:endParaRPr b="0" i="0" sz="1400" u="none" cap="none" strike="noStrike">
              <a:solidFill>
                <a:srgbClr val="000000"/>
              </a:solidFill>
              <a:latin typeface="Arial"/>
              <a:ea typeface="Arial"/>
              <a:cs typeface="Arial"/>
              <a:sym typeface="Arial"/>
            </a:endParaRPr>
          </a:p>
        </p:txBody>
      </p:sp>
      <p:sp>
        <p:nvSpPr>
          <p:cNvPr id="59" name="Google Shape;59;p15"/>
          <p:cNvSpPr/>
          <p:nvPr/>
        </p:nvSpPr>
        <p:spPr>
          <a:xfrm>
            <a:off x="889000" y="29591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Early Findings from Your Data</a:t>
            </a:r>
            <a:r>
              <a:rPr b="0" i="0" lang="en-US" sz="1100" u="none" cap="none" strike="noStrike">
                <a:solidFill>
                  <a:srgbClr val="9CA3AF"/>
                </a:solidFill>
                <a:latin typeface="Calibri"/>
                <a:ea typeface="Calibri"/>
                <a:cs typeface="Calibri"/>
                <a:sym typeface="Calibri"/>
              </a:rPr>
              <a:t>  —  Initial analysis from the pre-kickoff review</a:t>
            </a:r>
            <a:endParaRPr b="0" i="0" sz="1400" u="none" cap="none" strike="noStrike">
              <a:solidFill>
                <a:srgbClr val="000000"/>
              </a:solidFill>
              <a:latin typeface="Arial"/>
              <a:ea typeface="Arial"/>
              <a:cs typeface="Arial"/>
              <a:sym typeface="Arial"/>
            </a:endParaRPr>
          </a:p>
        </p:txBody>
      </p:sp>
      <p:sp>
        <p:nvSpPr>
          <p:cNvPr id="60" name="Google Shape;60;p15"/>
          <p:cNvSpPr/>
          <p:nvPr/>
        </p:nvSpPr>
        <p:spPr>
          <a:xfrm>
            <a:off x="355600" y="3390900"/>
            <a:ext cx="50800" cy="419100"/>
          </a:xfrm>
          <a:prstGeom prst="rect">
            <a:avLst/>
          </a:prstGeom>
          <a:solidFill>
            <a:srgbClr val="EB1A63"/>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15"/>
          <p:cNvSpPr/>
          <p:nvPr/>
        </p:nvSpPr>
        <p:spPr>
          <a:xfrm>
            <a:off x="482600" y="38227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15"/>
          <p:cNvSpPr/>
          <p:nvPr/>
        </p:nvSpPr>
        <p:spPr>
          <a:xfrm>
            <a:off x="508000" y="34163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EB1A63"/>
                </a:solidFill>
                <a:latin typeface="Calibri"/>
                <a:ea typeface="Calibri"/>
                <a:cs typeface="Calibri"/>
                <a:sym typeface="Calibri"/>
              </a:rPr>
              <a:t>07</a:t>
            </a:r>
            <a:endParaRPr b="0" i="0" sz="1400" u="none" cap="none" strike="noStrike">
              <a:solidFill>
                <a:srgbClr val="000000"/>
              </a:solidFill>
              <a:latin typeface="Arial"/>
              <a:ea typeface="Arial"/>
              <a:cs typeface="Arial"/>
              <a:sym typeface="Arial"/>
            </a:endParaRPr>
          </a:p>
        </p:txBody>
      </p:sp>
      <p:sp>
        <p:nvSpPr>
          <p:cNvPr id="63" name="Google Shape;63;p15"/>
          <p:cNvSpPr/>
          <p:nvPr/>
        </p:nvSpPr>
        <p:spPr>
          <a:xfrm>
            <a:off x="889000" y="33909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Scope &amp; Timeline</a:t>
            </a:r>
            <a:r>
              <a:rPr b="0" i="0" lang="en-US" sz="1100" u="none" cap="none" strike="noStrike">
                <a:solidFill>
                  <a:srgbClr val="9CA3AF"/>
                </a:solidFill>
                <a:latin typeface="Calibri"/>
                <a:ea typeface="Calibri"/>
                <a:cs typeface="Calibri"/>
                <a:sym typeface="Calibri"/>
              </a:rPr>
              <a:t>  —  Phase 1 scope and implementation plan</a:t>
            </a:r>
            <a:endParaRPr b="0" i="0" sz="1400" u="none" cap="none" strike="noStrike">
              <a:solidFill>
                <a:srgbClr val="000000"/>
              </a:solidFill>
              <a:latin typeface="Arial"/>
              <a:ea typeface="Arial"/>
              <a:cs typeface="Arial"/>
              <a:sym typeface="Arial"/>
            </a:endParaRPr>
          </a:p>
        </p:txBody>
      </p:sp>
      <p:sp>
        <p:nvSpPr>
          <p:cNvPr id="64" name="Google Shape;64;p15"/>
          <p:cNvSpPr/>
          <p:nvPr/>
        </p:nvSpPr>
        <p:spPr>
          <a:xfrm>
            <a:off x="355600" y="3822700"/>
            <a:ext cx="50800" cy="419100"/>
          </a:xfrm>
          <a:prstGeom prst="rect">
            <a:avLst/>
          </a:prstGeom>
          <a:solidFill>
            <a:srgbClr val="07BCD6"/>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5"/>
          <p:cNvSpPr/>
          <p:nvPr/>
        </p:nvSpPr>
        <p:spPr>
          <a:xfrm>
            <a:off x="482600" y="4254500"/>
            <a:ext cx="83058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5"/>
          <p:cNvSpPr/>
          <p:nvPr/>
        </p:nvSpPr>
        <p:spPr>
          <a:xfrm>
            <a:off x="508000" y="38481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7BCD6"/>
                </a:solidFill>
                <a:latin typeface="Calibri"/>
                <a:ea typeface="Calibri"/>
                <a:cs typeface="Calibri"/>
                <a:sym typeface="Calibri"/>
              </a:rPr>
              <a:t>08</a:t>
            </a:r>
            <a:endParaRPr b="0" i="0" sz="1400" u="none" cap="none" strike="noStrike">
              <a:solidFill>
                <a:srgbClr val="000000"/>
              </a:solidFill>
              <a:latin typeface="Arial"/>
              <a:ea typeface="Arial"/>
              <a:cs typeface="Arial"/>
              <a:sym typeface="Arial"/>
            </a:endParaRPr>
          </a:p>
        </p:txBody>
      </p:sp>
      <p:sp>
        <p:nvSpPr>
          <p:cNvPr id="67" name="Google Shape;67;p15"/>
          <p:cNvSpPr/>
          <p:nvPr/>
        </p:nvSpPr>
        <p:spPr>
          <a:xfrm>
            <a:off x="889000" y="38227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Success Metrics &amp; Ways of Working</a:t>
            </a:r>
            <a:r>
              <a:rPr b="0" i="0" lang="en-US" sz="1100" u="none" cap="none" strike="noStrike">
                <a:solidFill>
                  <a:srgbClr val="9CA3AF"/>
                </a:solidFill>
                <a:latin typeface="Calibri"/>
                <a:ea typeface="Calibri"/>
                <a:cs typeface="Calibri"/>
                <a:sym typeface="Calibri"/>
              </a:rPr>
              <a:t>  —  How we’ll measure success and run the project</a:t>
            </a:r>
            <a:endParaRPr b="0" i="0" sz="1400" u="none" cap="none" strike="noStrike">
              <a:solidFill>
                <a:srgbClr val="000000"/>
              </a:solidFill>
              <a:latin typeface="Arial"/>
              <a:ea typeface="Arial"/>
              <a:cs typeface="Arial"/>
              <a:sym typeface="Arial"/>
            </a:endParaRPr>
          </a:p>
        </p:txBody>
      </p:sp>
      <p:sp>
        <p:nvSpPr>
          <p:cNvPr id="68" name="Google Shape;68;p15"/>
          <p:cNvSpPr/>
          <p:nvPr/>
        </p:nvSpPr>
        <p:spPr>
          <a:xfrm>
            <a:off x="355600" y="4254500"/>
            <a:ext cx="50800" cy="419100"/>
          </a:xfrm>
          <a:prstGeom prst="rect">
            <a:avLst/>
          </a:prstGeom>
          <a:solidFill>
            <a:srgbClr val="8AC542"/>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5"/>
          <p:cNvSpPr/>
          <p:nvPr/>
        </p:nvSpPr>
        <p:spPr>
          <a:xfrm>
            <a:off x="508000" y="4279900"/>
            <a:ext cx="330200" cy="3683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AC542"/>
                </a:solidFill>
                <a:latin typeface="Calibri"/>
                <a:ea typeface="Calibri"/>
                <a:cs typeface="Calibri"/>
                <a:sym typeface="Calibri"/>
              </a:rPr>
              <a:t>09</a:t>
            </a:r>
            <a:endParaRPr b="0" i="0" sz="1400" u="none" cap="none" strike="noStrike">
              <a:solidFill>
                <a:srgbClr val="000000"/>
              </a:solidFill>
              <a:latin typeface="Arial"/>
              <a:ea typeface="Arial"/>
              <a:cs typeface="Arial"/>
              <a:sym typeface="Arial"/>
            </a:endParaRPr>
          </a:p>
        </p:txBody>
      </p:sp>
      <p:sp>
        <p:nvSpPr>
          <p:cNvPr id="70" name="Google Shape;70;p15"/>
          <p:cNvSpPr/>
          <p:nvPr/>
        </p:nvSpPr>
        <p:spPr>
          <a:xfrm>
            <a:off x="889000" y="4254500"/>
            <a:ext cx="7899400" cy="4191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Open Questions &amp; Next Steps</a:t>
            </a:r>
            <a:r>
              <a:rPr b="0" i="0" lang="en-US" sz="1100" u="none" cap="none" strike="noStrike">
                <a:solidFill>
                  <a:srgbClr val="9CA3AF"/>
                </a:solidFill>
                <a:latin typeface="Calibri"/>
                <a:ea typeface="Calibri"/>
                <a:cs typeface="Calibri"/>
                <a:sym typeface="Calibri"/>
              </a:rPr>
              <a:t>  —  Items to resolve and agreed actions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7"/>
          <p:cNvSpPr/>
          <p:nvPr/>
        </p:nvSpPr>
        <p:spPr>
          <a:xfrm>
            <a:off x="457200" y="235879"/>
            <a:ext cx="8229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11827"/>
                </a:solidFill>
                <a:latin typeface="Calibri"/>
                <a:ea typeface="Calibri"/>
                <a:cs typeface="Calibri"/>
                <a:sym typeface="Calibri"/>
              </a:rPr>
              <a:t>No Single Source of Truth for the Product Catalog</a:t>
            </a:r>
            <a:endParaRPr b="0" i="0" sz="1400" u="none" cap="none" strike="noStrike">
              <a:solidFill>
                <a:srgbClr val="000000"/>
              </a:solidFill>
              <a:latin typeface="Arial"/>
              <a:ea typeface="Arial"/>
              <a:cs typeface="Arial"/>
              <a:sym typeface="Arial"/>
            </a:endParaRPr>
          </a:p>
        </p:txBody>
      </p:sp>
      <p:sp>
        <p:nvSpPr>
          <p:cNvPr id="78" name="Google Shape;78;p17"/>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7"/>
          <p:cNvSpPr/>
          <p:nvPr/>
        </p:nvSpPr>
        <p:spPr>
          <a:xfrm>
            <a:off x="0" y="5092700"/>
            <a:ext cx="1524000" cy="50800"/>
          </a:xfrm>
          <a:prstGeom prst="rect">
            <a:avLst/>
          </a:prstGeom>
          <a:solidFill>
            <a:srgbClr val="EB1A63"/>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17"/>
          <p:cNvSpPr/>
          <p:nvPr/>
        </p:nvSpPr>
        <p:spPr>
          <a:xfrm>
            <a:off x="1524000" y="5092700"/>
            <a:ext cx="1524000" cy="50800"/>
          </a:xfrm>
          <a:prstGeom prst="rect">
            <a:avLst/>
          </a:prstGeom>
          <a:solidFill>
            <a:srgbClr val="F8981D"/>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7"/>
          <p:cNvSpPr/>
          <p:nvPr/>
        </p:nvSpPr>
        <p:spPr>
          <a:xfrm>
            <a:off x="3048000" y="5092700"/>
            <a:ext cx="1524000" cy="50800"/>
          </a:xfrm>
          <a:prstGeom prst="rect">
            <a:avLst/>
          </a:prstGeom>
          <a:solidFill>
            <a:srgbClr val="FABF2D"/>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7"/>
          <p:cNvSpPr/>
          <p:nvPr/>
        </p:nvSpPr>
        <p:spPr>
          <a:xfrm>
            <a:off x="4572000" y="5092700"/>
            <a:ext cx="1524000" cy="50800"/>
          </a:xfrm>
          <a:prstGeom prst="rect">
            <a:avLst/>
          </a:prstGeom>
          <a:solidFill>
            <a:srgbClr val="8AC542"/>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7"/>
          <p:cNvSpPr/>
          <p:nvPr/>
        </p:nvSpPr>
        <p:spPr>
          <a:xfrm>
            <a:off x="6096000" y="5092700"/>
            <a:ext cx="1524000" cy="50800"/>
          </a:xfrm>
          <a:prstGeom prst="rect">
            <a:avLst/>
          </a:prstGeom>
          <a:solidFill>
            <a:srgbClr val="07BCD6"/>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7"/>
          <p:cNvSpPr/>
          <p:nvPr/>
        </p:nvSpPr>
        <p:spPr>
          <a:xfrm>
            <a:off x="7620000" y="5092700"/>
            <a:ext cx="1524000" cy="50800"/>
          </a:xfrm>
          <a:prstGeom prst="rect">
            <a:avLst/>
          </a:prstGeom>
          <a:solidFill>
            <a:srgbClr val="6366F1"/>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7"/>
          <p:cNvSpPr/>
          <p:nvPr/>
        </p:nvSpPr>
        <p:spPr>
          <a:xfrm>
            <a:off x="254000" y="838200"/>
            <a:ext cx="50800" cy="635000"/>
          </a:xfrm>
          <a:prstGeom prst="rect">
            <a:avLst/>
          </a:prstGeom>
          <a:solidFill>
            <a:srgbClr val="EB1A63"/>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7"/>
          <p:cNvSpPr/>
          <p:nvPr/>
        </p:nvSpPr>
        <p:spPr>
          <a:xfrm>
            <a:off x="355600" y="1003300"/>
            <a:ext cx="304800" cy="304800"/>
          </a:xfrm>
          <a:prstGeom prst="roundRect">
            <a:avLst>
              <a:gd fmla="val 30000" name="adj"/>
            </a:avLst>
          </a:prstGeom>
          <a:solidFill>
            <a:srgbClr val="EB1A63"/>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01</a:t>
            </a:r>
            <a:endParaRPr b="0" i="0" sz="1400" u="none" cap="none" strike="noStrike">
              <a:solidFill>
                <a:srgbClr val="000000"/>
              </a:solidFill>
              <a:latin typeface="Arial"/>
              <a:ea typeface="Arial"/>
              <a:cs typeface="Arial"/>
              <a:sym typeface="Arial"/>
            </a:endParaRPr>
          </a:p>
        </p:txBody>
      </p:sp>
      <p:sp>
        <p:nvSpPr>
          <p:cNvPr id="87" name="Google Shape;87;p17"/>
          <p:cNvSpPr/>
          <p:nvPr/>
        </p:nvSpPr>
        <p:spPr>
          <a:xfrm>
            <a:off x="914400" y="889000"/>
            <a:ext cx="8001000" cy="2540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9CA3AF"/>
                </a:solidFill>
                <a:latin typeface="Calibri"/>
                <a:ea typeface="Calibri"/>
                <a:cs typeface="Calibri"/>
                <a:sym typeface="Calibri"/>
              </a:rPr>
              <a:t>You can’t </a:t>
            </a:r>
            <a:r>
              <a:rPr b="1" i="0" lang="en-US" sz="1300" u="none" cap="none" strike="noStrike">
                <a:solidFill>
                  <a:srgbClr val="111827"/>
                </a:solidFill>
                <a:latin typeface="Calibri"/>
                <a:ea typeface="Calibri"/>
                <a:cs typeface="Calibri"/>
                <a:sym typeface="Calibri"/>
              </a:rPr>
              <a:t>Ask “What goes with this Sactional cover?”</a:t>
            </a:r>
            <a:endParaRPr b="0" i="0" sz="1400" u="none" cap="none" strike="noStrike">
              <a:solidFill>
                <a:srgbClr val="000000"/>
              </a:solidFill>
              <a:latin typeface="Arial"/>
              <a:ea typeface="Arial"/>
              <a:cs typeface="Arial"/>
              <a:sym typeface="Arial"/>
            </a:endParaRPr>
          </a:p>
        </p:txBody>
      </p:sp>
      <p:sp>
        <p:nvSpPr>
          <p:cNvPr id="88" name="Google Shape;88;p17"/>
          <p:cNvSpPr/>
          <p:nvPr/>
        </p:nvSpPr>
        <p:spPr>
          <a:xfrm>
            <a:off x="914400" y="1168400"/>
            <a:ext cx="8001000" cy="279400"/>
          </a:xfrm>
          <a:prstGeom prst="rect">
            <a:avLst/>
          </a:prstGeom>
          <a:noFill/>
          <a:ln>
            <a:noFill/>
          </a:ln>
        </p:spPr>
        <p:txBody>
          <a:bodyPr anchorCtr="0" anchor="ctr" bIns="25400" lIns="50800" spcFirstLastPara="1" rIns="50800" wrap="square" tIns="25400">
            <a:noAutofit/>
          </a:bodyPr>
          <a:lstStyle/>
          <a:p>
            <a:pPr indent="0" lvl="0" marL="0" marR="0" rtl="0" algn="l">
              <a:lnSpc>
                <a:spcPct val="115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Compatibility rules live only inside Threekit. No system can query them programmatically — so every channel has to hard-code logic or send the customer back to the web configurator.</a:t>
            </a:r>
            <a:endParaRPr b="0" i="0" sz="850" u="none" cap="none" strike="noStrike">
              <a:solidFill>
                <a:srgbClr val="000000"/>
              </a:solidFill>
              <a:latin typeface="Arial"/>
              <a:ea typeface="Arial"/>
              <a:cs typeface="Arial"/>
              <a:sym typeface="Arial"/>
            </a:endParaRPr>
          </a:p>
        </p:txBody>
      </p:sp>
      <p:sp>
        <p:nvSpPr>
          <p:cNvPr id="89" name="Google Shape;89;p17"/>
          <p:cNvSpPr/>
          <p:nvPr/>
        </p:nvSpPr>
        <p:spPr>
          <a:xfrm>
            <a:off x="914400" y="1511300"/>
            <a:ext cx="8001000" cy="12700"/>
          </a:xfrm>
          <a:prstGeom prst="rect">
            <a:avLst/>
          </a:prstGeom>
          <a:solidFill>
            <a:srgbClr val="E5E7EB"/>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7"/>
          <p:cNvSpPr/>
          <p:nvPr/>
        </p:nvSpPr>
        <p:spPr>
          <a:xfrm>
            <a:off x="254000" y="1574800"/>
            <a:ext cx="50800" cy="635000"/>
          </a:xfrm>
          <a:prstGeom prst="rect">
            <a:avLst/>
          </a:prstGeom>
          <a:solidFill>
            <a:srgbClr val="F8981D"/>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7"/>
          <p:cNvSpPr/>
          <p:nvPr/>
        </p:nvSpPr>
        <p:spPr>
          <a:xfrm>
            <a:off x="355600" y="1739900"/>
            <a:ext cx="304800" cy="304800"/>
          </a:xfrm>
          <a:prstGeom prst="roundRect">
            <a:avLst>
              <a:gd fmla="val 30000" name="adj"/>
            </a:avLst>
          </a:prstGeom>
          <a:solidFill>
            <a:srgbClr val="F8981D"/>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02</a:t>
            </a:r>
            <a:endParaRPr b="0" i="0" sz="1400" u="none" cap="none" strike="noStrike">
              <a:solidFill>
                <a:srgbClr val="000000"/>
              </a:solidFill>
              <a:latin typeface="Arial"/>
              <a:ea typeface="Arial"/>
              <a:cs typeface="Arial"/>
              <a:sym typeface="Arial"/>
            </a:endParaRPr>
          </a:p>
        </p:txBody>
      </p:sp>
      <p:sp>
        <p:nvSpPr>
          <p:cNvPr id="92" name="Google Shape;92;p17"/>
          <p:cNvSpPr/>
          <p:nvPr/>
        </p:nvSpPr>
        <p:spPr>
          <a:xfrm>
            <a:off x="914400" y="1625600"/>
            <a:ext cx="8001000" cy="2540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9CA3AF"/>
                </a:solidFill>
                <a:latin typeface="Calibri"/>
                <a:ea typeface="Calibri"/>
                <a:cs typeface="Calibri"/>
                <a:sym typeface="Calibri"/>
              </a:rPr>
              <a:t>You can’t </a:t>
            </a:r>
            <a:r>
              <a:rPr b="1" i="0" lang="en-US" sz="1300" u="none" cap="none" strike="noStrike">
                <a:solidFill>
                  <a:srgbClr val="111827"/>
                </a:solidFill>
                <a:latin typeface="Calibri"/>
                <a:ea typeface="Calibri"/>
                <a:cs typeface="Calibri"/>
                <a:sym typeface="Calibri"/>
              </a:rPr>
              <a:t>Serve product data to AgentForce or ChatGPT</a:t>
            </a:r>
            <a:endParaRPr b="0" i="0" sz="1400" u="none" cap="none" strike="noStrike">
              <a:solidFill>
                <a:srgbClr val="000000"/>
              </a:solidFill>
              <a:latin typeface="Arial"/>
              <a:ea typeface="Arial"/>
              <a:cs typeface="Arial"/>
              <a:sym typeface="Arial"/>
            </a:endParaRPr>
          </a:p>
        </p:txBody>
      </p:sp>
      <p:sp>
        <p:nvSpPr>
          <p:cNvPr id="93" name="Google Shape;93;p17"/>
          <p:cNvSpPr/>
          <p:nvPr/>
        </p:nvSpPr>
        <p:spPr>
          <a:xfrm>
            <a:off x="914400" y="1905000"/>
            <a:ext cx="8001000" cy="279400"/>
          </a:xfrm>
          <a:prstGeom prst="rect">
            <a:avLst/>
          </a:prstGeom>
          <a:noFill/>
          <a:ln>
            <a:noFill/>
          </a:ln>
        </p:spPr>
        <p:txBody>
          <a:bodyPr anchorCtr="0" anchor="ctr" bIns="25400" lIns="50800" spcFirstLastPara="1" rIns="50800" wrap="square" tIns="25400">
            <a:noAutofit/>
          </a:bodyPr>
          <a:lstStyle/>
          <a:p>
            <a:pPr indent="0" lvl="0" marL="0" marR="0" rtl="0" algn="l">
              <a:lnSpc>
                <a:spcPct val="115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AI agents need a queryable API. Threekit has no MCP endpoint. Any agentic commerce experience requires custom middleware that duplicates and quickly drifts from the source of truth.</a:t>
            </a:r>
            <a:endParaRPr b="0" i="0" sz="850" u="none" cap="none" strike="noStrike">
              <a:solidFill>
                <a:srgbClr val="000000"/>
              </a:solidFill>
              <a:latin typeface="Arial"/>
              <a:ea typeface="Arial"/>
              <a:cs typeface="Arial"/>
              <a:sym typeface="Arial"/>
            </a:endParaRPr>
          </a:p>
        </p:txBody>
      </p:sp>
      <p:sp>
        <p:nvSpPr>
          <p:cNvPr id="94" name="Google Shape;94;p17"/>
          <p:cNvSpPr/>
          <p:nvPr/>
        </p:nvSpPr>
        <p:spPr>
          <a:xfrm>
            <a:off x="914400" y="2247900"/>
            <a:ext cx="8001000" cy="12700"/>
          </a:xfrm>
          <a:prstGeom prst="rect">
            <a:avLst/>
          </a:prstGeom>
          <a:solidFill>
            <a:srgbClr val="E5E7EB"/>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7"/>
          <p:cNvSpPr/>
          <p:nvPr/>
        </p:nvSpPr>
        <p:spPr>
          <a:xfrm>
            <a:off x="254000" y="2311400"/>
            <a:ext cx="50800" cy="635000"/>
          </a:xfrm>
          <a:prstGeom prst="rect">
            <a:avLst/>
          </a:prstGeom>
          <a:solidFill>
            <a:srgbClr val="FABF2D"/>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7"/>
          <p:cNvSpPr/>
          <p:nvPr/>
        </p:nvSpPr>
        <p:spPr>
          <a:xfrm>
            <a:off x="355600" y="2476500"/>
            <a:ext cx="304800" cy="304800"/>
          </a:xfrm>
          <a:prstGeom prst="roundRect">
            <a:avLst>
              <a:gd fmla="val 30000" name="adj"/>
            </a:avLst>
          </a:prstGeom>
          <a:solidFill>
            <a:srgbClr val="FABF2D"/>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03</a:t>
            </a:r>
            <a:endParaRPr b="0" i="0" sz="1400" u="none" cap="none" strike="noStrike">
              <a:solidFill>
                <a:srgbClr val="000000"/>
              </a:solidFill>
              <a:latin typeface="Arial"/>
              <a:ea typeface="Arial"/>
              <a:cs typeface="Arial"/>
              <a:sym typeface="Arial"/>
            </a:endParaRPr>
          </a:p>
        </p:txBody>
      </p:sp>
      <p:sp>
        <p:nvSpPr>
          <p:cNvPr id="97" name="Google Shape;97;p17"/>
          <p:cNvSpPr/>
          <p:nvPr/>
        </p:nvSpPr>
        <p:spPr>
          <a:xfrm>
            <a:off x="914400" y="2362200"/>
            <a:ext cx="8001000" cy="2540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9CA3AF"/>
                </a:solidFill>
                <a:latin typeface="Calibri"/>
                <a:ea typeface="Calibri"/>
                <a:cs typeface="Calibri"/>
                <a:sym typeface="Calibri"/>
              </a:rPr>
              <a:t>You can’t </a:t>
            </a:r>
            <a:r>
              <a:rPr b="1" i="0" lang="en-US" sz="1300" u="none" cap="none" strike="noStrike">
                <a:solidFill>
                  <a:srgbClr val="111827"/>
                </a:solidFill>
                <a:latin typeface="Calibri"/>
                <a:ea typeface="Calibri"/>
                <a:cs typeface="Calibri"/>
                <a:sym typeface="Calibri"/>
              </a:rPr>
              <a:t>Keep pricing and inventory in sync across channels</a:t>
            </a:r>
            <a:endParaRPr b="0" i="0" sz="1400" u="none" cap="none" strike="noStrike">
              <a:solidFill>
                <a:srgbClr val="000000"/>
              </a:solidFill>
              <a:latin typeface="Arial"/>
              <a:ea typeface="Arial"/>
              <a:cs typeface="Arial"/>
              <a:sym typeface="Arial"/>
            </a:endParaRPr>
          </a:p>
        </p:txBody>
      </p:sp>
      <p:sp>
        <p:nvSpPr>
          <p:cNvPr id="98" name="Google Shape;98;p17"/>
          <p:cNvSpPr/>
          <p:nvPr/>
        </p:nvSpPr>
        <p:spPr>
          <a:xfrm>
            <a:off x="914400" y="2641600"/>
            <a:ext cx="8001000" cy="279400"/>
          </a:xfrm>
          <a:prstGeom prst="rect">
            <a:avLst/>
          </a:prstGeom>
          <a:noFill/>
          <a:ln>
            <a:noFill/>
          </a:ln>
        </p:spPr>
        <p:txBody>
          <a:bodyPr anchorCtr="0" anchor="ctr" bIns="25400" lIns="50800" spcFirstLastPara="1" rIns="50800" wrap="square" tIns="25400">
            <a:noAutofit/>
          </a:bodyPr>
          <a:lstStyle/>
          <a:p>
            <a:pPr indent="0" lvl="0" marL="0" marR="0" rtl="0" algn="l">
              <a:lnSpc>
                <a:spcPct val="115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NetSuite is the master for both pricing and inventory, but neither feeds the Threekit configurator in real time. Associates and customers frequently see conflicting data depending on which touchpoint they use.</a:t>
            </a:r>
            <a:endParaRPr b="0" i="0" sz="850" u="none" cap="none" strike="noStrike">
              <a:solidFill>
                <a:srgbClr val="000000"/>
              </a:solidFill>
              <a:latin typeface="Arial"/>
              <a:ea typeface="Arial"/>
              <a:cs typeface="Arial"/>
              <a:sym typeface="Arial"/>
            </a:endParaRPr>
          </a:p>
        </p:txBody>
      </p:sp>
      <p:sp>
        <p:nvSpPr>
          <p:cNvPr id="99" name="Google Shape;99;p17"/>
          <p:cNvSpPr/>
          <p:nvPr/>
        </p:nvSpPr>
        <p:spPr>
          <a:xfrm>
            <a:off x="914400" y="2984500"/>
            <a:ext cx="8001000" cy="12700"/>
          </a:xfrm>
          <a:prstGeom prst="rect">
            <a:avLst/>
          </a:prstGeom>
          <a:solidFill>
            <a:srgbClr val="E5E7EB"/>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7"/>
          <p:cNvSpPr/>
          <p:nvPr/>
        </p:nvSpPr>
        <p:spPr>
          <a:xfrm>
            <a:off x="254000" y="3048000"/>
            <a:ext cx="50800" cy="635000"/>
          </a:xfrm>
          <a:prstGeom prst="rect">
            <a:avLst/>
          </a:prstGeom>
          <a:solidFill>
            <a:srgbClr val="8AC542"/>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17"/>
          <p:cNvSpPr/>
          <p:nvPr/>
        </p:nvSpPr>
        <p:spPr>
          <a:xfrm>
            <a:off x="355600" y="3213100"/>
            <a:ext cx="304800" cy="304800"/>
          </a:xfrm>
          <a:prstGeom prst="roundRect">
            <a:avLst>
              <a:gd fmla="val 30000" name="adj"/>
            </a:avLst>
          </a:prstGeom>
          <a:solidFill>
            <a:srgbClr val="8AC542"/>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04</a:t>
            </a:r>
            <a:endParaRPr b="0" i="0" sz="1400" u="none" cap="none" strike="noStrike">
              <a:solidFill>
                <a:srgbClr val="000000"/>
              </a:solidFill>
              <a:latin typeface="Arial"/>
              <a:ea typeface="Arial"/>
              <a:cs typeface="Arial"/>
              <a:sym typeface="Arial"/>
            </a:endParaRPr>
          </a:p>
        </p:txBody>
      </p:sp>
      <p:sp>
        <p:nvSpPr>
          <p:cNvPr id="102" name="Google Shape;102;p17"/>
          <p:cNvSpPr/>
          <p:nvPr/>
        </p:nvSpPr>
        <p:spPr>
          <a:xfrm>
            <a:off x="914400" y="3098800"/>
            <a:ext cx="8001000" cy="2540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9CA3AF"/>
                </a:solidFill>
                <a:latin typeface="Calibri"/>
                <a:ea typeface="Calibri"/>
                <a:cs typeface="Calibri"/>
                <a:sym typeface="Calibri"/>
              </a:rPr>
              <a:t>You can’t </a:t>
            </a:r>
            <a:r>
              <a:rPr b="1" i="0" lang="en-US" sz="1300" u="none" cap="none" strike="noStrike">
                <a:solidFill>
                  <a:srgbClr val="111827"/>
                </a:solidFill>
                <a:latin typeface="Calibri"/>
                <a:ea typeface="Calibri"/>
                <a:cs typeface="Calibri"/>
                <a:sym typeface="Calibri"/>
              </a:rPr>
              <a:t>Launch a new sales channel without rebuilding logic</a:t>
            </a:r>
            <a:endParaRPr b="0" i="0" sz="1400" u="none" cap="none" strike="noStrike">
              <a:solidFill>
                <a:srgbClr val="000000"/>
              </a:solidFill>
              <a:latin typeface="Arial"/>
              <a:ea typeface="Arial"/>
              <a:cs typeface="Arial"/>
              <a:sym typeface="Arial"/>
            </a:endParaRPr>
          </a:p>
        </p:txBody>
      </p:sp>
      <p:sp>
        <p:nvSpPr>
          <p:cNvPr id="103" name="Google Shape;103;p17"/>
          <p:cNvSpPr/>
          <p:nvPr/>
        </p:nvSpPr>
        <p:spPr>
          <a:xfrm>
            <a:off x="914400" y="3378200"/>
            <a:ext cx="8001000" cy="279400"/>
          </a:xfrm>
          <a:prstGeom prst="rect">
            <a:avLst/>
          </a:prstGeom>
          <a:noFill/>
          <a:ln>
            <a:noFill/>
          </a:ln>
        </p:spPr>
        <p:txBody>
          <a:bodyPr anchorCtr="0" anchor="ctr" bIns="25400" lIns="50800" spcFirstLastPara="1" rIns="50800" wrap="square" tIns="25400">
            <a:noAutofit/>
          </a:bodyPr>
          <a:lstStyle/>
          <a:p>
            <a:pPr indent="0" lvl="0" marL="0" marR="0" rtl="0" algn="l">
              <a:lnSpc>
                <a:spcPct val="115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Each new touchpoint (kiosk, app, Google Shopping) requires its own integration. There is no shared experience API — so every channel launch restarts the engineering effort from scratch.</a:t>
            </a:r>
            <a:endParaRPr b="0" i="0" sz="850" u="none" cap="none" strike="noStrike">
              <a:solidFill>
                <a:srgbClr val="000000"/>
              </a:solidFill>
              <a:latin typeface="Arial"/>
              <a:ea typeface="Arial"/>
              <a:cs typeface="Arial"/>
              <a:sym typeface="Arial"/>
            </a:endParaRPr>
          </a:p>
        </p:txBody>
      </p:sp>
      <p:sp>
        <p:nvSpPr>
          <p:cNvPr id="104" name="Google Shape;104;p17"/>
          <p:cNvSpPr/>
          <p:nvPr/>
        </p:nvSpPr>
        <p:spPr>
          <a:xfrm>
            <a:off x="914400" y="3721100"/>
            <a:ext cx="8001000" cy="12700"/>
          </a:xfrm>
          <a:prstGeom prst="rect">
            <a:avLst/>
          </a:prstGeom>
          <a:solidFill>
            <a:srgbClr val="E5E7EB"/>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7"/>
          <p:cNvSpPr/>
          <p:nvPr/>
        </p:nvSpPr>
        <p:spPr>
          <a:xfrm>
            <a:off x="254000" y="3784600"/>
            <a:ext cx="50800" cy="635000"/>
          </a:xfrm>
          <a:prstGeom prst="rect">
            <a:avLst/>
          </a:prstGeom>
          <a:solidFill>
            <a:srgbClr val="07BCD6"/>
          </a:solid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7"/>
          <p:cNvSpPr/>
          <p:nvPr/>
        </p:nvSpPr>
        <p:spPr>
          <a:xfrm>
            <a:off x="355600" y="3949700"/>
            <a:ext cx="304800" cy="304800"/>
          </a:xfrm>
          <a:prstGeom prst="roundRect">
            <a:avLst>
              <a:gd fmla="val 30000" name="adj"/>
            </a:avLst>
          </a:prstGeom>
          <a:solidFill>
            <a:srgbClr val="07BCD6"/>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FFFFF"/>
                </a:solidFill>
                <a:latin typeface="Calibri"/>
                <a:ea typeface="Calibri"/>
                <a:cs typeface="Calibri"/>
                <a:sym typeface="Calibri"/>
              </a:rPr>
              <a:t>05</a:t>
            </a:r>
            <a:endParaRPr b="0" i="0" sz="1400" u="none" cap="none" strike="noStrike">
              <a:solidFill>
                <a:srgbClr val="000000"/>
              </a:solidFill>
              <a:latin typeface="Arial"/>
              <a:ea typeface="Arial"/>
              <a:cs typeface="Arial"/>
              <a:sym typeface="Arial"/>
            </a:endParaRPr>
          </a:p>
        </p:txBody>
      </p:sp>
      <p:sp>
        <p:nvSpPr>
          <p:cNvPr id="107" name="Google Shape;107;p17"/>
          <p:cNvSpPr/>
          <p:nvPr/>
        </p:nvSpPr>
        <p:spPr>
          <a:xfrm>
            <a:off x="914400" y="3835400"/>
            <a:ext cx="8001000" cy="254000"/>
          </a:xfrm>
          <a:prstGeom prst="rect">
            <a:avLst/>
          </a:prstGeom>
          <a:noFill/>
          <a:ln>
            <a:noFill/>
          </a:ln>
        </p:spPr>
        <p:txBody>
          <a:bodyPr anchorCtr="0" anchor="ctr" bIns="25400" lIns="50800" spcFirstLastPara="1" rIns="50800" wrap="square" tIns="254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9CA3AF"/>
                </a:solidFill>
                <a:latin typeface="Calibri"/>
                <a:ea typeface="Calibri"/>
                <a:cs typeface="Calibri"/>
                <a:sym typeface="Calibri"/>
              </a:rPr>
              <a:t>You can’t </a:t>
            </a:r>
            <a:r>
              <a:rPr b="1" i="0" lang="en-US" sz="1300" u="none" cap="none" strike="noStrike">
                <a:solidFill>
                  <a:srgbClr val="111827"/>
                </a:solidFill>
                <a:latin typeface="Calibri"/>
                <a:ea typeface="Calibri"/>
                <a:cs typeface="Calibri"/>
                <a:sym typeface="Calibri"/>
              </a:rPr>
              <a:t>Understand how customers actually configure products</a:t>
            </a:r>
            <a:endParaRPr b="0" i="0" sz="1400" u="none" cap="none" strike="noStrike">
              <a:solidFill>
                <a:srgbClr val="000000"/>
              </a:solidFill>
              <a:latin typeface="Arial"/>
              <a:ea typeface="Arial"/>
              <a:cs typeface="Arial"/>
              <a:sym typeface="Arial"/>
            </a:endParaRPr>
          </a:p>
        </p:txBody>
      </p:sp>
      <p:sp>
        <p:nvSpPr>
          <p:cNvPr id="108" name="Google Shape;108;p17"/>
          <p:cNvSpPr/>
          <p:nvPr/>
        </p:nvSpPr>
        <p:spPr>
          <a:xfrm>
            <a:off x="914400" y="4114800"/>
            <a:ext cx="8001000" cy="279400"/>
          </a:xfrm>
          <a:prstGeom prst="rect">
            <a:avLst/>
          </a:prstGeom>
          <a:noFill/>
          <a:ln>
            <a:noFill/>
          </a:ln>
        </p:spPr>
        <p:txBody>
          <a:bodyPr anchorCtr="0" anchor="ctr" bIns="25400" lIns="50800" spcFirstLastPara="1" rIns="50800" wrap="square" tIns="25400">
            <a:noAutofit/>
          </a:bodyPr>
          <a:lstStyle/>
          <a:p>
            <a:pPr indent="0" lvl="0" marL="0" marR="0" rtl="0" algn="l">
              <a:lnSpc>
                <a:spcPct val="115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Configuration session data is trapped inside Threekit. There is no way to extract patterns — which cover combinations are popular, where customers drop off, what drives conversion.</a:t>
            </a:r>
            <a:endParaRPr b="0" i="0" sz="850" u="none" cap="none" strike="noStrike">
              <a:solidFill>
                <a:srgbClr val="000000"/>
              </a:solidFill>
              <a:latin typeface="Arial"/>
              <a:ea typeface="Arial"/>
              <a:cs typeface="Arial"/>
              <a:sym typeface="Arial"/>
            </a:endParaRPr>
          </a:p>
        </p:txBody>
      </p:sp>
      <p:sp>
        <p:nvSpPr>
          <p:cNvPr id="109" name="Google Shape;109;p17"/>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110" name="Google Shape;110;p17"/>
          <p:cNvSpPr/>
          <p:nvPr/>
        </p:nvSpPr>
        <p:spPr>
          <a:xfrm>
            <a:off x="457200" y="94011"/>
            <a:ext cx="2400000" cy="152400"/>
          </a:xfrm>
          <a:prstGeom prst="roundRect">
            <a:avLst>
              <a:gd fmla="val 50000" name="adj"/>
            </a:avLst>
          </a:prstGeom>
          <a:solidFill>
            <a:srgbClr val="E6007A"/>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01 · PROBLEM STATEMENT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6"/>
          <p:cNvSpPr/>
          <p:nvPr/>
        </p:nvSpPr>
        <p:spPr>
          <a:xfrm>
            <a:off x="7174775" y="1487600"/>
            <a:ext cx="1793400" cy="248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1" lang="en-US" u="none" cap="none" strike="noStrike">
                <a:solidFill>
                  <a:srgbClr val="6B7280"/>
                </a:solidFill>
                <a:latin typeface="Calibri"/>
                <a:ea typeface="Calibri"/>
                <a:cs typeface="Calibri"/>
                <a:sym typeface="Calibri"/>
              </a:rPr>
              <a:t>Problem: Compatibility intelligence is locked in one tool, and no downstream channel can query it directly.</a:t>
            </a:r>
            <a:br>
              <a:rPr b="1" i="1" lang="en-US" u="none" cap="none" strike="noStrike">
                <a:solidFill>
                  <a:srgbClr val="6B7280"/>
                </a:solidFill>
                <a:latin typeface="Calibri"/>
                <a:ea typeface="Calibri"/>
                <a:cs typeface="Calibri"/>
                <a:sym typeface="Calibri"/>
              </a:rPr>
            </a:br>
            <a:br>
              <a:rPr b="0" i="1" lang="en-US" sz="1000" u="none" cap="none" strike="noStrike">
                <a:solidFill>
                  <a:srgbClr val="6B7280"/>
                </a:solidFill>
                <a:latin typeface="Calibri"/>
                <a:ea typeface="Calibri"/>
                <a:cs typeface="Calibri"/>
                <a:sym typeface="Calibri"/>
              </a:rPr>
            </a:br>
            <a:endParaRPr b="0" i="1" u="none" cap="none" strike="noStrike">
              <a:solidFill>
                <a:srgbClr val="6B728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1" lang="en-US" sz="850" u="none" cap="none" strike="noStrike">
                <a:solidFill>
                  <a:srgbClr val="6B7280"/>
                </a:solidFill>
                <a:latin typeface="Calibri"/>
                <a:ea typeface="Calibri"/>
                <a:cs typeface="Calibri"/>
                <a:sym typeface="Calibri"/>
              </a:rPr>
              <a:t>(See Appendix for more detail)</a:t>
            </a:r>
            <a:endParaRPr b="0" i="0" sz="850" u="none" cap="none" strike="noStrike">
              <a:solidFill>
                <a:srgbClr val="000000"/>
              </a:solidFill>
              <a:latin typeface="Arial"/>
              <a:ea typeface="Arial"/>
              <a:cs typeface="Arial"/>
              <a:sym typeface="Arial"/>
            </a:endParaRPr>
          </a:p>
        </p:txBody>
      </p:sp>
      <p:sp>
        <p:nvSpPr>
          <p:cNvPr id="118" name="Google Shape;118;p16"/>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6"/>
          <p:cNvSpPr/>
          <p:nvPr/>
        </p:nvSpPr>
        <p:spPr>
          <a:xfrm>
            <a:off x="228600" y="711200"/>
            <a:ext cx="1498600" cy="1524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9CA3AF"/>
                </a:solidFill>
                <a:latin typeface="Calibri"/>
                <a:ea typeface="Calibri"/>
                <a:cs typeface="Calibri"/>
                <a:sym typeface="Calibri"/>
              </a:rPr>
              <a:t>DATA SOURCES</a:t>
            </a:r>
            <a:endParaRPr b="0" i="0" sz="1400" u="none" cap="none" strike="noStrike">
              <a:solidFill>
                <a:srgbClr val="000000"/>
              </a:solidFill>
              <a:latin typeface="Arial"/>
              <a:ea typeface="Arial"/>
              <a:cs typeface="Arial"/>
              <a:sym typeface="Arial"/>
            </a:endParaRPr>
          </a:p>
        </p:txBody>
      </p:sp>
      <p:sp>
        <p:nvSpPr>
          <p:cNvPr id="120" name="Google Shape;120;p16"/>
          <p:cNvSpPr/>
          <p:nvPr/>
        </p:nvSpPr>
        <p:spPr>
          <a:xfrm>
            <a:off x="4089400" y="711200"/>
            <a:ext cx="2286000" cy="1524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9CA3AF"/>
                </a:solidFill>
                <a:latin typeface="Calibri"/>
                <a:ea typeface="Calibri"/>
                <a:cs typeface="Calibri"/>
                <a:sym typeface="Calibri"/>
              </a:rPr>
              <a:t>CHANNELS</a:t>
            </a:r>
            <a:endParaRPr b="0" i="0" sz="1400" u="none" cap="none" strike="noStrike">
              <a:solidFill>
                <a:srgbClr val="000000"/>
              </a:solidFill>
              <a:latin typeface="Arial"/>
              <a:ea typeface="Arial"/>
              <a:cs typeface="Arial"/>
              <a:sym typeface="Arial"/>
            </a:endParaRPr>
          </a:p>
        </p:txBody>
      </p:sp>
      <p:sp>
        <p:nvSpPr>
          <p:cNvPr id="121" name="Google Shape;121;p16"/>
          <p:cNvSpPr/>
          <p:nvPr/>
        </p:nvSpPr>
        <p:spPr>
          <a:xfrm>
            <a:off x="228600" y="863600"/>
            <a:ext cx="1498600" cy="533400"/>
          </a:xfrm>
          <a:prstGeom prst="roundRect">
            <a:avLst>
              <a:gd fmla="val 16667" name="adj"/>
            </a:avLst>
          </a:prstGeom>
          <a:solidFill>
            <a:srgbClr val="EFF4FF"/>
          </a:solidFill>
          <a:ln cap="flat" cmpd="sng" w="9525">
            <a:solidFill>
              <a:srgbClr val="C7D2FE"/>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E3A8A"/>
                </a:solidFill>
                <a:latin typeface="Calibri"/>
                <a:ea typeface="Calibri"/>
                <a:cs typeface="Calibri"/>
                <a:sym typeface="Calibri"/>
              </a:rPr>
              <a:t>NetSuite ERP</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EB1A63"/>
                </a:solidFill>
                <a:latin typeface="Calibri"/>
                <a:ea typeface="Calibri"/>
                <a:cs typeface="Calibri"/>
                <a:sym typeface="Calibri"/>
              </a:rPr>
              <a:t>inventory &amp; pricing</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a:off x="228600" y="2336800"/>
            <a:ext cx="1498500" cy="653700"/>
          </a:xfrm>
          <a:prstGeom prst="roundRect">
            <a:avLst>
              <a:gd fmla="val 16667" name="adj"/>
            </a:avLst>
          </a:prstGeom>
          <a:solidFill>
            <a:srgbClr val="EFF4FF"/>
          </a:solidFill>
          <a:ln cap="flat" cmpd="sng" w="9525">
            <a:solidFill>
              <a:srgbClr val="C7D2FE"/>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E3A8A"/>
                </a:solidFill>
                <a:latin typeface="Calibri"/>
                <a:ea typeface="Calibri"/>
                <a:cs typeface="Calibri"/>
                <a:sym typeface="Calibri"/>
              </a:rPr>
              <a:t>Threekit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EB1A63"/>
                </a:solidFill>
                <a:latin typeface="Calibri"/>
                <a:ea typeface="Calibri"/>
                <a:cs typeface="Calibri"/>
                <a:sym typeface="Calibri"/>
              </a:rPr>
              <a:t>Visual Configurator</a:t>
            </a:r>
            <a:endParaRPr b="0" i="0" sz="800" u="none" cap="none" strike="noStrike">
              <a:solidFill>
                <a:srgbClr val="EB1A63"/>
              </a:solidFill>
              <a:latin typeface="Calibri"/>
              <a:ea typeface="Calibri"/>
              <a:cs typeface="Calibri"/>
              <a:sym typeface="Calibri"/>
            </a:endParaRPr>
          </a:p>
        </p:txBody>
      </p:sp>
      <p:sp>
        <p:nvSpPr>
          <p:cNvPr id="123" name="Google Shape;123;p16"/>
          <p:cNvSpPr/>
          <p:nvPr/>
        </p:nvSpPr>
        <p:spPr>
          <a:xfrm>
            <a:off x="228600" y="3810000"/>
            <a:ext cx="1498600" cy="533400"/>
          </a:xfrm>
          <a:prstGeom prst="roundRect">
            <a:avLst>
              <a:gd fmla="val 16667" name="adj"/>
            </a:avLst>
          </a:prstGeom>
          <a:solidFill>
            <a:srgbClr val="EFF4FF"/>
          </a:solidFill>
          <a:ln cap="flat" cmpd="sng" w="9525">
            <a:solidFill>
              <a:srgbClr val="C7D2FE"/>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1" i="0" lang="en-US" sz="1050" u="none" cap="none" strike="noStrike">
                <a:solidFill>
                  <a:srgbClr val="1E3A8A"/>
                </a:solidFill>
                <a:latin typeface="Calibri"/>
                <a:ea typeface="Calibri"/>
                <a:cs typeface="Calibri"/>
                <a:sym typeface="Calibri"/>
              </a:rPr>
              <a:t>Product Team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EB1A63"/>
                </a:solidFill>
                <a:latin typeface="Calibri"/>
                <a:ea typeface="Calibri"/>
                <a:cs typeface="Calibri"/>
                <a:sym typeface="Calibri"/>
              </a:rPr>
              <a:t>manual updates</a:t>
            </a:r>
            <a:endParaRPr b="0" i="0" sz="1400" u="none" cap="none" strike="noStrike">
              <a:solidFill>
                <a:srgbClr val="000000"/>
              </a:solidFill>
              <a:latin typeface="Arial"/>
              <a:ea typeface="Arial"/>
              <a:cs typeface="Arial"/>
              <a:sym typeface="Arial"/>
            </a:endParaRPr>
          </a:p>
        </p:txBody>
      </p:sp>
      <p:sp>
        <p:nvSpPr>
          <p:cNvPr id="124" name="Google Shape;124;p16"/>
          <p:cNvSpPr/>
          <p:nvPr/>
        </p:nvSpPr>
        <p:spPr>
          <a:xfrm>
            <a:off x="1752600" y="1028700"/>
            <a:ext cx="254000" cy="2032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EB1A63"/>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5" name="Google Shape;125;p16"/>
          <p:cNvSpPr/>
          <p:nvPr/>
        </p:nvSpPr>
        <p:spPr>
          <a:xfrm>
            <a:off x="1752600" y="2501900"/>
            <a:ext cx="254000" cy="2032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EB1A63"/>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6" name="Google Shape;126;p16"/>
          <p:cNvSpPr/>
          <p:nvPr/>
        </p:nvSpPr>
        <p:spPr>
          <a:xfrm>
            <a:off x="1752600" y="3975100"/>
            <a:ext cx="254000" cy="2032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EB1A63"/>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27" name="Google Shape;127;p16"/>
          <p:cNvSpPr/>
          <p:nvPr/>
        </p:nvSpPr>
        <p:spPr>
          <a:xfrm>
            <a:off x="2032000" y="838200"/>
            <a:ext cx="1752600" cy="3530600"/>
          </a:xfrm>
          <a:prstGeom prst="rect">
            <a:avLst/>
          </a:prstGeom>
          <a:solidFill>
            <a:srgbClr val="EFF4FF"/>
          </a:solidFill>
          <a:ln cap="flat" cmpd="sng" w="9525">
            <a:solidFill>
              <a:srgbClr val="666666"/>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1" lang="en-US" sz="1050">
                <a:solidFill>
                  <a:srgbClr val="1E3A8A"/>
                </a:solidFill>
                <a:latin typeface="Calibri"/>
                <a:ea typeface="Calibri"/>
                <a:cs typeface="Calibri"/>
                <a:sym typeface="Calibri"/>
              </a:rPr>
              <a:t>Adobe Commerce</a:t>
            </a:r>
            <a:endParaRPr b="1" sz="1050">
              <a:solidFill>
                <a:srgbClr val="1E3A8A"/>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rPr lang="en-US" sz="800">
                <a:solidFill>
                  <a:srgbClr val="EB1A63"/>
                </a:solidFill>
                <a:latin typeface="Calibri"/>
                <a:ea typeface="Calibri"/>
                <a:cs typeface="Calibri"/>
                <a:sym typeface="Calibri"/>
              </a:rPr>
              <a:t>Product Catalogue</a:t>
            </a:r>
            <a:endParaRPr b="1" sz="1050">
              <a:solidFill>
                <a:srgbClr val="1E3A8A"/>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t/>
            </a:r>
            <a:endParaRPr sz="850">
              <a:solidFill>
                <a:srgbClr val="1E3A8A"/>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rPr lang="en-US" sz="850">
                <a:solidFill>
                  <a:srgbClr val="1E3A8A"/>
                </a:solidFill>
                <a:latin typeface="Calibri"/>
                <a:ea typeface="Calibri"/>
                <a:cs typeface="Calibri"/>
                <a:sym typeface="Calibri"/>
              </a:rPr>
              <a:t>Compatibility rules locked inside.</a:t>
            </a:r>
            <a:endParaRPr sz="850">
              <a:solidFill>
                <a:srgbClr val="1E3A8A"/>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50"/>
              <a:buFont typeface="Arial"/>
              <a:buNone/>
            </a:pPr>
            <a:r>
              <a:rPr lang="en-US" sz="850">
                <a:solidFill>
                  <a:srgbClr val="1E3A8A"/>
                </a:solidFill>
                <a:latin typeface="Calibri"/>
                <a:ea typeface="Calibri"/>
                <a:cs typeface="Calibri"/>
                <a:sym typeface="Calibri"/>
              </a:rPr>
              <a:t>No external API.</a:t>
            </a:r>
            <a:endParaRPr sz="850">
              <a:solidFill>
                <a:srgbClr val="1E3A8A"/>
              </a:solidFill>
              <a:latin typeface="Calibri"/>
              <a:ea typeface="Calibri"/>
              <a:cs typeface="Calibri"/>
              <a:sym typeface="Calibri"/>
            </a:endParaRPr>
          </a:p>
        </p:txBody>
      </p:sp>
      <p:sp>
        <p:nvSpPr>
          <p:cNvPr id="128" name="Google Shape;128;p16"/>
          <p:cNvSpPr/>
          <p:nvPr/>
        </p:nvSpPr>
        <p:spPr>
          <a:xfrm>
            <a:off x="3784600" y="2603400"/>
            <a:ext cx="304800" cy="12600"/>
          </a:xfrm>
          <a:prstGeom prst="rect">
            <a:avLst/>
          </a:prstGeom>
          <a:solidFill>
            <a:srgbClr val="E11462"/>
          </a:solidFill>
          <a:ln>
            <a:noFill/>
          </a:ln>
        </p:spPr>
        <p:txBody>
          <a:bodyPr anchorCtr="0" anchor="ctr" bIns="25400" lIns="76200" spcFirstLastPara="1" rIns="762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6"/>
          <p:cNvSpPr/>
          <p:nvPr/>
        </p:nvSpPr>
        <p:spPr>
          <a:xfrm>
            <a:off x="4680175" y="863600"/>
            <a:ext cx="2286000" cy="533400"/>
          </a:xfrm>
          <a:prstGeom prst="roundRect">
            <a:avLst>
              <a:gd fmla="val 16667" name="adj"/>
            </a:avLst>
          </a:prstGeom>
          <a:solidFill>
            <a:srgbClr val="B7B7B7"/>
          </a:solidFill>
          <a:ln cap="flat" cmpd="sng" w="9525">
            <a:solidFill>
              <a:srgbClr val="E5E7EB"/>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lang="en-US" sz="1050">
                <a:solidFill>
                  <a:srgbClr val="6B7280"/>
                </a:solidFill>
                <a:latin typeface="Calibri"/>
                <a:ea typeface="Calibri"/>
                <a:cs typeface="Calibri"/>
                <a:sym typeface="Calibri"/>
              </a:rPr>
              <a:t>Salesforce Retail Cloud</a:t>
            </a:r>
            <a:endParaRPr sz="1050">
              <a:solidFill>
                <a:srgbClr val="6B7280"/>
              </a:solidFill>
              <a:latin typeface="Calibri"/>
              <a:ea typeface="Calibri"/>
              <a:cs typeface="Calibri"/>
              <a:sym typeface="Calibri"/>
            </a:endParaRPr>
          </a:p>
        </p:txBody>
      </p:sp>
      <p:sp>
        <p:nvSpPr>
          <p:cNvPr id="130" name="Google Shape;130;p16"/>
          <p:cNvSpPr/>
          <p:nvPr/>
        </p:nvSpPr>
        <p:spPr>
          <a:xfrm>
            <a:off x="4680175" y="1600200"/>
            <a:ext cx="2286000" cy="533400"/>
          </a:xfrm>
          <a:prstGeom prst="roundRect">
            <a:avLst>
              <a:gd fmla="val 16667" name="adj"/>
            </a:avLst>
          </a:prstGeom>
          <a:solidFill>
            <a:srgbClr val="B7B7B7"/>
          </a:solidFill>
          <a:ln cap="flat" cmpd="sng" w="9525">
            <a:solidFill>
              <a:srgbClr val="E5E7EB"/>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rgbClr val="6B7280"/>
                </a:solidFill>
                <a:latin typeface="Calibri"/>
                <a:ea typeface="Calibri"/>
                <a:cs typeface="Calibri"/>
                <a:sym typeface="Calibri"/>
              </a:rPr>
              <a:t>Manhattan Active Omni</a:t>
            </a:r>
            <a:endParaRPr b="0" i="0" sz="1400" u="none" cap="none" strike="noStrike">
              <a:solidFill>
                <a:srgbClr val="000000"/>
              </a:solidFill>
              <a:latin typeface="Arial"/>
              <a:ea typeface="Arial"/>
              <a:cs typeface="Arial"/>
              <a:sym typeface="Arial"/>
            </a:endParaRPr>
          </a:p>
        </p:txBody>
      </p:sp>
      <p:sp>
        <p:nvSpPr>
          <p:cNvPr id="131" name="Google Shape;131;p16"/>
          <p:cNvSpPr/>
          <p:nvPr/>
        </p:nvSpPr>
        <p:spPr>
          <a:xfrm>
            <a:off x="4089400" y="2336800"/>
            <a:ext cx="2286000" cy="533400"/>
          </a:xfrm>
          <a:prstGeom prst="roundRect">
            <a:avLst>
              <a:gd fmla="val 16667" name="adj"/>
            </a:avLst>
          </a:prstGeom>
          <a:solidFill>
            <a:srgbClr val="EFF4FF"/>
          </a:solidFill>
          <a:ln cap="flat" cmpd="sng" w="9525">
            <a:solidFill>
              <a:srgbClr val="C7D2FE"/>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b="1" lang="en-US" sz="1050">
                <a:solidFill>
                  <a:srgbClr val="1E3A8A"/>
                </a:solidFill>
                <a:latin typeface="Calibri"/>
                <a:ea typeface="Calibri"/>
                <a:cs typeface="Calibri"/>
                <a:sym typeface="Calibri"/>
              </a:rPr>
              <a:t>Lovesac.com</a:t>
            </a:r>
            <a:endParaRPr b="1" sz="1050">
              <a:solidFill>
                <a:srgbClr val="1E3A8A"/>
              </a:solidFill>
              <a:latin typeface="Calibri"/>
              <a:ea typeface="Calibri"/>
              <a:cs typeface="Calibri"/>
              <a:sym typeface="Calibri"/>
            </a:endParaRPr>
          </a:p>
        </p:txBody>
      </p:sp>
      <p:sp>
        <p:nvSpPr>
          <p:cNvPr id="132" name="Google Shape;132;p16"/>
          <p:cNvSpPr/>
          <p:nvPr/>
        </p:nvSpPr>
        <p:spPr>
          <a:xfrm>
            <a:off x="4680175" y="3073400"/>
            <a:ext cx="2286000" cy="533400"/>
          </a:xfrm>
          <a:prstGeom prst="roundRect">
            <a:avLst>
              <a:gd fmla="val 16667" name="adj"/>
            </a:avLst>
          </a:prstGeom>
          <a:solidFill>
            <a:srgbClr val="B7B7B7"/>
          </a:solidFill>
          <a:ln cap="flat" cmpd="sng" w="9525">
            <a:solidFill>
              <a:srgbClr val="E5E7EB"/>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lang="en-US" sz="1050">
                <a:solidFill>
                  <a:srgbClr val="6B7280"/>
                </a:solidFill>
                <a:latin typeface="Calibri"/>
                <a:ea typeface="Calibri"/>
                <a:cs typeface="Calibri"/>
                <a:sym typeface="Calibri"/>
              </a:rPr>
              <a:t>Google Shopping</a:t>
            </a:r>
            <a:endParaRPr sz="1050">
              <a:solidFill>
                <a:srgbClr val="6B7280"/>
              </a:solidFill>
              <a:latin typeface="Calibri"/>
              <a:ea typeface="Calibri"/>
              <a:cs typeface="Calibri"/>
              <a:sym typeface="Calibri"/>
            </a:endParaRPr>
          </a:p>
        </p:txBody>
      </p:sp>
      <p:sp>
        <p:nvSpPr>
          <p:cNvPr id="133" name="Google Shape;133;p16"/>
          <p:cNvSpPr/>
          <p:nvPr/>
        </p:nvSpPr>
        <p:spPr>
          <a:xfrm>
            <a:off x="4680175" y="3810000"/>
            <a:ext cx="2286000" cy="533400"/>
          </a:xfrm>
          <a:prstGeom prst="roundRect">
            <a:avLst>
              <a:gd fmla="val 16667" name="adj"/>
            </a:avLst>
          </a:prstGeom>
          <a:solidFill>
            <a:srgbClr val="B7B7B7"/>
          </a:solidFill>
          <a:ln cap="flat" cmpd="sng" w="9525">
            <a:solidFill>
              <a:srgbClr val="E5E7EB"/>
            </a:solidFill>
            <a:prstDash val="solid"/>
            <a:round/>
            <a:headEnd len="sm" w="sm" type="none"/>
            <a:tailEnd len="sm" w="sm" type="none"/>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1050"/>
              <a:buFont typeface="Arial"/>
              <a:buNone/>
            </a:pPr>
            <a:r>
              <a:rPr lang="en-US" sz="1050">
                <a:solidFill>
                  <a:srgbClr val="6B7280"/>
                </a:solidFill>
                <a:latin typeface="Calibri"/>
                <a:ea typeface="Calibri"/>
                <a:cs typeface="Calibri"/>
                <a:sym typeface="Calibri"/>
              </a:rPr>
              <a:t>AgentForce / ChatGPT</a:t>
            </a:r>
            <a:endParaRPr sz="1050">
              <a:solidFill>
                <a:srgbClr val="6B7280"/>
              </a:solidFill>
              <a:latin typeface="Calibri"/>
              <a:ea typeface="Calibri"/>
              <a:cs typeface="Calibri"/>
              <a:sym typeface="Calibri"/>
            </a:endParaRPr>
          </a:p>
        </p:txBody>
      </p:sp>
      <p:sp>
        <p:nvSpPr>
          <p:cNvPr id="134" name="Google Shape;134;p16"/>
          <p:cNvSpPr/>
          <p:nvPr/>
        </p:nvSpPr>
        <p:spPr>
          <a:xfrm>
            <a:off x="228600" y="4445000"/>
            <a:ext cx="6146800" cy="254000"/>
          </a:xfrm>
          <a:prstGeom prst="rect">
            <a:avLst/>
          </a:prstGeom>
          <a:noFill/>
          <a:ln>
            <a:noFill/>
          </a:ln>
        </p:spPr>
        <p:txBody>
          <a:bodyPr anchorCtr="0" anchor="ctr" bIns="25400" lIns="76200" spcFirstLastPara="1" rIns="76200" wrap="square" tIns="25400">
            <a:noAutofit/>
          </a:bodyPr>
          <a:lstStyle/>
          <a:p>
            <a:pPr indent="0" lvl="0" marL="0" marR="0" rtl="0" algn="ctr">
              <a:lnSpc>
                <a:spcPct val="100000"/>
              </a:lnSpc>
              <a:spcBef>
                <a:spcPts val="0"/>
              </a:spcBef>
              <a:spcAft>
                <a:spcPts val="0"/>
              </a:spcAft>
              <a:buClr>
                <a:srgbClr val="000000"/>
              </a:buClr>
              <a:buSzPts val="900"/>
              <a:buFont typeface="Arial"/>
              <a:buNone/>
            </a:pPr>
            <a:r>
              <a:t/>
            </a:r>
            <a:endParaRPr b="0" i="1" sz="900" u="none" cap="none" strike="noStrike">
              <a:solidFill>
                <a:srgbClr val="9CA3AF"/>
              </a:solidFill>
              <a:latin typeface="Calibri"/>
              <a:ea typeface="Calibri"/>
              <a:cs typeface="Calibri"/>
              <a:sym typeface="Calibri"/>
            </a:endParaRPr>
          </a:p>
        </p:txBody>
      </p:sp>
      <p:sp>
        <p:nvSpPr>
          <p:cNvPr id="135" name="Google Shape;135;p16"/>
          <p:cNvSpPr/>
          <p:nvPr/>
        </p:nvSpPr>
        <p:spPr>
          <a:xfrm>
            <a:off x="457200" y="252657"/>
            <a:ext cx="50799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400" u="none" cap="none" strike="noStrike">
                <a:solidFill>
                  <a:srgbClr val="111827"/>
                </a:solidFill>
                <a:latin typeface="Calibri"/>
                <a:ea typeface="Calibri"/>
                <a:cs typeface="Calibri"/>
                <a:sym typeface="Calibri"/>
              </a:rPr>
              <a:t>The Bottleneck</a:t>
            </a:r>
            <a:endParaRPr b="0" i="0" sz="1400" u="none" cap="none" strike="noStrike">
              <a:solidFill>
                <a:srgbClr val="000000"/>
              </a:solidFill>
              <a:latin typeface="Arial"/>
              <a:ea typeface="Arial"/>
              <a:cs typeface="Arial"/>
              <a:sym typeface="Arial"/>
            </a:endParaRPr>
          </a:p>
        </p:txBody>
      </p:sp>
      <p:sp>
        <p:nvSpPr>
          <p:cNvPr id="136" name="Google Shape;136;p16"/>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6"/>
          <p:cNvSpPr/>
          <p:nvPr/>
        </p:nvSpPr>
        <p:spPr>
          <a:xfrm>
            <a:off x="457200" y="87221"/>
            <a:ext cx="2400000" cy="165000"/>
          </a:xfrm>
          <a:prstGeom prst="roundRect">
            <a:avLst>
              <a:gd fmla="val 50000" name="adj"/>
            </a:avLst>
          </a:prstGeom>
          <a:solidFill>
            <a:srgbClr val="E6007A"/>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01 · PROBLEM STATEMENT</a:t>
            </a:r>
            <a:endParaRPr b="0" i="0" sz="1400" u="none" cap="none" strike="noStrike">
              <a:solidFill>
                <a:srgbClr val="000000"/>
              </a:solidFill>
              <a:latin typeface="Arial"/>
              <a:ea typeface="Arial"/>
              <a:cs typeface="Arial"/>
              <a:sym typeface="Arial"/>
            </a:endParaRPr>
          </a:p>
        </p:txBody>
      </p:sp>
      <p:sp>
        <p:nvSpPr>
          <p:cNvPr id="138" name="Google Shape;138;p16"/>
          <p:cNvSpPr txBox="1"/>
          <p:nvPr/>
        </p:nvSpPr>
        <p:spPr>
          <a:xfrm>
            <a:off x="4246675" y="941150"/>
            <a:ext cx="378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X</a:t>
            </a:r>
            <a:endParaRPr/>
          </a:p>
        </p:txBody>
      </p:sp>
      <p:sp>
        <p:nvSpPr>
          <p:cNvPr id="139" name="Google Shape;139;p16"/>
          <p:cNvSpPr txBox="1"/>
          <p:nvPr/>
        </p:nvSpPr>
        <p:spPr>
          <a:xfrm>
            <a:off x="4246675" y="1676400"/>
            <a:ext cx="378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X</a:t>
            </a:r>
            <a:endParaRPr/>
          </a:p>
        </p:txBody>
      </p:sp>
      <p:sp>
        <p:nvSpPr>
          <p:cNvPr id="140" name="Google Shape;140;p16"/>
          <p:cNvSpPr txBox="1"/>
          <p:nvPr/>
        </p:nvSpPr>
        <p:spPr>
          <a:xfrm>
            <a:off x="4246675" y="3149600"/>
            <a:ext cx="378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X</a:t>
            </a:r>
            <a:endParaRPr/>
          </a:p>
        </p:txBody>
      </p:sp>
      <p:sp>
        <p:nvSpPr>
          <p:cNvPr id="141" name="Google Shape;141;p16"/>
          <p:cNvSpPr txBox="1"/>
          <p:nvPr/>
        </p:nvSpPr>
        <p:spPr>
          <a:xfrm>
            <a:off x="4261538" y="3884850"/>
            <a:ext cx="378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X</a:t>
            </a:r>
            <a:endParaRPr/>
          </a:p>
        </p:txBody>
      </p:sp>
      <p:sp>
        <p:nvSpPr>
          <p:cNvPr id="142" name="Google Shape;142;p16"/>
          <p:cNvSpPr/>
          <p:nvPr/>
        </p:nvSpPr>
        <p:spPr>
          <a:xfrm>
            <a:off x="0" y="4838700"/>
            <a:ext cx="9144000" cy="2541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8"/>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Meet the Teams</a:t>
            </a:r>
            <a:endParaRPr b="0" i="0" sz="1400" u="none" cap="none" strike="noStrike">
              <a:solidFill>
                <a:srgbClr val="000000"/>
              </a:solidFill>
              <a:latin typeface="Arial"/>
              <a:ea typeface="Arial"/>
              <a:cs typeface="Arial"/>
              <a:sym typeface="Arial"/>
            </a:endParaRPr>
          </a:p>
        </p:txBody>
      </p:sp>
      <p:sp>
        <p:nvSpPr>
          <p:cNvPr id="150" name="Google Shape;150;p18"/>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8"/>
          <p:cNvSpPr/>
          <p:nvPr/>
        </p:nvSpPr>
        <p:spPr>
          <a:xfrm>
            <a:off x="355600" y="838200"/>
            <a:ext cx="4064000" cy="27940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8"/>
          <p:cNvSpPr/>
          <p:nvPr/>
        </p:nvSpPr>
        <p:spPr>
          <a:xfrm>
            <a:off x="355600" y="838200"/>
            <a:ext cx="4064000" cy="508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8"/>
          <p:cNvSpPr/>
          <p:nvPr/>
        </p:nvSpPr>
        <p:spPr>
          <a:xfrm>
            <a:off x="533400" y="965200"/>
            <a:ext cx="2540000" cy="2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B1A63"/>
                </a:solidFill>
                <a:latin typeface="Calibri"/>
                <a:ea typeface="Calibri"/>
                <a:cs typeface="Calibri"/>
                <a:sym typeface="Calibri"/>
              </a:rPr>
              <a:t>Conscia</a:t>
            </a:r>
            <a:endParaRPr b="0" i="0" sz="1400" u="none" cap="none" strike="noStrike">
              <a:solidFill>
                <a:srgbClr val="000000"/>
              </a:solidFill>
              <a:latin typeface="Arial"/>
              <a:ea typeface="Arial"/>
              <a:cs typeface="Arial"/>
              <a:sym typeface="Arial"/>
            </a:endParaRPr>
          </a:p>
        </p:txBody>
      </p:sp>
      <p:sp>
        <p:nvSpPr>
          <p:cNvPr id="154" name="Google Shape;154;p18"/>
          <p:cNvSpPr/>
          <p:nvPr/>
        </p:nvSpPr>
        <p:spPr>
          <a:xfrm>
            <a:off x="533400" y="1397000"/>
            <a:ext cx="304800" cy="304800"/>
          </a:xfrm>
          <a:prstGeom prst="ellipse">
            <a:avLst/>
          </a:prstGeom>
          <a:solidFill>
            <a:srgbClr val="EB1A63">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M</a:t>
            </a:r>
            <a:endParaRPr b="0" i="0" sz="1400" u="none" cap="none" strike="noStrike">
              <a:solidFill>
                <a:srgbClr val="000000"/>
              </a:solidFill>
              <a:latin typeface="Arial"/>
              <a:ea typeface="Arial"/>
              <a:cs typeface="Arial"/>
              <a:sym typeface="Arial"/>
            </a:endParaRPr>
          </a:p>
        </p:txBody>
      </p:sp>
      <p:sp>
        <p:nvSpPr>
          <p:cNvPr id="155" name="Google Shape;155;p18"/>
          <p:cNvSpPr/>
          <p:nvPr/>
        </p:nvSpPr>
        <p:spPr>
          <a:xfrm>
            <a:off x="914400" y="1409700"/>
            <a:ext cx="3352800" cy="4699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Morgan</a:t>
            </a:r>
            <a:r>
              <a:rPr b="0" i="0" lang="en-US" sz="1100" u="none" cap="none" strike="noStrike">
                <a:solidFill>
                  <a:srgbClr val="9CA3AF"/>
                </a:solidFill>
                <a:latin typeface="Calibri"/>
                <a:ea typeface="Calibri"/>
                <a:cs typeface="Calibri"/>
                <a:sym typeface="Calibri"/>
              </a:rPr>
              <a:t>  ·  Project Manager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morgan@conscia.ai</a:t>
            </a:r>
            <a:endParaRPr b="0" i="0" sz="1400" u="none" cap="none" strike="noStrike">
              <a:solidFill>
                <a:srgbClr val="000000"/>
              </a:solidFill>
              <a:latin typeface="Arial"/>
              <a:ea typeface="Arial"/>
              <a:cs typeface="Arial"/>
              <a:sym typeface="Arial"/>
            </a:endParaRPr>
          </a:p>
        </p:txBody>
      </p:sp>
      <p:sp>
        <p:nvSpPr>
          <p:cNvPr id="156" name="Google Shape;156;p18"/>
          <p:cNvSpPr/>
          <p:nvPr/>
        </p:nvSpPr>
        <p:spPr>
          <a:xfrm>
            <a:off x="533400" y="3149600"/>
            <a:ext cx="304800" cy="304800"/>
          </a:xfrm>
          <a:prstGeom prst="ellipse">
            <a:avLst/>
          </a:prstGeom>
          <a:solidFill>
            <a:srgbClr val="EB1A63">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57" name="Google Shape;157;p18"/>
          <p:cNvSpPr/>
          <p:nvPr/>
        </p:nvSpPr>
        <p:spPr>
          <a:xfrm>
            <a:off x="914400" y="3149600"/>
            <a:ext cx="3352800" cy="4826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David</a:t>
            </a:r>
            <a:r>
              <a:rPr b="0" i="0" lang="en-US" sz="1100" u="none" cap="none" strike="noStrike">
                <a:solidFill>
                  <a:srgbClr val="9CA3AF"/>
                </a:solidFill>
                <a:latin typeface="Calibri"/>
                <a:ea typeface="Calibri"/>
                <a:cs typeface="Calibri"/>
                <a:sym typeface="Calibri"/>
              </a:rPr>
              <a:t>  ·  Solution Architect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david@conscia.services</a:t>
            </a:r>
            <a:endParaRPr b="0" i="0" sz="1000" u="none" cap="none" strike="noStrike">
              <a:solidFill>
                <a:srgbClr val="9CA3AF"/>
              </a:solidFill>
              <a:latin typeface="Calibri"/>
              <a:ea typeface="Calibri"/>
              <a:cs typeface="Calibri"/>
              <a:sym typeface="Calibri"/>
            </a:endParaRPr>
          </a:p>
        </p:txBody>
      </p:sp>
      <p:sp>
        <p:nvSpPr>
          <p:cNvPr id="158" name="Google Shape;158;p18"/>
          <p:cNvSpPr/>
          <p:nvPr/>
        </p:nvSpPr>
        <p:spPr>
          <a:xfrm>
            <a:off x="533400" y="2565400"/>
            <a:ext cx="304800" cy="304800"/>
          </a:xfrm>
          <a:prstGeom prst="ellipse">
            <a:avLst/>
          </a:prstGeom>
          <a:solidFill>
            <a:srgbClr val="EB1A63">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L</a:t>
            </a:r>
            <a:endParaRPr b="0" i="0" sz="1400" u="none" cap="none" strike="noStrike">
              <a:solidFill>
                <a:srgbClr val="000000"/>
              </a:solidFill>
              <a:latin typeface="Arial"/>
              <a:ea typeface="Arial"/>
              <a:cs typeface="Arial"/>
              <a:sym typeface="Arial"/>
            </a:endParaRPr>
          </a:p>
        </p:txBody>
      </p:sp>
      <p:sp>
        <p:nvSpPr>
          <p:cNvPr id="159" name="Google Shape;159;p18"/>
          <p:cNvSpPr/>
          <p:nvPr/>
        </p:nvSpPr>
        <p:spPr>
          <a:xfrm>
            <a:off x="914400" y="2565400"/>
            <a:ext cx="3352800" cy="4826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Laurel</a:t>
            </a:r>
            <a:r>
              <a:rPr b="0" i="0" lang="en-US" sz="1100" u="none" cap="none" strike="noStrike">
                <a:solidFill>
                  <a:srgbClr val="9CA3AF"/>
                </a:solidFill>
                <a:latin typeface="Calibri"/>
                <a:ea typeface="Calibri"/>
                <a:cs typeface="Calibri"/>
                <a:sym typeface="Calibri"/>
              </a:rPr>
              <a:t>  ·  Sr. Solution Engineer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laurel@conscia.ai</a:t>
            </a:r>
            <a:endParaRPr b="0" i="0" sz="1400" u="none" cap="none" strike="noStrike">
              <a:solidFill>
                <a:srgbClr val="000000"/>
              </a:solidFill>
              <a:latin typeface="Arial"/>
              <a:ea typeface="Arial"/>
              <a:cs typeface="Arial"/>
              <a:sym typeface="Arial"/>
            </a:endParaRPr>
          </a:p>
        </p:txBody>
      </p:sp>
      <p:sp>
        <p:nvSpPr>
          <p:cNvPr id="160" name="Google Shape;160;p18"/>
          <p:cNvSpPr/>
          <p:nvPr/>
        </p:nvSpPr>
        <p:spPr>
          <a:xfrm>
            <a:off x="533400" y="1981200"/>
            <a:ext cx="304800" cy="304800"/>
          </a:xfrm>
          <a:prstGeom prst="ellipse">
            <a:avLst/>
          </a:prstGeom>
          <a:solidFill>
            <a:srgbClr val="EB1A63">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S</a:t>
            </a:r>
            <a:endParaRPr b="0" i="0" sz="1400" u="none" cap="none" strike="noStrike">
              <a:solidFill>
                <a:srgbClr val="000000"/>
              </a:solidFill>
              <a:latin typeface="Arial"/>
              <a:ea typeface="Arial"/>
              <a:cs typeface="Arial"/>
              <a:sym typeface="Arial"/>
            </a:endParaRPr>
          </a:p>
        </p:txBody>
      </p:sp>
      <p:sp>
        <p:nvSpPr>
          <p:cNvPr id="161" name="Google Shape;161;p18"/>
          <p:cNvSpPr/>
          <p:nvPr/>
        </p:nvSpPr>
        <p:spPr>
          <a:xfrm>
            <a:off x="914400" y="1981200"/>
            <a:ext cx="3352800" cy="4826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Sana</a:t>
            </a:r>
            <a:r>
              <a:rPr b="0" i="0" lang="en-US" sz="1100" u="none" cap="none" strike="noStrike">
                <a:solidFill>
                  <a:srgbClr val="9CA3AF"/>
                </a:solidFill>
                <a:latin typeface="Calibri"/>
                <a:ea typeface="Calibri"/>
                <a:cs typeface="Calibri"/>
                <a:sym typeface="Calibri"/>
              </a:rPr>
              <a:t>  ·  Product Owner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sana@conscia.ai</a:t>
            </a:r>
            <a:endParaRPr b="0" i="0" sz="1400" u="none" cap="none" strike="noStrike">
              <a:solidFill>
                <a:srgbClr val="000000"/>
              </a:solidFill>
              <a:latin typeface="Arial"/>
              <a:ea typeface="Arial"/>
              <a:cs typeface="Arial"/>
              <a:sym typeface="Arial"/>
            </a:endParaRPr>
          </a:p>
        </p:txBody>
      </p:sp>
      <p:sp>
        <p:nvSpPr>
          <p:cNvPr id="162" name="Google Shape;162;p18"/>
          <p:cNvSpPr/>
          <p:nvPr/>
        </p:nvSpPr>
        <p:spPr>
          <a:xfrm>
            <a:off x="4699000" y="838200"/>
            <a:ext cx="4064000" cy="27940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8"/>
          <p:cNvSpPr/>
          <p:nvPr/>
        </p:nvSpPr>
        <p:spPr>
          <a:xfrm>
            <a:off x="4699000" y="838200"/>
            <a:ext cx="4064000" cy="508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8"/>
          <p:cNvSpPr/>
          <p:nvPr/>
        </p:nvSpPr>
        <p:spPr>
          <a:xfrm>
            <a:off x="4876800" y="965200"/>
            <a:ext cx="3048000" cy="279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7BCD6"/>
                </a:solidFill>
                <a:latin typeface="Calibri"/>
                <a:ea typeface="Calibri"/>
                <a:cs typeface="Calibri"/>
                <a:sym typeface="Calibri"/>
              </a:rPr>
              <a:t>Lovesac</a:t>
            </a:r>
            <a:endParaRPr b="0" i="0" sz="1400" u="none" cap="none" strike="noStrike">
              <a:solidFill>
                <a:srgbClr val="000000"/>
              </a:solidFill>
              <a:latin typeface="Arial"/>
              <a:ea typeface="Arial"/>
              <a:cs typeface="Arial"/>
              <a:sym typeface="Arial"/>
            </a:endParaRPr>
          </a:p>
        </p:txBody>
      </p:sp>
      <p:sp>
        <p:nvSpPr>
          <p:cNvPr id="165" name="Google Shape;165;p18"/>
          <p:cNvSpPr/>
          <p:nvPr/>
        </p:nvSpPr>
        <p:spPr>
          <a:xfrm>
            <a:off x="4876800" y="1752600"/>
            <a:ext cx="304800" cy="304800"/>
          </a:xfrm>
          <a:prstGeom prst="ellipse">
            <a:avLst/>
          </a:prstGeom>
          <a:solidFill>
            <a:srgbClr val="07BCD6">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7BCD6"/>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66" name="Google Shape;166;p18"/>
          <p:cNvSpPr/>
          <p:nvPr/>
        </p:nvSpPr>
        <p:spPr>
          <a:xfrm>
            <a:off x="5257800" y="1752600"/>
            <a:ext cx="3352800" cy="4826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Amelia Jacobs</a:t>
            </a:r>
            <a:r>
              <a:rPr b="0" i="0" lang="en-US" sz="1100" u="none" cap="none" strike="noStrike">
                <a:solidFill>
                  <a:srgbClr val="9CA3AF"/>
                </a:solidFill>
                <a:latin typeface="Calibri"/>
                <a:ea typeface="Calibri"/>
                <a:cs typeface="Calibri"/>
                <a:sym typeface="Calibri"/>
              </a:rPr>
              <a:t>  ·  VP, Customer Experience &amp; IT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ameliajacobs@lovesac.com</a:t>
            </a:r>
            <a:endParaRPr b="0" i="0" sz="1400" u="none" cap="none" strike="noStrike">
              <a:solidFill>
                <a:srgbClr val="000000"/>
              </a:solidFill>
              <a:latin typeface="Arial"/>
              <a:ea typeface="Arial"/>
              <a:cs typeface="Arial"/>
              <a:sym typeface="Arial"/>
            </a:endParaRPr>
          </a:p>
        </p:txBody>
      </p:sp>
      <p:sp>
        <p:nvSpPr>
          <p:cNvPr id="167" name="Google Shape;167;p18"/>
          <p:cNvSpPr/>
          <p:nvPr/>
        </p:nvSpPr>
        <p:spPr>
          <a:xfrm>
            <a:off x="4876800" y="2336800"/>
            <a:ext cx="304800" cy="304800"/>
          </a:xfrm>
          <a:prstGeom prst="ellipse">
            <a:avLst/>
          </a:prstGeom>
          <a:solidFill>
            <a:srgbClr val="07BCD6">
              <a:alpha val="2000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7BCD6"/>
                </a:solidFill>
                <a:latin typeface="Calibri"/>
                <a:ea typeface="Calibri"/>
                <a:cs typeface="Calibri"/>
                <a:sym typeface="Calibri"/>
              </a:rPr>
              <a:t>T</a:t>
            </a:r>
            <a:endParaRPr b="0" i="0" sz="1400" u="none" cap="none" strike="noStrike">
              <a:solidFill>
                <a:srgbClr val="000000"/>
              </a:solidFill>
              <a:latin typeface="Arial"/>
              <a:ea typeface="Arial"/>
              <a:cs typeface="Arial"/>
              <a:sym typeface="Arial"/>
            </a:endParaRPr>
          </a:p>
        </p:txBody>
      </p:sp>
      <p:sp>
        <p:nvSpPr>
          <p:cNvPr id="168" name="Google Shape;168;p18"/>
          <p:cNvSpPr/>
          <p:nvPr/>
        </p:nvSpPr>
        <p:spPr>
          <a:xfrm>
            <a:off x="5257800" y="2336800"/>
            <a:ext cx="3352800" cy="482600"/>
          </a:xfrm>
          <a:prstGeom prst="rect">
            <a:avLst/>
          </a:prstGeom>
          <a:noFill/>
          <a:ln>
            <a:noFill/>
          </a:ln>
        </p:spPr>
        <p:txBody>
          <a:bodyPr anchorCtr="0" anchor="t" bIns="0" lIns="0" spcFirstLastPara="1" rIns="0" wrap="square" tIns="0">
            <a:noAutofit/>
          </a:bodyPr>
          <a:lstStyle/>
          <a:p>
            <a:pPr indent="0" lvl="0" marL="0" marR="0" rtl="0" algn="l">
              <a:lnSpc>
                <a:spcPct val="92307"/>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Tate Swanson</a:t>
            </a:r>
            <a:r>
              <a:rPr b="0" i="0" lang="en-US" sz="1100" u="none" cap="none" strike="noStrike">
                <a:solidFill>
                  <a:srgbClr val="9CA3AF"/>
                </a:solidFill>
                <a:latin typeface="Calibri"/>
                <a:ea typeface="Calibri"/>
                <a:cs typeface="Calibri"/>
                <a:sym typeface="Calibri"/>
              </a:rPr>
              <a:t>  ·  Sr. Domain Data Architect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000"/>
              <a:buFont typeface="Arial"/>
              <a:buNone/>
            </a:pPr>
            <a:r>
              <a:rPr b="0" i="0" lang="en-US" sz="1000" u="none" cap="none" strike="noStrike">
                <a:solidFill>
                  <a:srgbClr val="9CA3AF"/>
                </a:solidFill>
                <a:latin typeface="Calibri"/>
                <a:ea typeface="Calibri"/>
                <a:cs typeface="Calibri"/>
                <a:sym typeface="Calibri"/>
              </a:rPr>
              <a:t>tateswanson@lovesac.com</a:t>
            </a:r>
            <a:endParaRPr b="0" i="0" sz="1400" u="none" cap="none" strike="noStrike">
              <a:solidFill>
                <a:srgbClr val="000000"/>
              </a:solidFill>
              <a:latin typeface="Arial"/>
              <a:ea typeface="Arial"/>
              <a:cs typeface="Arial"/>
              <a:sym typeface="Arial"/>
            </a:endParaRPr>
          </a:p>
        </p:txBody>
      </p:sp>
      <p:sp>
        <p:nvSpPr>
          <p:cNvPr id="169" name="Google Shape;169;p18"/>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170" name="Google Shape;170;p18"/>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8"/>
          <p:cNvSpPr/>
          <p:nvPr/>
        </p:nvSpPr>
        <p:spPr>
          <a:xfrm>
            <a:off x="457200" y="25400"/>
            <a:ext cx="2000000" cy="152400"/>
          </a:xfrm>
          <a:prstGeom prst="roundRect">
            <a:avLst>
              <a:gd fmla="val 50000" name="adj"/>
            </a:avLst>
          </a:prstGeom>
          <a:solidFill>
            <a:srgbClr val="22B8C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02 · MEET THE TEAMS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9"/>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9"/>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Conscia Platform Overview</a:t>
            </a:r>
            <a:endParaRPr b="1" i="0" sz="2000" u="none" cap="none" strike="noStrike">
              <a:solidFill>
                <a:srgbClr val="111827"/>
              </a:solidFill>
              <a:latin typeface="Calibri"/>
              <a:ea typeface="Calibri"/>
              <a:cs typeface="Calibri"/>
              <a:sym typeface="Calibri"/>
            </a:endParaRPr>
          </a:p>
        </p:txBody>
      </p:sp>
      <p:sp>
        <p:nvSpPr>
          <p:cNvPr id="179" name="Google Shape;179;p19"/>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9"/>
          <p:cNvSpPr/>
          <p:nvPr/>
        </p:nvSpPr>
        <p:spPr>
          <a:xfrm>
            <a:off x="368852" y="831850"/>
            <a:ext cx="2667000" cy="34798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9"/>
          <p:cNvSpPr/>
          <p:nvPr/>
        </p:nvSpPr>
        <p:spPr>
          <a:xfrm>
            <a:off x="368852" y="831850"/>
            <a:ext cx="2667000" cy="508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9"/>
          <p:cNvSpPr/>
          <p:nvPr/>
        </p:nvSpPr>
        <p:spPr>
          <a:xfrm>
            <a:off x="521252" y="1009650"/>
            <a:ext cx="2362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EB1A63"/>
                </a:solidFill>
                <a:latin typeface="Calibri"/>
                <a:ea typeface="Calibri"/>
                <a:cs typeface="Calibri"/>
                <a:sym typeface="Calibri"/>
              </a:rPr>
              <a:t>01  ·  DX GRAPH</a:t>
            </a:r>
            <a:endParaRPr b="0" i="0" sz="1400" u="none" cap="none" strike="noStrike">
              <a:solidFill>
                <a:srgbClr val="000000"/>
              </a:solidFill>
              <a:latin typeface="Arial"/>
              <a:ea typeface="Arial"/>
              <a:cs typeface="Arial"/>
              <a:sym typeface="Arial"/>
            </a:endParaRPr>
          </a:p>
        </p:txBody>
      </p:sp>
      <p:sp>
        <p:nvSpPr>
          <p:cNvPr id="183" name="Google Shape;183;p19"/>
          <p:cNvSpPr/>
          <p:nvPr/>
        </p:nvSpPr>
        <p:spPr>
          <a:xfrm>
            <a:off x="521252" y="1289050"/>
            <a:ext cx="23622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827"/>
                </a:solidFill>
                <a:latin typeface="Calibri"/>
                <a:ea typeface="Calibri"/>
                <a:cs typeface="Calibri"/>
                <a:sym typeface="Calibri"/>
              </a:rPr>
              <a:t>Semantic* Foundation</a:t>
            </a:r>
            <a:endParaRPr b="0" i="0" sz="1400" u="none" cap="none" strike="noStrike">
              <a:solidFill>
                <a:srgbClr val="000000"/>
              </a:solidFill>
              <a:latin typeface="Arial"/>
              <a:ea typeface="Arial"/>
              <a:cs typeface="Arial"/>
              <a:sym typeface="Arial"/>
            </a:endParaRPr>
          </a:p>
        </p:txBody>
      </p:sp>
      <p:sp>
        <p:nvSpPr>
          <p:cNvPr id="184" name="Google Shape;184;p19"/>
          <p:cNvSpPr/>
          <p:nvPr/>
        </p:nvSpPr>
        <p:spPr>
          <a:xfrm>
            <a:off x="521252" y="1644650"/>
            <a:ext cx="23622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9"/>
          <p:cNvSpPr/>
          <p:nvPr/>
        </p:nvSpPr>
        <p:spPr>
          <a:xfrm>
            <a:off x="521252" y="1746250"/>
            <a:ext cx="2362200" cy="2006600"/>
          </a:xfrm>
          <a:prstGeom prst="rect">
            <a:avLst/>
          </a:prstGeom>
          <a:noFill/>
          <a:ln>
            <a:noFill/>
          </a:ln>
        </p:spPr>
        <p:txBody>
          <a:bodyPr anchorCtr="0" anchor="t" bIns="0" lIns="0" spcFirstLastPara="1" rIns="0" wrap="square" tIns="0">
            <a:noAutofit/>
          </a:bodyPr>
          <a:lstStyle/>
          <a:p>
            <a:pPr indent="-171450" lvl="0" marL="171450" marR="0" rtl="0" algn="l">
              <a:lnSpc>
                <a:spcPct val="176470"/>
              </a:lnSpc>
              <a:spcBef>
                <a:spcPts val="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Single SKU Collection unifying all brands, lines, and component roles</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Dynamic Relationships: COMPATIBLE_WITH, BUNDLES, CONTAINS, MAPS_TO</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Up to 3 parallel Taxonomy Collections via MAPS_TO</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Version-controlled, governed product data</a:t>
            </a:r>
            <a:endParaRPr b="0" i="0" sz="1400" u="none" cap="none" strike="noStrike">
              <a:solidFill>
                <a:srgbClr val="000000"/>
              </a:solidFill>
              <a:latin typeface="Arial"/>
              <a:ea typeface="Arial"/>
              <a:cs typeface="Arial"/>
              <a:sym typeface="Arial"/>
            </a:endParaRPr>
          </a:p>
        </p:txBody>
      </p:sp>
      <p:sp>
        <p:nvSpPr>
          <p:cNvPr id="186" name="Google Shape;186;p19"/>
          <p:cNvSpPr/>
          <p:nvPr/>
        </p:nvSpPr>
        <p:spPr>
          <a:xfrm>
            <a:off x="3226352" y="831850"/>
            <a:ext cx="2667000" cy="34798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9"/>
          <p:cNvSpPr/>
          <p:nvPr/>
        </p:nvSpPr>
        <p:spPr>
          <a:xfrm>
            <a:off x="3226352" y="831850"/>
            <a:ext cx="2667000" cy="508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9"/>
          <p:cNvSpPr/>
          <p:nvPr/>
        </p:nvSpPr>
        <p:spPr>
          <a:xfrm>
            <a:off x="3378752" y="1009650"/>
            <a:ext cx="2362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7BCD6"/>
                </a:solidFill>
                <a:latin typeface="Calibri"/>
                <a:ea typeface="Calibri"/>
                <a:cs typeface="Calibri"/>
                <a:sym typeface="Calibri"/>
              </a:rPr>
              <a:t>02  ·  DX ENGINE</a:t>
            </a:r>
            <a:endParaRPr b="0" i="0" sz="1400" u="none" cap="none" strike="noStrike">
              <a:solidFill>
                <a:srgbClr val="000000"/>
              </a:solidFill>
              <a:latin typeface="Arial"/>
              <a:ea typeface="Arial"/>
              <a:cs typeface="Arial"/>
              <a:sym typeface="Arial"/>
            </a:endParaRPr>
          </a:p>
        </p:txBody>
      </p:sp>
      <p:sp>
        <p:nvSpPr>
          <p:cNvPr id="189" name="Google Shape;189;p19"/>
          <p:cNvSpPr/>
          <p:nvPr/>
        </p:nvSpPr>
        <p:spPr>
          <a:xfrm>
            <a:off x="3378752" y="1289050"/>
            <a:ext cx="23622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827"/>
                </a:solidFill>
                <a:latin typeface="Calibri"/>
                <a:ea typeface="Calibri"/>
                <a:cs typeface="Calibri"/>
                <a:sym typeface="Calibri"/>
              </a:rPr>
              <a:t>Orchestration Engine</a:t>
            </a:r>
            <a:endParaRPr b="0" i="0" sz="1400" u="none" cap="none" strike="noStrike">
              <a:solidFill>
                <a:srgbClr val="000000"/>
              </a:solidFill>
              <a:latin typeface="Arial"/>
              <a:ea typeface="Arial"/>
              <a:cs typeface="Arial"/>
              <a:sym typeface="Arial"/>
            </a:endParaRPr>
          </a:p>
        </p:txBody>
      </p:sp>
      <p:sp>
        <p:nvSpPr>
          <p:cNvPr id="190" name="Google Shape;190;p19"/>
          <p:cNvSpPr/>
          <p:nvPr/>
        </p:nvSpPr>
        <p:spPr>
          <a:xfrm>
            <a:off x="3378752" y="1644650"/>
            <a:ext cx="23622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9"/>
          <p:cNvSpPr/>
          <p:nvPr/>
        </p:nvSpPr>
        <p:spPr>
          <a:xfrm>
            <a:off x="3378752" y="1746250"/>
            <a:ext cx="2362200" cy="2006600"/>
          </a:xfrm>
          <a:prstGeom prst="rect">
            <a:avLst/>
          </a:prstGeom>
          <a:noFill/>
          <a:ln>
            <a:noFill/>
          </a:ln>
        </p:spPr>
        <p:txBody>
          <a:bodyPr anchorCtr="0" anchor="t" bIns="0" lIns="0" spcFirstLastPara="1" rIns="0" wrap="square" tIns="0">
            <a:noAutofit/>
          </a:bodyPr>
          <a:lstStyle/>
          <a:p>
            <a:pPr indent="-171450" lvl="0" marL="171450" marR="0" rtl="0" algn="l">
              <a:lnSpc>
                <a:spcPct val="176470"/>
              </a:lnSpc>
              <a:spcBef>
                <a:spcPts val="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Real-time orchestration of business rules across channels</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Channel-aware Experience Rules (e.g. Outdoor restrictions, Quickship eligibility)</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Deterministic logic + AI-assisted decisioning where it adds value</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Zero-code configuration through Conscia UI</a:t>
            </a:r>
            <a:endParaRPr b="0" i="0" sz="1400" u="none" cap="none" strike="noStrike">
              <a:solidFill>
                <a:srgbClr val="000000"/>
              </a:solidFill>
              <a:latin typeface="Arial"/>
              <a:ea typeface="Arial"/>
              <a:cs typeface="Arial"/>
              <a:sym typeface="Arial"/>
            </a:endParaRPr>
          </a:p>
        </p:txBody>
      </p:sp>
      <p:sp>
        <p:nvSpPr>
          <p:cNvPr id="192" name="Google Shape;192;p19"/>
          <p:cNvSpPr/>
          <p:nvPr/>
        </p:nvSpPr>
        <p:spPr>
          <a:xfrm>
            <a:off x="6083852" y="831850"/>
            <a:ext cx="2667000" cy="34798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9"/>
          <p:cNvSpPr/>
          <p:nvPr/>
        </p:nvSpPr>
        <p:spPr>
          <a:xfrm>
            <a:off x="6083852" y="831850"/>
            <a:ext cx="2667000" cy="50800"/>
          </a:xfrm>
          <a:prstGeom prst="roundRect">
            <a:avLst>
              <a:gd fmla="val 50000" name="adj"/>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9"/>
          <p:cNvSpPr/>
          <p:nvPr/>
        </p:nvSpPr>
        <p:spPr>
          <a:xfrm>
            <a:off x="6236252" y="1009650"/>
            <a:ext cx="2362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8AC542"/>
                </a:solidFill>
                <a:latin typeface="Calibri"/>
                <a:ea typeface="Calibri"/>
                <a:cs typeface="Calibri"/>
                <a:sym typeface="Calibri"/>
              </a:rPr>
              <a:t>03  ·  EXPERIENCE APIs</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236252" y="1289050"/>
            <a:ext cx="23622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1827"/>
                </a:solidFill>
                <a:latin typeface="Calibri"/>
                <a:ea typeface="Calibri"/>
                <a:cs typeface="Calibri"/>
                <a:sym typeface="Calibri"/>
              </a:rPr>
              <a:t>Experience APIs</a:t>
            </a:r>
            <a:endParaRPr b="0" i="0" sz="1400" u="none" cap="none" strike="noStrike">
              <a:solidFill>
                <a:srgbClr val="000000"/>
              </a:solidFill>
              <a:latin typeface="Arial"/>
              <a:ea typeface="Arial"/>
              <a:cs typeface="Arial"/>
              <a:sym typeface="Arial"/>
            </a:endParaRPr>
          </a:p>
        </p:txBody>
      </p:sp>
      <p:sp>
        <p:nvSpPr>
          <p:cNvPr id="196" name="Google Shape;196;p19"/>
          <p:cNvSpPr/>
          <p:nvPr/>
        </p:nvSpPr>
        <p:spPr>
          <a:xfrm>
            <a:off x="6236252" y="1644650"/>
            <a:ext cx="23622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9"/>
          <p:cNvSpPr/>
          <p:nvPr/>
        </p:nvSpPr>
        <p:spPr>
          <a:xfrm>
            <a:off x="6236252" y="1746250"/>
            <a:ext cx="2362200" cy="2006600"/>
          </a:xfrm>
          <a:prstGeom prst="rect">
            <a:avLst/>
          </a:prstGeom>
          <a:noFill/>
          <a:ln>
            <a:noFill/>
          </a:ln>
        </p:spPr>
        <p:txBody>
          <a:bodyPr anchorCtr="0" anchor="t" bIns="0" lIns="0" spcFirstLastPara="1" rIns="0" wrap="square" tIns="0">
            <a:noAutofit/>
          </a:bodyPr>
          <a:lstStyle/>
          <a:p>
            <a:pPr indent="-171450" lvl="0" marL="171450" marR="0" rtl="0" algn="l">
              <a:lnSpc>
                <a:spcPct val="176470"/>
              </a:lnSpc>
              <a:spcBef>
                <a:spcPts val="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One Experience API serving POS, web, mobile, agents, and feeds</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Sub-second responses at the edge</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Native MCP endpoint — agent-ready by design</a:t>
            </a:r>
            <a:endParaRPr b="0" i="0" sz="1400" u="none" cap="none" strike="noStrike">
              <a:solidFill>
                <a:srgbClr val="000000"/>
              </a:solidFill>
              <a:latin typeface="Arial"/>
              <a:ea typeface="Arial"/>
              <a:cs typeface="Arial"/>
              <a:sym typeface="Arial"/>
            </a:endParaRPr>
          </a:p>
          <a:p>
            <a:pPr indent="-171450" lvl="0" marL="171450" marR="0" rtl="0" algn="l">
              <a:lnSpc>
                <a:spcPct val="176470"/>
              </a:lnSpc>
              <a:spcBef>
                <a:spcPts val="200"/>
              </a:spcBef>
              <a:spcAft>
                <a:spcPts val="0"/>
              </a:spcAft>
              <a:buClr>
                <a:srgbClr val="000000"/>
              </a:buClr>
              <a:buSzPts val="850"/>
              <a:buFont typeface="Arial"/>
              <a:buChar char="•"/>
            </a:pPr>
            <a:r>
              <a:rPr b="0" i="0" lang="en-US" sz="850" u="none" cap="none" strike="noStrike">
                <a:solidFill>
                  <a:srgbClr val="374151"/>
                </a:solidFill>
                <a:latin typeface="Calibri"/>
                <a:ea typeface="Calibri"/>
                <a:cs typeface="Calibri"/>
                <a:sym typeface="Calibri"/>
              </a:rPr>
              <a:t>No frontend glue code; no per-channel reimplementation</a:t>
            </a:r>
            <a:endParaRPr b="0" i="0" sz="1400" u="none" cap="none" strike="noStrike">
              <a:solidFill>
                <a:srgbClr val="000000"/>
              </a:solidFill>
              <a:latin typeface="Arial"/>
              <a:ea typeface="Arial"/>
              <a:cs typeface="Arial"/>
              <a:sym typeface="Arial"/>
            </a:endParaRPr>
          </a:p>
        </p:txBody>
      </p:sp>
      <p:sp>
        <p:nvSpPr>
          <p:cNvPr id="198" name="Google Shape;198;p19"/>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199" name="Google Shape;199;p19"/>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9"/>
          <p:cNvSpPr/>
          <p:nvPr/>
        </p:nvSpPr>
        <p:spPr>
          <a:xfrm>
            <a:off x="368852" y="3803650"/>
            <a:ext cx="2667000" cy="304800"/>
          </a:xfrm>
          <a:prstGeom prst="rect">
            <a:avLst/>
          </a:prstGeom>
          <a:solidFill>
            <a:srgbClr val="FFF0F5"/>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850"/>
              <a:buFont typeface="Arial"/>
              <a:buNone/>
            </a:pPr>
            <a:r>
              <a:rPr b="1" i="1" lang="en-US" sz="850" u="none" cap="none" strike="noStrike">
                <a:solidFill>
                  <a:srgbClr val="9B0038"/>
                </a:solidFill>
                <a:latin typeface="Calibri"/>
                <a:ea typeface="Calibri"/>
                <a:cs typeface="Calibri"/>
                <a:sym typeface="Calibri"/>
              </a:rPr>
              <a:t>One model. One source of truth.</a:t>
            </a:r>
            <a:endParaRPr b="0" i="0" sz="1400" u="none" cap="none" strike="noStrike">
              <a:solidFill>
                <a:srgbClr val="000000"/>
              </a:solidFill>
              <a:latin typeface="Arial"/>
              <a:ea typeface="Arial"/>
              <a:cs typeface="Arial"/>
              <a:sym typeface="Arial"/>
            </a:endParaRPr>
          </a:p>
        </p:txBody>
      </p:sp>
      <p:sp>
        <p:nvSpPr>
          <p:cNvPr id="201" name="Google Shape;201;p19"/>
          <p:cNvSpPr/>
          <p:nvPr/>
        </p:nvSpPr>
        <p:spPr>
          <a:xfrm>
            <a:off x="3226352" y="3803650"/>
            <a:ext cx="2667000" cy="304800"/>
          </a:xfrm>
          <a:prstGeom prst="rect">
            <a:avLst/>
          </a:prstGeom>
          <a:solidFill>
            <a:srgbClr val="F0FAFC"/>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850"/>
              <a:buFont typeface="Arial"/>
              <a:buNone/>
            </a:pPr>
            <a:r>
              <a:rPr b="1" i="1" lang="en-US" sz="850" u="none" cap="none" strike="noStrike">
                <a:solidFill>
                  <a:srgbClr val="0A6B80"/>
                </a:solidFill>
                <a:latin typeface="Calibri"/>
                <a:ea typeface="Calibri"/>
                <a:cs typeface="Calibri"/>
                <a:sym typeface="Calibri"/>
              </a:rPr>
              <a:t>Rules in one place — not duplicated per channel.</a:t>
            </a:r>
            <a:endParaRPr b="0" i="0" sz="1400" u="none" cap="none" strike="noStrike">
              <a:solidFill>
                <a:srgbClr val="000000"/>
              </a:solidFill>
              <a:latin typeface="Arial"/>
              <a:ea typeface="Arial"/>
              <a:cs typeface="Arial"/>
              <a:sym typeface="Arial"/>
            </a:endParaRPr>
          </a:p>
        </p:txBody>
      </p:sp>
      <p:sp>
        <p:nvSpPr>
          <p:cNvPr id="202" name="Google Shape;202;p19"/>
          <p:cNvSpPr/>
          <p:nvPr/>
        </p:nvSpPr>
        <p:spPr>
          <a:xfrm>
            <a:off x="6083852" y="3803650"/>
            <a:ext cx="2667000" cy="304800"/>
          </a:xfrm>
          <a:prstGeom prst="rect">
            <a:avLst/>
          </a:prstGeom>
          <a:solidFill>
            <a:srgbClr val="F4FAE8"/>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850"/>
              <a:buFont typeface="Arial"/>
              <a:buNone/>
            </a:pPr>
            <a:r>
              <a:rPr b="1" i="1" lang="en-US" sz="850" u="none" cap="none" strike="noStrike">
                <a:solidFill>
                  <a:srgbClr val="3D6B12"/>
                </a:solidFill>
                <a:latin typeface="Calibri"/>
                <a:ea typeface="Calibri"/>
                <a:cs typeface="Calibri"/>
                <a:sym typeface="Calibri"/>
              </a:rPr>
              <a:t>New channels go live in days, not quarters.</a:t>
            </a:r>
            <a:endParaRPr b="0" i="0" sz="1400" u="none" cap="none" strike="noStrike">
              <a:solidFill>
                <a:srgbClr val="000000"/>
              </a:solidFill>
              <a:latin typeface="Arial"/>
              <a:ea typeface="Arial"/>
              <a:cs typeface="Arial"/>
              <a:sym typeface="Arial"/>
            </a:endParaRPr>
          </a:p>
        </p:txBody>
      </p:sp>
      <p:sp>
        <p:nvSpPr>
          <p:cNvPr id="203" name="Google Shape;203;p19"/>
          <p:cNvSpPr txBox="1"/>
          <p:nvPr/>
        </p:nvSpPr>
        <p:spPr>
          <a:xfrm>
            <a:off x="278294" y="4438650"/>
            <a:ext cx="607391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50"/>
              <a:buFont typeface="Arial"/>
              <a:buNone/>
            </a:pPr>
            <a:r>
              <a:rPr b="0" i="0" lang="en-US" sz="850" u="none" cap="none" strike="noStrike">
                <a:solidFill>
                  <a:srgbClr val="000000"/>
                </a:solidFill>
                <a:latin typeface="Calibri"/>
                <a:ea typeface="Calibri"/>
                <a:cs typeface="Calibri"/>
                <a:sym typeface="Calibri"/>
              </a:rPr>
              <a:t>*A semantic model stores facts </a:t>
            </a:r>
            <a:r>
              <a:rPr b="0" i="1" lang="en-US" sz="850" u="none" cap="none" strike="noStrike">
                <a:solidFill>
                  <a:srgbClr val="000000"/>
                </a:solidFill>
                <a:latin typeface="Calibri"/>
                <a:ea typeface="Calibri"/>
                <a:cs typeface="Calibri"/>
                <a:sym typeface="Calibri"/>
              </a:rPr>
              <a:t>and</a:t>
            </a:r>
            <a:r>
              <a:rPr b="0" i="0" lang="en-US" sz="850" u="none" cap="none" strike="noStrike">
                <a:solidFill>
                  <a:srgbClr val="000000"/>
                </a:solidFill>
                <a:latin typeface="Calibri"/>
                <a:ea typeface="Calibri"/>
                <a:cs typeface="Calibri"/>
                <a:sym typeface="Calibri"/>
              </a:rPr>
              <a:t> the meaningful connections between them: a Cover </a:t>
            </a:r>
            <a:r>
              <a:rPr b="0" i="1" lang="en-US" sz="850" u="none" cap="none" strike="noStrike">
                <a:solidFill>
                  <a:srgbClr val="000000"/>
                </a:solidFill>
                <a:latin typeface="Calibri"/>
                <a:ea typeface="Calibri"/>
                <a:cs typeface="Calibri"/>
                <a:sym typeface="Calibri"/>
              </a:rPr>
              <a:t>belongs to</a:t>
            </a:r>
            <a:r>
              <a:rPr b="0" i="0" lang="en-US" sz="850" u="none" cap="none" strike="noStrike">
                <a:solidFill>
                  <a:srgbClr val="000000"/>
                </a:solidFill>
                <a:latin typeface="Calibri"/>
                <a:ea typeface="Calibri"/>
                <a:cs typeface="Calibri"/>
                <a:sym typeface="Calibri"/>
              </a:rPr>
              <a:t> the 6 Series, </a:t>
            </a:r>
            <a:r>
              <a:rPr b="0" i="1" lang="en-US" sz="850" u="none" cap="none" strike="noStrike">
                <a:solidFill>
                  <a:srgbClr val="000000"/>
                </a:solidFill>
                <a:latin typeface="Calibri"/>
                <a:ea typeface="Calibri"/>
                <a:cs typeface="Calibri"/>
                <a:sym typeface="Calibri"/>
              </a:rPr>
              <a:t>is compatible with</a:t>
            </a:r>
            <a:r>
              <a:rPr b="0" i="0" lang="en-US" sz="850" u="none" cap="none" strike="noStrike">
                <a:solidFill>
                  <a:srgbClr val="000000"/>
                </a:solidFill>
                <a:latin typeface="Calibri"/>
                <a:ea typeface="Calibri"/>
                <a:cs typeface="Calibri"/>
                <a:sym typeface="Calibri"/>
              </a:rPr>
              <a:t> these Inserts, </a:t>
            </a:r>
            <a:r>
              <a:rPr b="0" i="1" lang="en-US" sz="850" u="none" cap="none" strike="noStrike">
                <a:solidFill>
                  <a:srgbClr val="000000"/>
                </a:solidFill>
                <a:latin typeface="Calibri"/>
                <a:ea typeface="Calibri"/>
                <a:cs typeface="Calibri"/>
                <a:sym typeface="Calibri"/>
              </a:rPr>
              <a:t>is part of</a:t>
            </a:r>
            <a:r>
              <a:rPr b="0" i="0" lang="en-US" sz="850" u="none" cap="none" strike="noStrike">
                <a:solidFill>
                  <a:srgbClr val="000000"/>
                </a:solidFill>
                <a:latin typeface="Calibri"/>
                <a:ea typeface="Calibri"/>
                <a:cs typeface="Calibri"/>
                <a:sym typeface="Calibri"/>
              </a:rPr>
              <a:t> these Bundles, </a:t>
            </a:r>
            <a:r>
              <a:rPr b="0" i="1" lang="en-US" sz="850" u="none" cap="none" strike="noStrike">
                <a:solidFill>
                  <a:srgbClr val="000000"/>
                </a:solidFill>
                <a:latin typeface="Calibri"/>
                <a:ea typeface="Calibri"/>
                <a:cs typeface="Calibri"/>
                <a:sym typeface="Calibri"/>
              </a:rPr>
              <a:t>maps to</a:t>
            </a:r>
            <a:r>
              <a:rPr b="0" i="0" lang="en-US" sz="850" u="none" cap="none" strike="noStrike">
                <a:solidFill>
                  <a:srgbClr val="000000"/>
                </a:solidFill>
                <a:latin typeface="Calibri"/>
                <a:ea typeface="Calibri"/>
                <a:cs typeface="Calibri"/>
                <a:sym typeface="Calibri"/>
              </a:rPr>
              <a:t> multiple channel taxonomies. Relationships are first-class, not query-time joins.</a:t>
            </a:r>
            <a:endParaRPr b="0" i="0" sz="1400" u="none" cap="none" strike="noStrike">
              <a:solidFill>
                <a:srgbClr val="000000"/>
              </a:solidFill>
              <a:latin typeface="Arial"/>
              <a:ea typeface="Arial"/>
              <a:cs typeface="Arial"/>
              <a:sym typeface="Arial"/>
            </a:endParaRPr>
          </a:p>
        </p:txBody>
      </p:sp>
      <p:sp>
        <p:nvSpPr>
          <p:cNvPr id="204" name="Google Shape;204;p19"/>
          <p:cNvSpPr/>
          <p:nvPr/>
        </p:nvSpPr>
        <p:spPr>
          <a:xfrm>
            <a:off x="457200" y="25400"/>
            <a:ext cx="2743200" cy="152400"/>
          </a:xfrm>
          <a:prstGeom prst="roundRect">
            <a:avLst>
              <a:gd fmla="val 50000" name="adj"/>
            </a:avLst>
          </a:prstGeom>
          <a:solidFill>
            <a:srgbClr val="8BC53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03 · CONSCIA PLATFORM OVERVIEW</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0"/>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Proposed Architecture Fit</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0"/>
          <p:cNvSpPr/>
          <p:nvPr/>
        </p:nvSpPr>
        <p:spPr>
          <a:xfrm>
            <a:off x="355600" y="762000"/>
            <a:ext cx="8432800" cy="20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Two complementary platform capabilities that together make Conscia the governed product master for Lovesac.</a:t>
            </a:r>
            <a:endParaRPr b="0" i="0" sz="1400" u="none" cap="none" strike="noStrike">
              <a:solidFill>
                <a:srgbClr val="000000"/>
              </a:solidFill>
              <a:latin typeface="Arial"/>
              <a:ea typeface="Arial"/>
              <a:cs typeface="Arial"/>
              <a:sym typeface="Arial"/>
            </a:endParaRPr>
          </a:p>
        </p:txBody>
      </p:sp>
      <p:sp>
        <p:nvSpPr>
          <p:cNvPr id="214" name="Google Shape;214;p20"/>
          <p:cNvSpPr/>
          <p:nvPr/>
        </p:nvSpPr>
        <p:spPr>
          <a:xfrm>
            <a:off x="355600" y="1041400"/>
            <a:ext cx="4064000" cy="36830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0"/>
          <p:cNvSpPr/>
          <p:nvPr/>
        </p:nvSpPr>
        <p:spPr>
          <a:xfrm>
            <a:off x="355600" y="1041400"/>
            <a:ext cx="4064000" cy="508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0"/>
          <p:cNvSpPr/>
          <p:nvPr/>
        </p:nvSpPr>
        <p:spPr>
          <a:xfrm>
            <a:off x="533400" y="1193800"/>
            <a:ext cx="1524000" cy="1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EB1A63"/>
                </a:solidFill>
                <a:latin typeface="Calibri"/>
                <a:ea typeface="Calibri"/>
                <a:cs typeface="Calibri"/>
                <a:sym typeface="Calibri"/>
              </a:rPr>
              <a:t>DX GRAPH</a:t>
            </a:r>
            <a:endParaRPr b="0" i="0" sz="1400" u="none" cap="none" strike="noStrike">
              <a:solidFill>
                <a:srgbClr val="000000"/>
              </a:solidFill>
              <a:latin typeface="Arial"/>
              <a:ea typeface="Arial"/>
              <a:cs typeface="Arial"/>
              <a:sym typeface="Arial"/>
            </a:endParaRPr>
          </a:p>
        </p:txBody>
      </p:sp>
      <p:sp>
        <p:nvSpPr>
          <p:cNvPr id="217" name="Google Shape;217;p20"/>
          <p:cNvSpPr/>
          <p:nvPr/>
        </p:nvSpPr>
        <p:spPr>
          <a:xfrm>
            <a:off x="533400" y="1422400"/>
            <a:ext cx="36830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827"/>
                </a:solidFill>
                <a:latin typeface="Calibri"/>
                <a:ea typeface="Calibri"/>
                <a:cs typeface="Calibri"/>
                <a:sym typeface="Calibri"/>
              </a:rPr>
              <a:t>Governed Product Data Layer</a:t>
            </a:r>
            <a:endParaRPr b="0" i="0" sz="1400" u="none" cap="none" strike="noStrike">
              <a:solidFill>
                <a:srgbClr val="000000"/>
              </a:solidFill>
              <a:latin typeface="Arial"/>
              <a:ea typeface="Arial"/>
              <a:cs typeface="Arial"/>
              <a:sym typeface="Arial"/>
            </a:endParaRPr>
          </a:p>
        </p:txBody>
      </p:sp>
      <p:sp>
        <p:nvSpPr>
          <p:cNvPr id="218" name="Google Shape;218;p20"/>
          <p:cNvSpPr/>
          <p:nvPr/>
        </p:nvSpPr>
        <p:spPr>
          <a:xfrm>
            <a:off x="533400" y="1739900"/>
            <a:ext cx="3683000" cy="20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9CA3AF"/>
                </a:solidFill>
                <a:latin typeface="Calibri"/>
                <a:ea typeface="Calibri"/>
                <a:cs typeface="Calibri"/>
                <a:sym typeface="Calibri"/>
              </a:rPr>
              <a:t>"What is true?"</a:t>
            </a:r>
            <a:endParaRPr b="0" i="0" sz="1400" u="none" cap="none" strike="noStrike">
              <a:solidFill>
                <a:srgbClr val="000000"/>
              </a:solidFill>
              <a:latin typeface="Arial"/>
              <a:ea typeface="Arial"/>
              <a:cs typeface="Arial"/>
              <a:sym typeface="Arial"/>
            </a:endParaRPr>
          </a:p>
        </p:txBody>
      </p:sp>
      <p:sp>
        <p:nvSpPr>
          <p:cNvPr id="219" name="Google Shape;219;p20"/>
          <p:cNvSpPr/>
          <p:nvPr/>
        </p:nvSpPr>
        <p:spPr>
          <a:xfrm>
            <a:off x="533400" y="2006600"/>
            <a:ext cx="36830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20"/>
          <p:cNvSpPr/>
          <p:nvPr/>
        </p:nvSpPr>
        <p:spPr>
          <a:xfrm>
            <a:off x="533400" y="2108200"/>
            <a:ext cx="3683000" cy="2476500"/>
          </a:xfrm>
          <a:prstGeom prst="rect">
            <a:avLst/>
          </a:prstGeom>
          <a:noFill/>
          <a:ln>
            <a:noFill/>
          </a:ln>
        </p:spPr>
        <p:txBody>
          <a:bodyPr anchorCtr="0" anchor="t" bIns="0" lIns="0" spcFirstLastPara="1" rIns="0" wrap="square" tIns="0">
            <a:noAutofit/>
          </a:bodyPr>
          <a:lstStyle/>
          <a:p>
            <a:pPr indent="-171450" lvl="0" marL="171450" marR="0" rtl="0" algn="l">
              <a:lnSpc>
                <a:spcPct val="152941"/>
              </a:lnSpc>
              <a:spcBef>
                <a:spcPts val="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Unified SKU Collection</a:t>
            </a:r>
            <a:r>
              <a:rPr b="0" i="0" lang="en-US" sz="850" u="none" cap="none" strike="noStrike">
                <a:solidFill>
                  <a:srgbClr val="6B7280"/>
                </a:solidFill>
                <a:latin typeface="Calibri"/>
                <a:ea typeface="Calibri"/>
                <a:cs typeface="Calibri"/>
                <a:sym typeface="Calibri"/>
              </a:rPr>
              <a:t> — Sactional, Sac, Snugg, and Accessories — ~13,700 SKUs in one model</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Cover ↔ Insert compatibility</a:t>
            </a:r>
            <a:r>
              <a:rPr b="0" i="0" lang="en-US" sz="850" u="none" cap="none" strike="noStrike">
                <a:solidFill>
                  <a:srgbClr val="6B7280"/>
                </a:solidFill>
                <a:latin typeface="Calibri"/>
                <a:ea typeface="Calibri"/>
                <a:cs typeface="Calibri"/>
                <a:sym typeface="Calibri"/>
              </a:rPr>
              <a:t> encoded as a Dynamic Relationship (no manual tagging — covers all ~10,800 Cover SKUs automatically)</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Up to 3 parallel Taxonomies</a:t>
            </a:r>
            <a:r>
              <a:rPr b="0" i="0" lang="en-US" sz="850" u="none" cap="none" strike="noStrike">
                <a:solidFill>
                  <a:srgbClr val="6B7280"/>
                </a:solidFill>
                <a:latin typeface="Calibri"/>
                <a:ea typeface="Calibri"/>
                <a:cs typeface="Calibri"/>
                <a:sym typeface="Calibri"/>
              </a:rPr>
              <a:t> — internal ops, Lovesac.com, and marketplace feeds</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0" i="0" lang="en-US" sz="850" u="none" cap="none" strike="noStrike">
                <a:solidFill>
                  <a:srgbClr val="6B7280"/>
                </a:solidFill>
                <a:latin typeface="Calibri"/>
                <a:ea typeface="Calibri"/>
                <a:cs typeface="Calibri"/>
                <a:sym typeface="Calibri"/>
              </a:rPr>
              <a:t>Version-controlled and audit-ready</a:t>
            </a:r>
            <a:endParaRPr b="0" i="0" sz="1400" u="none" cap="none" strike="noStrike">
              <a:solidFill>
                <a:srgbClr val="000000"/>
              </a:solidFill>
              <a:latin typeface="Arial"/>
              <a:ea typeface="Arial"/>
              <a:cs typeface="Arial"/>
              <a:sym typeface="Arial"/>
            </a:endParaRPr>
          </a:p>
        </p:txBody>
      </p:sp>
      <p:sp>
        <p:nvSpPr>
          <p:cNvPr id="221" name="Google Shape;221;p20"/>
          <p:cNvSpPr/>
          <p:nvPr/>
        </p:nvSpPr>
        <p:spPr>
          <a:xfrm>
            <a:off x="4699000" y="1041400"/>
            <a:ext cx="4064000" cy="36830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0"/>
          <p:cNvSpPr/>
          <p:nvPr/>
        </p:nvSpPr>
        <p:spPr>
          <a:xfrm>
            <a:off x="4699000" y="1041400"/>
            <a:ext cx="4064000" cy="508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20"/>
          <p:cNvSpPr/>
          <p:nvPr/>
        </p:nvSpPr>
        <p:spPr>
          <a:xfrm>
            <a:off x="4876800" y="1193800"/>
            <a:ext cx="1524000" cy="1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7BCD6"/>
                </a:solidFill>
                <a:latin typeface="Calibri"/>
                <a:ea typeface="Calibri"/>
                <a:cs typeface="Calibri"/>
                <a:sym typeface="Calibri"/>
              </a:rPr>
              <a:t>DX ENGINE</a:t>
            </a:r>
            <a:endParaRPr b="0" i="0" sz="1400" u="none" cap="none" strike="noStrike">
              <a:solidFill>
                <a:srgbClr val="000000"/>
              </a:solidFill>
              <a:latin typeface="Arial"/>
              <a:ea typeface="Arial"/>
              <a:cs typeface="Arial"/>
              <a:sym typeface="Arial"/>
            </a:endParaRPr>
          </a:p>
        </p:txBody>
      </p:sp>
      <p:sp>
        <p:nvSpPr>
          <p:cNvPr id="224" name="Google Shape;224;p20"/>
          <p:cNvSpPr/>
          <p:nvPr/>
        </p:nvSpPr>
        <p:spPr>
          <a:xfrm>
            <a:off x="4876800" y="1422400"/>
            <a:ext cx="36830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11827"/>
                </a:solidFill>
                <a:latin typeface="Calibri"/>
                <a:ea typeface="Calibri"/>
                <a:cs typeface="Calibri"/>
                <a:sym typeface="Calibri"/>
              </a:rPr>
              <a:t>Real-Time Orchestration Layer</a:t>
            </a:r>
            <a:endParaRPr b="0" i="0" sz="1400" u="none" cap="none" strike="noStrike">
              <a:solidFill>
                <a:srgbClr val="000000"/>
              </a:solidFill>
              <a:latin typeface="Arial"/>
              <a:ea typeface="Arial"/>
              <a:cs typeface="Arial"/>
              <a:sym typeface="Arial"/>
            </a:endParaRPr>
          </a:p>
        </p:txBody>
      </p:sp>
      <p:sp>
        <p:nvSpPr>
          <p:cNvPr id="225" name="Google Shape;225;p20"/>
          <p:cNvSpPr/>
          <p:nvPr/>
        </p:nvSpPr>
        <p:spPr>
          <a:xfrm>
            <a:off x="4876800" y="1739900"/>
            <a:ext cx="3683000" cy="20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9CA3AF"/>
                </a:solidFill>
                <a:latin typeface="Calibri"/>
                <a:ea typeface="Calibri"/>
                <a:cs typeface="Calibri"/>
                <a:sym typeface="Calibri"/>
              </a:rPr>
              <a:t>"What should happen?"</a:t>
            </a:r>
            <a:endParaRPr b="0" i="0" sz="1400" u="none" cap="none" strike="noStrike">
              <a:solidFill>
                <a:srgbClr val="000000"/>
              </a:solidFill>
              <a:latin typeface="Arial"/>
              <a:ea typeface="Arial"/>
              <a:cs typeface="Arial"/>
              <a:sym typeface="Arial"/>
            </a:endParaRPr>
          </a:p>
        </p:txBody>
      </p:sp>
      <p:sp>
        <p:nvSpPr>
          <p:cNvPr id="226" name="Google Shape;226;p20"/>
          <p:cNvSpPr/>
          <p:nvPr/>
        </p:nvSpPr>
        <p:spPr>
          <a:xfrm>
            <a:off x="4876800" y="2006600"/>
            <a:ext cx="36830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0"/>
          <p:cNvSpPr/>
          <p:nvPr/>
        </p:nvSpPr>
        <p:spPr>
          <a:xfrm>
            <a:off x="4876800" y="2108200"/>
            <a:ext cx="3683000" cy="2476500"/>
          </a:xfrm>
          <a:prstGeom prst="rect">
            <a:avLst/>
          </a:prstGeom>
          <a:noFill/>
          <a:ln>
            <a:noFill/>
          </a:ln>
        </p:spPr>
        <p:txBody>
          <a:bodyPr anchorCtr="0" anchor="t" bIns="0" lIns="0" spcFirstLastPara="1" rIns="0" wrap="square" tIns="0">
            <a:noAutofit/>
          </a:bodyPr>
          <a:lstStyle/>
          <a:p>
            <a:pPr indent="-171450" lvl="0" marL="171450" marR="0" rtl="0" algn="l">
              <a:lnSpc>
                <a:spcPct val="152941"/>
              </a:lnSpc>
              <a:spcBef>
                <a:spcPts val="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Config Validation</a:t>
            </a:r>
            <a:r>
              <a:rPr b="0" i="0" lang="en-US" sz="850" u="none" cap="none" strike="noStrike">
                <a:solidFill>
                  <a:srgbClr val="6B7280"/>
                </a:solidFill>
                <a:latin typeface="Calibri"/>
                <a:ea typeface="Calibri"/>
                <a:cs typeface="Calibri"/>
                <a:sym typeface="Calibri"/>
              </a:rPr>
              <a:t> — does this combination obey all the rules?</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Wizard-Step Options</a:t>
            </a:r>
            <a:r>
              <a:rPr b="0" i="0" lang="en-US" sz="850" u="none" cap="none" strike="noStrike">
                <a:solidFill>
                  <a:srgbClr val="6B7280"/>
                </a:solidFill>
                <a:latin typeface="Calibri"/>
                <a:ea typeface="Calibri"/>
                <a:cs typeface="Calibri"/>
                <a:sym typeface="Calibri"/>
              </a:rPr>
              <a:t> — what can the customer pick next, given what they've already chosen?</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Config ID Creation</a:t>
            </a:r>
            <a:r>
              <a:rPr b="0" i="0" lang="en-US" sz="850" u="none" cap="none" strike="noStrike">
                <a:solidFill>
                  <a:srgbClr val="6B7280"/>
                </a:solidFill>
                <a:latin typeface="Calibri"/>
                <a:ea typeface="Calibri"/>
                <a:cs typeface="Calibri"/>
                <a:sym typeface="Calibri"/>
              </a:rPr>
              <a:t> — durable identifier for a saved configuration</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1" i="0" lang="en-US" sz="850" u="none" cap="none" strike="noStrike">
                <a:solidFill>
                  <a:srgbClr val="111827"/>
                </a:solidFill>
                <a:latin typeface="Calibri"/>
                <a:ea typeface="Calibri"/>
                <a:cs typeface="Calibri"/>
                <a:sym typeface="Calibri"/>
              </a:rPr>
              <a:t>BOM Explosion</a:t>
            </a:r>
            <a:r>
              <a:rPr b="0" i="0" lang="en-US" sz="850" u="none" cap="none" strike="noStrike">
                <a:solidFill>
                  <a:srgbClr val="6B7280"/>
                </a:solidFill>
                <a:latin typeface="Calibri"/>
                <a:ea typeface="Calibri"/>
                <a:cs typeface="Calibri"/>
                <a:sym typeface="Calibri"/>
              </a:rPr>
              <a:t> — turn a finished good into shippable components, shaped per channel (POS / OMS / warehouse pick list)</a:t>
            </a:r>
            <a:endParaRPr b="0" i="0" sz="1400" u="none" cap="none" strike="noStrike">
              <a:solidFill>
                <a:srgbClr val="000000"/>
              </a:solidFill>
              <a:latin typeface="Arial"/>
              <a:ea typeface="Arial"/>
              <a:cs typeface="Arial"/>
              <a:sym typeface="Arial"/>
            </a:endParaRPr>
          </a:p>
          <a:p>
            <a:pPr indent="-171450" lvl="0" marL="171450" marR="0" rtl="0" algn="l">
              <a:lnSpc>
                <a:spcPct val="152941"/>
              </a:lnSpc>
              <a:spcBef>
                <a:spcPts val="200"/>
              </a:spcBef>
              <a:spcAft>
                <a:spcPts val="0"/>
              </a:spcAft>
              <a:buClr>
                <a:srgbClr val="000000"/>
              </a:buClr>
              <a:buSzPts val="850"/>
              <a:buFont typeface="Arial"/>
              <a:buChar char="•"/>
            </a:pPr>
            <a:r>
              <a:rPr b="0" i="0" lang="en-US" sz="850" u="none" cap="none" strike="noStrike">
                <a:solidFill>
                  <a:srgbClr val="6B7280"/>
                </a:solidFill>
                <a:latin typeface="Calibri"/>
                <a:ea typeface="Calibri"/>
                <a:cs typeface="Calibri"/>
                <a:sym typeface="Calibri"/>
              </a:rPr>
              <a:t>One Experience API serving POS, web, agents, and feeds</a:t>
            </a:r>
            <a:endParaRPr b="0" i="0" sz="1400" u="none" cap="none" strike="noStrike">
              <a:solidFill>
                <a:srgbClr val="000000"/>
              </a:solidFill>
              <a:latin typeface="Arial"/>
              <a:ea typeface="Arial"/>
              <a:cs typeface="Arial"/>
              <a:sym typeface="Arial"/>
            </a:endParaRPr>
          </a:p>
        </p:txBody>
      </p:sp>
      <p:sp>
        <p:nvSpPr>
          <p:cNvPr id="228" name="Google Shape;228;p20"/>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229" name="Google Shape;229;p20"/>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0"/>
          <p:cNvSpPr/>
          <p:nvPr/>
        </p:nvSpPr>
        <p:spPr>
          <a:xfrm>
            <a:off x="457200" y="25400"/>
            <a:ext cx="2400000" cy="152400"/>
          </a:xfrm>
          <a:prstGeom prst="roundRect">
            <a:avLst>
              <a:gd fmla="val 50000" name="adj"/>
            </a:avLst>
          </a:prstGeom>
          <a:solidFill>
            <a:srgbClr val="3B7CC4"/>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04 · PROPOSED ARCHITECTURE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1"/>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End-to-End Architecture</a:t>
            </a:r>
            <a:endParaRPr b="0" i="0" sz="1400" u="none" cap="none" strike="noStrike">
              <a:solidFill>
                <a:srgbClr val="000000"/>
              </a:solidFill>
              <a:latin typeface="Arial"/>
              <a:ea typeface="Arial"/>
              <a:cs typeface="Arial"/>
              <a:sym typeface="Arial"/>
            </a:endParaRPr>
          </a:p>
        </p:txBody>
      </p:sp>
      <p:sp>
        <p:nvSpPr>
          <p:cNvPr id="238" name="Google Shape;238;p21"/>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1"/>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240" name="Google Shape;240;p21"/>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1"/>
          <p:cNvSpPr/>
          <p:nvPr/>
        </p:nvSpPr>
        <p:spPr>
          <a:xfrm>
            <a:off x="266700" y="762000"/>
            <a:ext cx="1498600" cy="37592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21"/>
          <p:cNvSpPr/>
          <p:nvPr/>
        </p:nvSpPr>
        <p:spPr>
          <a:xfrm>
            <a:off x="266700" y="762000"/>
            <a:ext cx="1498600" cy="203200"/>
          </a:xfrm>
          <a:prstGeom prst="roundRect">
            <a:avLst>
              <a:gd fmla="val 2000" name="adj"/>
            </a:avLst>
          </a:prstGeom>
          <a:solidFill>
            <a:srgbClr val="EAECF0"/>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5B6370"/>
                </a:solidFill>
                <a:latin typeface="Calibri"/>
                <a:ea typeface="Calibri"/>
                <a:cs typeface="Calibri"/>
                <a:sym typeface="Calibri"/>
              </a:rPr>
              <a:t>SOURCE SYSTEMS</a:t>
            </a:r>
            <a:endParaRPr b="0" i="0" sz="1400" u="none" cap="none" strike="noStrike">
              <a:solidFill>
                <a:srgbClr val="000000"/>
              </a:solidFill>
              <a:latin typeface="Arial"/>
              <a:ea typeface="Arial"/>
              <a:cs typeface="Arial"/>
              <a:sym typeface="Arial"/>
            </a:endParaRPr>
          </a:p>
        </p:txBody>
      </p:sp>
      <p:sp>
        <p:nvSpPr>
          <p:cNvPr id="243" name="Google Shape;243;p21"/>
          <p:cNvSpPr/>
          <p:nvPr/>
        </p:nvSpPr>
        <p:spPr>
          <a:xfrm>
            <a:off x="292100" y="990600"/>
            <a:ext cx="14478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NetSuite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ERP</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Financial master for pricing, cost &amp; SKU lifecycle. Source of record for commercial attributes.</a:t>
            </a:r>
            <a:endParaRPr b="0" i="0" sz="1400" u="none" cap="none" strike="noStrike">
              <a:solidFill>
                <a:srgbClr val="000000"/>
              </a:solidFill>
              <a:latin typeface="Arial"/>
              <a:ea typeface="Arial"/>
              <a:cs typeface="Arial"/>
              <a:sym typeface="Arial"/>
            </a:endParaRPr>
          </a:p>
        </p:txBody>
      </p:sp>
      <p:sp>
        <p:nvSpPr>
          <p:cNvPr id="244" name="Google Shape;244;p21"/>
          <p:cNvSpPr/>
          <p:nvPr/>
        </p:nvSpPr>
        <p:spPr>
          <a:xfrm>
            <a:off x="292100" y="2171700"/>
            <a:ext cx="14478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Adobe Commerce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ECOMMERCE</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Web-facing product content, merchandising &amp; storefront metadata.</a:t>
            </a:r>
            <a:endParaRPr b="0" i="0" sz="1400" u="none" cap="none" strike="noStrike">
              <a:solidFill>
                <a:srgbClr val="000000"/>
              </a:solidFill>
              <a:latin typeface="Arial"/>
              <a:ea typeface="Arial"/>
              <a:cs typeface="Arial"/>
              <a:sym typeface="Arial"/>
            </a:endParaRPr>
          </a:p>
        </p:txBody>
      </p:sp>
      <p:sp>
        <p:nvSpPr>
          <p:cNvPr id="245" name="Google Shape;245;p21"/>
          <p:cNvSpPr/>
          <p:nvPr/>
        </p:nvSpPr>
        <p:spPr>
          <a:xfrm>
            <a:off x="292100" y="3352800"/>
            <a:ext cx="14478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Threekit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VISUAL CONFIGURATOR</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Compatibility rules migrating to DX Graph.</a:t>
            </a:r>
            <a:endParaRPr b="0" i="0" sz="1400" u="none" cap="none" strike="noStrike">
              <a:solidFill>
                <a:srgbClr val="000000"/>
              </a:solidFill>
              <a:latin typeface="Arial"/>
              <a:ea typeface="Arial"/>
              <a:cs typeface="Arial"/>
              <a:sym typeface="Arial"/>
            </a:endParaRPr>
          </a:p>
        </p:txBody>
      </p:sp>
      <p:sp>
        <p:nvSpPr>
          <p:cNvPr id="246" name="Google Shape;246;p21"/>
          <p:cNvSpPr/>
          <p:nvPr/>
        </p:nvSpPr>
        <p:spPr>
          <a:xfrm>
            <a:off x="1790700" y="2590800"/>
            <a:ext cx="127000" cy="1016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1"/>
          <p:cNvSpPr/>
          <p:nvPr/>
        </p:nvSpPr>
        <p:spPr>
          <a:xfrm>
            <a:off x="1943100" y="762000"/>
            <a:ext cx="965200" cy="37592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1"/>
          <p:cNvSpPr/>
          <p:nvPr/>
        </p:nvSpPr>
        <p:spPr>
          <a:xfrm>
            <a:off x="1943100" y="762000"/>
            <a:ext cx="965200" cy="203200"/>
          </a:xfrm>
          <a:prstGeom prst="roundRect">
            <a:avLst>
              <a:gd fmla="val 2000" name="adj"/>
            </a:avLst>
          </a:prstGeom>
          <a:solidFill>
            <a:srgbClr val="EAECF0"/>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5B6370"/>
                </a:solidFill>
                <a:latin typeface="Calibri"/>
                <a:ea typeface="Calibri"/>
                <a:cs typeface="Calibri"/>
                <a:sym typeface="Calibri"/>
              </a:rPr>
              <a:t>INTEGRATION HUB</a:t>
            </a:r>
            <a:endParaRPr b="0" i="0" sz="1400" u="none" cap="none" strike="noStrike">
              <a:solidFill>
                <a:srgbClr val="000000"/>
              </a:solidFill>
              <a:latin typeface="Arial"/>
              <a:ea typeface="Arial"/>
              <a:cs typeface="Arial"/>
              <a:sym typeface="Arial"/>
            </a:endParaRPr>
          </a:p>
        </p:txBody>
      </p:sp>
      <p:sp>
        <p:nvSpPr>
          <p:cNvPr id="249" name="Google Shape;249;p21"/>
          <p:cNvSpPr/>
          <p:nvPr/>
        </p:nvSpPr>
        <p:spPr>
          <a:xfrm>
            <a:off x="1968500" y="990600"/>
            <a:ext cx="914400" cy="35052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Celigo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INTEGRATION PLATFORM</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Connects NetSuite, Adobe Commerce, Manhattan Active Omni &amp; Conscia Layer via scheduled and event-driven flows.</a:t>
            </a:r>
            <a:endParaRPr b="0" i="0" sz="1400" u="none" cap="none" strike="noStrike">
              <a:solidFill>
                <a:srgbClr val="000000"/>
              </a:solidFill>
              <a:latin typeface="Arial"/>
              <a:ea typeface="Arial"/>
              <a:cs typeface="Arial"/>
              <a:sym typeface="Arial"/>
            </a:endParaRPr>
          </a:p>
        </p:txBody>
      </p:sp>
      <p:sp>
        <p:nvSpPr>
          <p:cNvPr id="250" name="Google Shape;250;p21"/>
          <p:cNvSpPr/>
          <p:nvPr/>
        </p:nvSpPr>
        <p:spPr>
          <a:xfrm>
            <a:off x="2933700" y="2590800"/>
            <a:ext cx="127000" cy="1016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1"/>
          <p:cNvSpPr/>
          <p:nvPr/>
        </p:nvSpPr>
        <p:spPr>
          <a:xfrm>
            <a:off x="3086100" y="762000"/>
            <a:ext cx="1968500" cy="3759200"/>
          </a:xfrm>
          <a:prstGeom prst="roundRect">
            <a:avLst>
              <a:gd fmla="val 2000" name="adj"/>
            </a:avLst>
          </a:prstGeom>
          <a:solidFill>
            <a:srgbClr val="FDF2F8"/>
          </a:solidFill>
          <a:ln cap="flat" cmpd="sng" w="19050">
            <a:solidFill>
              <a:srgbClr val="C2185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21"/>
          <p:cNvSpPr/>
          <p:nvPr/>
        </p:nvSpPr>
        <p:spPr>
          <a:xfrm>
            <a:off x="3086100" y="762000"/>
            <a:ext cx="1968500" cy="203200"/>
          </a:xfrm>
          <a:prstGeom prst="roundRect">
            <a:avLst>
              <a:gd fmla="val 2000" name="adj"/>
            </a:avLst>
          </a:prstGeom>
          <a:solidFill>
            <a:srgbClr val="C2185B"/>
          </a:solidFill>
          <a:ln cap="flat" cmpd="sng" w="19050">
            <a:solidFill>
              <a:srgbClr val="C2185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CONSCIA PLATFORM</a:t>
            </a:r>
            <a:endParaRPr b="0" i="0" sz="1400" u="none" cap="none" strike="noStrike">
              <a:solidFill>
                <a:srgbClr val="000000"/>
              </a:solidFill>
              <a:latin typeface="Arial"/>
              <a:ea typeface="Arial"/>
              <a:cs typeface="Arial"/>
              <a:sym typeface="Arial"/>
            </a:endParaRPr>
          </a:p>
        </p:txBody>
      </p:sp>
      <p:sp>
        <p:nvSpPr>
          <p:cNvPr id="253" name="Google Shape;253;p21"/>
          <p:cNvSpPr/>
          <p:nvPr/>
        </p:nvSpPr>
        <p:spPr>
          <a:xfrm>
            <a:off x="3111500" y="990600"/>
            <a:ext cx="1917700" cy="1663700"/>
          </a:xfrm>
          <a:prstGeom prst="roundRect">
            <a:avLst>
              <a:gd fmla="val 2000" name="adj"/>
            </a:avLst>
          </a:prstGeom>
          <a:solidFill>
            <a:srgbClr val="FFFFFF"/>
          </a:solidFill>
          <a:ln cap="flat" cmpd="sng" w="12700">
            <a:solidFill>
              <a:srgbClr val="C2185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DX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374151"/>
                </a:solidFill>
                <a:latin typeface="Calibri"/>
                <a:ea typeface="Calibri"/>
                <a:cs typeface="Calibri"/>
                <a:sym typeface="Calibri"/>
              </a:rPr>
              <a:t>GOVERNED PRODUCT MASTER</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Semantic data layer &amp; system of record for configurable products. Holds unified SKU collection, compatibility relationships, taxonomy hierarchies &amp; governed entities.</a:t>
            </a:r>
            <a:endParaRPr b="0" i="0" sz="1400" u="none" cap="none" strike="noStrike">
              <a:solidFill>
                <a:srgbClr val="000000"/>
              </a:solidFill>
              <a:latin typeface="Arial"/>
              <a:ea typeface="Arial"/>
              <a:cs typeface="Arial"/>
              <a:sym typeface="Arial"/>
            </a:endParaRPr>
          </a:p>
        </p:txBody>
      </p:sp>
      <p:sp>
        <p:nvSpPr>
          <p:cNvPr id="254" name="Google Shape;254;p21"/>
          <p:cNvSpPr/>
          <p:nvPr/>
        </p:nvSpPr>
        <p:spPr>
          <a:xfrm>
            <a:off x="4000500" y="2667000"/>
            <a:ext cx="127000" cy="127000"/>
          </a:xfrm>
          <a:prstGeom prst="downArrow">
            <a:avLst>
              <a:gd fmla="val 50000" name="adj1"/>
              <a:gd fmla="val 50000" name="adj2"/>
            </a:avLst>
          </a:prstGeom>
          <a:solidFill>
            <a:srgbClr val="C218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1"/>
          <p:cNvSpPr/>
          <p:nvPr/>
        </p:nvSpPr>
        <p:spPr>
          <a:xfrm>
            <a:off x="3111500" y="2832100"/>
            <a:ext cx="1917700" cy="1663700"/>
          </a:xfrm>
          <a:prstGeom prst="roundRect">
            <a:avLst>
              <a:gd fmla="val 2000" name="adj"/>
            </a:avLst>
          </a:prstGeom>
          <a:solidFill>
            <a:srgbClr val="FFFFFF"/>
          </a:solidFill>
          <a:ln cap="flat" cmpd="sng" w="12700">
            <a:solidFill>
              <a:srgbClr val="C2185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DX Engine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374151"/>
                </a:solidFill>
                <a:latin typeface="Calibri"/>
                <a:ea typeface="Calibri"/>
                <a:cs typeface="Calibri"/>
                <a:sym typeface="Calibri"/>
              </a:rPr>
              <a:t>REAL-TIME ORCHESTRATION</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Experience API: config validation, wizard steps, Config IDs, BOM explosion &amp; channel feeds. MCP-exposable for agentic commerce.</a:t>
            </a:r>
            <a:endParaRPr b="0" i="0" sz="1400" u="none" cap="none" strike="noStrike">
              <a:solidFill>
                <a:srgbClr val="000000"/>
              </a:solidFill>
              <a:latin typeface="Arial"/>
              <a:ea typeface="Arial"/>
              <a:cs typeface="Arial"/>
              <a:sym typeface="Arial"/>
            </a:endParaRPr>
          </a:p>
        </p:txBody>
      </p:sp>
      <p:sp>
        <p:nvSpPr>
          <p:cNvPr id="256" name="Google Shape;256;p21"/>
          <p:cNvSpPr/>
          <p:nvPr/>
        </p:nvSpPr>
        <p:spPr>
          <a:xfrm>
            <a:off x="5080000" y="2590800"/>
            <a:ext cx="127000" cy="101600"/>
          </a:xfrm>
          <a:prstGeom prst="rightArrow">
            <a:avLst>
              <a:gd fmla="val 50000" name="adj1"/>
              <a:gd fmla="val 50000" name="adj2"/>
            </a:avLst>
          </a:prstGeom>
          <a:solidFill>
            <a:srgbClr val="C218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1"/>
          <p:cNvSpPr/>
          <p:nvPr/>
        </p:nvSpPr>
        <p:spPr>
          <a:xfrm>
            <a:off x="5232400" y="762000"/>
            <a:ext cx="1562100" cy="37592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1"/>
          <p:cNvSpPr/>
          <p:nvPr/>
        </p:nvSpPr>
        <p:spPr>
          <a:xfrm>
            <a:off x="5232400" y="762000"/>
            <a:ext cx="1562100" cy="203200"/>
          </a:xfrm>
          <a:prstGeom prst="roundRect">
            <a:avLst>
              <a:gd fmla="val 2000" name="adj"/>
            </a:avLst>
          </a:prstGeom>
          <a:solidFill>
            <a:srgbClr val="EAECF0"/>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5B6370"/>
                </a:solidFill>
                <a:latin typeface="Calibri"/>
                <a:ea typeface="Calibri"/>
                <a:cs typeface="Calibri"/>
                <a:sym typeface="Calibri"/>
              </a:rPr>
              <a:t>BACKENDS</a:t>
            </a:r>
            <a:endParaRPr b="0" i="0" sz="1400" u="none" cap="none" strike="noStrike">
              <a:solidFill>
                <a:srgbClr val="000000"/>
              </a:solidFill>
              <a:latin typeface="Arial"/>
              <a:ea typeface="Arial"/>
              <a:cs typeface="Arial"/>
              <a:sym typeface="Arial"/>
            </a:endParaRPr>
          </a:p>
        </p:txBody>
      </p:sp>
      <p:sp>
        <p:nvSpPr>
          <p:cNvPr id="259" name="Google Shape;259;p21"/>
          <p:cNvSpPr/>
          <p:nvPr/>
        </p:nvSpPr>
        <p:spPr>
          <a:xfrm>
            <a:off x="5257800" y="990600"/>
            <a:ext cx="15113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Manhattan Active Omni (MAO)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OMS</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Order master; receives exploded BOMs from DX Engine for fulfilment.</a:t>
            </a:r>
            <a:endParaRPr b="0" i="0" sz="1400" u="none" cap="none" strike="noStrike">
              <a:solidFill>
                <a:srgbClr val="000000"/>
              </a:solidFill>
              <a:latin typeface="Arial"/>
              <a:ea typeface="Arial"/>
              <a:cs typeface="Arial"/>
              <a:sym typeface="Arial"/>
            </a:endParaRPr>
          </a:p>
        </p:txBody>
      </p:sp>
      <p:sp>
        <p:nvSpPr>
          <p:cNvPr id="260" name="Google Shape;260;p21"/>
          <p:cNvSpPr/>
          <p:nvPr/>
        </p:nvSpPr>
        <p:spPr>
          <a:xfrm>
            <a:off x="5257800" y="2171700"/>
            <a:ext cx="15113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Lovesac.com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STOREFRONT</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Adobe Commerce; consumes validated Config IDs via Experience API.</a:t>
            </a:r>
            <a:endParaRPr b="0" i="0" sz="1400" u="none" cap="none" strike="noStrike">
              <a:solidFill>
                <a:srgbClr val="000000"/>
              </a:solidFill>
              <a:latin typeface="Arial"/>
              <a:ea typeface="Arial"/>
              <a:cs typeface="Arial"/>
              <a:sym typeface="Arial"/>
            </a:endParaRPr>
          </a:p>
        </p:txBody>
      </p:sp>
      <p:sp>
        <p:nvSpPr>
          <p:cNvPr id="261" name="Google Shape;261;p21"/>
          <p:cNvSpPr/>
          <p:nvPr/>
        </p:nvSpPr>
        <p:spPr>
          <a:xfrm>
            <a:off x="5257800" y="3352800"/>
            <a:ext cx="1511300" cy="1143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11827"/>
                </a:solidFill>
                <a:latin typeface="Calibri"/>
                <a:ea typeface="Calibri"/>
                <a:cs typeface="Calibri"/>
                <a:sym typeface="Calibri"/>
              </a:rPr>
              <a:t>Salesforce Retail Cloud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POS</a:t>
            </a:r>
            <a:endParaRPr b="0" i="0" sz="1400" u="none" cap="none" strike="noStrike">
              <a:solidFill>
                <a:srgbClr val="000000"/>
              </a:solidFill>
              <a:latin typeface="Arial"/>
              <a:ea typeface="Arial"/>
              <a:cs typeface="Arial"/>
              <a:sym typeface="Arial"/>
            </a:endParaRPr>
          </a:p>
          <a:p>
            <a:pPr indent="0" lvl="0" marL="0" marR="0" rtl="0" algn="l">
              <a:lnSpc>
                <a:spcPct val="166666"/>
              </a:lnSpc>
              <a:spcBef>
                <a:spcPts val="40"/>
              </a:spcBef>
              <a:spcAft>
                <a:spcPts val="0"/>
              </a:spcAft>
              <a:buClr>
                <a:srgbClr val="000000"/>
              </a:buClr>
              <a:buSzPts val="600"/>
              <a:buFont typeface="Arial"/>
              <a:buNone/>
            </a:pPr>
            <a:r>
              <a:t/>
            </a:r>
            <a:endParaRPr b="0" i="0" sz="600" u="none" cap="none" strike="noStrike">
              <a:solidFill>
                <a:srgbClr val="4B5563"/>
              </a:solidFill>
              <a:latin typeface="Calibri"/>
              <a:ea typeface="Calibri"/>
              <a:cs typeface="Calibri"/>
              <a:sym typeface="Calibri"/>
            </a:endParaRPr>
          </a:p>
          <a:p>
            <a:pPr indent="0" lvl="0" marL="0" marR="0" rtl="0" algn="l">
              <a:lnSpc>
                <a:spcPct val="166666"/>
              </a:lnSpc>
              <a:spcBef>
                <a:spcPts val="40"/>
              </a:spcBef>
              <a:spcAft>
                <a:spcPts val="0"/>
              </a:spcAft>
              <a:buClr>
                <a:srgbClr val="000000"/>
              </a:buClr>
              <a:buSzPts val="600"/>
              <a:buFont typeface="Arial"/>
              <a:buNone/>
            </a:pPr>
            <a:r>
              <a:rPr b="0" i="0" lang="en-US" sz="600" u="none" cap="none" strike="noStrike">
                <a:solidFill>
                  <a:srgbClr val="4B5563"/>
                </a:solidFill>
                <a:latin typeface="Calibri"/>
                <a:ea typeface="Calibri"/>
                <a:cs typeface="Calibri"/>
                <a:sym typeface="Calibri"/>
              </a:rPr>
              <a:t>In-store config validation &amp; Config ID lookup at the register.</a:t>
            </a:r>
            <a:endParaRPr b="0" i="0" sz="1400" u="none" cap="none" strike="noStrike">
              <a:solidFill>
                <a:srgbClr val="000000"/>
              </a:solidFill>
              <a:latin typeface="Arial"/>
              <a:ea typeface="Arial"/>
              <a:cs typeface="Arial"/>
              <a:sym typeface="Arial"/>
            </a:endParaRPr>
          </a:p>
        </p:txBody>
      </p:sp>
      <p:sp>
        <p:nvSpPr>
          <p:cNvPr id="262" name="Google Shape;262;p21"/>
          <p:cNvSpPr/>
          <p:nvPr/>
        </p:nvSpPr>
        <p:spPr>
          <a:xfrm>
            <a:off x="6972300" y="762000"/>
            <a:ext cx="1778000" cy="37592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1"/>
          <p:cNvSpPr/>
          <p:nvPr/>
        </p:nvSpPr>
        <p:spPr>
          <a:xfrm>
            <a:off x="6972300" y="762000"/>
            <a:ext cx="1778000" cy="203200"/>
          </a:xfrm>
          <a:prstGeom prst="roundRect">
            <a:avLst>
              <a:gd fmla="val 2000" name="adj"/>
            </a:avLst>
          </a:prstGeom>
          <a:solidFill>
            <a:srgbClr val="EAECF0"/>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5B6370"/>
                </a:solidFill>
                <a:latin typeface="Calibri"/>
                <a:ea typeface="Calibri"/>
                <a:cs typeface="Calibri"/>
                <a:sym typeface="Calibri"/>
              </a:rPr>
              <a:t>CHANNELS &amp; AGENTS</a:t>
            </a:r>
            <a:endParaRPr b="0" i="0" sz="1400" u="none" cap="none" strike="noStrike">
              <a:solidFill>
                <a:srgbClr val="000000"/>
              </a:solidFill>
              <a:latin typeface="Arial"/>
              <a:ea typeface="Arial"/>
              <a:cs typeface="Arial"/>
              <a:sym typeface="Arial"/>
            </a:endParaRPr>
          </a:p>
        </p:txBody>
      </p:sp>
      <p:sp>
        <p:nvSpPr>
          <p:cNvPr id="264" name="Google Shape;264;p21"/>
          <p:cNvSpPr/>
          <p:nvPr/>
        </p:nvSpPr>
        <p:spPr>
          <a:xfrm>
            <a:off x="6997700" y="9906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POS Terminals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IN-STORE</a:t>
            </a:r>
            <a:endParaRPr b="0" i="0" sz="1400" u="none" cap="none" strike="noStrike">
              <a:solidFill>
                <a:srgbClr val="000000"/>
              </a:solidFill>
              <a:latin typeface="Arial"/>
              <a:ea typeface="Arial"/>
              <a:cs typeface="Arial"/>
              <a:sym typeface="Arial"/>
            </a:endParaRPr>
          </a:p>
        </p:txBody>
      </p:sp>
      <p:sp>
        <p:nvSpPr>
          <p:cNvPr id="265" name="Google Shape;265;p21"/>
          <p:cNvSpPr/>
          <p:nvPr/>
        </p:nvSpPr>
        <p:spPr>
          <a:xfrm>
            <a:off x="6997700" y="15748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Lovesac.com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WEB</a:t>
            </a:r>
            <a:endParaRPr b="0" i="0" sz="1400" u="none" cap="none" strike="noStrike">
              <a:solidFill>
                <a:srgbClr val="000000"/>
              </a:solidFill>
              <a:latin typeface="Arial"/>
              <a:ea typeface="Arial"/>
              <a:cs typeface="Arial"/>
              <a:sym typeface="Arial"/>
            </a:endParaRPr>
          </a:p>
        </p:txBody>
      </p:sp>
      <p:sp>
        <p:nvSpPr>
          <p:cNvPr id="266" name="Google Shape;266;p21"/>
          <p:cNvSpPr/>
          <p:nvPr/>
        </p:nvSpPr>
        <p:spPr>
          <a:xfrm>
            <a:off x="6997700" y="21590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Mobile Apps</a:t>
            </a:r>
            <a:endParaRPr b="0" i="0" sz="1400" u="none" cap="none" strike="noStrike">
              <a:solidFill>
                <a:srgbClr val="000000"/>
              </a:solidFill>
              <a:latin typeface="Arial"/>
              <a:ea typeface="Arial"/>
              <a:cs typeface="Arial"/>
              <a:sym typeface="Arial"/>
            </a:endParaRPr>
          </a:p>
        </p:txBody>
      </p:sp>
      <p:sp>
        <p:nvSpPr>
          <p:cNvPr id="267" name="Google Shape;267;p21"/>
          <p:cNvSpPr/>
          <p:nvPr/>
        </p:nvSpPr>
        <p:spPr>
          <a:xfrm>
            <a:off x="6997700" y="27432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AgentForce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AI AGENT</a:t>
            </a:r>
            <a:endParaRPr b="0" i="0" sz="1400" u="none" cap="none" strike="noStrike">
              <a:solidFill>
                <a:srgbClr val="000000"/>
              </a:solidFill>
              <a:latin typeface="Arial"/>
              <a:ea typeface="Arial"/>
              <a:cs typeface="Arial"/>
              <a:sym typeface="Arial"/>
            </a:endParaRPr>
          </a:p>
        </p:txBody>
      </p:sp>
      <p:sp>
        <p:nvSpPr>
          <p:cNvPr id="268" name="Google Shape;268;p21"/>
          <p:cNvSpPr/>
          <p:nvPr/>
        </p:nvSpPr>
        <p:spPr>
          <a:xfrm>
            <a:off x="6997700" y="33274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Google Shopping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3RD-PARTY AGENTIC</a:t>
            </a:r>
            <a:endParaRPr b="0" i="0" sz="1400" u="none" cap="none" strike="noStrike">
              <a:solidFill>
                <a:srgbClr val="000000"/>
              </a:solidFill>
              <a:latin typeface="Arial"/>
              <a:ea typeface="Arial"/>
              <a:cs typeface="Arial"/>
              <a:sym typeface="Arial"/>
            </a:endParaRPr>
          </a:p>
        </p:txBody>
      </p:sp>
      <p:sp>
        <p:nvSpPr>
          <p:cNvPr id="269" name="Google Shape;269;p21"/>
          <p:cNvSpPr/>
          <p:nvPr/>
        </p:nvSpPr>
        <p:spPr>
          <a:xfrm>
            <a:off x="6997700" y="3911600"/>
            <a:ext cx="1727200" cy="546100"/>
          </a:xfrm>
          <a:prstGeom prst="roundRect">
            <a:avLst>
              <a:gd fmla="val 1500" name="adj"/>
            </a:avLst>
          </a:prstGeom>
          <a:solidFill>
            <a:srgbClr val="FFFFFF"/>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ChatGPT / 3rd-Party AI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
              </a:spcBef>
              <a:spcAft>
                <a:spcPts val="0"/>
              </a:spcAft>
              <a:buClr>
                <a:srgbClr val="000000"/>
              </a:buClr>
              <a:buSzPts val="575"/>
              <a:buFont typeface="Arial"/>
              <a:buNone/>
            </a:pPr>
            <a:r>
              <a:rPr b="1" i="0" lang="en-US" sz="575" u="none" cap="none" strike="noStrike">
                <a:solidFill>
                  <a:srgbClr val="6B7280"/>
                </a:solidFill>
                <a:latin typeface="Calibri"/>
                <a:ea typeface="Calibri"/>
                <a:cs typeface="Calibri"/>
                <a:sym typeface="Calibri"/>
              </a:rPr>
              <a:t>EMERGING AI</a:t>
            </a:r>
            <a:endParaRPr b="0" i="0" sz="1400" u="none" cap="none" strike="noStrike">
              <a:solidFill>
                <a:srgbClr val="000000"/>
              </a:solidFill>
              <a:latin typeface="Arial"/>
              <a:ea typeface="Arial"/>
              <a:cs typeface="Arial"/>
              <a:sym typeface="Arial"/>
            </a:endParaRPr>
          </a:p>
        </p:txBody>
      </p:sp>
      <p:sp>
        <p:nvSpPr>
          <p:cNvPr id="270" name="Google Shape;270;p21"/>
          <p:cNvSpPr/>
          <p:nvPr/>
        </p:nvSpPr>
        <p:spPr>
          <a:xfrm>
            <a:off x="266700" y="4572000"/>
            <a:ext cx="8864600" cy="152400"/>
          </a:xfrm>
          <a:prstGeom prst="rect">
            <a:avLst/>
          </a:prstGeom>
          <a:noFill/>
          <a:ln>
            <a:noFill/>
          </a:ln>
        </p:spPr>
        <p:txBody>
          <a:bodyPr anchorCtr="0" anchor="ctr" bIns="12700" lIns="12700" spcFirstLastPara="1" rIns="12700" wrap="square" tIns="12700">
            <a:noAutofit/>
          </a:bodyPr>
          <a:lstStyle/>
          <a:p>
            <a:pPr indent="0" lvl="0" marL="0" marR="0" rtl="0" algn="l">
              <a:lnSpc>
                <a:spcPct val="100000"/>
              </a:lnSpc>
              <a:spcBef>
                <a:spcPts val="0"/>
              </a:spcBef>
              <a:spcAft>
                <a:spcPts val="0"/>
              </a:spcAft>
              <a:buClr>
                <a:srgbClr val="000000"/>
              </a:buClr>
              <a:buSzPts val="575"/>
              <a:buFont typeface="Arial"/>
              <a:buNone/>
            </a:pPr>
            <a:r>
              <a:rPr b="0" i="1" lang="en-US" sz="575" u="none" cap="none" strike="noStrike">
                <a:solidFill>
                  <a:srgbClr val="6B7280"/>
                </a:solidFill>
                <a:latin typeface="Calibri"/>
                <a:ea typeface="Calibri"/>
                <a:cs typeface="Calibri"/>
                <a:sym typeface="Calibri"/>
              </a:rPr>
              <a:t>System names and integration paths from Lovesac Enterprise Applications Architecture, Target State, January 2026.</a:t>
            </a:r>
            <a:endParaRPr b="0" i="0" sz="1400" u="none" cap="none" strike="noStrike">
              <a:solidFill>
                <a:srgbClr val="000000"/>
              </a:solidFill>
              <a:latin typeface="Arial"/>
              <a:ea typeface="Arial"/>
              <a:cs typeface="Arial"/>
              <a:sym typeface="Arial"/>
            </a:endParaRPr>
          </a:p>
        </p:txBody>
      </p:sp>
      <p:sp>
        <p:nvSpPr>
          <p:cNvPr id="271" name="Google Shape;271;p21"/>
          <p:cNvSpPr/>
          <p:nvPr/>
        </p:nvSpPr>
        <p:spPr>
          <a:xfrm>
            <a:off x="457200" y="25400"/>
            <a:ext cx="2400000" cy="152400"/>
          </a:xfrm>
          <a:prstGeom prst="roundRect">
            <a:avLst>
              <a:gd fmla="val 50000" name="adj"/>
            </a:avLst>
          </a:prstGeom>
          <a:solidFill>
            <a:srgbClr val="3B7CC4"/>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04 · PROPOSED ARCHITECTURE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2"/>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2"/>
          <p:cNvSpPr/>
          <p:nvPr/>
        </p:nvSpPr>
        <p:spPr>
          <a:xfrm>
            <a:off x="381000" y="298726"/>
            <a:ext cx="7772400" cy="310874"/>
          </a:xfrm>
          <a:prstGeom prst="rect">
            <a:avLst/>
          </a:prstGeom>
          <a:noFill/>
          <a:ln>
            <a:noFill/>
          </a:ln>
        </p:spPr>
        <p:txBody>
          <a:bodyPr anchorCtr="0" anchor="ctr" bIns="0" lIns="0" spcFirstLastPara="1" rIns="0" wrap="square" tIns="0">
            <a:noAutofit/>
          </a:bodyPr>
          <a:lstStyle/>
          <a:p>
            <a:pPr indent="0" lvl="0" marL="0" marR="0" rtl="0" algn="l">
              <a:lnSpc>
                <a:spcPct val="6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Collections, Hierarchies, Taxonomies</a:t>
            </a:r>
            <a:endParaRPr b="0" i="0" sz="1400" u="none" cap="none" strike="noStrike">
              <a:solidFill>
                <a:srgbClr val="000000"/>
              </a:solidFill>
              <a:latin typeface="Arial"/>
              <a:ea typeface="Arial"/>
              <a:cs typeface="Arial"/>
              <a:sym typeface="Arial"/>
            </a:endParaRPr>
          </a:p>
        </p:txBody>
      </p:sp>
      <p:sp>
        <p:nvSpPr>
          <p:cNvPr id="279" name="Google Shape;279;p22"/>
          <p:cNvSpPr/>
          <p:nvPr/>
        </p:nvSpPr>
        <p:spPr>
          <a:xfrm>
            <a:off x="381000" y="533400"/>
            <a:ext cx="77724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How DX Graph models Lovesac’s configurable catalogue — Part 1: The Model</a:t>
            </a:r>
            <a:endParaRPr b="0" i="0" sz="850" u="none" cap="none" strike="noStrike">
              <a:solidFill>
                <a:srgbClr val="000000"/>
              </a:solidFill>
              <a:latin typeface="Arial"/>
              <a:ea typeface="Arial"/>
              <a:cs typeface="Arial"/>
              <a:sym typeface="Arial"/>
            </a:endParaRPr>
          </a:p>
        </p:txBody>
      </p:sp>
      <p:cxnSp>
        <p:nvCxnSpPr>
          <p:cNvPr id="280" name="Google Shape;280;p22"/>
          <p:cNvCxnSpPr/>
          <p:nvPr/>
        </p:nvCxnSpPr>
        <p:spPr>
          <a:xfrm>
            <a:off x="254000" y="838200"/>
            <a:ext cx="8636000" cy="0"/>
          </a:xfrm>
          <a:prstGeom prst="straightConnector1">
            <a:avLst/>
          </a:prstGeom>
          <a:noFill/>
          <a:ln cap="flat" cmpd="sng" w="9525">
            <a:solidFill>
              <a:srgbClr val="E5E7EB"/>
            </a:solidFill>
            <a:prstDash val="solid"/>
            <a:round/>
            <a:headEnd len="sm" w="sm" type="none"/>
            <a:tailEnd len="sm" w="sm" type="none"/>
          </a:ln>
        </p:spPr>
      </p:cxnSp>
      <p:sp>
        <p:nvSpPr>
          <p:cNvPr id="281" name="Google Shape;281;p22"/>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282" name="Google Shape;282;p22"/>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83" name="Google Shape;283;p22"/>
          <p:cNvCxnSpPr/>
          <p:nvPr/>
        </p:nvCxnSpPr>
        <p:spPr>
          <a:xfrm rot="10800000">
            <a:off x="4241800" y="2400300"/>
            <a:ext cx="177800" cy="101600"/>
          </a:xfrm>
          <a:prstGeom prst="straightConnector1">
            <a:avLst/>
          </a:prstGeom>
          <a:noFill/>
          <a:ln cap="flat" cmpd="sng" w="9525">
            <a:solidFill>
              <a:srgbClr val="C2185B"/>
            </a:solidFill>
            <a:prstDash val="dash"/>
            <a:round/>
            <a:headEnd len="sm" w="sm" type="none"/>
            <a:tailEnd len="sm" w="sm" type="none"/>
          </a:ln>
        </p:spPr>
      </p:cxnSp>
      <p:sp>
        <p:nvSpPr>
          <p:cNvPr id="284" name="Google Shape;284;p22"/>
          <p:cNvSpPr/>
          <p:nvPr/>
        </p:nvSpPr>
        <p:spPr>
          <a:xfrm>
            <a:off x="5524500" y="889000"/>
            <a:ext cx="12700" cy="38862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2"/>
          <p:cNvSpPr/>
          <p:nvPr/>
        </p:nvSpPr>
        <p:spPr>
          <a:xfrm>
            <a:off x="1143000" y="1079500"/>
            <a:ext cx="2667000" cy="2438400"/>
          </a:xfrm>
          <a:prstGeom prst="roundRect">
            <a:avLst>
              <a:gd fmla="val 1500" name="adj"/>
            </a:avLst>
          </a:prstGeom>
          <a:solidFill>
            <a:srgbClr val="FDF2F8"/>
          </a:solidFill>
          <a:ln cap="flat" cmpd="sng" w="19050">
            <a:solidFill>
              <a:srgbClr val="EB1A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2"/>
          <p:cNvSpPr/>
          <p:nvPr/>
        </p:nvSpPr>
        <p:spPr>
          <a:xfrm>
            <a:off x="1143000" y="1079500"/>
            <a:ext cx="2667000" cy="254000"/>
          </a:xfrm>
          <a:prstGeom prst="roundRect">
            <a:avLst>
              <a:gd fmla="val 1500" name="adj"/>
            </a:avLst>
          </a:prstGeom>
          <a:solidFill>
            <a:srgbClr val="EB1A63"/>
          </a:solidFill>
          <a:ln>
            <a:noFill/>
          </a:ln>
        </p:spPr>
        <p:txBody>
          <a:bodyPr anchorCtr="0" anchor="ctr" bIns="0" lIns="88900" spcFirstLastPara="1" rIns="50800" wrap="square" tIns="0">
            <a:noAutofit/>
          </a:bodyPr>
          <a:lstStyle/>
          <a:p>
            <a:pPr indent="0" lvl="0" marL="0" marR="0" rtl="0" algn="l">
              <a:lnSpc>
                <a:spcPct val="133333"/>
              </a:lnSpc>
              <a:spcBef>
                <a:spcPts val="0"/>
              </a:spcBef>
              <a:spcAft>
                <a:spcPts val="0"/>
              </a:spcAft>
              <a:buClr>
                <a:srgbClr val="000000"/>
              </a:buClr>
              <a:buSzPts val="825"/>
              <a:buFont typeface="Arial"/>
              <a:buNone/>
            </a:pPr>
            <a:r>
              <a:rPr b="1" i="0" lang="en-US" sz="825" u="none" cap="none" strike="noStrike">
                <a:solidFill>
                  <a:srgbClr val="FFFFFF"/>
                </a:solidFill>
                <a:latin typeface="Calibri"/>
                <a:ea typeface="Calibri"/>
                <a:cs typeface="Calibri"/>
                <a:sym typeface="Calibri"/>
              </a:rPr>
              <a:t>SKU Collection</a:t>
            </a:r>
            <a:r>
              <a:rPr b="0" i="0" lang="en-US" sz="700" u="none" cap="none" strike="noStrike">
                <a:solidFill>
                  <a:srgbClr val="FFE4F0"/>
                </a:solidFill>
                <a:latin typeface="Calibri"/>
                <a:ea typeface="Calibri"/>
                <a:cs typeface="Calibri"/>
                <a:sym typeface="Calibri"/>
              </a:rPr>
              <a:t>  ·  ~13,700 records</a:t>
            </a:r>
            <a:endParaRPr b="0" i="0" sz="1400" u="none" cap="none" strike="noStrike">
              <a:solidFill>
                <a:srgbClr val="000000"/>
              </a:solidFill>
              <a:latin typeface="Arial"/>
              <a:ea typeface="Arial"/>
              <a:cs typeface="Arial"/>
              <a:sym typeface="Arial"/>
            </a:endParaRPr>
          </a:p>
        </p:txBody>
      </p:sp>
      <p:sp>
        <p:nvSpPr>
          <p:cNvPr id="287" name="Google Shape;287;p22"/>
          <p:cNvSpPr/>
          <p:nvPr/>
        </p:nvSpPr>
        <p:spPr>
          <a:xfrm>
            <a:off x="1143000" y="1244600"/>
            <a:ext cx="2667000" cy="1016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2"/>
          <p:cNvSpPr/>
          <p:nvPr/>
        </p:nvSpPr>
        <p:spPr>
          <a:xfrm>
            <a:off x="1168400" y="1498600"/>
            <a:ext cx="939800" cy="139700"/>
          </a:xfrm>
          <a:prstGeom prst="rect">
            <a:avLst/>
          </a:prstGeom>
          <a:solidFill>
            <a:srgbClr val="F3F4F6"/>
          </a:solidFill>
          <a:ln cap="flat" cmpd="sng" w="9525">
            <a:solidFill>
              <a:srgbClr val="D1D5DB"/>
            </a:solidFill>
            <a:prstDash val="solid"/>
            <a:round/>
            <a:headEnd len="sm" w="sm" type="none"/>
            <a:tailEnd len="sm" w="sm" type="none"/>
          </a:ln>
        </p:spPr>
        <p:txBody>
          <a:bodyPr anchorCtr="0" anchor="ctr" bIns="12700" lIns="12700" spcFirstLastPara="1" rIns="12700" wrap="square" tIns="12700">
            <a:noAutofit/>
          </a:bodyPr>
          <a:lstStyle/>
          <a:p>
            <a:pPr indent="0" lvl="0" marL="0" marR="0" rtl="0" algn="ctr">
              <a:lnSpc>
                <a:spcPct val="190909"/>
              </a:lnSpc>
              <a:spcBef>
                <a:spcPts val="0"/>
              </a:spcBef>
              <a:spcAft>
                <a:spcPts val="0"/>
              </a:spcAft>
              <a:buClr>
                <a:srgbClr val="000000"/>
              </a:buClr>
              <a:buSzPts val="550"/>
              <a:buFont typeface="Arial"/>
              <a:buNone/>
            </a:pPr>
            <a:r>
              <a:rPr b="1" i="0" lang="en-US" sz="550" u="none" cap="none" strike="noStrike">
                <a:solidFill>
                  <a:srgbClr val="374151"/>
                </a:solidFill>
                <a:latin typeface="Calibri"/>
                <a:ea typeface="Calibri"/>
                <a:cs typeface="Calibri"/>
                <a:sym typeface="Calibri"/>
              </a:rPr>
              <a:t>SKU ID</a:t>
            </a:r>
            <a:endParaRPr b="0" i="0" sz="1400" u="none" cap="none" strike="noStrike">
              <a:solidFill>
                <a:srgbClr val="000000"/>
              </a:solidFill>
              <a:latin typeface="Arial"/>
              <a:ea typeface="Arial"/>
              <a:cs typeface="Arial"/>
              <a:sym typeface="Arial"/>
            </a:endParaRPr>
          </a:p>
        </p:txBody>
      </p:sp>
      <p:sp>
        <p:nvSpPr>
          <p:cNvPr id="289" name="Google Shape;289;p22"/>
          <p:cNvSpPr/>
          <p:nvPr/>
        </p:nvSpPr>
        <p:spPr>
          <a:xfrm>
            <a:off x="2108200" y="1498600"/>
            <a:ext cx="330200" cy="139700"/>
          </a:xfrm>
          <a:prstGeom prst="rect">
            <a:avLst/>
          </a:prstGeom>
          <a:solidFill>
            <a:srgbClr val="F3F4F6"/>
          </a:solidFill>
          <a:ln cap="flat" cmpd="sng" w="9525">
            <a:solidFill>
              <a:srgbClr val="D1D5DB"/>
            </a:solidFill>
            <a:prstDash val="solid"/>
            <a:round/>
            <a:headEnd len="sm" w="sm" type="none"/>
            <a:tailEnd len="sm" w="sm" type="none"/>
          </a:ln>
        </p:spPr>
        <p:txBody>
          <a:bodyPr anchorCtr="0" anchor="ctr" bIns="12700" lIns="12700" spcFirstLastPara="1" rIns="12700" wrap="square" tIns="12700">
            <a:noAutofit/>
          </a:bodyPr>
          <a:lstStyle/>
          <a:p>
            <a:pPr indent="0" lvl="0" marL="0" marR="0" rtl="0" algn="ctr">
              <a:lnSpc>
                <a:spcPct val="190909"/>
              </a:lnSpc>
              <a:spcBef>
                <a:spcPts val="0"/>
              </a:spcBef>
              <a:spcAft>
                <a:spcPts val="0"/>
              </a:spcAft>
              <a:buClr>
                <a:srgbClr val="000000"/>
              </a:buClr>
              <a:buSzPts val="550"/>
              <a:buFont typeface="Arial"/>
              <a:buNone/>
            </a:pPr>
            <a:r>
              <a:rPr b="1" i="0" lang="en-US" sz="550" u="none" cap="none" strike="noStrike">
                <a:solidFill>
                  <a:srgbClr val="374151"/>
                </a:solidFill>
                <a:latin typeface="Calibri"/>
                <a:ea typeface="Calibri"/>
                <a:cs typeface="Calibri"/>
                <a:sym typeface="Calibri"/>
              </a:rPr>
              <a:t>Line</a:t>
            </a:r>
            <a:endParaRPr b="0" i="0" sz="1400" u="none" cap="none" strike="noStrike">
              <a:solidFill>
                <a:srgbClr val="000000"/>
              </a:solidFill>
              <a:latin typeface="Arial"/>
              <a:ea typeface="Arial"/>
              <a:cs typeface="Arial"/>
              <a:sym typeface="Arial"/>
            </a:endParaRPr>
          </a:p>
        </p:txBody>
      </p:sp>
      <p:sp>
        <p:nvSpPr>
          <p:cNvPr id="290" name="Google Shape;290;p22"/>
          <p:cNvSpPr/>
          <p:nvPr/>
        </p:nvSpPr>
        <p:spPr>
          <a:xfrm>
            <a:off x="2438400" y="1498600"/>
            <a:ext cx="558800" cy="139700"/>
          </a:xfrm>
          <a:prstGeom prst="rect">
            <a:avLst/>
          </a:prstGeom>
          <a:solidFill>
            <a:srgbClr val="F3F4F6"/>
          </a:solidFill>
          <a:ln cap="flat" cmpd="sng" w="9525">
            <a:solidFill>
              <a:srgbClr val="D1D5DB"/>
            </a:solidFill>
            <a:prstDash val="solid"/>
            <a:round/>
            <a:headEnd len="sm" w="sm" type="none"/>
            <a:tailEnd len="sm" w="sm" type="none"/>
          </a:ln>
        </p:spPr>
        <p:txBody>
          <a:bodyPr anchorCtr="0" anchor="ctr" bIns="12700" lIns="12700" spcFirstLastPara="1" rIns="12700" wrap="square" tIns="12700">
            <a:noAutofit/>
          </a:bodyPr>
          <a:lstStyle/>
          <a:p>
            <a:pPr indent="0" lvl="0" marL="0" marR="0" rtl="0" algn="ctr">
              <a:lnSpc>
                <a:spcPct val="190909"/>
              </a:lnSpc>
              <a:spcBef>
                <a:spcPts val="0"/>
              </a:spcBef>
              <a:spcAft>
                <a:spcPts val="0"/>
              </a:spcAft>
              <a:buClr>
                <a:srgbClr val="000000"/>
              </a:buClr>
              <a:buSzPts val="550"/>
              <a:buFont typeface="Arial"/>
              <a:buNone/>
            </a:pPr>
            <a:r>
              <a:rPr b="1" i="0" lang="en-US" sz="550" u="none" cap="none" strike="noStrike">
                <a:solidFill>
                  <a:srgbClr val="374151"/>
                </a:solidFill>
                <a:latin typeface="Calibri"/>
                <a:ea typeface="Calibri"/>
                <a:cs typeface="Calibri"/>
                <a:sym typeface="Calibri"/>
              </a:rPr>
              <a:t>Product</a:t>
            </a:r>
            <a:endParaRPr b="0" i="0" sz="1400" u="none" cap="none" strike="noStrike">
              <a:solidFill>
                <a:srgbClr val="000000"/>
              </a:solidFill>
              <a:latin typeface="Arial"/>
              <a:ea typeface="Arial"/>
              <a:cs typeface="Arial"/>
              <a:sym typeface="Arial"/>
            </a:endParaRPr>
          </a:p>
        </p:txBody>
      </p:sp>
      <p:sp>
        <p:nvSpPr>
          <p:cNvPr id="291" name="Google Shape;291;p22"/>
          <p:cNvSpPr/>
          <p:nvPr/>
        </p:nvSpPr>
        <p:spPr>
          <a:xfrm>
            <a:off x="2997200" y="1498600"/>
            <a:ext cx="787400" cy="139700"/>
          </a:xfrm>
          <a:prstGeom prst="rect">
            <a:avLst/>
          </a:prstGeom>
          <a:solidFill>
            <a:srgbClr val="F3F4F6"/>
          </a:solidFill>
          <a:ln cap="flat" cmpd="sng" w="9525">
            <a:solidFill>
              <a:srgbClr val="D1D5DB"/>
            </a:solidFill>
            <a:prstDash val="solid"/>
            <a:round/>
            <a:headEnd len="sm" w="sm" type="none"/>
            <a:tailEnd len="sm" w="sm" type="none"/>
          </a:ln>
        </p:spPr>
        <p:txBody>
          <a:bodyPr anchorCtr="0" anchor="ctr" bIns="12700" lIns="12700" spcFirstLastPara="1" rIns="12700" wrap="square" tIns="12700">
            <a:noAutofit/>
          </a:bodyPr>
          <a:lstStyle/>
          <a:p>
            <a:pPr indent="0" lvl="0" marL="0" marR="0" rtl="0" algn="ctr">
              <a:lnSpc>
                <a:spcPct val="190909"/>
              </a:lnSpc>
              <a:spcBef>
                <a:spcPts val="0"/>
              </a:spcBef>
              <a:spcAft>
                <a:spcPts val="0"/>
              </a:spcAft>
              <a:buClr>
                <a:srgbClr val="000000"/>
              </a:buClr>
              <a:buSzPts val="550"/>
              <a:buFont typeface="Arial"/>
              <a:buNone/>
            </a:pPr>
            <a:r>
              <a:rPr b="1" i="0" lang="en-US" sz="550" u="none" cap="none" strike="noStrike">
                <a:solidFill>
                  <a:srgbClr val="374151"/>
                </a:solidFill>
                <a:latin typeface="Calibri"/>
                <a:ea typeface="Calibri"/>
                <a:cs typeface="Calibri"/>
                <a:sym typeface="Calibri"/>
              </a:rPr>
              <a:t>Color / Fabric</a:t>
            </a:r>
            <a:endParaRPr b="0" i="0" sz="1400" u="none" cap="none" strike="noStrike">
              <a:solidFill>
                <a:srgbClr val="000000"/>
              </a:solidFill>
              <a:latin typeface="Arial"/>
              <a:ea typeface="Arial"/>
              <a:cs typeface="Arial"/>
              <a:sym typeface="Arial"/>
            </a:endParaRPr>
          </a:p>
        </p:txBody>
      </p:sp>
      <p:sp>
        <p:nvSpPr>
          <p:cNvPr id="292" name="Google Shape;292;p22"/>
          <p:cNvSpPr/>
          <p:nvPr/>
        </p:nvSpPr>
        <p:spPr>
          <a:xfrm>
            <a:off x="1168400" y="1638300"/>
            <a:ext cx="9398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1" i="0" lang="en-US" sz="530" u="none" cap="none" strike="noStrike">
                <a:solidFill>
                  <a:srgbClr val="EB1A63"/>
                </a:solidFill>
                <a:latin typeface="Calibri"/>
                <a:ea typeface="Calibri"/>
                <a:cs typeface="Calibri"/>
                <a:sym typeface="Calibri"/>
              </a:rPr>
              <a:t>SAC-5S-COV</a:t>
            </a:r>
            <a:endParaRPr b="0" i="0" sz="1400" u="none" cap="none" strike="noStrike">
              <a:solidFill>
                <a:srgbClr val="000000"/>
              </a:solidFill>
              <a:latin typeface="Arial"/>
              <a:ea typeface="Arial"/>
              <a:cs typeface="Arial"/>
              <a:sym typeface="Arial"/>
            </a:endParaRPr>
          </a:p>
        </p:txBody>
      </p:sp>
      <p:sp>
        <p:nvSpPr>
          <p:cNvPr id="293" name="Google Shape;293;p22"/>
          <p:cNvSpPr/>
          <p:nvPr/>
        </p:nvSpPr>
        <p:spPr>
          <a:xfrm>
            <a:off x="2108200" y="1638300"/>
            <a:ext cx="3302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Cover</a:t>
            </a:r>
            <a:endParaRPr b="0" i="0" sz="1400" u="none" cap="none" strike="noStrike">
              <a:solidFill>
                <a:srgbClr val="000000"/>
              </a:solidFill>
              <a:latin typeface="Arial"/>
              <a:ea typeface="Arial"/>
              <a:cs typeface="Arial"/>
              <a:sym typeface="Arial"/>
            </a:endParaRPr>
          </a:p>
        </p:txBody>
      </p:sp>
      <p:sp>
        <p:nvSpPr>
          <p:cNvPr id="294" name="Google Shape;294;p22"/>
          <p:cNvSpPr/>
          <p:nvPr/>
        </p:nvSpPr>
        <p:spPr>
          <a:xfrm>
            <a:off x="2438400" y="1638300"/>
            <a:ext cx="5588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Seat</a:t>
            </a:r>
            <a:endParaRPr b="0" i="0" sz="1400" u="none" cap="none" strike="noStrike">
              <a:solidFill>
                <a:srgbClr val="000000"/>
              </a:solidFill>
              <a:latin typeface="Arial"/>
              <a:ea typeface="Arial"/>
              <a:cs typeface="Arial"/>
              <a:sym typeface="Arial"/>
            </a:endParaRPr>
          </a:p>
        </p:txBody>
      </p:sp>
      <p:sp>
        <p:nvSpPr>
          <p:cNvPr id="295" name="Google Shape;295;p22"/>
          <p:cNvSpPr/>
          <p:nvPr/>
        </p:nvSpPr>
        <p:spPr>
          <a:xfrm>
            <a:off x="2997200" y="1638300"/>
            <a:ext cx="7874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Charcoal Chenille</a:t>
            </a:r>
            <a:endParaRPr b="0" i="0" sz="1400" u="none" cap="none" strike="noStrike">
              <a:solidFill>
                <a:srgbClr val="000000"/>
              </a:solidFill>
              <a:latin typeface="Arial"/>
              <a:ea typeface="Arial"/>
              <a:cs typeface="Arial"/>
              <a:sym typeface="Arial"/>
            </a:endParaRPr>
          </a:p>
        </p:txBody>
      </p:sp>
      <p:sp>
        <p:nvSpPr>
          <p:cNvPr id="296" name="Google Shape;296;p22"/>
          <p:cNvSpPr/>
          <p:nvPr/>
        </p:nvSpPr>
        <p:spPr>
          <a:xfrm>
            <a:off x="1168400" y="1790700"/>
            <a:ext cx="939800" cy="1524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1" i="0" lang="en-US" sz="530" u="none" cap="none" strike="noStrike">
                <a:solidFill>
                  <a:srgbClr val="EB1A63"/>
                </a:solidFill>
                <a:latin typeface="Calibri"/>
                <a:ea typeface="Calibri"/>
                <a:cs typeface="Calibri"/>
                <a:sym typeface="Calibri"/>
              </a:rPr>
              <a:t>SAC-5S-INS</a:t>
            </a:r>
            <a:endParaRPr b="0" i="0" sz="1400" u="none" cap="none" strike="noStrike">
              <a:solidFill>
                <a:srgbClr val="000000"/>
              </a:solidFill>
              <a:latin typeface="Arial"/>
              <a:ea typeface="Arial"/>
              <a:cs typeface="Arial"/>
              <a:sym typeface="Arial"/>
            </a:endParaRPr>
          </a:p>
        </p:txBody>
      </p:sp>
      <p:sp>
        <p:nvSpPr>
          <p:cNvPr id="297" name="Google Shape;297;p22"/>
          <p:cNvSpPr/>
          <p:nvPr/>
        </p:nvSpPr>
        <p:spPr>
          <a:xfrm>
            <a:off x="2108200" y="1790700"/>
            <a:ext cx="330200" cy="1524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Insert</a:t>
            </a:r>
            <a:endParaRPr b="0" i="0" sz="1400" u="none" cap="none" strike="noStrike">
              <a:solidFill>
                <a:srgbClr val="000000"/>
              </a:solidFill>
              <a:latin typeface="Arial"/>
              <a:ea typeface="Arial"/>
              <a:cs typeface="Arial"/>
              <a:sym typeface="Arial"/>
            </a:endParaRPr>
          </a:p>
        </p:txBody>
      </p:sp>
      <p:sp>
        <p:nvSpPr>
          <p:cNvPr id="298" name="Google Shape;298;p22"/>
          <p:cNvSpPr/>
          <p:nvPr/>
        </p:nvSpPr>
        <p:spPr>
          <a:xfrm>
            <a:off x="2438400" y="1790700"/>
            <a:ext cx="558800" cy="1524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Seat</a:t>
            </a:r>
            <a:endParaRPr b="0" i="0" sz="1400" u="none" cap="none" strike="noStrike">
              <a:solidFill>
                <a:srgbClr val="000000"/>
              </a:solidFill>
              <a:latin typeface="Arial"/>
              <a:ea typeface="Arial"/>
              <a:cs typeface="Arial"/>
              <a:sym typeface="Arial"/>
            </a:endParaRPr>
          </a:p>
        </p:txBody>
      </p:sp>
      <p:sp>
        <p:nvSpPr>
          <p:cNvPr id="299" name="Google Shape;299;p22"/>
          <p:cNvSpPr/>
          <p:nvPr/>
        </p:nvSpPr>
        <p:spPr>
          <a:xfrm>
            <a:off x="2997200" y="1790700"/>
            <a:ext cx="787400" cy="1524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Standard Fill</a:t>
            </a:r>
            <a:endParaRPr b="0" i="0" sz="1400" u="none" cap="none" strike="noStrike">
              <a:solidFill>
                <a:srgbClr val="000000"/>
              </a:solidFill>
              <a:latin typeface="Arial"/>
              <a:ea typeface="Arial"/>
              <a:cs typeface="Arial"/>
              <a:sym typeface="Arial"/>
            </a:endParaRPr>
          </a:p>
        </p:txBody>
      </p:sp>
      <p:sp>
        <p:nvSpPr>
          <p:cNvPr id="300" name="Google Shape;300;p22"/>
          <p:cNvSpPr/>
          <p:nvPr/>
        </p:nvSpPr>
        <p:spPr>
          <a:xfrm>
            <a:off x="1168400" y="1943100"/>
            <a:ext cx="9398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1" i="0" lang="en-US" sz="530" u="none" cap="none" strike="noStrike">
                <a:solidFill>
                  <a:srgbClr val="EB1A63"/>
                </a:solidFill>
                <a:latin typeface="Calibri"/>
                <a:ea typeface="Calibri"/>
                <a:cs typeface="Calibri"/>
                <a:sym typeface="Calibri"/>
              </a:rPr>
              <a:t>SAC-6S-COV</a:t>
            </a:r>
            <a:endParaRPr b="0" i="0" sz="1400" u="none" cap="none" strike="noStrike">
              <a:solidFill>
                <a:srgbClr val="000000"/>
              </a:solidFill>
              <a:latin typeface="Arial"/>
              <a:ea typeface="Arial"/>
              <a:cs typeface="Arial"/>
              <a:sym typeface="Arial"/>
            </a:endParaRPr>
          </a:p>
        </p:txBody>
      </p:sp>
      <p:sp>
        <p:nvSpPr>
          <p:cNvPr id="301" name="Google Shape;301;p22"/>
          <p:cNvSpPr/>
          <p:nvPr/>
        </p:nvSpPr>
        <p:spPr>
          <a:xfrm>
            <a:off x="2108200" y="1943100"/>
            <a:ext cx="3302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Cover</a:t>
            </a:r>
            <a:endParaRPr b="0" i="0" sz="1400" u="none" cap="none" strike="noStrike">
              <a:solidFill>
                <a:srgbClr val="000000"/>
              </a:solidFill>
              <a:latin typeface="Arial"/>
              <a:ea typeface="Arial"/>
              <a:cs typeface="Arial"/>
              <a:sym typeface="Arial"/>
            </a:endParaRPr>
          </a:p>
        </p:txBody>
      </p:sp>
      <p:sp>
        <p:nvSpPr>
          <p:cNvPr id="302" name="Google Shape;302;p22"/>
          <p:cNvSpPr/>
          <p:nvPr/>
        </p:nvSpPr>
        <p:spPr>
          <a:xfrm>
            <a:off x="2438400" y="1943100"/>
            <a:ext cx="5588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Side</a:t>
            </a:r>
            <a:endParaRPr b="0" i="0" sz="1400" u="none" cap="none" strike="noStrike">
              <a:solidFill>
                <a:srgbClr val="000000"/>
              </a:solidFill>
              <a:latin typeface="Arial"/>
              <a:ea typeface="Arial"/>
              <a:cs typeface="Arial"/>
              <a:sym typeface="Arial"/>
            </a:endParaRPr>
          </a:p>
        </p:txBody>
      </p:sp>
      <p:sp>
        <p:nvSpPr>
          <p:cNvPr id="303" name="Google Shape;303;p22"/>
          <p:cNvSpPr/>
          <p:nvPr/>
        </p:nvSpPr>
        <p:spPr>
          <a:xfrm>
            <a:off x="2997200" y="1943100"/>
            <a:ext cx="787400" cy="152400"/>
          </a:xfrm>
          <a:prstGeom prst="rect">
            <a:avLst/>
          </a:prstGeom>
          <a:solidFill>
            <a:srgbClr val="FFFFFF"/>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Oatmeal Linen</a:t>
            </a:r>
            <a:endParaRPr b="0" i="0" sz="1400" u="none" cap="none" strike="noStrike">
              <a:solidFill>
                <a:srgbClr val="000000"/>
              </a:solidFill>
              <a:latin typeface="Arial"/>
              <a:ea typeface="Arial"/>
              <a:cs typeface="Arial"/>
              <a:sym typeface="Arial"/>
            </a:endParaRPr>
          </a:p>
        </p:txBody>
      </p:sp>
      <p:sp>
        <p:nvSpPr>
          <p:cNvPr id="304" name="Google Shape;304;p22"/>
          <p:cNvSpPr/>
          <p:nvPr/>
        </p:nvSpPr>
        <p:spPr>
          <a:xfrm>
            <a:off x="1168400" y="2095500"/>
            <a:ext cx="939800" cy="4572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1" i="0" lang="en-US" sz="530" u="none" cap="none" strike="noStrike">
                <a:solidFill>
                  <a:srgbClr val="EB1A63"/>
                </a:solidFill>
                <a:latin typeface="Calibri"/>
                <a:ea typeface="Calibri"/>
                <a:cs typeface="Calibri"/>
                <a:sym typeface="Calibri"/>
              </a:rPr>
              <a:t>SAC-FG-3S</a:t>
            </a:r>
            <a:endParaRPr b="0" i="0" sz="1400" u="none" cap="none" strike="noStrike">
              <a:solidFill>
                <a:srgbClr val="000000"/>
              </a:solidFill>
              <a:latin typeface="Arial"/>
              <a:ea typeface="Arial"/>
              <a:cs typeface="Arial"/>
              <a:sym typeface="Arial"/>
            </a:endParaRPr>
          </a:p>
        </p:txBody>
      </p:sp>
      <p:sp>
        <p:nvSpPr>
          <p:cNvPr id="305" name="Google Shape;305;p22"/>
          <p:cNvSpPr/>
          <p:nvPr/>
        </p:nvSpPr>
        <p:spPr>
          <a:xfrm>
            <a:off x="2108200" y="2095500"/>
            <a:ext cx="330200" cy="4572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Bundle record</a:t>
            </a:r>
            <a:endParaRPr b="0" i="0" sz="1400" u="none" cap="none" strike="noStrike">
              <a:solidFill>
                <a:srgbClr val="000000"/>
              </a:solidFill>
              <a:latin typeface="Arial"/>
              <a:ea typeface="Arial"/>
              <a:cs typeface="Arial"/>
              <a:sym typeface="Arial"/>
            </a:endParaRPr>
          </a:p>
        </p:txBody>
      </p:sp>
      <p:sp>
        <p:nvSpPr>
          <p:cNvPr id="306" name="Google Shape;306;p22"/>
          <p:cNvSpPr/>
          <p:nvPr/>
        </p:nvSpPr>
        <p:spPr>
          <a:xfrm>
            <a:off x="2438400" y="2095500"/>
            <a:ext cx="558800" cy="4572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198113"/>
              </a:lnSpc>
              <a:spcBef>
                <a:spcPts val="0"/>
              </a:spcBef>
              <a:spcAft>
                <a:spcPts val="0"/>
              </a:spcAft>
              <a:buClr>
                <a:srgbClr val="000000"/>
              </a:buClr>
              <a:buSzPts val="530"/>
              <a:buFont typeface="Arial"/>
              <a:buNone/>
            </a:pPr>
            <a:r>
              <a:rPr b="0" i="0" lang="en-US" sz="530" u="none" cap="none" strike="noStrike">
                <a:solidFill>
                  <a:srgbClr val="111827"/>
                </a:solidFill>
                <a:latin typeface="Calibri"/>
                <a:ea typeface="Calibri"/>
                <a:cs typeface="Calibri"/>
                <a:sym typeface="Calibri"/>
              </a:rPr>
              <a:t>3-Seat Bundle</a:t>
            </a:r>
            <a:endParaRPr b="0" i="0" sz="1400" u="none" cap="none" strike="noStrike">
              <a:solidFill>
                <a:srgbClr val="000000"/>
              </a:solidFill>
              <a:latin typeface="Arial"/>
              <a:ea typeface="Arial"/>
              <a:cs typeface="Arial"/>
              <a:sym typeface="Arial"/>
            </a:endParaRPr>
          </a:p>
        </p:txBody>
      </p:sp>
      <p:sp>
        <p:nvSpPr>
          <p:cNvPr id="307" name="Google Shape;307;p22"/>
          <p:cNvSpPr/>
          <p:nvPr/>
        </p:nvSpPr>
        <p:spPr>
          <a:xfrm>
            <a:off x="2997200" y="2095500"/>
            <a:ext cx="787400" cy="457200"/>
          </a:xfrm>
          <a:prstGeom prst="rect">
            <a:avLst/>
          </a:prstGeom>
          <a:solidFill>
            <a:srgbClr val="FAF5FB"/>
          </a:solidFill>
          <a:ln cap="flat" cmpd="sng" w="9525">
            <a:solidFill>
              <a:srgbClr val="D1D5DB"/>
            </a:solidFill>
            <a:prstDash val="solid"/>
            <a:round/>
            <a:headEnd len="sm" w="sm" type="none"/>
            <a:tailEnd len="sm" w="sm" type="none"/>
          </a:ln>
        </p:spPr>
        <p:txBody>
          <a:bodyPr anchorCtr="0" anchor="ctr" bIns="12700" lIns="25400" spcFirstLastPara="1" rIns="12700" wrap="square" tIns="12700">
            <a:noAutofit/>
          </a:bodyPr>
          <a:lstStyle/>
          <a:p>
            <a:pPr indent="0" lvl="0" marL="0" marR="0" rtl="0" algn="l">
              <a:lnSpc>
                <a:spcPct val="214285"/>
              </a:lnSpc>
              <a:spcBef>
                <a:spcPts val="0"/>
              </a:spcBef>
              <a:spcAft>
                <a:spcPts val="0"/>
              </a:spcAft>
              <a:buClr>
                <a:srgbClr val="000000"/>
              </a:buClr>
              <a:buSzPts val="490"/>
              <a:buFont typeface="Arial"/>
              <a:buNone/>
            </a:pPr>
            <a:r>
              <a:rPr b="0" i="0" lang="en-US" sz="490" u="none" cap="none" strike="noStrike">
                <a:solidFill>
                  <a:srgbClr val="111827"/>
                </a:solidFill>
                <a:latin typeface="Calibri"/>
                <a:ea typeface="Calibri"/>
                <a:cs typeface="Calibri"/>
                <a:sym typeface="Calibri"/>
              </a:rPr>
              <a:t>1:M Lookup → component Covers + Inserts in SKU Collection</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1168400" y="3142974"/>
            <a:ext cx="2616200" cy="228600"/>
          </a:xfrm>
          <a:prstGeom prst="rect">
            <a:avLst/>
          </a:prstGeom>
          <a:solidFill>
            <a:srgbClr val="FDF2F8"/>
          </a:solidFill>
          <a:ln cap="flat" cmpd="sng" w="9525">
            <a:solidFill>
              <a:srgbClr val="F9A8C9"/>
            </a:solidFill>
            <a:prstDash val="solid"/>
            <a:round/>
            <a:headEnd len="sm" w="sm" type="none"/>
            <a:tailEnd len="sm" w="sm" type="none"/>
          </a:ln>
        </p:spPr>
        <p:txBody>
          <a:bodyPr anchorCtr="0" anchor="ctr" bIns="25400" lIns="50800" spcFirstLastPara="1" rIns="50800" wrap="square" tIns="25400">
            <a:noAutofit/>
          </a:bodyPr>
          <a:lstStyle/>
          <a:p>
            <a:pPr indent="0" lvl="0" marL="0" marR="0" rtl="0" algn="ctr">
              <a:lnSpc>
                <a:spcPct val="186440"/>
              </a:lnSpc>
              <a:spcBef>
                <a:spcPts val="0"/>
              </a:spcBef>
              <a:spcAft>
                <a:spcPts val="0"/>
              </a:spcAft>
              <a:buClr>
                <a:srgbClr val="000000"/>
              </a:buClr>
              <a:buSzPts val="590"/>
              <a:buFont typeface="Arial"/>
              <a:buNone/>
            </a:pPr>
            <a:r>
              <a:rPr b="0" i="1" lang="en-US" sz="590" u="none" cap="none" strike="noStrike">
                <a:solidFill>
                  <a:srgbClr val="6B7280"/>
                </a:solidFill>
                <a:latin typeface="Calibri"/>
                <a:ea typeface="Calibri"/>
                <a:cs typeface="Calibri"/>
                <a:sym typeface="Calibri"/>
              </a:rPr>
              <a:t>One Collection  ·  Four relationship types  ·  Three parallel taxonomies</a:t>
            </a:r>
            <a:endParaRPr b="0" i="0" sz="1400" u="none" cap="none" strike="noStrike">
              <a:solidFill>
                <a:srgbClr val="000000"/>
              </a:solidFill>
              <a:latin typeface="Arial"/>
              <a:ea typeface="Arial"/>
              <a:cs typeface="Arial"/>
              <a:sym typeface="Arial"/>
            </a:endParaRPr>
          </a:p>
        </p:txBody>
      </p:sp>
      <p:sp>
        <p:nvSpPr>
          <p:cNvPr id="309" name="Google Shape;309;p22"/>
          <p:cNvSpPr/>
          <p:nvPr/>
        </p:nvSpPr>
        <p:spPr>
          <a:xfrm>
            <a:off x="203200" y="939800"/>
            <a:ext cx="889000" cy="762000"/>
          </a:xfrm>
          <a:prstGeom prst="roundRect">
            <a:avLst>
              <a:gd fmla="val 2000" name="adj"/>
            </a:avLst>
          </a:prstGeom>
          <a:solidFill>
            <a:srgbClr val="F0FDFA"/>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2"/>
          <p:cNvSpPr/>
          <p:nvPr/>
        </p:nvSpPr>
        <p:spPr>
          <a:xfrm>
            <a:off x="254000" y="990600"/>
            <a:ext cx="787400" cy="152400"/>
          </a:xfrm>
          <a:prstGeom prst="rect">
            <a:avLst/>
          </a:prstGeom>
          <a:noFill/>
          <a:ln>
            <a:noFill/>
          </a:ln>
        </p:spPr>
        <p:txBody>
          <a:bodyPr anchorCtr="0" anchor="t" bIns="38100" lIns="50800" spcFirstLastPara="1" rIns="50800" wrap="square" tIns="38100">
            <a:noAutofit/>
          </a:bodyPr>
          <a:lstStyle/>
          <a:p>
            <a:pPr indent="0" lvl="0" marL="0" marR="0" rtl="0" algn="l">
              <a:lnSpc>
                <a:spcPct val="176000"/>
              </a:lnSpc>
              <a:spcBef>
                <a:spcPts val="0"/>
              </a:spcBef>
              <a:spcAft>
                <a:spcPts val="0"/>
              </a:spcAft>
              <a:buClr>
                <a:srgbClr val="000000"/>
              </a:buClr>
              <a:buSzPts val="625"/>
              <a:buFont typeface="Arial"/>
              <a:buNone/>
            </a:pPr>
            <a:r>
              <a:rPr b="1" i="0" lang="en-US" sz="625" u="none" cap="none" strike="noStrike">
                <a:solidFill>
                  <a:srgbClr val="0D9488"/>
                </a:solidFill>
                <a:latin typeface="Calibri"/>
                <a:ea typeface="Calibri"/>
                <a:cs typeface="Calibri"/>
                <a:sym typeface="Calibri"/>
              </a:rPr>
              <a:t>HIERARCHIES</a:t>
            </a:r>
            <a:endParaRPr b="0" i="0" sz="1400" u="none" cap="none" strike="noStrike">
              <a:solidFill>
                <a:srgbClr val="000000"/>
              </a:solidFill>
              <a:latin typeface="Arial"/>
              <a:ea typeface="Arial"/>
              <a:cs typeface="Arial"/>
              <a:sym typeface="Arial"/>
            </a:endParaRPr>
          </a:p>
        </p:txBody>
      </p:sp>
      <p:sp>
        <p:nvSpPr>
          <p:cNvPr id="311" name="Google Shape;311;p22"/>
          <p:cNvSpPr/>
          <p:nvPr/>
        </p:nvSpPr>
        <p:spPr>
          <a:xfrm>
            <a:off x="254000" y="1155700"/>
            <a:ext cx="787400" cy="495300"/>
          </a:xfrm>
          <a:prstGeom prst="rect">
            <a:avLst/>
          </a:prstGeom>
          <a:noFill/>
          <a:ln>
            <a:noFill/>
          </a:ln>
        </p:spPr>
        <p:txBody>
          <a:bodyPr anchorCtr="0" anchor="t" bIns="38100" lIns="50800" spcFirstLastPara="1" rIns="50800" wrap="square" tIns="38100">
            <a:noAutofit/>
          </a:bodyPr>
          <a:lstStyle/>
          <a:p>
            <a:pPr indent="0" lvl="0" marL="0" marR="0" rtl="0" algn="l">
              <a:lnSpc>
                <a:spcPct val="182608"/>
              </a:lnSpc>
              <a:spcBef>
                <a:spcPts val="0"/>
              </a:spcBef>
              <a:spcAft>
                <a:spcPts val="0"/>
              </a:spcAft>
              <a:buClr>
                <a:srgbClr val="000000"/>
              </a:buClr>
              <a:buSzPts val="575"/>
              <a:buFont typeface="Arial"/>
              <a:buNone/>
            </a:pPr>
            <a:r>
              <a:rPr b="0" i="0" lang="en-US" sz="575" u="none" cap="none" strike="noStrike">
                <a:solidFill>
                  <a:srgbClr val="374151"/>
                </a:solidFill>
                <a:latin typeface="Calibri"/>
                <a:ea typeface="Calibri"/>
                <a:cs typeface="Calibri"/>
                <a:sym typeface="Calibri"/>
              </a:rPr>
              <a:t>Sactionals</a:t>
            </a:r>
            <a:endParaRPr b="0" i="0" sz="1400" u="none" cap="none" strike="noStrike">
              <a:solidFill>
                <a:srgbClr val="000000"/>
              </a:solidFill>
              <a:latin typeface="Arial"/>
              <a:ea typeface="Arial"/>
              <a:cs typeface="Arial"/>
              <a:sym typeface="Arial"/>
            </a:endParaRPr>
          </a:p>
          <a:p>
            <a:pPr indent="0" lvl="0" marL="0" marR="0" rtl="0" algn="l">
              <a:lnSpc>
                <a:spcPct val="182608"/>
              </a:lnSpc>
              <a:spcBef>
                <a:spcPts val="0"/>
              </a:spcBef>
              <a:spcAft>
                <a:spcPts val="0"/>
              </a:spcAft>
              <a:buClr>
                <a:srgbClr val="000000"/>
              </a:buClr>
              <a:buSzPts val="575"/>
              <a:buFont typeface="Arial"/>
              <a:buNone/>
            </a:pPr>
            <a:r>
              <a:rPr b="0" i="0" lang="en-US" sz="575" u="none" cap="none" strike="noStrike">
                <a:solidFill>
                  <a:srgbClr val="374151"/>
                </a:solidFill>
                <a:latin typeface="Calibri"/>
                <a:ea typeface="Calibri"/>
                <a:cs typeface="Calibri"/>
                <a:sym typeface="Calibri"/>
              </a:rPr>
              <a:t>  › Covers</a:t>
            </a:r>
            <a:endParaRPr b="0" i="0" sz="1400" u="none" cap="none" strike="noStrike">
              <a:solidFill>
                <a:srgbClr val="000000"/>
              </a:solidFill>
              <a:latin typeface="Arial"/>
              <a:ea typeface="Arial"/>
              <a:cs typeface="Arial"/>
              <a:sym typeface="Arial"/>
            </a:endParaRPr>
          </a:p>
          <a:p>
            <a:pPr indent="0" lvl="0" marL="0" marR="0" rtl="0" algn="l">
              <a:lnSpc>
                <a:spcPct val="182608"/>
              </a:lnSpc>
              <a:spcBef>
                <a:spcPts val="0"/>
              </a:spcBef>
              <a:spcAft>
                <a:spcPts val="0"/>
              </a:spcAft>
              <a:buClr>
                <a:srgbClr val="000000"/>
              </a:buClr>
              <a:buSzPts val="575"/>
              <a:buFont typeface="Arial"/>
              <a:buNone/>
            </a:pPr>
            <a:r>
              <a:rPr b="0" i="0" lang="en-US" sz="575" u="none" cap="none" strike="noStrike">
                <a:solidFill>
                  <a:srgbClr val="374151"/>
                </a:solidFill>
                <a:latin typeface="Calibri"/>
                <a:ea typeface="Calibri"/>
                <a:cs typeface="Calibri"/>
                <a:sym typeface="Calibri"/>
              </a:rPr>
              <a:t>    › 5 Series</a:t>
            </a:r>
            <a:endParaRPr b="0" i="0" sz="1400" u="none" cap="none" strike="noStrike">
              <a:solidFill>
                <a:srgbClr val="000000"/>
              </a:solidFill>
              <a:latin typeface="Arial"/>
              <a:ea typeface="Arial"/>
              <a:cs typeface="Arial"/>
              <a:sym typeface="Arial"/>
            </a:endParaRPr>
          </a:p>
        </p:txBody>
      </p:sp>
      <p:sp>
        <p:nvSpPr>
          <p:cNvPr id="312" name="Google Shape;312;p22"/>
          <p:cNvSpPr/>
          <p:nvPr/>
        </p:nvSpPr>
        <p:spPr>
          <a:xfrm>
            <a:off x="203200" y="3683000"/>
            <a:ext cx="889000" cy="1041400"/>
          </a:xfrm>
          <a:prstGeom prst="roundRect">
            <a:avLst>
              <a:gd fmla="val 2000" name="adj"/>
            </a:avLst>
          </a:prstGeom>
          <a:solidFill>
            <a:srgbClr val="EFF6FF"/>
          </a:solidFill>
          <a:ln cap="flat" cmpd="sng" w="9525">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2"/>
          <p:cNvSpPr/>
          <p:nvPr/>
        </p:nvSpPr>
        <p:spPr>
          <a:xfrm>
            <a:off x="254000" y="3733800"/>
            <a:ext cx="787400" cy="152400"/>
          </a:xfrm>
          <a:prstGeom prst="rect">
            <a:avLst/>
          </a:prstGeom>
          <a:noFill/>
          <a:ln>
            <a:noFill/>
          </a:ln>
        </p:spPr>
        <p:txBody>
          <a:bodyPr anchorCtr="0" anchor="t" bIns="38100" lIns="50800" spcFirstLastPara="1" rIns="50800" wrap="square" tIns="38100">
            <a:noAutofit/>
          </a:bodyPr>
          <a:lstStyle/>
          <a:p>
            <a:pPr indent="0" lvl="0" marL="0" marR="0" rtl="0" algn="l">
              <a:lnSpc>
                <a:spcPct val="176000"/>
              </a:lnSpc>
              <a:spcBef>
                <a:spcPts val="0"/>
              </a:spcBef>
              <a:spcAft>
                <a:spcPts val="0"/>
              </a:spcAft>
              <a:buClr>
                <a:srgbClr val="000000"/>
              </a:buClr>
              <a:buSzPts val="625"/>
              <a:buFont typeface="Arial"/>
              <a:buNone/>
            </a:pPr>
            <a:r>
              <a:rPr b="1" i="0" lang="en-US" sz="625" u="none" cap="none" strike="noStrike">
                <a:solidFill>
                  <a:srgbClr val="2563EB"/>
                </a:solidFill>
                <a:latin typeface="Calibri"/>
                <a:ea typeface="Calibri"/>
                <a:cs typeface="Calibri"/>
                <a:sym typeface="Calibri"/>
              </a:rPr>
              <a:t>TAXONOMIES</a:t>
            </a:r>
            <a:endParaRPr b="0" i="0" sz="1400" u="none" cap="none" strike="noStrike">
              <a:solidFill>
                <a:srgbClr val="000000"/>
              </a:solidFill>
              <a:latin typeface="Arial"/>
              <a:ea typeface="Arial"/>
              <a:cs typeface="Arial"/>
              <a:sym typeface="Arial"/>
            </a:endParaRPr>
          </a:p>
        </p:txBody>
      </p:sp>
      <p:sp>
        <p:nvSpPr>
          <p:cNvPr id="314" name="Google Shape;314;p22"/>
          <p:cNvSpPr/>
          <p:nvPr/>
        </p:nvSpPr>
        <p:spPr>
          <a:xfrm>
            <a:off x="241300" y="3911600"/>
            <a:ext cx="812800" cy="165100"/>
          </a:xfrm>
          <a:prstGeom prst="roundRect">
            <a:avLst>
              <a:gd fmla="val 2500" name="adj"/>
            </a:avLst>
          </a:prstGeom>
          <a:solidFill>
            <a:srgbClr val="FFFFFF"/>
          </a:solidFill>
          <a:ln cap="flat" cmpd="sng" w="9525">
            <a:solidFill>
              <a:srgbClr val="374151"/>
            </a:solidFill>
            <a:prstDash val="solid"/>
            <a:round/>
            <a:headEnd len="sm" w="sm" type="none"/>
            <a:tailEnd len="sm" w="sm" type="none"/>
          </a:ln>
        </p:spPr>
        <p:txBody>
          <a:bodyPr anchorCtr="0" anchor="ctr" bIns="12700" lIns="25400" spcFirstLastPara="1" rIns="25400" wrap="square" tIns="12700">
            <a:noAutofit/>
          </a:bodyPr>
          <a:lstStyle/>
          <a:p>
            <a:pPr indent="0" lvl="0" marL="0" marR="0" rtl="0" algn="ctr">
              <a:lnSpc>
                <a:spcPct val="200000"/>
              </a:lnSpc>
              <a:spcBef>
                <a:spcPts val="0"/>
              </a:spcBef>
              <a:spcAft>
                <a:spcPts val="0"/>
              </a:spcAft>
              <a:buClr>
                <a:srgbClr val="000000"/>
              </a:buClr>
              <a:buSzPts val="525"/>
              <a:buFont typeface="Arial"/>
              <a:buNone/>
            </a:pPr>
            <a:r>
              <a:rPr b="1" i="0" lang="en-US" sz="525" u="none" cap="none" strike="noStrike">
                <a:solidFill>
                  <a:srgbClr val="374151"/>
                </a:solidFill>
                <a:latin typeface="Calibri"/>
                <a:ea typeface="Calibri"/>
                <a:cs typeface="Calibri"/>
                <a:sym typeface="Calibri"/>
              </a:rPr>
              <a:t>Internal Ops</a:t>
            </a:r>
            <a:endParaRPr b="0" i="0" sz="1400" u="none" cap="none" strike="noStrike">
              <a:solidFill>
                <a:srgbClr val="000000"/>
              </a:solidFill>
              <a:latin typeface="Arial"/>
              <a:ea typeface="Arial"/>
              <a:cs typeface="Arial"/>
              <a:sym typeface="Arial"/>
            </a:endParaRPr>
          </a:p>
        </p:txBody>
      </p:sp>
      <p:sp>
        <p:nvSpPr>
          <p:cNvPr id="315" name="Google Shape;315;p22"/>
          <p:cNvSpPr/>
          <p:nvPr/>
        </p:nvSpPr>
        <p:spPr>
          <a:xfrm>
            <a:off x="241300" y="4127500"/>
            <a:ext cx="812800" cy="165100"/>
          </a:xfrm>
          <a:prstGeom prst="roundRect">
            <a:avLst>
              <a:gd fmla="val 2500" name="adj"/>
            </a:avLst>
          </a:prstGeom>
          <a:solidFill>
            <a:srgbClr val="FFFFFF"/>
          </a:solidFill>
          <a:ln cap="flat" cmpd="sng" w="9525">
            <a:solidFill>
              <a:srgbClr val="1D4ED8"/>
            </a:solidFill>
            <a:prstDash val="solid"/>
            <a:round/>
            <a:headEnd len="sm" w="sm" type="none"/>
            <a:tailEnd len="sm" w="sm" type="none"/>
          </a:ln>
        </p:spPr>
        <p:txBody>
          <a:bodyPr anchorCtr="0" anchor="ctr" bIns="12700" lIns="25400" spcFirstLastPara="1" rIns="25400" wrap="square" tIns="12700">
            <a:noAutofit/>
          </a:bodyPr>
          <a:lstStyle/>
          <a:p>
            <a:pPr indent="0" lvl="0" marL="0" marR="0" rtl="0" algn="ctr">
              <a:lnSpc>
                <a:spcPct val="200000"/>
              </a:lnSpc>
              <a:spcBef>
                <a:spcPts val="0"/>
              </a:spcBef>
              <a:spcAft>
                <a:spcPts val="0"/>
              </a:spcAft>
              <a:buClr>
                <a:srgbClr val="000000"/>
              </a:buClr>
              <a:buSzPts val="525"/>
              <a:buFont typeface="Arial"/>
              <a:buNone/>
            </a:pPr>
            <a:r>
              <a:rPr b="1" i="0" lang="en-US" sz="525" u="none" cap="none" strike="noStrike">
                <a:solidFill>
                  <a:srgbClr val="1D4ED8"/>
                </a:solidFill>
                <a:latin typeface="Calibri"/>
                <a:ea typeface="Calibri"/>
                <a:cs typeface="Calibri"/>
                <a:sym typeface="Calibri"/>
              </a:rPr>
              <a:t>Lovesac.com</a:t>
            </a:r>
            <a:endParaRPr b="0" i="0" sz="1400" u="none" cap="none" strike="noStrike">
              <a:solidFill>
                <a:srgbClr val="000000"/>
              </a:solidFill>
              <a:latin typeface="Arial"/>
              <a:ea typeface="Arial"/>
              <a:cs typeface="Arial"/>
              <a:sym typeface="Arial"/>
            </a:endParaRPr>
          </a:p>
        </p:txBody>
      </p:sp>
      <p:sp>
        <p:nvSpPr>
          <p:cNvPr id="316" name="Google Shape;316;p22"/>
          <p:cNvSpPr/>
          <p:nvPr/>
        </p:nvSpPr>
        <p:spPr>
          <a:xfrm>
            <a:off x="241300" y="4343400"/>
            <a:ext cx="812800" cy="165100"/>
          </a:xfrm>
          <a:prstGeom prst="roundRect">
            <a:avLst>
              <a:gd fmla="val 2500" name="adj"/>
            </a:avLst>
          </a:prstGeom>
          <a:solidFill>
            <a:srgbClr val="FFFFFF"/>
          </a:solidFill>
          <a:ln cap="flat" cmpd="sng" w="9525">
            <a:solidFill>
              <a:srgbClr val="0F766E"/>
            </a:solidFill>
            <a:prstDash val="solid"/>
            <a:round/>
            <a:headEnd len="sm" w="sm" type="none"/>
            <a:tailEnd len="sm" w="sm" type="none"/>
          </a:ln>
        </p:spPr>
        <p:txBody>
          <a:bodyPr anchorCtr="0" anchor="ctr" bIns="12700" lIns="25400" spcFirstLastPara="1" rIns="25400" wrap="square" tIns="12700">
            <a:noAutofit/>
          </a:bodyPr>
          <a:lstStyle/>
          <a:p>
            <a:pPr indent="0" lvl="0" marL="0" marR="0" rtl="0" algn="ctr">
              <a:lnSpc>
                <a:spcPct val="200000"/>
              </a:lnSpc>
              <a:spcBef>
                <a:spcPts val="0"/>
              </a:spcBef>
              <a:spcAft>
                <a:spcPts val="0"/>
              </a:spcAft>
              <a:buClr>
                <a:srgbClr val="000000"/>
              </a:buClr>
              <a:buSzPts val="525"/>
              <a:buFont typeface="Arial"/>
              <a:buNone/>
            </a:pPr>
            <a:r>
              <a:rPr b="1" i="0" lang="en-US" sz="525" u="none" cap="none" strike="noStrike">
                <a:solidFill>
                  <a:srgbClr val="0F766E"/>
                </a:solidFill>
                <a:latin typeface="Calibri"/>
                <a:ea typeface="Calibri"/>
                <a:cs typeface="Calibri"/>
                <a:sym typeface="Calibri"/>
              </a:rPr>
              <a:t>Marketplace</a:t>
            </a:r>
            <a:endParaRPr b="0" i="0" sz="1400" u="none" cap="none" strike="noStrike">
              <a:solidFill>
                <a:srgbClr val="000000"/>
              </a:solidFill>
              <a:latin typeface="Arial"/>
              <a:ea typeface="Arial"/>
              <a:cs typeface="Arial"/>
              <a:sym typeface="Arial"/>
            </a:endParaRPr>
          </a:p>
        </p:txBody>
      </p:sp>
      <p:sp>
        <p:nvSpPr>
          <p:cNvPr id="317" name="Google Shape;317;p22"/>
          <p:cNvSpPr/>
          <p:nvPr/>
        </p:nvSpPr>
        <p:spPr>
          <a:xfrm>
            <a:off x="254000" y="4533900"/>
            <a:ext cx="787400" cy="139700"/>
          </a:xfrm>
          <a:prstGeom prst="rect">
            <a:avLst/>
          </a:prstGeom>
          <a:noFill/>
          <a:ln>
            <a:noFill/>
          </a:ln>
        </p:spPr>
        <p:txBody>
          <a:bodyPr anchorCtr="0" anchor="t" bIns="38100" lIns="50800" spcFirstLastPara="1" rIns="50800" wrap="square" tIns="38100">
            <a:noAutofit/>
          </a:bodyPr>
          <a:lstStyle/>
          <a:p>
            <a:pPr indent="0" lvl="0" marL="0" marR="0" rtl="0" algn="l">
              <a:lnSpc>
                <a:spcPct val="182608"/>
              </a:lnSpc>
              <a:spcBef>
                <a:spcPts val="0"/>
              </a:spcBef>
              <a:spcAft>
                <a:spcPts val="0"/>
              </a:spcAft>
              <a:buClr>
                <a:srgbClr val="000000"/>
              </a:buClr>
              <a:buSzPts val="575"/>
              <a:buFont typeface="Arial"/>
              <a:buNone/>
            </a:pPr>
            <a:r>
              <a:rPr b="0" i="1" lang="en-US" sz="575" u="none" cap="none" strike="noStrike">
                <a:solidFill>
                  <a:srgbClr val="374151"/>
                </a:solidFill>
                <a:latin typeface="Calibri"/>
                <a:ea typeface="Calibri"/>
                <a:cs typeface="Calibri"/>
                <a:sym typeface="Calibri"/>
              </a:rPr>
              <a:t>via MAPS_TO</a:t>
            </a:r>
            <a:endParaRPr b="0" i="0" sz="1400" u="none" cap="none" strike="noStrike">
              <a:solidFill>
                <a:srgbClr val="000000"/>
              </a:solidFill>
              <a:latin typeface="Arial"/>
              <a:ea typeface="Arial"/>
              <a:cs typeface="Arial"/>
              <a:sym typeface="Arial"/>
            </a:endParaRPr>
          </a:p>
        </p:txBody>
      </p:sp>
      <p:sp>
        <p:nvSpPr>
          <p:cNvPr id="318" name="Google Shape;318;p22"/>
          <p:cNvSpPr/>
          <p:nvPr/>
        </p:nvSpPr>
        <p:spPr>
          <a:xfrm>
            <a:off x="3898900" y="1181100"/>
            <a:ext cx="1536700" cy="2336800"/>
          </a:xfrm>
          <a:prstGeom prst="roundRect">
            <a:avLst>
              <a:gd fmla="val 2000" name="adj"/>
            </a:avLst>
          </a:prstGeom>
          <a:solidFill>
            <a:srgbClr val="F0FDF4"/>
          </a:solidFill>
          <a:ln cap="flat" cmpd="sng" w="9525">
            <a:solidFill>
              <a:srgbClr val="16A3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22"/>
          <p:cNvSpPr/>
          <p:nvPr/>
        </p:nvSpPr>
        <p:spPr>
          <a:xfrm>
            <a:off x="3962400" y="1244600"/>
            <a:ext cx="1409700" cy="152400"/>
          </a:xfrm>
          <a:prstGeom prst="rect">
            <a:avLst/>
          </a:prstGeom>
          <a:noFill/>
          <a:ln>
            <a:noFill/>
          </a:ln>
        </p:spPr>
        <p:txBody>
          <a:bodyPr anchorCtr="0" anchor="t" bIns="38100" lIns="50800" spcFirstLastPara="1" rIns="50800" wrap="square" tIns="38100">
            <a:noAutofit/>
          </a:bodyPr>
          <a:lstStyle/>
          <a:p>
            <a:pPr indent="0" lvl="0" marL="0" marR="0" rtl="0" algn="l">
              <a:lnSpc>
                <a:spcPct val="169230"/>
              </a:lnSpc>
              <a:spcBef>
                <a:spcPts val="0"/>
              </a:spcBef>
              <a:spcAft>
                <a:spcPts val="0"/>
              </a:spcAft>
              <a:buClr>
                <a:srgbClr val="000000"/>
              </a:buClr>
              <a:buSzPts val="650"/>
              <a:buFont typeface="Arial"/>
              <a:buNone/>
            </a:pPr>
            <a:r>
              <a:rPr b="1" i="0" lang="en-US" sz="650" u="none" cap="none" strike="noStrike">
                <a:solidFill>
                  <a:srgbClr val="16A34A"/>
                </a:solidFill>
                <a:latin typeface="Calibri"/>
                <a:ea typeface="Calibri"/>
                <a:cs typeface="Calibri"/>
                <a:sym typeface="Calibri"/>
              </a:rPr>
              <a:t>RELATIONSHIPS</a:t>
            </a:r>
            <a:endParaRPr b="0" i="0" sz="1400" u="none" cap="none" strike="noStrike">
              <a:solidFill>
                <a:srgbClr val="000000"/>
              </a:solidFill>
              <a:latin typeface="Arial"/>
              <a:ea typeface="Arial"/>
              <a:cs typeface="Arial"/>
              <a:sym typeface="Arial"/>
            </a:endParaRPr>
          </a:p>
        </p:txBody>
      </p:sp>
      <p:sp>
        <p:nvSpPr>
          <p:cNvPr id="320" name="Google Shape;320;p22"/>
          <p:cNvSpPr/>
          <p:nvPr/>
        </p:nvSpPr>
        <p:spPr>
          <a:xfrm>
            <a:off x="3962400" y="1460500"/>
            <a:ext cx="50800" cy="50800"/>
          </a:xfrm>
          <a:prstGeom prst="roundRect">
            <a:avLst>
              <a:gd fmla="val 50000" name="adj"/>
            </a:avLst>
          </a:prstGeom>
          <a:solidFill>
            <a:srgbClr val="16A3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2"/>
          <p:cNvSpPr/>
          <p:nvPr/>
        </p:nvSpPr>
        <p:spPr>
          <a:xfrm>
            <a:off x="4051300" y="1409700"/>
            <a:ext cx="1333500" cy="165100"/>
          </a:xfrm>
          <a:prstGeom prst="rect">
            <a:avLst/>
          </a:prstGeom>
          <a:noFill/>
          <a:ln>
            <a:noFill/>
          </a:ln>
        </p:spPr>
        <p:txBody>
          <a:bodyPr anchorCtr="0" anchor="t" bIns="38100" lIns="50800" spcFirstLastPara="1" rIns="50800" wrap="square" tIns="38100">
            <a:noAutofit/>
          </a:bodyPr>
          <a:lstStyle/>
          <a:p>
            <a:pPr indent="0" lvl="0" marL="0" marR="0" rtl="0" algn="l">
              <a:lnSpc>
                <a:spcPct val="168000"/>
              </a:lnSpc>
              <a:spcBef>
                <a:spcPts val="0"/>
              </a:spcBef>
              <a:spcAft>
                <a:spcPts val="0"/>
              </a:spcAft>
              <a:buClr>
                <a:srgbClr val="000000"/>
              </a:buClr>
              <a:buSzPts val="625"/>
              <a:buFont typeface="Arial"/>
              <a:buNone/>
            </a:pPr>
            <a:r>
              <a:rPr b="1" i="0" lang="en-US" sz="625" u="none" cap="none" strike="noStrike">
                <a:solidFill>
                  <a:srgbClr val="16A34A"/>
                </a:solidFill>
                <a:latin typeface="Calibri"/>
                <a:ea typeface="Calibri"/>
                <a:cs typeface="Calibri"/>
                <a:sym typeface="Calibri"/>
              </a:rPr>
              <a:t>COMPATIBLE_WITH</a:t>
            </a:r>
            <a:r>
              <a:rPr b="0" i="1" lang="en-US" sz="550" u="none" cap="none" strike="noStrike">
                <a:solidFill>
                  <a:srgbClr val="6B7280"/>
                </a:solidFill>
                <a:latin typeface="Calibri"/>
                <a:ea typeface="Calibri"/>
                <a:cs typeface="Calibri"/>
                <a:sym typeface="Calibri"/>
              </a:rPr>
              <a:t>  Dynamic</a:t>
            </a:r>
            <a:endParaRPr b="0" i="0" sz="1400" u="none" cap="none" strike="noStrike">
              <a:solidFill>
                <a:srgbClr val="000000"/>
              </a:solidFill>
              <a:latin typeface="Arial"/>
              <a:ea typeface="Arial"/>
              <a:cs typeface="Arial"/>
              <a:sym typeface="Arial"/>
            </a:endParaRPr>
          </a:p>
        </p:txBody>
      </p:sp>
      <p:sp>
        <p:nvSpPr>
          <p:cNvPr id="322" name="Google Shape;322;p22"/>
          <p:cNvSpPr/>
          <p:nvPr/>
        </p:nvSpPr>
        <p:spPr>
          <a:xfrm>
            <a:off x="4051300" y="1574800"/>
            <a:ext cx="1333500" cy="139700"/>
          </a:xfrm>
          <a:prstGeom prst="rect">
            <a:avLst/>
          </a:prstGeom>
          <a:noFill/>
          <a:ln>
            <a:noFill/>
          </a:ln>
        </p:spPr>
        <p:txBody>
          <a:bodyPr anchorCtr="0" anchor="t" bIns="38100" lIns="50800" spcFirstLastPara="1" rIns="50800" wrap="square" tIns="38100">
            <a:noAutofit/>
          </a:bodyPr>
          <a:lstStyle/>
          <a:p>
            <a:pPr indent="0" lvl="0" marL="0" marR="0" rtl="0" algn="l">
              <a:lnSpc>
                <a:spcPct val="189189"/>
              </a:lnSpc>
              <a:spcBef>
                <a:spcPts val="0"/>
              </a:spcBef>
              <a:spcAft>
                <a:spcPts val="0"/>
              </a:spcAft>
              <a:buClr>
                <a:srgbClr val="000000"/>
              </a:buClr>
              <a:buSzPts val="555"/>
              <a:buFont typeface="Arial"/>
              <a:buNone/>
            </a:pPr>
            <a:r>
              <a:rPr b="0" i="0" lang="en-US" sz="555" u="none" cap="none" strike="noStrike">
                <a:solidFill>
                  <a:srgbClr val="374151"/>
                </a:solidFill>
                <a:latin typeface="Calibri"/>
                <a:ea typeface="Calibri"/>
                <a:cs typeface="Calibri"/>
                <a:sym typeface="Calibri"/>
              </a:rPr>
              <a:t>Cover ↔ Insert (Product + Size)</a:t>
            </a:r>
            <a:endParaRPr b="0" i="0" sz="1400" u="none" cap="none" strike="noStrike">
              <a:solidFill>
                <a:srgbClr val="000000"/>
              </a:solidFill>
              <a:latin typeface="Arial"/>
              <a:ea typeface="Arial"/>
              <a:cs typeface="Arial"/>
              <a:sym typeface="Arial"/>
            </a:endParaRPr>
          </a:p>
        </p:txBody>
      </p:sp>
      <p:sp>
        <p:nvSpPr>
          <p:cNvPr id="323" name="Google Shape;323;p22"/>
          <p:cNvSpPr/>
          <p:nvPr/>
        </p:nvSpPr>
        <p:spPr>
          <a:xfrm>
            <a:off x="3962400" y="1905000"/>
            <a:ext cx="1409700" cy="12700"/>
          </a:xfrm>
          <a:prstGeom prst="rect">
            <a:avLst/>
          </a:prstGeom>
          <a:solidFill>
            <a:srgbClr val="D1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2"/>
          <p:cNvSpPr/>
          <p:nvPr/>
        </p:nvSpPr>
        <p:spPr>
          <a:xfrm>
            <a:off x="3962400" y="1981200"/>
            <a:ext cx="50800" cy="50800"/>
          </a:xfrm>
          <a:prstGeom prst="roundRect">
            <a:avLst>
              <a:gd fmla="val 50000" name="adj"/>
            </a:avLst>
          </a:prstGeom>
          <a:solidFill>
            <a:srgbClr val="16A3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2"/>
          <p:cNvSpPr/>
          <p:nvPr/>
        </p:nvSpPr>
        <p:spPr>
          <a:xfrm>
            <a:off x="4051300" y="1930400"/>
            <a:ext cx="1333500" cy="165100"/>
          </a:xfrm>
          <a:prstGeom prst="rect">
            <a:avLst/>
          </a:prstGeom>
          <a:noFill/>
          <a:ln>
            <a:noFill/>
          </a:ln>
        </p:spPr>
        <p:txBody>
          <a:bodyPr anchorCtr="0" anchor="t" bIns="38100" lIns="50800" spcFirstLastPara="1" rIns="50800" wrap="square" tIns="38100">
            <a:noAutofit/>
          </a:bodyPr>
          <a:lstStyle/>
          <a:p>
            <a:pPr indent="0" lvl="0" marL="0" marR="0" rtl="0" algn="l">
              <a:lnSpc>
                <a:spcPct val="168000"/>
              </a:lnSpc>
              <a:spcBef>
                <a:spcPts val="0"/>
              </a:spcBef>
              <a:spcAft>
                <a:spcPts val="0"/>
              </a:spcAft>
              <a:buClr>
                <a:srgbClr val="000000"/>
              </a:buClr>
              <a:buSzPts val="625"/>
              <a:buFont typeface="Arial"/>
              <a:buNone/>
            </a:pPr>
            <a:r>
              <a:rPr b="1" i="0" lang="en-US" sz="625" u="none" cap="none" strike="noStrike">
                <a:solidFill>
                  <a:srgbClr val="16A34A"/>
                </a:solidFill>
                <a:latin typeface="Calibri"/>
                <a:ea typeface="Calibri"/>
                <a:cs typeface="Calibri"/>
                <a:sym typeface="Calibri"/>
              </a:rPr>
              <a:t>BUNDLES</a:t>
            </a:r>
            <a:r>
              <a:rPr b="0" i="1" lang="en-US" sz="550" u="none" cap="none" strike="noStrike">
                <a:solidFill>
                  <a:srgbClr val="6B7280"/>
                </a:solidFill>
                <a:latin typeface="Calibri"/>
                <a:ea typeface="Calibri"/>
                <a:cs typeface="Calibri"/>
                <a:sym typeface="Calibri"/>
              </a:rPr>
              <a:t>  1:M Lookup</a:t>
            </a:r>
            <a:endParaRPr b="0" i="0" sz="1400" u="none" cap="none" strike="noStrike">
              <a:solidFill>
                <a:srgbClr val="000000"/>
              </a:solidFill>
              <a:latin typeface="Arial"/>
              <a:ea typeface="Arial"/>
              <a:cs typeface="Arial"/>
              <a:sym typeface="Arial"/>
            </a:endParaRPr>
          </a:p>
        </p:txBody>
      </p:sp>
      <p:sp>
        <p:nvSpPr>
          <p:cNvPr id="326" name="Google Shape;326;p22"/>
          <p:cNvSpPr/>
          <p:nvPr/>
        </p:nvSpPr>
        <p:spPr>
          <a:xfrm>
            <a:off x="4051300" y="2095500"/>
            <a:ext cx="1333500" cy="139700"/>
          </a:xfrm>
          <a:prstGeom prst="rect">
            <a:avLst/>
          </a:prstGeom>
          <a:noFill/>
          <a:ln>
            <a:noFill/>
          </a:ln>
        </p:spPr>
        <p:txBody>
          <a:bodyPr anchorCtr="0" anchor="t" bIns="38100" lIns="50800" spcFirstLastPara="1" rIns="50800" wrap="square" tIns="38100">
            <a:noAutofit/>
          </a:bodyPr>
          <a:lstStyle/>
          <a:p>
            <a:pPr indent="0" lvl="0" marL="0" marR="0" rtl="0" algn="l">
              <a:lnSpc>
                <a:spcPct val="189189"/>
              </a:lnSpc>
              <a:spcBef>
                <a:spcPts val="0"/>
              </a:spcBef>
              <a:spcAft>
                <a:spcPts val="0"/>
              </a:spcAft>
              <a:buClr>
                <a:srgbClr val="000000"/>
              </a:buClr>
              <a:buSzPts val="555"/>
              <a:buFont typeface="Arial"/>
              <a:buNone/>
            </a:pPr>
            <a:r>
              <a:rPr b="0" i="0" lang="en-US" sz="555" u="none" cap="none" strike="noStrike">
                <a:solidFill>
                  <a:srgbClr val="374151"/>
                </a:solidFill>
                <a:latin typeface="Calibri"/>
                <a:ea typeface="Calibri"/>
                <a:cs typeface="Calibri"/>
                <a:sym typeface="Calibri"/>
              </a:rPr>
              <a:t>Bundle record → component Covers + Inserts in SKU Collection</a:t>
            </a:r>
            <a:endParaRPr b="0" i="0" sz="1400" u="none" cap="none" strike="noStrike">
              <a:solidFill>
                <a:srgbClr val="000000"/>
              </a:solidFill>
              <a:latin typeface="Arial"/>
              <a:ea typeface="Arial"/>
              <a:cs typeface="Arial"/>
              <a:sym typeface="Arial"/>
            </a:endParaRPr>
          </a:p>
        </p:txBody>
      </p:sp>
      <p:sp>
        <p:nvSpPr>
          <p:cNvPr id="327" name="Google Shape;327;p22"/>
          <p:cNvSpPr/>
          <p:nvPr/>
        </p:nvSpPr>
        <p:spPr>
          <a:xfrm>
            <a:off x="3962400" y="2425700"/>
            <a:ext cx="1409700" cy="12700"/>
          </a:xfrm>
          <a:prstGeom prst="rect">
            <a:avLst/>
          </a:prstGeom>
          <a:solidFill>
            <a:srgbClr val="D1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2"/>
          <p:cNvSpPr/>
          <p:nvPr/>
        </p:nvSpPr>
        <p:spPr>
          <a:xfrm>
            <a:off x="3962400" y="2501900"/>
            <a:ext cx="50800" cy="50800"/>
          </a:xfrm>
          <a:prstGeom prst="roundRect">
            <a:avLst>
              <a:gd fmla="val 50000" name="adj"/>
            </a:avLst>
          </a:prstGeom>
          <a:solidFill>
            <a:srgbClr val="16A3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2"/>
          <p:cNvSpPr/>
          <p:nvPr/>
        </p:nvSpPr>
        <p:spPr>
          <a:xfrm>
            <a:off x="4051300" y="2451100"/>
            <a:ext cx="1333500" cy="165100"/>
          </a:xfrm>
          <a:prstGeom prst="rect">
            <a:avLst/>
          </a:prstGeom>
          <a:noFill/>
          <a:ln>
            <a:noFill/>
          </a:ln>
        </p:spPr>
        <p:txBody>
          <a:bodyPr anchorCtr="0" anchor="t" bIns="38100" lIns="50800" spcFirstLastPara="1" rIns="50800" wrap="square" tIns="38100">
            <a:noAutofit/>
          </a:bodyPr>
          <a:lstStyle/>
          <a:p>
            <a:pPr indent="0" lvl="0" marL="0" marR="0" rtl="0" algn="l">
              <a:lnSpc>
                <a:spcPct val="168000"/>
              </a:lnSpc>
              <a:spcBef>
                <a:spcPts val="0"/>
              </a:spcBef>
              <a:spcAft>
                <a:spcPts val="0"/>
              </a:spcAft>
              <a:buClr>
                <a:srgbClr val="000000"/>
              </a:buClr>
              <a:buSzPts val="625"/>
              <a:buFont typeface="Arial"/>
              <a:buNone/>
            </a:pPr>
            <a:r>
              <a:rPr b="1" i="0" lang="en-US" sz="625" u="none" cap="none" strike="noStrike">
                <a:solidFill>
                  <a:srgbClr val="16A34A"/>
                </a:solidFill>
                <a:latin typeface="Calibri"/>
                <a:ea typeface="Calibri"/>
                <a:cs typeface="Calibri"/>
                <a:sym typeface="Calibri"/>
              </a:rPr>
              <a:t>CONTAINS</a:t>
            </a:r>
            <a:r>
              <a:rPr b="0" i="1" lang="en-US" sz="550" u="none" cap="none" strike="noStrike">
                <a:solidFill>
                  <a:srgbClr val="6B7280"/>
                </a:solidFill>
                <a:latin typeface="Calibri"/>
                <a:ea typeface="Calibri"/>
                <a:cs typeface="Calibri"/>
                <a:sym typeface="Calibri"/>
              </a:rPr>
              <a:t>  1:M</a:t>
            </a:r>
            <a:endParaRPr b="0" i="0" sz="1400" u="none" cap="none" strike="noStrike">
              <a:solidFill>
                <a:srgbClr val="000000"/>
              </a:solidFill>
              <a:latin typeface="Arial"/>
              <a:ea typeface="Arial"/>
              <a:cs typeface="Arial"/>
              <a:sym typeface="Arial"/>
            </a:endParaRPr>
          </a:p>
        </p:txBody>
      </p:sp>
      <p:sp>
        <p:nvSpPr>
          <p:cNvPr id="330" name="Google Shape;330;p22"/>
          <p:cNvSpPr/>
          <p:nvPr/>
        </p:nvSpPr>
        <p:spPr>
          <a:xfrm>
            <a:off x="4051300" y="2616200"/>
            <a:ext cx="1333500" cy="139700"/>
          </a:xfrm>
          <a:prstGeom prst="rect">
            <a:avLst/>
          </a:prstGeom>
          <a:noFill/>
          <a:ln>
            <a:noFill/>
          </a:ln>
        </p:spPr>
        <p:txBody>
          <a:bodyPr anchorCtr="0" anchor="t" bIns="38100" lIns="50800" spcFirstLastPara="1" rIns="50800" wrap="square" tIns="38100">
            <a:noAutofit/>
          </a:bodyPr>
          <a:lstStyle/>
          <a:p>
            <a:pPr indent="0" lvl="0" marL="0" marR="0" rtl="0" algn="l">
              <a:lnSpc>
                <a:spcPct val="189189"/>
              </a:lnSpc>
              <a:spcBef>
                <a:spcPts val="0"/>
              </a:spcBef>
              <a:spcAft>
                <a:spcPts val="0"/>
              </a:spcAft>
              <a:buClr>
                <a:srgbClr val="000000"/>
              </a:buClr>
              <a:buSzPts val="555"/>
              <a:buFont typeface="Arial"/>
              <a:buNone/>
            </a:pPr>
            <a:r>
              <a:rPr b="0" i="0" lang="en-US" sz="555" u="none" cap="none" strike="noStrike">
                <a:solidFill>
                  <a:srgbClr val="374151"/>
                </a:solidFill>
                <a:latin typeface="Calibri"/>
                <a:ea typeface="Calibri"/>
                <a:cs typeface="Calibri"/>
                <a:sym typeface="Calibri"/>
              </a:rPr>
              <a:t>Composition relationships</a:t>
            </a:r>
            <a:endParaRPr b="0" i="0" sz="1400" u="none" cap="none" strike="noStrike">
              <a:solidFill>
                <a:srgbClr val="000000"/>
              </a:solidFill>
              <a:latin typeface="Arial"/>
              <a:ea typeface="Arial"/>
              <a:cs typeface="Arial"/>
              <a:sym typeface="Arial"/>
            </a:endParaRPr>
          </a:p>
        </p:txBody>
      </p:sp>
      <p:sp>
        <p:nvSpPr>
          <p:cNvPr id="331" name="Google Shape;331;p22"/>
          <p:cNvSpPr/>
          <p:nvPr/>
        </p:nvSpPr>
        <p:spPr>
          <a:xfrm>
            <a:off x="3962400" y="2946400"/>
            <a:ext cx="1409700" cy="12700"/>
          </a:xfrm>
          <a:prstGeom prst="rect">
            <a:avLst/>
          </a:prstGeom>
          <a:solidFill>
            <a:srgbClr val="D1FA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2"/>
          <p:cNvSpPr/>
          <p:nvPr/>
        </p:nvSpPr>
        <p:spPr>
          <a:xfrm>
            <a:off x="3962400" y="3022600"/>
            <a:ext cx="50800" cy="50800"/>
          </a:xfrm>
          <a:prstGeom prst="roundRect">
            <a:avLst>
              <a:gd fmla="val 50000" name="adj"/>
            </a:avLst>
          </a:prstGeom>
          <a:solidFill>
            <a:srgbClr val="16A3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2"/>
          <p:cNvSpPr/>
          <p:nvPr/>
        </p:nvSpPr>
        <p:spPr>
          <a:xfrm>
            <a:off x="4051300" y="2971800"/>
            <a:ext cx="1333500" cy="165100"/>
          </a:xfrm>
          <a:prstGeom prst="rect">
            <a:avLst/>
          </a:prstGeom>
          <a:noFill/>
          <a:ln>
            <a:noFill/>
          </a:ln>
        </p:spPr>
        <p:txBody>
          <a:bodyPr anchorCtr="0" anchor="t" bIns="38100" lIns="50800" spcFirstLastPara="1" rIns="50800" wrap="square" tIns="38100">
            <a:noAutofit/>
          </a:bodyPr>
          <a:lstStyle/>
          <a:p>
            <a:pPr indent="0" lvl="0" marL="0" marR="0" rtl="0" algn="l">
              <a:lnSpc>
                <a:spcPct val="168000"/>
              </a:lnSpc>
              <a:spcBef>
                <a:spcPts val="0"/>
              </a:spcBef>
              <a:spcAft>
                <a:spcPts val="0"/>
              </a:spcAft>
              <a:buClr>
                <a:srgbClr val="000000"/>
              </a:buClr>
              <a:buSzPts val="625"/>
              <a:buFont typeface="Arial"/>
              <a:buNone/>
            </a:pPr>
            <a:r>
              <a:rPr b="1" i="0" lang="en-US" sz="625" u="none" cap="none" strike="noStrike">
                <a:solidFill>
                  <a:srgbClr val="16A34A"/>
                </a:solidFill>
                <a:latin typeface="Calibri"/>
                <a:ea typeface="Calibri"/>
                <a:cs typeface="Calibri"/>
                <a:sym typeface="Calibri"/>
              </a:rPr>
              <a:t>MAPS_TO</a:t>
            </a:r>
            <a:r>
              <a:rPr b="0" i="1" lang="en-US" sz="550" u="none" cap="none" strike="noStrike">
                <a:solidFill>
                  <a:srgbClr val="6B7280"/>
                </a:solidFill>
                <a:latin typeface="Calibri"/>
                <a:ea typeface="Calibri"/>
                <a:cs typeface="Calibri"/>
                <a:sym typeface="Calibri"/>
              </a:rPr>
              <a:t>  cross-collection</a:t>
            </a:r>
            <a:endParaRPr b="0" i="0" sz="1400" u="none" cap="none" strike="noStrike">
              <a:solidFill>
                <a:srgbClr val="000000"/>
              </a:solidFill>
              <a:latin typeface="Arial"/>
              <a:ea typeface="Arial"/>
              <a:cs typeface="Arial"/>
              <a:sym typeface="Arial"/>
            </a:endParaRPr>
          </a:p>
        </p:txBody>
      </p:sp>
      <p:sp>
        <p:nvSpPr>
          <p:cNvPr id="334" name="Google Shape;334;p22"/>
          <p:cNvSpPr/>
          <p:nvPr/>
        </p:nvSpPr>
        <p:spPr>
          <a:xfrm>
            <a:off x="4051300" y="3136900"/>
            <a:ext cx="1333500" cy="139700"/>
          </a:xfrm>
          <a:prstGeom prst="rect">
            <a:avLst/>
          </a:prstGeom>
          <a:noFill/>
          <a:ln>
            <a:noFill/>
          </a:ln>
        </p:spPr>
        <p:txBody>
          <a:bodyPr anchorCtr="0" anchor="t" bIns="38100" lIns="50800" spcFirstLastPara="1" rIns="50800" wrap="square" tIns="38100">
            <a:noAutofit/>
          </a:bodyPr>
          <a:lstStyle/>
          <a:p>
            <a:pPr indent="0" lvl="0" marL="0" marR="0" rtl="0" algn="l">
              <a:lnSpc>
                <a:spcPct val="189189"/>
              </a:lnSpc>
              <a:spcBef>
                <a:spcPts val="0"/>
              </a:spcBef>
              <a:spcAft>
                <a:spcPts val="0"/>
              </a:spcAft>
              <a:buClr>
                <a:srgbClr val="000000"/>
              </a:buClr>
              <a:buSzPts val="555"/>
              <a:buFont typeface="Arial"/>
              <a:buNone/>
            </a:pPr>
            <a:r>
              <a:rPr b="0" i="0" lang="en-US" sz="555" u="none" cap="none" strike="noStrike">
                <a:solidFill>
                  <a:srgbClr val="374151"/>
                </a:solidFill>
                <a:latin typeface="Calibri"/>
                <a:ea typeface="Calibri"/>
                <a:cs typeface="Calibri"/>
                <a:sym typeface="Calibri"/>
              </a:rPr>
              <a:t>SKU → Taxonomy node</a:t>
            </a:r>
            <a:endParaRPr b="0" i="0" sz="1400" u="none" cap="none" strike="noStrike">
              <a:solidFill>
                <a:srgbClr val="000000"/>
              </a:solidFill>
              <a:latin typeface="Arial"/>
              <a:ea typeface="Arial"/>
              <a:cs typeface="Arial"/>
              <a:sym typeface="Arial"/>
            </a:endParaRPr>
          </a:p>
        </p:txBody>
      </p:sp>
      <p:sp>
        <p:nvSpPr>
          <p:cNvPr id="335" name="Google Shape;335;p22"/>
          <p:cNvSpPr/>
          <p:nvPr/>
        </p:nvSpPr>
        <p:spPr>
          <a:xfrm>
            <a:off x="5613400" y="889000"/>
            <a:ext cx="3327400" cy="939800"/>
          </a:xfrm>
          <a:prstGeom prst="roundRect">
            <a:avLst>
              <a:gd fmla="val 1500" name="adj"/>
            </a:avLst>
          </a:prstGeom>
          <a:solidFill>
            <a:srgbClr val="FAFAFA"/>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2"/>
          <p:cNvSpPr/>
          <p:nvPr/>
        </p:nvSpPr>
        <p:spPr>
          <a:xfrm>
            <a:off x="5613400" y="889000"/>
            <a:ext cx="50800" cy="939800"/>
          </a:xfrm>
          <a:prstGeom prst="roundRect">
            <a:avLst>
              <a:gd fmla="val 2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2"/>
          <p:cNvSpPr/>
          <p:nvPr/>
        </p:nvSpPr>
        <p:spPr>
          <a:xfrm>
            <a:off x="5727700" y="965200"/>
            <a:ext cx="3162300" cy="190500"/>
          </a:xfrm>
          <a:prstGeom prst="rect">
            <a:avLst/>
          </a:prstGeom>
          <a:noFill/>
          <a:ln>
            <a:noFill/>
          </a:ln>
        </p:spPr>
        <p:txBody>
          <a:bodyPr anchorCtr="0" anchor="t" bIns="38100" lIns="50800" spcFirstLastPara="1" rIns="50800" wrap="square" tIns="381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EB1A63"/>
                </a:solidFill>
                <a:latin typeface="Calibri"/>
                <a:ea typeface="Calibri"/>
                <a:cs typeface="Calibri"/>
                <a:sym typeface="Calibri"/>
              </a:rPr>
              <a:t>Collections</a:t>
            </a:r>
            <a:endParaRPr b="0" i="0" sz="1400" u="none" cap="none" strike="noStrike">
              <a:solidFill>
                <a:srgbClr val="000000"/>
              </a:solidFill>
              <a:latin typeface="Arial"/>
              <a:ea typeface="Arial"/>
              <a:cs typeface="Arial"/>
              <a:sym typeface="Arial"/>
            </a:endParaRPr>
          </a:p>
        </p:txBody>
      </p:sp>
      <p:sp>
        <p:nvSpPr>
          <p:cNvPr id="338" name="Google Shape;338;p22"/>
          <p:cNvSpPr/>
          <p:nvPr/>
        </p:nvSpPr>
        <p:spPr>
          <a:xfrm>
            <a:off x="5727700" y="1168400"/>
            <a:ext cx="3162300" cy="609600"/>
          </a:xfrm>
          <a:prstGeom prst="rect">
            <a:avLst/>
          </a:prstGeom>
          <a:noFill/>
          <a:ln>
            <a:noFill/>
          </a:ln>
        </p:spPr>
        <p:txBody>
          <a:bodyPr anchorCtr="0" anchor="t" bIns="38100" lIns="50800" spcFirstLastPara="1" rIns="50800" wrap="square" tIns="38100">
            <a:noAutofit/>
          </a:bodyPr>
          <a:lstStyle/>
          <a:p>
            <a:pPr indent="0" lvl="0" marL="0" marR="0" rtl="0" algn="l">
              <a:lnSpc>
                <a:spcPct val="166666"/>
              </a:lnSpc>
              <a:spcBef>
                <a:spcPts val="0"/>
              </a:spcBef>
              <a:spcAft>
                <a:spcPts val="0"/>
              </a:spcAft>
              <a:buClr>
                <a:srgbClr val="000000"/>
              </a:buClr>
              <a:buSzPts val="690"/>
              <a:buFont typeface="Arial"/>
              <a:buNone/>
            </a:pPr>
            <a:r>
              <a:rPr b="0" i="0" lang="en-US" sz="690" u="none" cap="none" strike="noStrike">
                <a:solidFill>
                  <a:srgbClr val="374151"/>
                </a:solidFill>
                <a:latin typeface="Calibri"/>
                <a:ea typeface="Calibri"/>
                <a:cs typeface="Calibri"/>
                <a:sym typeface="Calibri"/>
              </a:rPr>
              <a:t>The foundation. Typed records with a defined schema. Lovesac’s SKU Collection holds 28,089 records across all brands and lines.</a:t>
            </a:r>
            <a:endParaRPr b="0" i="0" sz="1400" u="none" cap="none" strike="noStrike">
              <a:solidFill>
                <a:srgbClr val="000000"/>
              </a:solidFill>
              <a:latin typeface="Arial"/>
              <a:ea typeface="Arial"/>
              <a:cs typeface="Arial"/>
              <a:sym typeface="Arial"/>
            </a:endParaRPr>
          </a:p>
        </p:txBody>
      </p:sp>
      <p:sp>
        <p:nvSpPr>
          <p:cNvPr id="339" name="Google Shape;339;p22"/>
          <p:cNvSpPr/>
          <p:nvPr/>
        </p:nvSpPr>
        <p:spPr>
          <a:xfrm>
            <a:off x="5613400" y="1866900"/>
            <a:ext cx="3327400" cy="939800"/>
          </a:xfrm>
          <a:prstGeom prst="roundRect">
            <a:avLst>
              <a:gd fmla="val 1500" name="adj"/>
            </a:avLst>
          </a:prstGeom>
          <a:solidFill>
            <a:srgbClr val="FAFAFA"/>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2"/>
          <p:cNvSpPr/>
          <p:nvPr/>
        </p:nvSpPr>
        <p:spPr>
          <a:xfrm>
            <a:off x="5613400" y="1866900"/>
            <a:ext cx="50800" cy="939800"/>
          </a:xfrm>
          <a:prstGeom prst="roundRect">
            <a:avLst>
              <a:gd fmla="val 2000" name="adj"/>
            </a:avLst>
          </a:prstGeom>
          <a:solidFill>
            <a:srgbClr val="16A3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2"/>
          <p:cNvSpPr/>
          <p:nvPr/>
        </p:nvSpPr>
        <p:spPr>
          <a:xfrm>
            <a:off x="5727700" y="1943100"/>
            <a:ext cx="3162300" cy="190500"/>
          </a:xfrm>
          <a:prstGeom prst="rect">
            <a:avLst/>
          </a:prstGeom>
          <a:noFill/>
          <a:ln>
            <a:noFill/>
          </a:ln>
        </p:spPr>
        <p:txBody>
          <a:bodyPr anchorCtr="0" anchor="t" bIns="38100" lIns="50800" spcFirstLastPara="1" rIns="50800" wrap="square" tIns="381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16A34A"/>
                </a:solidFill>
                <a:latin typeface="Calibri"/>
                <a:ea typeface="Calibri"/>
                <a:cs typeface="Calibri"/>
                <a:sym typeface="Calibri"/>
              </a:rPr>
              <a:t>Relationships</a:t>
            </a:r>
            <a:endParaRPr b="0" i="0" sz="1400" u="none" cap="none" strike="noStrike">
              <a:solidFill>
                <a:srgbClr val="000000"/>
              </a:solidFill>
              <a:latin typeface="Arial"/>
              <a:ea typeface="Arial"/>
              <a:cs typeface="Arial"/>
              <a:sym typeface="Arial"/>
            </a:endParaRPr>
          </a:p>
        </p:txBody>
      </p:sp>
      <p:sp>
        <p:nvSpPr>
          <p:cNvPr id="342" name="Google Shape;342;p22"/>
          <p:cNvSpPr/>
          <p:nvPr/>
        </p:nvSpPr>
        <p:spPr>
          <a:xfrm>
            <a:off x="5727700" y="2146300"/>
            <a:ext cx="3162300" cy="609600"/>
          </a:xfrm>
          <a:prstGeom prst="rect">
            <a:avLst/>
          </a:prstGeom>
          <a:noFill/>
          <a:ln>
            <a:noFill/>
          </a:ln>
        </p:spPr>
        <p:txBody>
          <a:bodyPr anchorCtr="0" anchor="t" bIns="38100" lIns="50800" spcFirstLastPara="1" rIns="50800" wrap="square" tIns="38100">
            <a:noAutofit/>
          </a:bodyPr>
          <a:lstStyle/>
          <a:p>
            <a:pPr indent="0" lvl="0" marL="0" marR="0" rtl="0" algn="l">
              <a:lnSpc>
                <a:spcPct val="166666"/>
              </a:lnSpc>
              <a:spcBef>
                <a:spcPts val="0"/>
              </a:spcBef>
              <a:spcAft>
                <a:spcPts val="0"/>
              </a:spcAft>
              <a:buClr>
                <a:srgbClr val="000000"/>
              </a:buClr>
              <a:buSzPts val="690"/>
              <a:buFont typeface="Arial"/>
              <a:buNone/>
            </a:pPr>
            <a:r>
              <a:rPr b="0" i="0" lang="en-US" sz="690" u="none" cap="none" strike="noStrike">
                <a:solidFill>
                  <a:srgbClr val="374151"/>
                </a:solidFill>
                <a:latin typeface="Calibri"/>
                <a:ea typeface="Calibri"/>
                <a:cs typeface="Calibri"/>
                <a:sym typeface="Calibri"/>
              </a:rPr>
              <a:t>Connect records together. 1:1 or 1:M lookups for explicit links; Dynamic relationships use rule expressions — how Cover ↔ Insert compatibility is encoded.</a:t>
            </a:r>
            <a:endParaRPr b="0" i="0" sz="1400" u="none" cap="none" strike="noStrike">
              <a:solidFill>
                <a:srgbClr val="000000"/>
              </a:solidFill>
              <a:latin typeface="Arial"/>
              <a:ea typeface="Arial"/>
              <a:cs typeface="Arial"/>
              <a:sym typeface="Arial"/>
            </a:endParaRPr>
          </a:p>
        </p:txBody>
      </p:sp>
      <p:sp>
        <p:nvSpPr>
          <p:cNvPr id="343" name="Google Shape;343;p22"/>
          <p:cNvSpPr/>
          <p:nvPr/>
        </p:nvSpPr>
        <p:spPr>
          <a:xfrm>
            <a:off x="5613400" y="2844800"/>
            <a:ext cx="3327400" cy="939800"/>
          </a:xfrm>
          <a:prstGeom prst="roundRect">
            <a:avLst>
              <a:gd fmla="val 1500" name="adj"/>
            </a:avLst>
          </a:prstGeom>
          <a:solidFill>
            <a:srgbClr val="FAFAFA"/>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2"/>
          <p:cNvSpPr/>
          <p:nvPr/>
        </p:nvSpPr>
        <p:spPr>
          <a:xfrm>
            <a:off x="5613400" y="2844800"/>
            <a:ext cx="50800" cy="939800"/>
          </a:xfrm>
          <a:prstGeom prst="roundRect">
            <a:avLst>
              <a:gd fmla="val 2000" name="adj"/>
            </a:avLst>
          </a:prstGeom>
          <a:solidFill>
            <a:srgbClr val="0D9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2"/>
          <p:cNvSpPr/>
          <p:nvPr/>
        </p:nvSpPr>
        <p:spPr>
          <a:xfrm>
            <a:off x="5727700" y="2921000"/>
            <a:ext cx="3162300" cy="190500"/>
          </a:xfrm>
          <a:prstGeom prst="rect">
            <a:avLst/>
          </a:prstGeom>
          <a:noFill/>
          <a:ln>
            <a:noFill/>
          </a:ln>
        </p:spPr>
        <p:txBody>
          <a:bodyPr anchorCtr="0" anchor="t" bIns="38100" lIns="50800" spcFirstLastPara="1" rIns="50800" wrap="square" tIns="381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0D9488"/>
                </a:solidFill>
                <a:latin typeface="Calibri"/>
                <a:ea typeface="Calibri"/>
                <a:cs typeface="Calibri"/>
                <a:sym typeface="Calibri"/>
              </a:rPr>
              <a:t>Hierarchies</a:t>
            </a:r>
            <a:endParaRPr b="0" i="0" sz="1400" u="none" cap="none" strike="noStrike">
              <a:solidFill>
                <a:srgbClr val="000000"/>
              </a:solidFill>
              <a:latin typeface="Arial"/>
              <a:ea typeface="Arial"/>
              <a:cs typeface="Arial"/>
              <a:sym typeface="Arial"/>
            </a:endParaRPr>
          </a:p>
        </p:txBody>
      </p:sp>
      <p:sp>
        <p:nvSpPr>
          <p:cNvPr id="346" name="Google Shape;346;p22"/>
          <p:cNvSpPr/>
          <p:nvPr/>
        </p:nvSpPr>
        <p:spPr>
          <a:xfrm>
            <a:off x="5727700" y="3124200"/>
            <a:ext cx="3162300" cy="609600"/>
          </a:xfrm>
          <a:prstGeom prst="rect">
            <a:avLst/>
          </a:prstGeom>
          <a:noFill/>
          <a:ln>
            <a:noFill/>
          </a:ln>
        </p:spPr>
        <p:txBody>
          <a:bodyPr anchorCtr="0" anchor="t" bIns="38100" lIns="50800" spcFirstLastPara="1" rIns="50800" wrap="square" tIns="38100">
            <a:noAutofit/>
          </a:bodyPr>
          <a:lstStyle/>
          <a:p>
            <a:pPr indent="0" lvl="0" marL="0" marR="0" rtl="0" algn="l">
              <a:lnSpc>
                <a:spcPct val="166666"/>
              </a:lnSpc>
              <a:spcBef>
                <a:spcPts val="0"/>
              </a:spcBef>
              <a:spcAft>
                <a:spcPts val="0"/>
              </a:spcAft>
              <a:buClr>
                <a:srgbClr val="000000"/>
              </a:buClr>
              <a:buSzPts val="690"/>
              <a:buFont typeface="Arial"/>
              <a:buNone/>
            </a:pPr>
            <a:r>
              <a:rPr b="0" i="0" lang="en-US" sz="690" u="none" cap="none" strike="noStrike">
                <a:solidFill>
                  <a:srgbClr val="374151"/>
                </a:solidFill>
                <a:latin typeface="Calibri"/>
                <a:ea typeface="Calibri"/>
                <a:cs typeface="Calibri"/>
                <a:sym typeface="Calibri"/>
              </a:rPr>
              <a:t>Special collections where records have a parent record, forming a tree. Paths recalculate automatically when records move.</a:t>
            </a:r>
            <a:endParaRPr b="0" i="0" sz="1400" u="none" cap="none" strike="noStrike">
              <a:solidFill>
                <a:srgbClr val="000000"/>
              </a:solidFill>
              <a:latin typeface="Arial"/>
              <a:ea typeface="Arial"/>
              <a:cs typeface="Arial"/>
              <a:sym typeface="Arial"/>
            </a:endParaRPr>
          </a:p>
        </p:txBody>
      </p:sp>
      <p:sp>
        <p:nvSpPr>
          <p:cNvPr id="347" name="Google Shape;347;p22"/>
          <p:cNvSpPr/>
          <p:nvPr/>
        </p:nvSpPr>
        <p:spPr>
          <a:xfrm>
            <a:off x="5613400" y="3822700"/>
            <a:ext cx="3327400" cy="939800"/>
          </a:xfrm>
          <a:prstGeom prst="roundRect">
            <a:avLst>
              <a:gd fmla="val 1500" name="adj"/>
            </a:avLst>
          </a:prstGeom>
          <a:solidFill>
            <a:srgbClr val="FAFAFA"/>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2"/>
          <p:cNvSpPr/>
          <p:nvPr/>
        </p:nvSpPr>
        <p:spPr>
          <a:xfrm>
            <a:off x="5613400" y="3822700"/>
            <a:ext cx="50800" cy="939800"/>
          </a:xfrm>
          <a:prstGeom prst="roundRect">
            <a:avLst>
              <a:gd fmla="val 2000" name="adj"/>
            </a:avLst>
          </a:prstGeom>
          <a:solidFill>
            <a:srgbClr val="2563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2"/>
          <p:cNvSpPr/>
          <p:nvPr/>
        </p:nvSpPr>
        <p:spPr>
          <a:xfrm>
            <a:off x="5727700" y="3898900"/>
            <a:ext cx="3162300" cy="190500"/>
          </a:xfrm>
          <a:prstGeom prst="rect">
            <a:avLst/>
          </a:prstGeom>
          <a:noFill/>
          <a:ln>
            <a:noFill/>
          </a:ln>
        </p:spPr>
        <p:txBody>
          <a:bodyPr anchorCtr="0" anchor="t" bIns="38100" lIns="50800" spcFirstLastPara="1" rIns="50800" wrap="square" tIns="381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2563EB"/>
                </a:solidFill>
                <a:latin typeface="Calibri"/>
                <a:ea typeface="Calibri"/>
                <a:cs typeface="Calibri"/>
                <a:sym typeface="Calibri"/>
              </a:rPr>
              <a:t>Taxonomies</a:t>
            </a:r>
            <a:endParaRPr b="0" i="0" sz="1400" u="none" cap="none" strike="noStrike">
              <a:solidFill>
                <a:srgbClr val="000000"/>
              </a:solidFill>
              <a:latin typeface="Arial"/>
              <a:ea typeface="Arial"/>
              <a:cs typeface="Arial"/>
              <a:sym typeface="Arial"/>
            </a:endParaRPr>
          </a:p>
        </p:txBody>
      </p:sp>
      <p:sp>
        <p:nvSpPr>
          <p:cNvPr id="350" name="Google Shape;350;p22"/>
          <p:cNvSpPr/>
          <p:nvPr/>
        </p:nvSpPr>
        <p:spPr>
          <a:xfrm>
            <a:off x="5727700" y="4102100"/>
            <a:ext cx="3162300" cy="609600"/>
          </a:xfrm>
          <a:prstGeom prst="rect">
            <a:avLst/>
          </a:prstGeom>
          <a:noFill/>
          <a:ln>
            <a:noFill/>
          </a:ln>
        </p:spPr>
        <p:txBody>
          <a:bodyPr anchorCtr="0" anchor="t" bIns="38100" lIns="50800" spcFirstLastPara="1" rIns="50800" wrap="square" tIns="38100">
            <a:noAutofit/>
          </a:bodyPr>
          <a:lstStyle/>
          <a:p>
            <a:pPr indent="0" lvl="0" marL="0" marR="0" rtl="0" algn="l">
              <a:lnSpc>
                <a:spcPct val="166666"/>
              </a:lnSpc>
              <a:spcBef>
                <a:spcPts val="0"/>
              </a:spcBef>
              <a:spcAft>
                <a:spcPts val="0"/>
              </a:spcAft>
              <a:buClr>
                <a:srgbClr val="000000"/>
              </a:buClr>
              <a:buSzPts val="690"/>
              <a:buFont typeface="Arial"/>
              <a:buNone/>
            </a:pPr>
            <a:r>
              <a:rPr b="0" i="0" lang="en-US" sz="690" u="none" cap="none" strike="noStrike">
                <a:solidFill>
                  <a:srgbClr val="374151"/>
                </a:solidFill>
                <a:latin typeface="Calibri"/>
                <a:ea typeface="Calibri"/>
                <a:cs typeface="Calibri"/>
                <a:sym typeface="Calibri"/>
              </a:rPr>
              <a:t>Sit on top of Collections to tag records dynamically by rule. Lovesac uses three in parallel — Internal Ops, Lovesac.com, and Marketplace — so the same SKU is classified differently per channel.</a:t>
            </a:r>
            <a:endParaRPr b="0" i="0" sz="1400" u="none" cap="none" strike="noStrike">
              <a:solidFill>
                <a:srgbClr val="000000"/>
              </a:solidFill>
              <a:latin typeface="Arial"/>
              <a:ea typeface="Arial"/>
              <a:cs typeface="Arial"/>
              <a:sym typeface="Arial"/>
            </a:endParaRPr>
          </a:p>
        </p:txBody>
      </p:sp>
      <p:sp>
        <p:nvSpPr>
          <p:cNvPr id="351" name="Google Shape;351;p22"/>
          <p:cNvSpPr/>
          <p:nvPr/>
        </p:nvSpPr>
        <p:spPr>
          <a:xfrm>
            <a:off x="380999" y="25400"/>
            <a:ext cx="2440437" cy="165100"/>
          </a:xfrm>
          <a:prstGeom prst="roundRect">
            <a:avLst>
              <a:gd fmla="val 50000" name="adj"/>
            </a:avLst>
          </a:prstGeom>
          <a:solidFill>
            <a:srgbClr val="F39200"/>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05 · DATA MODEL DEEP-DIVE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3"/>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23"/>
          <p:cNvSpPr/>
          <p:nvPr/>
        </p:nvSpPr>
        <p:spPr>
          <a:xfrm>
            <a:off x="381000" y="214845"/>
            <a:ext cx="6858000" cy="352476"/>
          </a:xfrm>
          <a:prstGeom prst="rect">
            <a:avLst/>
          </a:prstGeom>
          <a:noFill/>
          <a:ln>
            <a:noFill/>
          </a:ln>
        </p:spPr>
        <p:txBody>
          <a:bodyPr anchorCtr="0" anchor="t" bIns="50800" lIns="50800" spcFirstLastPara="1" rIns="50800" wrap="square" tIns="508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Collections, Hierarchies, Taxonomies</a:t>
            </a:r>
            <a:endParaRPr b="0" i="0" sz="1400" u="none" cap="none" strike="noStrike">
              <a:solidFill>
                <a:srgbClr val="000000"/>
              </a:solidFill>
              <a:latin typeface="Arial"/>
              <a:ea typeface="Arial"/>
              <a:cs typeface="Arial"/>
              <a:sym typeface="Arial"/>
            </a:endParaRPr>
          </a:p>
        </p:txBody>
      </p:sp>
      <p:sp>
        <p:nvSpPr>
          <p:cNvPr id="359" name="Google Shape;359;p23"/>
          <p:cNvSpPr/>
          <p:nvPr/>
        </p:nvSpPr>
        <p:spPr>
          <a:xfrm>
            <a:off x="355600" y="567321"/>
            <a:ext cx="8432800" cy="2540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000000"/>
              </a:buClr>
              <a:buSzPts val="1050"/>
              <a:buFont typeface="Arial"/>
              <a:buNone/>
            </a:pPr>
            <a:r>
              <a:rPr b="1" i="0" lang="en-US" sz="850" u="none" cap="none" strike="noStrike">
                <a:solidFill>
                  <a:srgbClr val="6B7280"/>
                </a:solidFill>
                <a:latin typeface="Calibri"/>
                <a:ea typeface="Calibri"/>
                <a:cs typeface="Calibri"/>
                <a:sym typeface="Calibri"/>
              </a:rPr>
              <a:t>Demo</a:t>
            </a:r>
            <a:r>
              <a:rPr b="0" i="0" lang="en-US" sz="850" u="none" cap="none" strike="noStrike">
                <a:solidFill>
                  <a:srgbClr val="6B7280"/>
                </a:solidFill>
                <a:latin typeface="Calibri"/>
                <a:ea typeface="Calibri"/>
                <a:cs typeface="Calibri"/>
                <a:sym typeface="Calibri"/>
              </a:rPr>
              <a:t> of compatibility rules and data model in a sample hierarchy using Lovesac’s data and Conscia’s tooling — Part 2: Live in Conscia</a:t>
            </a:r>
            <a:endParaRPr b="0" i="0" sz="1200" u="none" cap="none" strike="noStrike">
              <a:solidFill>
                <a:srgbClr val="000000"/>
              </a:solidFill>
              <a:latin typeface="Arial"/>
              <a:ea typeface="Arial"/>
              <a:cs typeface="Arial"/>
              <a:sym typeface="Arial"/>
            </a:endParaRPr>
          </a:p>
        </p:txBody>
      </p:sp>
      <p:cxnSp>
        <p:nvCxnSpPr>
          <p:cNvPr id="360" name="Google Shape;360;p23"/>
          <p:cNvCxnSpPr/>
          <p:nvPr/>
        </p:nvCxnSpPr>
        <p:spPr>
          <a:xfrm>
            <a:off x="254000" y="872121"/>
            <a:ext cx="8636000" cy="1270"/>
          </a:xfrm>
          <a:prstGeom prst="straightConnector1">
            <a:avLst/>
          </a:prstGeom>
          <a:noFill/>
          <a:ln cap="flat" cmpd="sng" w="9525">
            <a:solidFill>
              <a:srgbClr val="E5E7EB"/>
            </a:solidFill>
            <a:prstDash val="solid"/>
            <a:round/>
            <a:headEnd len="sm" w="sm" type="none"/>
            <a:tailEnd len="sm" w="sm" type="none"/>
          </a:ln>
        </p:spPr>
      </p:cxnSp>
      <p:sp>
        <p:nvSpPr>
          <p:cNvPr id="361" name="Google Shape;361;p23"/>
          <p:cNvSpPr/>
          <p:nvPr/>
        </p:nvSpPr>
        <p:spPr>
          <a:xfrm>
            <a:off x="254000" y="1075029"/>
            <a:ext cx="2886765" cy="2119630"/>
          </a:xfrm>
          <a:prstGeom prst="rect">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3"/>
          <p:cNvSpPr/>
          <p:nvPr/>
        </p:nvSpPr>
        <p:spPr>
          <a:xfrm>
            <a:off x="254000" y="1075029"/>
            <a:ext cx="64052" cy="211455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3"/>
          <p:cNvSpPr/>
          <p:nvPr/>
        </p:nvSpPr>
        <p:spPr>
          <a:xfrm>
            <a:off x="431800" y="1227429"/>
            <a:ext cx="584200" cy="228600"/>
          </a:xfrm>
          <a:prstGeom prst="roundRect">
            <a:avLst>
              <a:gd fmla="val 2500" name="adj"/>
            </a:avLst>
          </a:prstGeom>
          <a:solidFill>
            <a:srgbClr val="EB1A63"/>
          </a:solid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GRAPH</a:t>
            </a:r>
            <a:endParaRPr b="0" i="0" sz="1400" u="none" cap="none" strike="noStrike">
              <a:solidFill>
                <a:srgbClr val="000000"/>
              </a:solidFill>
              <a:latin typeface="Arial"/>
              <a:ea typeface="Arial"/>
              <a:cs typeface="Arial"/>
              <a:sym typeface="Arial"/>
            </a:endParaRPr>
          </a:p>
        </p:txBody>
      </p:sp>
      <p:sp>
        <p:nvSpPr>
          <p:cNvPr id="364" name="Google Shape;364;p23"/>
          <p:cNvSpPr/>
          <p:nvPr/>
        </p:nvSpPr>
        <p:spPr>
          <a:xfrm>
            <a:off x="1092200" y="1227429"/>
            <a:ext cx="1790700" cy="228600"/>
          </a:xfrm>
          <a:prstGeom prst="rect">
            <a:avLst/>
          </a:prstGeom>
          <a:no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111827"/>
                </a:solidFill>
                <a:latin typeface="Calibri"/>
                <a:ea typeface="Calibri"/>
                <a:cs typeface="Calibri"/>
                <a:sym typeface="Calibri"/>
              </a:rPr>
              <a:t>DX Graph — Product Model</a:t>
            </a:r>
            <a:endParaRPr b="0" i="0" sz="1400" u="none" cap="none" strike="noStrike">
              <a:solidFill>
                <a:srgbClr val="000000"/>
              </a:solidFill>
              <a:latin typeface="Arial"/>
              <a:ea typeface="Arial"/>
              <a:cs typeface="Arial"/>
              <a:sym typeface="Arial"/>
            </a:endParaRPr>
          </a:p>
        </p:txBody>
      </p:sp>
      <p:cxnSp>
        <p:nvCxnSpPr>
          <p:cNvPr id="365" name="Google Shape;365;p23"/>
          <p:cNvCxnSpPr/>
          <p:nvPr/>
        </p:nvCxnSpPr>
        <p:spPr>
          <a:xfrm>
            <a:off x="431800" y="1532229"/>
            <a:ext cx="2527300" cy="1270"/>
          </a:xfrm>
          <a:prstGeom prst="straightConnector1">
            <a:avLst/>
          </a:prstGeom>
          <a:noFill/>
          <a:ln cap="flat" cmpd="sng" w="9525">
            <a:solidFill>
              <a:srgbClr val="E5E7EB"/>
            </a:solidFill>
            <a:prstDash val="solid"/>
            <a:round/>
            <a:headEnd len="sm" w="sm" type="none"/>
            <a:tailEnd len="sm" w="sm" type="none"/>
          </a:ln>
        </p:spPr>
      </p:cxnSp>
      <p:sp>
        <p:nvSpPr>
          <p:cNvPr id="366" name="Google Shape;366;p23"/>
          <p:cNvSpPr/>
          <p:nvPr/>
        </p:nvSpPr>
        <p:spPr>
          <a:xfrm>
            <a:off x="431800" y="1583029"/>
            <a:ext cx="2527300" cy="1168400"/>
          </a:xfrm>
          <a:prstGeom prst="rect">
            <a:avLst/>
          </a:prstGeom>
          <a:noFill/>
          <a:ln>
            <a:noFill/>
          </a:ln>
        </p:spPr>
        <p:txBody>
          <a:bodyPr anchorCtr="0" anchor="t" bIns="25400" lIns="25400" spcFirstLastPara="1" rIns="25400" wrap="square" tIns="25400">
            <a:noAutofit/>
          </a:bodyPr>
          <a:lstStyle/>
          <a:p>
            <a:pPr indent="0" lvl="0" marL="0" marR="0" rtl="0" algn="l">
              <a:lnSpc>
                <a:spcPct val="138888"/>
              </a:lnSpc>
              <a:spcBef>
                <a:spcPts val="0"/>
              </a:spcBef>
              <a:spcAft>
                <a:spcPts val="0"/>
              </a:spcAft>
              <a:buClr>
                <a:srgbClr val="000000"/>
              </a:buClr>
              <a:buSzPts val="900"/>
              <a:buFont typeface="Arial"/>
              <a:buNone/>
            </a:pPr>
            <a:r>
              <a:rPr b="1" i="0" lang="en-US" sz="900" u="none" cap="none" strike="noStrike">
                <a:solidFill>
                  <a:srgbClr val="EB1A63"/>
                </a:solidFill>
                <a:latin typeface="Calibri"/>
                <a:ea typeface="Calibri"/>
                <a:cs typeface="Calibri"/>
                <a:sym typeface="Calibri"/>
              </a:rPr>
              <a:t>DEMO</a:t>
            </a:r>
            <a:endParaRPr b="0" i="0" sz="1400" u="none" cap="none" strike="noStrike">
              <a:solidFill>
                <a:srgbClr val="000000"/>
              </a:solidFill>
              <a:latin typeface="Arial"/>
              <a:ea typeface="Arial"/>
              <a:cs typeface="Arial"/>
              <a:sym typeface="Arial"/>
            </a:endParaRPr>
          </a:p>
          <a:p>
            <a:pPr indent="0" lvl="0" marL="0" marR="0" rtl="0" algn="l">
              <a:lnSpc>
                <a:spcPct val="138888"/>
              </a:lnSpc>
              <a:spcBef>
                <a:spcPts val="200"/>
              </a:spcBef>
              <a:spcAft>
                <a:spcPts val="0"/>
              </a:spcAft>
              <a:buClr>
                <a:srgbClr val="000000"/>
              </a:buClr>
              <a:buSzPts val="900"/>
              <a:buFont typeface="Arial"/>
              <a:buNone/>
            </a:pPr>
            <a:r>
              <a:rPr b="0" i="1" lang="en-US" sz="900" u="none" cap="none" strike="noStrike">
                <a:solidFill>
                  <a:srgbClr val="6B7280"/>
                </a:solidFill>
                <a:latin typeface="Calibri"/>
                <a:ea typeface="Calibri"/>
                <a:cs typeface="Calibri"/>
                <a:sym typeface="Calibri"/>
              </a:rPr>
              <a:t>· SKU Collection: ~13,700 records ingested from NetSuite</a:t>
            </a:r>
            <a:endParaRPr b="0" i="0" sz="1400" u="none" cap="none" strike="noStrike">
              <a:solidFill>
                <a:srgbClr val="000000"/>
              </a:solidFill>
              <a:latin typeface="Arial"/>
              <a:ea typeface="Arial"/>
              <a:cs typeface="Arial"/>
              <a:sym typeface="Arial"/>
            </a:endParaRPr>
          </a:p>
          <a:p>
            <a:pPr indent="0" lvl="0" marL="0" marR="0" rtl="0" algn="l">
              <a:lnSpc>
                <a:spcPct val="138888"/>
              </a:lnSpc>
              <a:spcBef>
                <a:spcPts val="200"/>
              </a:spcBef>
              <a:spcAft>
                <a:spcPts val="0"/>
              </a:spcAft>
              <a:buClr>
                <a:srgbClr val="000000"/>
              </a:buClr>
              <a:buSzPts val="900"/>
              <a:buFont typeface="Arial"/>
              <a:buNone/>
            </a:pPr>
            <a:r>
              <a:rPr b="0" i="1" lang="en-US" sz="900" u="none" cap="none" strike="noStrike">
                <a:solidFill>
                  <a:srgbClr val="6B7280"/>
                </a:solidFill>
                <a:latin typeface="Calibri"/>
                <a:ea typeface="Calibri"/>
                <a:cs typeface="Calibri"/>
                <a:sym typeface="Calibri"/>
              </a:rPr>
              <a:t>· Matrix items exploded into individual variant nodes</a:t>
            </a:r>
            <a:endParaRPr b="0" i="0" sz="1400" u="none" cap="none" strike="noStrike">
              <a:solidFill>
                <a:srgbClr val="000000"/>
              </a:solidFill>
              <a:latin typeface="Arial"/>
              <a:ea typeface="Arial"/>
              <a:cs typeface="Arial"/>
              <a:sym typeface="Arial"/>
            </a:endParaRPr>
          </a:p>
          <a:p>
            <a:pPr indent="0" lvl="0" marL="0" marR="0" rtl="0" algn="l">
              <a:lnSpc>
                <a:spcPct val="138888"/>
              </a:lnSpc>
              <a:spcBef>
                <a:spcPts val="200"/>
              </a:spcBef>
              <a:spcAft>
                <a:spcPts val="0"/>
              </a:spcAft>
              <a:buClr>
                <a:srgbClr val="000000"/>
              </a:buClr>
              <a:buSzPts val="900"/>
              <a:buFont typeface="Arial"/>
              <a:buNone/>
            </a:pPr>
            <a:r>
              <a:rPr b="0" i="1" lang="en-US" sz="900" u="none" cap="none" strike="noStrike">
                <a:solidFill>
                  <a:srgbClr val="6B7280"/>
                </a:solidFill>
                <a:latin typeface="Calibri"/>
                <a:ea typeface="Calibri"/>
                <a:cs typeface="Calibri"/>
                <a:sym typeface="Calibri"/>
              </a:rPr>
              <a:t>· Each node carries colour, cover, configuration attributes</a:t>
            </a:r>
            <a:endParaRPr b="0" i="0" sz="1400" u="none" cap="none" strike="noStrike">
              <a:solidFill>
                <a:srgbClr val="000000"/>
              </a:solidFill>
              <a:latin typeface="Arial"/>
              <a:ea typeface="Arial"/>
              <a:cs typeface="Arial"/>
              <a:sym typeface="Arial"/>
            </a:endParaRPr>
          </a:p>
          <a:p>
            <a:pPr indent="0" lvl="0" marL="0" marR="0" rtl="0" algn="l">
              <a:lnSpc>
                <a:spcPct val="138888"/>
              </a:lnSpc>
              <a:spcBef>
                <a:spcPts val="200"/>
              </a:spcBef>
              <a:spcAft>
                <a:spcPts val="0"/>
              </a:spcAft>
              <a:buClr>
                <a:srgbClr val="000000"/>
              </a:buClr>
              <a:buSzPts val="900"/>
              <a:buFont typeface="Arial"/>
              <a:buNone/>
            </a:pPr>
            <a:r>
              <a:rPr b="0" i="1" lang="en-US" sz="900" u="none" cap="none" strike="noStrike">
                <a:solidFill>
                  <a:srgbClr val="6B7280"/>
                </a:solidFill>
                <a:latin typeface="Calibri"/>
                <a:ea typeface="Calibri"/>
                <a:cs typeface="Calibri"/>
                <a:sym typeface="Calibri"/>
              </a:rPr>
              <a:t>· Relationships typed: COMPATIBLE_WITH, BUNDLES, CONTAINS</a:t>
            </a:r>
            <a:endParaRPr b="0" i="0" sz="1400" u="none" cap="none" strike="noStrike">
              <a:solidFill>
                <a:srgbClr val="000000"/>
              </a:solidFill>
              <a:latin typeface="Arial"/>
              <a:ea typeface="Arial"/>
              <a:cs typeface="Arial"/>
              <a:sym typeface="Arial"/>
            </a:endParaRPr>
          </a:p>
        </p:txBody>
      </p:sp>
      <p:sp>
        <p:nvSpPr>
          <p:cNvPr id="367" name="Google Shape;367;p23"/>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1400" u="none" cap="none" strike="noStrike">
              <a:solidFill>
                <a:srgbClr val="000000"/>
              </a:solidFill>
              <a:latin typeface="Arial"/>
              <a:ea typeface="Arial"/>
              <a:cs typeface="Arial"/>
              <a:sym typeface="Arial"/>
            </a:endParaRPr>
          </a:p>
        </p:txBody>
      </p:sp>
      <p:pic>
        <p:nvPicPr>
          <p:cNvPr id="368" name="Google Shape;368;p23"/>
          <p:cNvPicPr preferRelativeResize="0"/>
          <p:nvPr/>
        </p:nvPicPr>
        <p:blipFill rotWithShape="1">
          <a:blip r:embed="rId3">
            <a:alphaModFix/>
          </a:blip>
          <a:srcRect b="0" l="0" r="0" t="0"/>
          <a:stretch/>
        </p:blipFill>
        <p:spPr>
          <a:xfrm>
            <a:off x="3636133" y="1075029"/>
            <a:ext cx="4881968" cy="3535071"/>
          </a:xfrm>
          <a:prstGeom prst="rect">
            <a:avLst/>
          </a:prstGeom>
          <a:noFill/>
          <a:ln>
            <a:noFill/>
          </a:ln>
        </p:spPr>
      </p:pic>
      <p:sp>
        <p:nvSpPr>
          <p:cNvPr id="369" name="Google Shape;369;p23"/>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3"/>
          <p:cNvSpPr/>
          <p:nvPr/>
        </p:nvSpPr>
        <p:spPr>
          <a:xfrm>
            <a:off x="380999" y="25400"/>
            <a:ext cx="2342641" cy="155524"/>
          </a:xfrm>
          <a:prstGeom prst="roundRect">
            <a:avLst>
              <a:gd fmla="val 50000" name="adj"/>
            </a:avLst>
          </a:prstGeom>
          <a:solidFill>
            <a:srgbClr val="F39200"/>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05 · DATA MODEL DEEP-DIVE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4"/>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24"/>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Early Findings from Your Data</a:t>
            </a:r>
            <a:endParaRPr b="0" i="0" sz="1400" u="none" cap="none" strike="noStrike">
              <a:solidFill>
                <a:srgbClr val="000000"/>
              </a:solidFill>
              <a:latin typeface="Arial"/>
              <a:ea typeface="Arial"/>
              <a:cs typeface="Arial"/>
              <a:sym typeface="Arial"/>
            </a:endParaRPr>
          </a:p>
        </p:txBody>
      </p:sp>
      <p:sp>
        <p:nvSpPr>
          <p:cNvPr id="378" name="Google Shape;378;p24"/>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24"/>
          <p:cNvSpPr/>
          <p:nvPr/>
        </p:nvSpPr>
        <p:spPr>
          <a:xfrm>
            <a:off x="355600" y="838200"/>
            <a:ext cx="2667000" cy="3911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4"/>
          <p:cNvSpPr/>
          <p:nvPr/>
        </p:nvSpPr>
        <p:spPr>
          <a:xfrm>
            <a:off x="355600" y="838200"/>
            <a:ext cx="2667000" cy="508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4"/>
          <p:cNvSpPr/>
          <p:nvPr/>
        </p:nvSpPr>
        <p:spPr>
          <a:xfrm>
            <a:off x="508000" y="1092200"/>
            <a:ext cx="2362200" cy="736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rgbClr val="EB1A63"/>
                </a:solidFill>
                <a:latin typeface="Calibri"/>
                <a:ea typeface="Calibri"/>
                <a:cs typeface="Calibri"/>
                <a:sym typeface="Calibri"/>
              </a:rPr>
              <a:t>~13,700</a:t>
            </a:r>
            <a:endParaRPr b="0" i="0" sz="1400" u="none" cap="none" strike="noStrike">
              <a:solidFill>
                <a:srgbClr val="000000"/>
              </a:solidFill>
              <a:latin typeface="Arial"/>
              <a:ea typeface="Arial"/>
              <a:cs typeface="Arial"/>
              <a:sym typeface="Arial"/>
            </a:endParaRPr>
          </a:p>
        </p:txBody>
      </p:sp>
      <p:sp>
        <p:nvSpPr>
          <p:cNvPr id="382" name="Google Shape;382;p24"/>
          <p:cNvSpPr/>
          <p:nvPr/>
        </p:nvSpPr>
        <p:spPr>
          <a:xfrm>
            <a:off x="508000" y="1879600"/>
            <a:ext cx="2362200" cy="35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Calibri"/>
                <a:ea typeface="Calibri"/>
                <a:cs typeface="Calibri"/>
                <a:sym typeface="Calibri"/>
              </a:rPr>
              <a:t>Active SKUs analysed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across the full Lovesac catalogue</a:t>
            </a:r>
            <a:endParaRPr b="0" i="0" sz="1400" u="none" cap="none" strike="noStrike">
              <a:solidFill>
                <a:srgbClr val="000000"/>
              </a:solidFill>
              <a:latin typeface="Arial"/>
              <a:ea typeface="Arial"/>
              <a:cs typeface="Arial"/>
              <a:sym typeface="Arial"/>
            </a:endParaRPr>
          </a:p>
        </p:txBody>
      </p:sp>
      <p:sp>
        <p:nvSpPr>
          <p:cNvPr id="383" name="Google Shape;383;p24"/>
          <p:cNvSpPr/>
          <p:nvPr/>
        </p:nvSpPr>
        <p:spPr>
          <a:xfrm>
            <a:off x="508000" y="2336800"/>
            <a:ext cx="2362200" cy="22606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00"/>
              </a:buClr>
              <a:buSzPts val="800"/>
              <a:buFont typeface="Arial"/>
              <a:buNone/>
            </a:pPr>
            <a:r>
              <a:rPr b="1" i="0" lang="en-US" sz="800" u="none" cap="none" strike="noStrike">
                <a:solidFill>
                  <a:srgbClr val="9CA3AF"/>
                </a:solidFill>
                <a:latin typeface="Calibri"/>
                <a:ea typeface="Calibri"/>
                <a:cs typeface="Calibri"/>
                <a:sym typeface="Calibri"/>
              </a:rPr>
              <a:t>BREAKDOWN</a:t>
            </a:r>
            <a:endParaRPr b="0" i="0" sz="1400" u="none" cap="none" strike="noStrike">
              <a:solidFill>
                <a:srgbClr val="000000"/>
              </a:solidFill>
              <a:latin typeface="Arial"/>
              <a:ea typeface="Arial"/>
              <a:cs typeface="Arial"/>
              <a:sym typeface="Arial"/>
            </a:endParaRPr>
          </a:p>
          <a:p>
            <a:pPr indent="0" lvl="0" marL="0" marR="0" rtl="0" algn="l">
              <a:lnSpc>
                <a:spcPct val="126315"/>
              </a:lnSpc>
              <a:spcBef>
                <a:spcPts val="200"/>
              </a:spcBef>
              <a:spcAft>
                <a:spcPts val="0"/>
              </a:spcAft>
              <a:buClr>
                <a:srgbClr val="000000"/>
              </a:buClr>
              <a:buSzPts val="950"/>
              <a:buFont typeface="Arial"/>
              <a:buNone/>
            </a:pPr>
            <a:r>
              <a:rPr b="1" i="0" lang="en-US" sz="950" u="none" cap="none" strike="noStrike">
                <a:solidFill>
                  <a:srgbClr val="111827"/>
                </a:solidFill>
                <a:latin typeface="Calibri"/>
                <a:ea typeface="Calibri"/>
                <a:cs typeface="Calibri"/>
                <a:sym typeface="Calibri"/>
              </a:rPr>
              <a:t>~10,800</a:t>
            </a:r>
            <a:r>
              <a:rPr b="0" i="0" lang="en-US" sz="950" u="none" cap="none" strike="noStrike">
                <a:solidFill>
                  <a:srgbClr val="6B7280"/>
                </a:solidFill>
                <a:latin typeface="Calibri"/>
                <a:ea typeface="Calibri"/>
                <a:cs typeface="Calibri"/>
                <a:sym typeface="Calibri"/>
              </a:rPr>
              <a:t>  Sactional Covers</a:t>
            </a:r>
            <a:endParaRPr b="0" i="0" sz="1400" u="none" cap="none" strike="noStrike">
              <a:solidFill>
                <a:srgbClr val="000000"/>
              </a:solidFill>
              <a:latin typeface="Arial"/>
              <a:ea typeface="Arial"/>
              <a:cs typeface="Arial"/>
              <a:sym typeface="Arial"/>
            </a:endParaRPr>
          </a:p>
          <a:p>
            <a:pPr indent="0" lvl="0" marL="0" marR="0" rtl="0" algn="l">
              <a:lnSpc>
                <a:spcPct val="129410"/>
              </a:lnSpc>
              <a:spcBef>
                <a:spcPts val="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Covers  ·  Inserts  ·  other Sactional</a:t>
            </a:r>
            <a:endParaRPr b="0" i="0" sz="1400" u="none" cap="none" strike="noStrike">
              <a:solidFill>
                <a:srgbClr val="000000"/>
              </a:solidFill>
              <a:latin typeface="Arial"/>
              <a:ea typeface="Arial"/>
              <a:cs typeface="Arial"/>
              <a:sym typeface="Arial"/>
            </a:endParaRPr>
          </a:p>
          <a:p>
            <a:pPr indent="0" lvl="0" marL="0" marR="0" rtl="0" algn="l">
              <a:lnSpc>
                <a:spcPct val="126315"/>
              </a:lnSpc>
              <a:spcBef>
                <a:spcPts val="300"/>
              </a:spcBef>
              <a:spcAft>
                <a:spcPts val="0"/>
              </a:spcAft>
              <a:buClr>
                <a:srgbClr val="000000"/>
              </a:buClr>
              <a:buSzPts val="950"/>
              <a:buFont typeface="Arial"/>
              <a:buNone/>
            </a:pPr>
            <a:r>
              <a:rPr b="1" i="0" lang="en-US" sz="950" u="none" cap="none" strike="noStrike">
                <a:solidFill>
                  <a:srgbClr val="111827"/>
                </a:solidFill>
                <a:latin typeface="Calibri"/>
                <a:ea typeface="Calibri"/>
                <a:cs typeface="Calibri"/>
                <a:sym typeface="Calibri"/>
              </a:rPr>
              <a:t>~1,700</a:t>
            </a:r>
            <a:r>
              <a:rPr b="0" i="0" lang="en-US" sz="950" u="none" cap="none" strike="noStrike">
                <a:solidFill>
                  <a:srgbClr val="6B7280"/>
                </a:solidFill>
                <a:latin typeface="Calibri"/>
                <a:ea typeface="Calibri"/>
                <a:cs typeface="Calibri"/>
                <a:sym typeface="Calibri"/>
              </a:rPr>
              <a:t>  Sac &amp; Snugg</a:t>
            </a:r>
            <a:endParaRPr b="0" i="0" sz="1400" u="none" cap="none" strike="noStrike">
              <a:solidFill>
                <a:srgbClr val="000000"/>
              </a:solidFill>
              <a:latin typeface="Arial"/>
              <a:ea typeface="Arial"/>
              <a:cs typeface="Arial"/>
              <a:sym typeface="Arial"/>
            </a:endParaRPr>
          </a:p>
          <a:p>
            <a:pPr indent="0" lvl="0" marL="0" marR="0" rtl="0" algn="l">
              <a:lnSpc>
                <a:spcPct val="126315"/>
              </a:lnSpc>
              <a:spcBef>
                <a:spcPts val="300"/>
              </a:spcBef>
              <a:spcAft>
                <a:spcPts val="0"/>
              </a:spcAft>
              <a:buClr>
                <a:srgbClr val="000000"/>
              </a:buClr>
              <a:buSzPts val="950"/>
              <a:buFont typeface="Arial"/>
              <a:buNone/>
            </a:pPr>
            <a:r>
              <a:rPr b="1" i="0" lang="en-US" sz="950" u="none" cap="none" strike="noStrike">
                <a:solidFill>
                  <a:srgbClr val="111827"/>
                </a:solidFill>
                <a:latin typeface="Calibri"/>
                <a:ea typeface="Calibri"/>
                <a:cs typeface="Calibri"/>
                <a:sym typeface="Calibri"/>
              </a:rPr>
              <a:t>~1,200</a:t>
            </a:r>
            <a:r>
              <a:rPr b="0" i="0" lang="en-US" sz="950" u="none" cap="none" strike="noStrike">
                <a:solidFill>
                  <a:srgbClr val="6B7280"/>
                </a:solidFill>
                <a:latin typeface="Calibri"/>
                <a:ea typeface="Calibri"/>
                <a:cs typeface="Calibri"/>
                <a:sym typeface="Calibri"/>
              </a:rPr>
              <a:t>  Accessories &amp; spare parts</a:t>
            </a:r>
            <a:endParaRPr b="0" i="0" sz="1400" u="none" cap="none" strike="noStrike">
              <a:solidFill>
                <a:srgbClr val="000000"/>
              </a:solidFill>
              <a:latin typeface="Arial"/>
              <a:ea typeface="Arial"/>
              <a:cs typeface="Arial"/>
              <a:sym typeface="Arial"/>
            </a:endParaRPr>
          </a:p>
          <a:p>
            <a:pPr indent="0" lvl="0" marL="0" marR="0" rtl="0" algn="l">
              <a:lnSpc>
                <a:spcPct val="141176"/>
              </a:lnSpc>
              <a:spcBef>
                <a:spcPts val="400"/>
              </a:spcBef>
              <a:spcAft>
                <a:spcPts val="0"/>
              </a:spcAft>
              <a:buClr>
                <a:srgbClr val="000000"/>
              </a:buClr>
              <a:buSzPts val="850"/>
              <a:buFont typeface="Arial"/>
              <a:buNone/>
            </a:pPr>
            <a:r>
              <a:rPr b="0" i="0" lang="en-US" sz="850" u="none" cap="none" strike="noStrike">
                <a:solidFill>
                  <a:srgbClr val="9CA3AF"/>
                </a:solidFill>
                <a:latin typeface="Calibri"/>
                <a:ea typeface="Calibri"/>
                <a:cs typeface="Calibri"/>
                <a:sym typeface="Calibri"/>
              </a:rPr>
              <a:t>Across 3 brands:  Sactional  ·  Sac  ·  Snugg</a:t>
            </a:r>
            <a:endParaRPr b="0" i="0" sz="1400" u="none" cap="none" strike="noStrike">
              <a:solidFill>
                <a:srgbClr val="000000"/>
              </a:solidFill>
              <a:latin typeface="Arial"/>
              <a:ea typeface="Arial"/>
              <a:cs typeface="Arial"/>
              <a:sym typeface="Arial"/>
            </a:endParaRPr>
          </a:p>
        </p:txBody>
      </p:sp>
      <p:sp>
        <p:nvSpPr>
          <p:cNvPr id="384" name="Google Shape;384;p24"/>
          <p:cNvSpPr/>
          <p:nvPr/>
        </p:nvSpPr>
        <p:spPr>
          <a:xfrm>
            <a:off x="3175000" y="838200"/>
            <a:ext cx="5867400" cy="1244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4"/>
          <p:cNvSpPr/>
          <p:nvPr/>
        </p:nvSpPr>
        <p:spPr>
          <a:xfrm>
            <a:off x="3175000" y="838200"/>
            <a:ext cx="50800" cy="12446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4"/>
          <p:cNvSpPr/>
          <p:nvPr/>
        </p:nvSpPr>
        <p:spPr>
          <a:xfrm>
            <a:off x="3378200" y="965200"/>
            <a:ext cx="5613400" cy="1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EB1A63"/>
                </a:solidFill>
                <a:latin typeface="Calibri"/>
                <a:ea typeface="Calibri"/>
                <a:cs typeface="Calibri"/>
                <a:sym typeface="Calibri"/>
              </a:rPr>
              <a:t>CATALOG STRUCTURE</a:t>
            </a:r>
            <a:endParaRPr b="0" i="0" sz="1400" u="none" cap="none" strike="noStrike">
              <a:solidFill>
                <a:srgbClr val="000000"/>
              </a:solidFill>
              <a:latin typeface="Arial"/>
              <a:ea typeface="Arial"/>
              <a:cs typeface="Arial"/>
              <a:sym typeface="Arial"/>
            </a:endParaRPr>
          </a:p>
        </p:txBody>
      </p:sp>
      <p:sp>
        <p:nvSpPr>
          <p:cNvPr id="387" name="Google Shape;387;p24"/>
          <p:cNvSpPr/>
          <p:nvPr/>
        </p:nvSpPr>
        <p:spPr>
          <a:xfrm>
            <a:off x="3378200" y="1168400"/>
            <a:ext cx="56134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Calibri"/>
                <a:ea typeface="Calibri"/>
                <a:cs typeface="Calibri"/>
                <a:sym typeface="Calibri"/>
              </a:rPr>
              <a:t>Compatibility is encodable from two fields</a:t>
            </a:r>
            <a:endParaRPr b="0" i="0" sz="1400" u="none" cap="none" strike="noStrike">
              <a:solidFill>
                <a:srgbClr val="000000"/>
              </a:solidFill>
              <a:latin typeface="Arial"/>
              <a:ea typeface="Arial"/>
              <a:cs typeface="Arial"/>
              <a:sym typeface="Arial"/>
            </a:endParaRPr>
          </a:p>
        </p:txBody>
      </p:sp>
      <p:sp>
        <p:nvSpPr>
          <p:cNvPr id="388" name="Google Shape;388;p24"/>
          <p:cNvSpPr/>
          <p:nvPr/>
        </p:nvSpPr>
        <p:spPr>
          <a:xfrm>
            <a:off x="3378200" y="1447800"/>
            <a:ext cx="5613400" cy="6096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Across all </a:t>
            </a:r>
            <a:r>
              <a:rPr b="0" i="0" lang="en-US" sz="850" u="none" cap="none" strike="noStrike">
                <a:solidFill>
                  <a:srgbClr val="6D727E"/>
                </a:solidFill>
                <a:latin typeface="Calibri"/>
                <a:ea typeface="Calibri"/>
                <a:cs typeface="Calibri"/>
                <a:sym typeface="Calibri"/>
              </a:rPr>
              <a:t>~</a:t>
            </a:r>
            <a:r>
              <a:rPr b="0" i="0" lang="en-US" sz="850" u="none" cap="none" strike="noStrike">
                <a:solidFill>
                  <a:srgbClr val="6B7280"/>
                </a:solidFill>
                <a:latin typeface="Calibri"/>
                <a:ea typeface="Calibri"/>
                <a:cs typeface="Calibri"/>
                <a:sym typeface="Calibri"/>
              </a:rPr>
              <a:t>11,500 Cover SKUs, Cover ↔ Insert compatibility resolves from Product == Product AND Sactional_Size == Sactional_Size. A single Dynamic Relationship in DX Graph replaces tens of thousands of manual mappings — and new SKUs are covered automatically.</a:t>
            </a:r>
            <a:endParaRPr b="0" i="0" sz="1400" u="none" cap="none" strike="noStrike">
              <a:solidFill>
                <a:srgbClr val="000000"/>
              </a:solidFill>
              <a:latin typeface="Arial"/>
              <a:ea typeface="Arial"/>
              <a:cs typeface="Arial"/>
              <a:sym typeface="Arial"/>
            </a:endParaRPr>
          </a:p>
        </p:txBody>
      </p:sp>
      <p:sp>
        <p:nvSpPr>
          <p:cNvPr id="389" name="Google Shape;389;p24"/>
          <p:cNvSpPr/>
          <p:nvPr/>
        </p:nvSpPr>
        <p:spPr>
          <a:xfrm>
            <a:off x="3175000" y="2171700"/>
            <a:ext cx="5867400" cy="1244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24"/>
          <p:cNvSpPr/>
          <p:nvPr/>
        </p:nvSpPr>
        <p:spPr>
          <a:xfrm>
            <a:off x="3175000" y="2171700"/>
            <a:ext cx="50800" cy="12446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4"/>
          <p:cNvSpPr/>
          <p:nvPr/>
        </p:nvSpPr>
        <p:spPr>
          <a:xfrm>
            <a:off x="3378200" y="2298700"/>
            <a:ext cx="5613400" cy="1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7BCD6"/>
                </a:solidFill>
                <a:latin typeface="Calibri"/>
                <a:ea typeface="Calibri"/>
                <a:cs typeface="Calibri"/>
                <a:sym typeface="Calibri"/>
              </a:rPr>
              <a:t>DATA QUALITY</a:t>
            </a:r>
            <a:endParaRPr b="0" i="0" sz="1400" u="none" cap="none" strike="noStrike">
              <a:solidFill>
                <a:srgbClr val="000000"/>
              </a:solidFill>
              <a:latin typeface="Arial"/>
              <a:ea typeface="Arial"/>
              <a:cs typeface="Arial"/>
              <a:sym typeface="Arial"/>
            </a:endParaRPr>
          </a:p>
        </p:txBody>
      </p:sp>
      <p:sp>
        <p:nvSpPr>
          <p:cNvPr id="392" name="Google Shape;392;p24"/>
          <p:cNvSpPr/>
          <p:nvPr/>
        </p:nvSpPr>
        <p:spPr>
          <a:xfrm>
            <a:off x="3378200" y="2501900"/>
            <a:ext cx="56134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Calibri"/>
                <a:ea typeface="Calibri"/>
                <a:cs typeface="Calibri"/>
                <a:sym typeface="Calibri"/>
              </a:rPr>
              <a:t>Inconsistent attribute naming across product families</a:t>
            </a:r>
            <a:endParaRPr b="0" i="0" sz="1400" u="none" cap="none" strike="noStrike">
              <a:solidFill>
                <a:srgbClr val="000000"/>
              </a:solidFill>
              <a:latin typeface="Arial"/>
              <a:ea typeface="Arial"/>
              <a:cs typeface="Arial"/>
              <a:sym typeface="Arial"/>
            </a:endParaRPr>
          </a:p>
        </p:txBody>
      </p:sp>
      <p:sp>
        <p:nvSpPr>
          <p:cNvPr id="393" name="Google Shape;393;p24"/>
          <p:cNvSpPr/>
          <p:nvPr/>
        </p:nvSpPr>
        <p:spPr>
          <a:xfrm>
            <a:off x="3378200" y="2781300"/>
            <a:ext cx="5613400" cy="6096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Color, fabric, and dimension fields use different naming conventions across Sactional, Sac, and Snugg. Recommend a normalisation pass during ingest to establish canonical attribute keys. Also observed: ~18 attribute fields per SKU; multiple legacy naming conventions; some product-line ambiguity (e.g. Squattoman: Sac or Ottoman?).</a:t>
            </a:r>
            <a:endParaRPr b="0" i="0" sz="1400" u="none" cap="none" strike="noStrike">
              <a:solidFill>
                <a:srgbClr val="000000"/>
              </a:solidFill>
              <a:latin typeface="Arial"/>
              <a:ea typeface="Arial"/>
              <a:cs typeface="Arial"/>
              <a:sym typeface="Arial"/>
            </a:endParaRPr>
          </a:p>
        </p:txBody>
      </p:sp>
      <p:sp>
        <p:nvSpPr>
          <p:cNvPr id="394" name="Google Shape;394;p24"/>
          <p:cNvSpPr/>
          <p:nvPr/>
        </p:nvSpPr>
        <p:spPr>
          <a:xfrm>
            <a:off x="3175000" y="3505200"/>
            <a:ext cx="5867400" cy="1244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4"/>
          <p:cNvSpPr/>
          <p:nvPr/>
        </p:nvSpPr>
        <p:spPr>
          <a:xfrm>
            <a:off x="3175000" y="3505200"/>
            <a:ext cx="50800" cy="1244600"/>
          </a:xfrm>
          <a:prstGeom prst="roundRect">
            <a:avLst>
              <a:gd fmla="val 50000" name="adj"/>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4"/>
          <p:cNvSpPr/>
          <p:nvPr/>
        </p:nvSpPr>
        <p:spPr>
          <a:xfrm>
            <a:off x="3378200" y="3632200"/>
            <a:ext cx="5613400" cy="17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8AC542"/>
                </a:solidFill>
                <a:latin typeface="Calibri"/>
                <a:ea typeface="Calibri"/>
                <a:cs typeface="Calibri"/>
                <a:sym typeface="Calibri"/>
              </a:rPr>
              <a:t>INTEGRATION READINESS</a:t>
            </a:r>
            <a:endParaRPr b="0" i="0" sz="1400" u="none" cap="none" strike="noStrike">
              <a:solidFill>
                <a:srgbClr val="000000"/>
              </a:solidFill>
              <a:latin typeface="Arial"/>
              <a:ea typeface="Arial"/>
              <a:cs typeface="Arial"/>
              <a:sym typeface="Arial"/>
            </a:endParaRPr>
          </a:p>
        </p:txBody>
      </p:sp>
      <p:sp>
        <p:nvSpPr>
          <p:cNvPr id="397" name="Google Shape;397;p24"/>
          <p:cNvSpPr/>
          <p:nvPr/>
        </p:nvSpPr>
        <p:spPr>
          <a:xfrm>
            <a:off x="3378200" y="3835400"/>
            <a:ext cx="56134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11827"/>
                </a:solidFill>
                <a:latin typeface="Calibri"/>
                <a:ea typeface="Calibri"/>
                <a:cs typeface="Calibri"/>
                <a:sym typeface="Calibri"/>
              </a:rPr>
              <a:t>The big question is data access, not data shape</a:t>
            </a:r>
            <a:endParaRPr b="0" i="0" sz="1400" u="none" cap="none" strike="noStrike">
              <a:solidFill>
                <a:srgbClr val="000000"/>
              </a:solidFill>
              <a:latin typeface="Arial"/>
              <a:ea typeface="Arial"/>
              <a:cs typeface="Arial"/>
              <a:sym typeface="Arial"/>
            </a:endParaRPr>
          </a:p>
        </p:txBody>
      </p:sp>
      <p:sp>
        <p:nvSpPr>
          <p:cNvPr id="398" name="Google Shape;398;p24"/>
          <p:cNvSpPr/>
          <p:nvPr/>
        </p:nvSpPr>
        <p:spPr>
          <a:xfrm>
            <a:off x="3378200" y="4114800"/>
            <a:ext cx="5613400" cy="6096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The product catalogue models cleanly. The open question is how data reaches Conscia from each source backend — API pull, file export via Celigo, or direct database. Confirming this for each of the 3 source systems is the first dependency on the timeline.</a:t>
            </a:r>
            <a:endParaRPr b="0" i="0" sz="1400" u="none" cap="none" strike="noStrike">
              <a:solidFill>
                <a:srgbClr val="000000"/>
              </a:solidFill>
              <a:latin typeface="Arial"/>
              <a:ea typeface="Arial"/>
              <a:cs typeface="Arial"/>
              <a:sym typeface="Arial"/>
            </a:endParaRPr>
          </a:p>
        </p:txBody>
      </p:sp>
      <p:sp>
        <p:nvSpPr>
          <p:cNvPr id="399" name="Google Shape;399;p24"/>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400" name="Google Shape;400;p24"/>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24"/>
          <p:cNvSpPr/>
          <p:nvPr/>
        </p:nvSpPr>
        <p:spPr>
          <a:xfrm>
            <a:off x="457200" y="25400"/>
            <a:ext cx="1850000" cy="152400"/>
          </a:xfrm>
          <a:prstGeom prst="roundRect">
            <a:avLst>
              <a:gd fmla="val 50000" name="adj"/>
            </a:avLst>
          </a:prstGeom>
          <a:solidFill>
            <a:srgbClr val="F5B82E"/>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06 · EARLY FINDINGS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25"/>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25"/>
          <p:cNvSpPr/>
          <p:nvPr/>
        </p:nvSpPr>
        <p:spPr>
          <a:xfrm>
            <a:off x="457200" y="203200"/>
            <a:ext cx="5080000" cy="381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Project Scope — Phase 1</a:t>
            </a:r>
            <a:endParaRPr b="0" i="0" sz="1400" u="none" cap="none" strike="noStrike">
              <a:solidFill>
                <a:srgbClr val="000000"/>
              </a:solidFill>
              <a:latin typeface="Arial"/>
              <a:ea typeface="Arial"/>
              <a:cs typeface="Arial"/>
              <a:sym typeface="Arial"/>
            </a:endParaRPr>
          </a:p>
        </p:txBody>
      </p:sp>
      <p:sp>
        <p:nvSpPr>
          <p:cNvPr id="409" name="Google Shape;409;p25"/>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5"/>
          <p:cNvSpPr/>
          <p:nvPr/>
        </p:nvSpPr>
        <p:spPr>
          <a:xfrm>
            <a:off x="330200" y="838200"/>
            <a:ext cx="2730500" cy="3810000"/>
          </a:xfrm>
          <a:prstGeom prst="roundRect">
            <a:avLst>
              <a:gd fmla="val 3000" name="adj"/>
            </a:avLst>
          </a:prstGeom>
          <a:solidFill>
            <a:srgbClr val="FFF8FB"/>
          </a:solidFill>
          <a:ln cap="flat" cmpd="sng" w="9525">
            <a:solidFill>
              <a:srgbClr val="FBD0DF"/>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25"/>
          <p:cNvSpPr/>
          <p:nvPr/>
        </p:nvSpPr>
        <p:spPr>
          <a:xfrm>
            <a:off x="330200" y="838200"/>
            <a:ext cx="2730500" cy="635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25"/>
          <p:cNvSpPr/>
          <p:nvPr/>
        </p:nvSpPr>
        <p:spPr>
          <a:xfrm>
            <a:off x="482600" y="990600"/>
            <a:ext cx="24257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B1A63"/>
                </a:solidFill>
                <a:latin typeface="Calibri"/>
                <a:ea typeface="Calibri"/>
                <a:cs typeface="Calibri"/>
                <a:sym typeface="Calibri"/>
              </a:rPr>
              <a:t>DX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EB1A63"/>
                </a:solidFill>
                <a:latin typeface="Calibri"/>
                <a:ea typeface="Calibri"/>
                <a:cs typeface="Calibri"/>
                <a:sym typeface="Calibri"/>
              </a:rPr>
              <a:t>in scope</a:t>
            </a:r>
            <a:endParaRPr b="0" i="0" sz="1400" u="none" cap="none" strike="noStrike">
              <a:solidFill>
                <a:srgbClr val="000000"/>
              </a:solidFill>
              <a:latin typeface="Arial"/>
              <a:ea typeface="Arial"/>
              <a:cs typeface="Arial"/>
              <a:sym typeface="Arial"/>
            </a:endParaRPr>
          </a:p>
        </p:txBody>
      </p:sp>
      <p:sp>
        <p:nvSpPr>
          <p:cNvPr id="413" name="Google Shape;413;p25"/>
          <p:cNvSpPr/>
          <p:nvPr/>
        </p:nvSpPr>
        <p:spPr>
          <a:xfrm>
            <a:off x="482600" y="13208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5"/>
          <p:cNvSpPr/>
          <p:nvPr/>
        </p:nvSpPr>
        <p:spPr>
          <a:xfrm>
            <a:off x="482600" y="1397000"/>
            <a:ext cx="2425700" cy="2921000"/>
          </a:xfrm>
          <a:prstGeom prst="rect">
            <a:avLst/>
          </a:prstGeom>
          <a:noFill/>
          <a:ln>
            <a:noFill/>
          </a:ln>
        </p:spPr>
        <p:txBody>
          <a:bodyPr anchorCtr="0" anchor="t" bIns="0" lIns="0" spcFirstLastPara="1" rIns="0" wrap="square" tIns="0">
            <a:noAutofit/>
          </a:bodyPr>
          <a:lstStyle/>
          <a:p>
            <a:pPr indent="-171450" lvl="0" marL="171450" marR="0" rtl="0" algn="l">
              <a:lnSpc>
                <a:spcPct val="146341"/>
              </a:lnSpc>
              <a:spcBef>
                <a:spcPts val="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DX Graph application provisioning and environment setup</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SKU Collection — all ~13,700 SKUs (Sactional, Sac, Snugg, Accessories) in one unified collection</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Configuration Collection for saved configs</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Up to 3 Taxonomy Collections</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Relationships: COMPATIBLE_WITH (Dynamic), BUNDLES (1:M), CONTAINS (1:M), MAPS_TO (1:M)</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Data ingest from up to 3 source backends via Jobs (via Celigo — recommended, see appendix)</a:t>
            </a:r>
            <a:endParaRPr b="0" i="0" sz="1400" u="none" cap="none" strike="noStrike">
              <a:solidFill>
                <a:srgbClr val="000000"/>
              </a:solidFill>
              <a:latin typeface="Arial"/>
              <a:ea typeface="Arial"/>
              <a:cs typeface="Arial"/>
              <a:sym typeface="Arial"/>
            </a:endParaRPr>
          </a:p>
        </p:txBody>
      </p:sp>
      <p:sp>
        <p:nvSpPr>
          <p:cNvPr id="415" name="Google Shape;415;p25"/>
          <p:cNvSpPr/>
          <p:nvPr/>
        </p:nvSpPr>
        <p:spPr>
          <a:xfrm>
            <a:off x="3213100" y="838200"/>
            <a:ext cx="2730500" cy="3810000"/>
          </a:xfrm>
          <a:prstGeom prst="roundRect">
            <a:avLst>
              <a:gd fmla="val 3000" name="adj"/>
            </a:avLst>
          </a:prstGeom>
          <a:solidFill>
            <a:srgbClr val="F0FBFD"/>
          </a:solidFill>
          <a:ln cap="flat" cmpd="sng" w="9525">
            <a:solidFill>
              <a:srgbClr val="B8EDF5"/>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5"/>
          <p:cNvSpPr/>
          <p:nvPr/>
        </p:nvSpPr>
        <p:spPr>
          <a:xfrm>
            <a:off x="3213100" y="838200"/>
            <a:ext cx="2730500" cy="635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5"/>
          <p:cNvSpPr/>
          <p:nvPr/>
        </p:nvSpPr>
        <p:spPr>
          <a:xfrm>
            <a:off x="3365500" y="990600"/>
            <a:ext cx="24257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7BCD6"/>
                </a:solidFill>
                <a:latin typeface="Calibri"/>
                <a:ea typeface="Calibri"/>
                <a:cs typeface="Calibri"/>
                <a:sym typeface="Calibri"/>
              </a:rPr>
              <a:t>DX ENGINE POC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07BCD6"/>
                </a:solidFill>
                <a:latin typeface="Calibri"/>
                <a:ea typeface="Calibri"/>
                <a:cs typeface="Calibri"/>
                <a:sym typeface="Calibri"/>
              </a:rPr>
              <a:t>in scope</a:t>
            </a:r>
            <a:endParaRPr b="0" i="0" sz="1400" u="none" cap="none" strike="noStrike">
              <a:solidFill>
                <a:srgbClr val="000000"/>
              </a:solidFill>
              <a:latin typeface="Arial"/>
              <a:ea typeface="Arial"/>
              <a:cs typeface="Arial"/>
              <a:sym typeface="Arial"/>
            </a:endParaRPr>
          </a:p>
        </p:txBody>
      </p:sp>
      <p:sp>
        <p:nvSpPr>
          <p:cNvPr id="418" name="Google Shape;418;p25"/>
          <p:cNvSpPr/>
          <p:nvPr/>
        </p:nvSpPr>
        <p:spPr>
          <a:xfrm>
            <a:off x="3365500" y="13208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5"/>
          <p:cNvSpPr/>
          <p:nvPr/>
        </p:nvSpPr>
        <p:spPr>
          <a:xfrm>
            <a:off x="3365500" y="1397000"/>
            <a:ext cx="2425700" cy="2921000"/>
          </a:xfrm>
          <a:prstGeom prst="rect">
            <a:avLst/>
          </a:prstGeom>
          <a:noFill/>
          <a:ln>
            <a:noFill/>
          </a:ln>
        </p:spPr>
        <p:txBody>
          <a:bodyPr anchorCtr="0" anchor="t" bIns="0" lIns="0" spcFirstLastPara="1" rIns="0" wrap="square" tIns="0">
            <a:noAutofit/>
          </a:bodyPr>
          <a:lstStyle/>
          <a:p>
            <a:pPr indent="-171450" lvl="0" marL="171450" marR="0" rtl="0" algn="l">
              <a:lnSpc>
                <a:spcPct val="146341"/>
              </a:lnSpc>
              <a:spcBef>
                <a:spcPts val="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Config Validation orchestration flow</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Visual Configurator wizard step options flow</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Config ID Creation flow (with API write-back to DX Graph)</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Config ID → BOM Explosion flow (POS / OMS / warehouse output shapes)</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374151"/>
                </a:solidFill>
                <a:latin typeface="Calibri"/>
                <a:ea typeface="Calibri"/>
                <a:cs typeface="Calibri"/>
                <a:sym typeface="Calibri"/>
              </a:rPr>
              <a:t>Experience Rules for series, Outdoor restrictions, and channel-specific constraints</a:t>
            </a:r>
            <a:endParaRPr b="0" i="0" sz="1400" u="none" cap="none" strike="noStrike">
              <a:solidFill>
                <a:srgbClr val="000000"/>
              </a:solidFill>
              <a:latin typeface="Arial"/>
              <a:ea typeface="Arial"/>
              <a:cs typeface="Arial"/>
              <a:sym typeface="Arial"/>
            </a:endParaRPr>
          </a:p>
        </p:txBody>
      </p:sp>
      <p:sp>
        <p:nvSpPr>
          <p:cNvPr id="420" name="Google Shape;420;p25"/>
          <p:cNvSpPr/>
          <p:nvPr/>
        </p:nvSpPr>
        <p:spPr>
          <a:xfrm>
            <a:off x="6096000" y="838200"/>
            <a:ext cx="2730500" cy="3810000"/>
          </a:xfrm>
          <a:prstGeom prst="roundRect">
            <a:avLst>
              <a:gd fmla="val 3000" name="adj"/>
            </a:avLst>
          </a:prstGeom>
          <a:solidFill>
            <a:srgbClr val="F9FAFB"/>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25"/>
          <p:cNvSpPr/>
          <p:nvPr/>
        </p:nvSpPr>
        <p:spPr>
          <a:xfrm>
            <a:off x="6096000" y="838200"/>
            <a:ext cx="2730500" cy="63500"/>
          </a:xfrm>
          <a:prstGeom prst="roundRect">
            <a:avLst>
              <a:gd fmla="val 50000" name="adj"/>
            </a:avLst>
          </a:prstGeom>
          <a:solidFill>
            <a:srgbClr val="9CA3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25"/>
          <p:cNvSpPr/>
          <p:nvPr/>
        </p:nvSpPr>
        <p:spPr>
          <a:xfrm>
            <a:off x="6248400" y="990600"/>
            <a:ext cx="24257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B7280"/>
                </a:solidFill>
                <a:latin typeface="Calibri"/>
                <a:ea typeface="Calibri"/>
                <a:cs typeface="Calibri"/>
                <a:sym typeface="Calibri"/>
              </a:rPr>
              <a:t>OUT OF SCOPE — PHASE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1" lang="en-US" sz="750" u="none" cap="none" strike="noStrike">
                <a:solidFill>
                  <a:srgbClr val="9CA3AF"/>
                </a:solidFill>
                <a:latin typeface="Calibri"/>
                <a:ea typeface="Calibri"/>
                <a:cs typeface="Calibri"/>
                <a:sym typeface="Calibri"/>
              </a:rPr>
              <a:t>not in Phase 1</a:t>
            </a:r>
            <a:endParaRPr b="0" i="0" sz="1400" u="none" cap="none" strike="noStrike">
              <a:solidFill>
                <a:srgbClr val="000000"/>
              </a:solidFill>
              <a:latin typeface="Arial"/>
              <a:ea typeface="Arial"/>
              <a:cs typeface="Arial"/>
              <a:sym typeface="Arial"/>
            </a:endParaRPr>
          </a:p>
        </p:txBody>
      </p:sp>
      <p:sp>
        <p:nvSpPr>
          <p:cNvPr id="423" name="Google Shape;423;p25"/>
          <p:cNvSpPr/>
          <p:nvPr/>
        </p:nvSpPr>
        <p:spPr>
          <a:xfrm>
            <a:off x="6248400" y="13208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25"/>
          <p:cNvSpPr/>
          <p:nvPr/>
        </p:nvSpPr>
        <p:spPr>
          <a:xfrm>
            <a:off x="6248400" y="1397000"/>
            <a:ext cx="2425700" cy="2921000"/>
          </a:xfrm>
          <a:prstGeom prst="rect">
            <a:avLst/>
          </a:prstGeom>
          <a:noFill/>
          <a:ln>
            <a:noFill/>
          </a:ln>
        </p:spPr>
        <p:txBody>
          <a:bodyPr anchorCtr="0" anchor="t" bIns="0" lIns="0" spcFirstLastPara="1" rIns="0" wrap="square" tIns="0">
            <a:noAutofit/>
          </a:bodyPr>
          <a:lstStyle/>
          <a:p>
            <a:pPr indent="-171450" lvl="0" marL="171450" marR="0" rtl="0" algn="l">
              <a:lnSpc>
                <a:spcPct val="146341"/>
              </a:lnSpc>
              <a:spcBef>
                <a:spcPts val="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Lovesac.com frontend integration (handled by Lovesac team)</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Real-time inventory availability (depends on Q4 — Quickship resolution)</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Production deployment to AgentForce / ChatGPT / Google Shopping (POC only)</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Pricing engine integration (NetSuite continues as pricing master)</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Manhattan Active Omni / OMS integration (downstream of BOM explosion)</a:t>
            </a:r>
            <a:endParaRPr b="0" i="0" sz="1400" u="none" cap="none" strike="noStrike">
              <a:solidFill>
                <a:srgbClr val="000000"/>
              </a:solidFill>
              <a:latin typeface="Arial"/>
              <a:ea typeface="Arial"/>
              <a:cs typeface="Arial"/>
              <a:sym typeface="Arial"/>
            </a:endParaRPr>
          </a:p>
          <a:p>
            <a:pPr indent="-171450" lvl="0" marL="171450" marR="0" rtl="0" algn="l">
              <a:lnSpc>
                <a:spcPct val="146341"/>
              </a:lnSpc>
              <a:spcBef>
                <a:spcPts val="180"/>
              </a:spcBef>
              <a:spcAft>
                <a:spcPts val="0"/>
              </a:spcAft>
              <a:buClr>
                <a:srgbClr val="000000"/>
              </a:buClr>
              <a:buSzPts val="820"/>
              <a:buFont typeface="Arial"/>
              <a:buChar char="·"/>
            </a:pPr>
            <a:r>
              <a:rPr b="0" i="0" lang="en-US" sz="820" u="none" cap="none" strike="noStrike">
                <a:solidFill>
                  <a:srgbClr val="6B7280"/>
                </a:solidFill>
                <a:latin typeface="Calibri"/>
                <a:ea typeface="Calibri"/>
                <a:cs typeface="Calibri"/>
                <a:sym typeface="Calibri"/>
              </a:rPr>
              <a:t>PLM integration (TBD — depends on Q2)</a:t>
            </a:r>
            <a:endParaRPr b="0" i="0" sz="1400" u="none" cap="none" strike="noStrike">
              <a:solidFill>
                <a:srgbClr val="000000"/>
              </a:solidFill>
              <a:latin typeface="Arial"/>
              <a:ea typeface="Arial"/>
              <a:cs typeface="Arial"/>
              <a:sym typeface="Arial"/>
            </a:endParaRPr>
          </a:p>
        </p:txBody>
      </p:sp>
      <p:sp>
        <p:nvSpPr>
          <p:cNvPr id="425" name="Google Shape;425;p25"/>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426" name="Google Shape;426;p25"/>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5"/>
          <p:cNvSpPr/>
          <p:nvPr/>
        </p:nvSpPr>
        <p:spPr>
          <a:xfrm>
            <a:off x="482600" y="4368800"/>
            <a:ext cx="2425700" cy="203200"/>
          </a:xfrm>
          <a:prstGeom prst="roundRect">
            <a:avLst>
              <a:gd fmla="val 50000" name="adj"/>
            </a:avLst>
          </a:prstGeom>
          <a:solidFill>
            <a:srgbClr val="EB1A6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  IN SCOPE</a:t>
            </a:r>
            <a:endParaRPr b="0" i="0" sz="1400" u="none" cap="none" strike="noStrike">
              <a:solidFill>
                <a:srgbClr val="000000"/>
              </a:solidFill>
              <a:latin typeface="Arial"/>
              <a:ea typeface="Arial"/>
              <a:cs typeface="Arial"/>
              <a:sym typeface="Arial"/>
            </a:endParaRPr>
          </a:p>
        </p:txBody>
      </p:sp>
      <p:sp>
        <p:nvSpPr>
          <p:cNvPr id="428" name="Google Shape;428;p25"/>
          <p:cNvSpPr/>
          <p:nvPr/>
        </p:nvSpPr>
        <p:spPr>
          <a:xfrm>
            <a:off x="3365500" y="4368800"/>
            <a:ext cx="2425700" cy="203200"/>
          </a:xfrm>
          <a:prstGeom prst="roundRect">
            <a:avLst>
              <a:gd fmla="val 50000" name="adj"/>
            </a:avLst>
          </a:prstGeom>
          <a:solidFill>
            <a:srgbClr val="07BC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  IN SCOPE</a:t>
            </a:r>
            <a:endParaRPr b="0" i="0" sz="1400" u="none" cap="none" strike="noStrike">
              <a:solidFill>
                <a:srgbClr val="000000"/>
              </a:solidFill>
              <a:latin typeface="Arial"/>
              <a:ea typeface="Arial"/>
              <a:cs typeface="Arial"/>
              <a:sym typeface="Arial"/>
            </a:endParaRPr>
          </a:p>
        </p:txBody>
      </p:sp>
      <p:sp>
        <p:nvSpPr>
          <p:cNvPr id="429" name="Google Shape;429;p25"/>
          <p:cNvSpPr/>
          <p:nvPr/>
        </p:nvSpPr>
        <p:spPr>
          <a:xfrm>
            <a:off x="6248400" y="4368800"/>
            <a:ext cx="2425700" cy="203200"/>
          </a:xfrm>
          <a:prstGeom prst="roundRect">
            <a:avLst>
              <a:gd fmla="val 50000" name="adj"/>
            </a:avLst>
          </a:prstGeom>
          <a:solidFill>
            <a:srgbClr val="6B728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  OUT OF SCOPE</a:t>
            </a:r>
            <a:endParaRPr b="0" i="0" sz="1400" u="none" cap="none" strike="noStrike">
              <a:solidFill>
                <a:srgbClr val="000000"/>
              </a:solidFill>
              <a:latin typeface="Arial"/>
              <a:ea typeface="Arial"/>
              <a:cs typeface="Arial"/>
              <a:sym typeface="Arial"/>
            </a:endParaRPr>
          </a:p>
        </p:txBody>
      </p:sp>
      <p:sp>
        <p:nvSpPr>
          <p:cNvPr id="430" name="Google Shape;430;p25"/>
          <p:cNvSpPr/>
          <p:nvPr/>
        </p:nvSpPr>
        <p:spPr>
          <a:xfrm>
            <a:off x="457200" y="25400"/>
            <a:ext cx="1850000" cy="152400"/>
          </a:xfrm>
          <a:prstGeom prst="roundRect">
            <a:avLst>
              <a:gd fmla="val 50000" name="adj"/>
            </a:avLst>
          </a:prstGeom>
          <a:solidFill>
            <a:srgbClr val="E6007A"/>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07 · SCOPE &amp; TIMELINE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6"/>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26"/>
          <p:cNvSpPr/>
          <p:nvPr/>
        </p:nvSpPr>
        <p:spPr>
          <a:xfrm>
            <a:off x="381000" y="203201"/>
            <a:ext cx="7772400" cy="3556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Implementation Timeline</a:t>
            </a:r>
            <a:endParaRPr b="0" i="0" sz="1400" u="none" cap="none" strike="noStrike">
              <a:solidFill>
                <a:srgbClr val="000000"/>
              </a:solidFill>
              <a:latin typeface="Arial"/>
              <a:ea typeface="Arial"/>
              <a:cs typeface="Arial"/>
              <a:sym typeface="Arial"/>
            </a:endParaRPr>
          </a:p>
        </p:txBody>
      </p:sp>
      <p:cxnSp>
        <p:nvCxnSpPr>
          <p:cNvPr id="438" name="Google Shape;438;p26"/>
          <p:cNvCxnSpPr/>
          <p:nvPr/>
        </p:nvCxnSpPr>
        <p:spPr>
          <a:xfrm>
            <a:off x="254000" y="838200"/>
            <a:ext cx="8636000" cy="0"/>
          </a:xfrm>
          <a:prstGeom prst="straightConnector1">
            <a:avLst/>
          </a:prstGeom>
          <a:noFill/>
          <a:ln cap="flat" cmpd="sng" w="9525">
            <a:solidFill>
              <a:srgbClr val="E5E7EB"/>
            </a:solidFill>
            <a:prstDash val="solid"/>
            <a:round/>
            <a:headEnd len="sm" w="sm" type="none"/>
            <a:tailEnd len="sm" w="sm" type="none"/>
          </a:ln>
        </p:spPr>
      </p:cxnSp>
      <p:sp>
        <p:nvSpPr>
          <p:cNvPr id="439" name="Google Shape;439;p26"/>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440" name="Google Shape;440;p26"/>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6"/>
          <p:cNvSpPr/>
          <p:nvPr/>
        </p:nvSpPr>
        <p:spPr>
          <a:xfrm>
            <a:off x="254000" y="914400"/>
            <a:ext cx="2006600" cy="2946400"/>
          </a:xfrm>
          <a:prstGeom prst="rect">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26"/>
          <p:cNvSpPr/>
          <p:nvPr/>
        </p:nvSpPr>
        <p:spPr>
          <a:xfrm>
            <a:off x="254000" y="914400"/>
            <a:ext cx="2006600" cy="508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26"/>
          <p:cNvSpPr/>
          <p:nvPr/>
        </p:nvSpPr>
        <p:spPr>
          <a:xfrm>
            <a:off x="355600" y="1016000"/>
            <a:ext cx="1803400" cy="2794000"/>
          </a:xfrm>
          <a:prstGeom prst="rect">
            <a:avLst/>
          </a:prstGeom>
          <a:noFill/>
          <a:ln>
            <a:noFill/>
          </a:ln>
        </p:spPr>
        <p:txBody>
          <a:bodyPr anchorCtr="0" anchor="t" bIns="50800" lIns="50800" spcFirstLastPara="1" rIns="50800" wrap="square" tIns="508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EB1A63"/>
                </a:solidFill>
                <a:latin typeface="Calibri"/>
                <a:ea typeface="Calibri"/>
                <a:cs typeface="Calibri"/>
                <a:sym typeface="Calibri"/>
              </a:rPr>
              <a:t>PHASE 1</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4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Weeks 1–3</a:t>
            </a:r>
            <a:endParaRPr b="0" i="0" sz="1400" u="none" cap="none" strike="noStrike">
              <a:solidFill>
                <a:srgbClr val="000000"/>
              </a:solidFill>
              <a:latin typeface="Arial"/>
              <a:ea typeface="Arial"/>
              <a:cs typeface="Arial"/>
              <a:sym typeface="Arial"/>
            </a:endParaRPr>
          </a:p>
          <a:p>
            <a:pPr indent="0" lvl="0" marL="0" marR="0" rtl="0" algn="l">
              <a:lnSpc>
                <a:spcPct val="141176"/>
              </a:lnSpc>
              <a:spcBef>
                <a:spcPts val="2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TBD</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180"/>
              </a:spcBef>
              <a:spcAft>
                <a:spcPts val="0"/>
              </a:spcAft>
              <a:buClr>
                <a:srgbClr val="000000"/>
              </a:buClr>
              <a:buSzPts val="1050"/>
              <a:buFont typeface="Arial"/>
              <a:buNone/>
            </a:pPr>
            <a:r>
              <a:rPr b="1" i="0" lang="en-US" sz="1050" u="none" cap="none" strike="noStrike">
                <a:solidFill>
                  <a:srgbClr val="111827"/>
                </a:solidFill>
                <a:latin typeface="Calibri"/>
                <a:ea typeface="Calibri"/>
                <a:cs typeface="Calibri"/>
                <a:sym typeface="Calibri"/>
              </a:rPr>
              <a:t>Foundation &amp; Data</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15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Provision DX Graph environment</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Model SKU Collection (single collection, all ~13,700 SKUs)</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Model Configuration Collection</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Build Cover↔Insert COMPATIBLE_WITH Dynamic Relationship</a:t>
            </a:r>
            <a:endParaRPr b="0" i="0" sz="1400" u="none" cap="none" strike="noStrike">
              <a:solidFill>
                <a:srgbClr val="000000"/>
              </a:solidFill>
              <a:latin typeface="Arial"/>
              <a:ea typeface="Arial"/>
              <a:cs typeface="Arial"/>
              <a:sym typeface="Arial"/>
            </a:endParaRPr>
          </a:p>
        </p:txBody>
      </p:sp>
      <p:sp>
        <p:nvSpPr>
          <p:cNvPr id="444" name="Google Shape;444;p26"/>
          <p:cNvSpPr/>
          <p:nvPr/>
        </p:nvSpPr>
        <p:spPr>
          <a:xfrm>
            <a:off x="2362200" y="914400"/>
            <a:ext cx="2006600" cy="2946400"/>
          </a:xfrm>
          <a:prstGeom prst="rect">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26"/>
          <p:cNvSpPr/>
          <p:nvPr/>
        </p:nvSpPr>
        <p:spPr>
          <a:xfrm>
            <a:off x="2362200" y="914400"/>
            <a:ext cx="2006600" cy="50800"/>
          </a:xfrm>
          <a:prstGeom prst="rect">
            <a:avLst/>
          </a:prstGeom>
          <a:solidFill>
            <a:srgbClr val="F898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26"/>
          <p:cNvSpPr/>
          <p:nvPr/>
        </p:nvSpPr>
        <p:spPr>
          <a:xfrm>
            <a:off x="2463800" y="1016000"/>
            <a:ext cx="1803400" cy="2794000"/>
          </a:xfrm>
          <a:prstGeom prst="rect">
            <a:avLst/>
          </a:prstGeom>
          <a:noFill/>
          <a:ln>
            <a:noFill/>
          </a:ln>
        </p:spPr>
        <p:txBody>
          <a:bodyPr anchorCtr="0" anchor="t" bIns="50800" lIns="50800" spcFirstLastPara="1" rIns="50800" wrap="square" tIns="508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F8981D"/>
                </a:solidFill>
                <a:latin typeface="Calibri"/>
                <a:ea typeface="Calibri"/>
                <a:cs typeface="Calibri"/>
                <a:sym typeface="Calibri"/>
              </a:rPr>
              <a:t>PHASE 2</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4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Weeks 4–6</a:t>
            </a:r>
            <a:endParaRPr b="0" i="0" sz="1400" u="none" cap="none" strike="noStrike">
              <a:solidFill>
                <a:srgbClr val="000000"/>
              </a:solidFill>
              <a:latin typeface="Arial"/>
              <a:ea typeface="Arial"/>
              <a:cs typeface="Arial"/>
              <a:sym typeface="Arial"/>
            </a:endParaRPr>
          </a:p>
          <a:p>
            <a:pPr indent="0" lvl="0" marL="0" marR="0" rtl="0" algn="l">
              <a:lnSpc>
                <a:spcPct val="141176"/>
              </a:lnSpc>
              <a:spcBef>
                <a:spcPts val="2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TBD</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180"/>
              </a:spcBef>
              <a:spcAft>
                <a:spcPts val="0"/>
              </a:spcAft>
              <a:buClr>
                <a:srgbClr val="000000"/>
              </a:buClr>
              <a:buSzPts val="1050"/>
              <a:buFont typeface="Arial"/>
              <a:buNone/>
            </a:pPr>
            <a:r>
              <a:rPr b="1" i="0" lang="en-US" sz="1050" u="none" cap="none" strike="noStrike">
                <a:solidFill>
                  <a:srgbClr val="111827"/>
                </a:solidFill>
                <a:latin typeface="Calibri"/>
                <a:ea typeface="Calibri"/>
                <a:cs typeface="Calibri"/>
                <a:sym typeface="Calibri"/>
              </a:rPr>
              <a:t>Taxonomy &amp; Ingest</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15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Model up to 3 Taxonomy Collections</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Map all SKUs via MAPS_TO</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Configure ingest Jobs from 3 source backends (via Celigo where applicable)</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Validate data completeness and AI-derived compatibility rules with Lovesac team</a:t>
            </a:r>
            <a:endParaRPr b="0" i="0" sz="1400" u="none" cap="none" strike="noStrike">
              <a:solidFill>
                <a:srgbClr val="000000"/>
              </a:solidFill>
              <a:latin typeface="Arial"/>
              <a:ea typeface="Arial"/>
              <a:cs typeface="Arial"/>
              <a:sym typeface="Arial"/>
            </a:endParaRPr>
          </a:p>
        </p:txBody>
      </p:sp>
      <p:sp>
        <p:nvSpPr>
          <p:cNvPr id="447" name="Google Shape;447;p26"/>
          <p:cNvSpPr/>
          <p:nvPr/>
        </p:nvSpPr>
        <p:spPr>
          <a:xfrm>
            <a:off x="4470400" y="914400"/>
            <a:ext cx="2006600" cy="2946400"/>
          </a:xfrm>
          <a:prstGeom prst="rect">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26"/>
          <p:cNvSpPr/>
          <p:nvPr/>
        </p:nvSpPr>
        <p:spPr>
          <a:xfrm>
            <a:off x="4470400" y="914400"/>
            <a:ext cx="2006600" cy="50800"/>
          </a:xfrm>
          <a:prstGeom prst="rect">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26"/>
          <p:cNvSpPr/>
          <p:nvPr/>
        </p:nvSpPr>
        <p:spPr>
          <a:xfrm>
            <a:off x="4572000" y="1016000"/>
            <a:ext cx="1803400" cy="2794000"/>
          </a:xfrm>
          <a:prstGeom prst="rect">
            <a:avLst/>
          </a:prstGeom>
          <a:noFill/>
          <a:ln>
            <a:noFill/>
          </a:ln>
        </p:spPr>
        <p:txBody>
          <a:bodyPr anchorCtr="0" anchor="t" bIns="50800" lIns="50800" spcFirstLastPara="1" rIns="50800" wrap="square" tIns="508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07BCD6"/>
                </a:solidFill>
                <a:latin typeface="Calibri"/>
                <a:ea typeface="Calibri"/>
                <a:cs typeface="Calibri"/>
                <a:sym typeface="Calibri"/>
              </a:rPr>
              <a:t>PHASE 3</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4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Weeks 7–10</a:t>
            </a:r>
            <a:endParaRPr b="0" i="0" sz="1400" u="none" cap="none" strike="noStrike">
              <a:solidFill>
                <a:srgbClr val="000000"/>
              </a:solidFill>
              <a:latin typeface="Arial"/>
              <a:ea typeface="Arial"/>
              <a:cs typeface="Arial"/>
              <a:sym typeface="Arial"/>
            </a:endParaRPr>
          </a:p>
          <a:p>
            <a:pPr indent="0" lvl="0" marL="0" marR="0" rtl="0" algn="l">
              <a:lnSpc>
                <a:spcPct val="141176"/>
              </a:lnSpc>
              <a:spcBef>
                <a:spcPts val="2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TBD</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180"/>
              </a:spcBef>
              <a:spcAft>
                <a:spcPts val="0"/>
              </a:spcAft>
              <a:buClr>
                <a:srgbClr val="000000"/>
              </a:buClr>
              <a:buSzPts val="1050"/>
              <a:buFont typeface="Arial"/>
              <a:buNone/>
            </a:pPr>
            <a:r>
              <a:rPr b="1" i="0" lang="en-US" sz="1050" u="none" cap="none" strike="noStrike">
                <a:solidFill>
                  <a:srgbClr val="111827"/>
                </a:solidFill>
                <a:latin typeface="Calibri"/>
                <a:ea typeface="Calibri"/>
                <a:cs typeface="Calibri"/>
                <a:sym typeface="Calibri"/>
              </a:rPr>
              <a:t>DX Engine POC</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15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Build Config Validation orchestration flow</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Build Wizard Step Options flow</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Build Config ID Creation flow (with DX Graph API write-back)</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Build BOM Explosion flow (POS / OMS / warehouse output shapes)</a:t>
            </a:r>
            <a:endParaRPr b="0" i="0" sz="1400" u="none" cap="none" strike="noStrike">
              <a:solidFill>
                <a:srgbClr val="000000"/>
              </a:solidFill>
              <a:latin typeface="Arial"/>
              <a:ea typeface="Arial"/>
              <a:cs typeface="Arial"/>
              <a:sym typeface="Arial"/>
            </a:endParaRPr>
          </a:p>
        </p:txBody>
      </p:sp>
      <p:sp>
        <p:nvSpPr>
          <p:cNvPr id="450" name="Google Shape;450;p26"/>
          <p:cNvSpPr/>
          <p:nvPr/>
        </p:nvSpPr>
        <p:spPr>
          <a:xfrm>
            <a:off x="6578600" y="914400"/>
            <a:ext cx="2006600" cy="2946400"/>
          </a:xfrm>
          <a:prstGeom prst="rect">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26"/>
          <p:cNvSpPr/>
          <p:nvPr/>
        </p:nvSpPr>
        <p:spPr>
          <a:xfrm>
            <a:off x="6578600" y="914400"/>
            <a:ext cx="2006600" cy="50800"/>
          </a:xfrm>
          <a:prstGeom prst="rect">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26"/>
          <p:cNvSpPr/>
          <p:nvPr/>
        </p:nvSpPr>
        <p:spPr>
          <a:xfrm>
            <a:off x="6680200" y="1016000"/>
            <a:ext cx="1803400" cy="2794000"/>
          </a:xfrm>
          <a:prstGeom prst="rect">
            <a:avLst/>
          </a:prstGeom>
          <a:noFill/>
          <a:ln>
            <a:noFill/>
          </a:ln>
        </p:spPr>
        <p:txBody>
          <a:bodyPr anchorCtr="0" anchor="t" bIns="50800" lIns="50800" spcFirstLastPara="1" rIns="50800" wrap="square" tIns="50800">
            <a:noAutofit/>
          </a:bodyPr>
          <a:lstStyle/>
          <a:p>
            <a:pPr indent="0" lvl="0" marL="0" marR="0" rtl="0" algn="l">
              <a:lnSpc>
                <a:spcPct val="145454"/>
              </a:lnSpc>
              <a:spcBef>
                <a:spcPts val="0"/>
              </a:spcBef>
              <a:spcAft>
                <a:spcPts val="0"/>
              </a:spcAft>
              <a:buClr>
                <a:srgbClr val="000000"/>
              </a:buClr>
              <a:buSzPts val="825"/>
              <a:buFont typeface="Arial"/>
              <a:buNone/>
            </a:pPr>
            <a:r>
              <a:rPr b="1" i="0" lang="en-US" sz="825" u="none" cap="none" strike="noStrike">
                <a:solidFill>
                  <a:srgbClr val="8AC542"/>
                </a:solidFill>
                <a:latin typeface="Calibri"/>
                <a:ea typeface="Calibri"/>
                <a:cs typeface="Calibri"/>
                <a:sym typeface="Calibri"/>
              </a:rPr>
              <a:t>PHASE 4</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4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Weeks 11–12</a:t>
            </a:r>
            <a:endParaRPr b="0" i="0" sz="1400" u="none" cap="none" strike="noStrike">
              <a:solidFill>
                <a:srgbClr val="000000"/>
              </a:solidFill>
              <a:latin typeface="Arial"/>
              <a:ea typeface="Arial"/>
              <a:cs typeface="Arial"/>
              <a:sym typeface="Arial"/>
            </a:endParaRPr>
          </a:p>
          <a:p>
            <a:pPr indent="0" lvl="0" marL="0" marR="0" rtl="0" algn="l">
              <a:lnSpc>
                <a:spcPct val="141176"/>
              </a:lnSpc>
              <a:spcBef>
                <a:spcPts val="20"/>
              </a:spcBef>
              <a:spcAft>
                <a:spcPts val="0"/>
              </a:spcAft>
              <a:buClr>
                <a:srgbClr val="000000"/>
              </a:buClr>
              <a:buSzPts val="850"/>
              <a:buFont typeface="Arial"/>
              <a:buNone/>
            </a:pPr>
            <a:r>
              <a:rPr b="0" i="0" lang="en-US" sz="850" u="none" cap="none" strike="noStrike">
                <a:solidFill>
                  <a:srgbClr val="6B7280"/>
                </a:solidFill>
                <a:latin typeface="Calibri"/>
                <a:ea typeface="Calibri"/>
                <a:cs typeface="Calibri"/>
                <a:sym typeface="Calibri"/>
              </a:rPr>
              <a:t>TBD</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180"/>
              </a:spcBef>
              <a:spcAft>
                <a:spcPts val="0"/>
              </a:spcAft>
              <a:buClr>
                <a:srgbClr val="000000"/>
              </a:buClr>
              <a:buSzPts val="1050"/>
              <a:buFont typeface="Arial"/>
              <a:buNone/>
            </a:pPr>
            <a:r>
              <a:rPr b="1" i="0" lang="en-US" sz="1050" u="none" cap="none" strike="noStrike">
                <a:solidFill>
                  <a:srgbClr val="111827"/>
                </a:solidFill>
                <a:latin typeface="Calibri"/>
                <a:ea typeface="Calibri"/>
                <a:cs typeface="Calibri"/>
                <a:sym typeface="Calibri"/>
              </a:rPr>
              <a:t>Testing &amp; Handoff</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15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End-to-end integration testing across all flows</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Channel QA (POS via Salesforce Retail Cloud, Lovesac.com sandbox)</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Documentation and runbooks</a:t>
            </a:r>
            <a:endParaRPr b="0" i="0" sz="1400" u="none" cap="none" strike="noStrike">
              <a:solidFill>
                <a:srgbClr val="000000"/>
              </a:solidFill>
              <a:latin typeface="Arial"/>
              <a:ea typeface="Arial"/>
              <a:cs typeface="Arial"/>
              <a:sym typeface="Arial"/>
            </a:endParaRPr>
          </a:p>
          <a:p>
            <a:pPr indent="-137160" lvl="0" marL="137160" marR="0" rtl="0" algn="l">
              <a:lnSpc>
                <a:spcPct val="137142"/>
              </a:lnSpc>
              <a:spcBef>
                <a:spcPts val="80"/>
              </a:spcBef>
              <a:spcAft>
                <a:spcPts val="0"/>
              </a:spcAft>
              <a:buClr>
                <a:srgbClr val="000000"/>
              </a:buClr>
              <a:buSzPts val="875"/>
              <a:buFont typeface="Arial"/>
              <a:buChar char="•"/>
            </a:pPr>
            <a:r>
              <a:rPr b="0" i="0" lang="en-US" sz="875" u="none" cap="none" strike="noStrike">
                <a:solidFill>
                  <a:srgbClr val="374151"/>
                </a:solidFill>
                <a:latin typeface="Calibri"/>
                <a:ea typeface="Calibri"/>
                <a:cs typeface="Calibri"/>
                <a:sym typeface="Calibri"/>
              </a:rPr>
              <a:t>Knowledge transfer to Lovesac team</a:t>
            </a:r>
            <a:endParaRPr b="0" i="0" sz="1400" u="none" cap="none" strike="noStrike">
              <a:solidFill>
                <a:srgbClr val="000000"/>
              </a:solidFill>
              <a:latin typeface="Arial"/>
              <a:ea typeface="Arial"/>
              <a:cs typeface="Arial"/>
              <a:sym typeface="Arial"/>
            </a:endParaRPr>
          </a:p>
        </p:txBody>
      </p:sp>
      <p:sp>
        <p:nvSpPr>
          <p:cNvPr id="453" name="Google Shape;453;p26"/>
          <p:cNvSpPr/>
          <p:nvPr/>
        </p:nvSpPr>
        <p:spPr>
          <a:xfrm>
            <a:off x="2260600" y="2311400"/>
            <a:ext cx="101600" cy="1524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26"/>
          <p:cNvSpPr/>
          <p:nvPr/>
        </p:nvSpPr>
        <p:spPr>
          <a:xfrm>
            <a:off x="4368800" y="2311400"/>
            <a:ext cx="101600" cy="1524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26"/>
          <p:cNvSpPr/>
          <p:nvPr/>
        </p:nvSpPr>
        <p:spPr>
          <a:xfrm>
            <a:off x="6477000" y="2311400"/>
            <a:ext cx="101600" cy="1524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6"/>
          <p:cNvSpPr/>
          <p:nvPr/>
        </p:nvSpPr>
        <p:spPr>
          <a:xfrm>
            <a:off x="254000" y="3987800"/>
            <a:ext cx="8636000" cy="584200"/>
          </a:xfrm>
          <a:prstGeom prst="roundRect">
            <a:avLst>
              <a:gd fmla="val 1500" name="adj"/>
            </a:avLst>
          </a:prstGeom>
          <a:solidFill>
            <a:srgbClr val="FFFBEB"/>
          </a:solidFill>
          <a:ln cap="flat" cmpd="sng" w="9525">
            <a:solidFill>
              <a:srgbClr val="FDE6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26"/>
          <p:cNvSpPr/>
          <p:nvPr/>
        </p:nvSpPr>
        <p:spPr>
          <a:xfrm>
            <a:off x="254000" y="4038600"/>
            <a:ext cx="1955800" cy="1270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000000"/>
              </a:buClr>
              <a:buSzPts val="750"/>
              <a:buFont typeface="Arial"/>
              <a:buNone/>
            </a:pPr>
            <a:r>
              <a:rPr b="1" i="0" lang="en-US" sz="750" u="none" cap="none" strike="noStrike">
                <a:solidFill>
                  <a:srgbClr val="EB1A63"/>
                </a:solidFill>
                <a:latin typeface="Calibri"/>
                <a:ea typeface="Calibri"/>
                <a:cs typeface="Calibri"/>
                <a:sym typeface="Calibri"/>
              </a:rPr>
              <a:t>⚠  Phase 1 dependency</a:t>
            </a:r>
            <a:endParaRPr b="0" i="0" sz="1400" u="none" cap="none" strike="noStrike">
              <a:solidFill>
                <a:srgbClr val="000000"/>
              </a:solidFill>
              <a:latin typeface="Arial"/>
              <a:ea typeface="Arial"/>
              <a:cs typeface="Arial"/>
              <a:sym typeface="Arial"/>
            </a:endParaRPr>
          </a:p>
        </p:txBody>
      </p:sp>
      <p:sp>
        <p:nvSpPr>
          <p:cNvPr id="458" name="Google Shape;458;p26"/>
          <p:cNvSpPr/>
          <p:nvPr/>
        </p:nvSpPr>
        <p:spPr>
          <a:xfrm>
            <a:off x="254000" y="4191000"/>
            <a:ext cx="1955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65517"/>
              </a:lnSpc>
              <a:spcBef>
                <a:spcPts val="0"/>
              </a:spcBef>
              <a:spcAft>
                <a:spcPts val="0"/>
              </a:spcAft>
              <a:buClr>
                <a:srgbClr val="000000"/>
              </a:buClr>
              <a:buSzPts val="725"/>
              <a:buFont typeface="Arial"/>
              <a:buNone/>
            </a:pPr>
            <a:r>
              <a:rPr b="0" i="0" lang="en-US" sz="725" u="none" cap="none" strike="noStrike">
                <a:solidFill>
                  <a:srgbClr val="6B7280"/>
                </a:solidFill>
                <a:latin typeface="Calibri"/>
                <a:ea typeface="Calibri"/>
                <a:cs typeface="Calibri"/>
                <a:sym typeface="Calibri"/>
              </a:rPr>
              <a:t>Source backend confirmation (Q1)</a:t>
            </a:r>
            <a:endParaRPr b="0" i="0" sz="1400" u="none" cap="none" strike="noStrike">
              <a:solidFill>
                <a:srgbClr val="000000"/>
              </a:solidFill>
              <a:latin typeface="Arial"/>
              <a:ea typeface="Arial"/>
              <a:cs typeface="Arial"/>
              <a:sym typeface="Arial"/>
            </a:endParaRPr>
          </a:p>
        </p:txBody>
      </p:sp>
      <p:sp>
        <p:nvSpPr>
          <p:cNvPr id="459" name="Google Shape;459;p26"/>
          <p:cNvSpPr/>
          <p:nvPr/>
        </p:nvSpPr>
        <p:spPr>
          <a:xfrm>
            <a:off x="2362200" y="4038600"/>
            <a:ext cx="1955800" cy="1270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000000"/>
              </a:buClr>
              <a:buSzPts val="750"/>
              <a:buFont typeface="Arial"/>
              <a:buNone/>
            </a:pPr>
            <a:r>
              <a:rPr b="1" i="0" lang="en-US" sz="750" u="none" cap="none" strike="noStrike">
                <a:solidFill>
                  <a:srgbClr val="F8981D"/>
                </a:solidFill>
                <a:latin typeface="Calibri"/>
                <a:ea typeface="Calibri"/>
                <a:cs typeface="Calibri"/>
                <a:sym typeface="Calibri"/>
              </a:rPr>
              <a:t>⚠  Phase 2 dependency</a:t>
            </a:r>
            <a:endParaRPr b="0" i="0" sz="1400" u="none" cap="none" strike="noStrike">
              <a:solidFill>
                <a:srgbClr val="000000"/>
              </a:solidFill>
              <a:latin typeface="Arial"/>
              <a:ea typeface="Arial"/>
              <a:cs typeface="Arial"/>
              <a:sym typeface="Arial"/>
            </a:endParaRPr>
          </a:p>
        </p:txBody>
      </p:sp>
      <p:sp>
        <p:nvSpPr>
          <p:cNvPr id="460" name="Google Shape;460;p26"/>
          <p:cNvSpPr/>
          <p:nvPr/>
        </p:nvSpPr>
        <p:spPr>
          <a:xfrm>
            <a:off x="2362200" y="4191000"/>
            <a:ext cx="1955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65517"/>
              </a:lnSpc>
              <a:spcBef>
                <a:spcPts val="0"/>
              </a:spcBef>
              <a:spcAft>
                <a:spcPts val="0"/>
              </a:spcAft>
              <a:buClr>
                <a:srgbClr val="000000"/>
              </a:buClr>
              <a:buSzPts val="725"/>
              <a:buFont typeface="Arial"/>
              <a:buNone/>
            </a:pPr>
            <a:r>
              <a:rPr b="0" i="0" lang="en-US" sz="725" u="none" cap="none" strike="noStrike">
                <a:solidFill>
                  <a:srgbClr val="6B7280"/>
                </a:solidFill>
                <a:latin typeface="Calibri"/>
                <a:ea typeface="Calibri"/>
                <a:cs typeface="Calibri"/>
                <a:sym typeface="Calibri"/>
              </a:rPr>
              <a:t>Hierarchy decision (Q3) + adjacency rules (Q5)</a:t>
            </a:r>
            <a:endParaRPr b="0" i="0" sz="1400" u="none" cap="none" strike="noStrike">
              <a:solidFill>
                <a:srgbClr val="000000"/>
              </a:solidFill>
              <a:latin typeface="Arial"/>
              <a:ea typeface="Arial"/>
              <a:cs typeface="Arial"/>
              <a:sym typeface="Arial"/>
            </a:endParaRPr>
          </a:p>
        </p:txBody>
      </p:sp>
      <p:sp>
        <p:nvSpPr>
          <p:cNvPr id="461" name="Google Shape;461;p26"/>
          <p:cNvSpPr/>
          <p:nvPr/>
        </p:nvSpPr>
        <p:spPr>
          <a:xfrm>
            <a:off x="4470400" y="4038600"/>
            <a:ext cx="1955800" cy="1270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000000"/>
              </a:buClr>
              <a:buSzPts val="750"/>
              <a:buFont typeface="Arial"/>
              <a:buNone/>
            </a:pPr>
            <a:r>
              <a:rPr b="1" i="0" lang="en-US" sz="750" u="none" cap="none" strike="noStrike">
                <a:solidFill>
                  <a:srgbClr val="07BCD6"/>
                </a:solidFill>
                <a:latin typeface="Calibri"/>
                <a:ea typeface="Calibri"/>
                <a:cs typeface="Calibri"/>
                <a:sym typeface="Calibri"/>
              </a:rPr>
              <a:t>⚠  Phase 3 dependency</a:t>
            </a:r>
            <a:endParaRPr b="0" i="0" sz="1400" u="none" cap="none" strike="noStrike">
              <a:solidFill>
                <a:srgbClr val="000000"/>
              </a:solidFill>
              <a:latin typeface="Arial"/>
              <a:ea typeface="Arial"/>
              <a:cs typeface="Arial"/>
              <a:sym typeface="Arial"/>
            </a:endParaRPr>
          </a:p>
        </p:txBody>
      </p:sp>
      <p:sp>
        <p:nvSpPr>
          <p:cNvPr id="462" name="Google Shape;462;p26"/>
          <p:cNvSpPr/>
          <p:nvPr/>
        </p:nvSpPr>
        <p:spPr>
          <a:xfrm>
            <a:off x="4470400" y="4191000"/>
            <a:ext cx="1955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65517"/>
              </a:lnSpc>
              <a:spcBef>
                <a:spcPts val="0"/>
              </a:spcBef>
              <a:spcAft>
                <a:spcPts val="0"/>
              </a:spcAft>
              <a:buClr>
                <a:srgbClr val="000000"/>
              </a:buClr>
              <a:buSzPts val="725"/>
              <a:buFont typeface="Arial"/>
              <a:buNone/>
            </a:pPr>
            <a:r>
              <a:rPr b="0" i="0" lang="en-US" sz="725" u="none" cap="none" strike="noStrike">
                <a:solidFill>
                  <a:srgbClr val="6B7280"/>
                </a:solidFill>
                <a:latin typeface="Calibri"/>
                <a:ea typeface="Calibri"/>
                <a:cs typeface="Calibri"/>
                <a:sym typeface="Calibri"/>
              </a:rPr>
              <a:t>Quickship resolution (Q4) + PLM alignment (Q2)</a:t>
            </a:r>
            <a:endParaRPr b="0" i="0" sz="1400" u="none" cap="none" strike="noStrike">
              <a:solidFill>
                <a:srgbClr val="000000"/>
              </a:solidFill>
              <a:latin typeface="Arial"/>
              <a:ea typeface="Arial"/>
              <a:cs typeface="Arial"/>
              <a:sym typeface="Arial"/>
            </a:endParaRPr>
          </a:p>
        </p:txBody>
      </p:sp>
      <p:sp>
        <p:nvSpPr>
          <p:cNvPr id="463" name="Google Shape;463;p26"/>
          <p:cNvSpPr/>
          <p:nvPr/>
        </p:nvSpPr>
        <p:spPr>
          <a:xfrm>
            <a:off x="6578600" y="4038600"/>
            <a:ext cx="1955800" cy="127000"/>
          </a:xfrm>
          <a:prstGeom prst="rect">
            <a:avLst/>
          </a:prstGeom>
          <a:noFill/>
          <a:ln>
            <a:noFill/>
          </a:ln>
        </p:spPr>
        <p:txBody>
          <a:bodyPr anchorCtr="0" anchor="t" bIns="50800" lIns="50800" spcFirstLastPara="1" rIns="50800" wrap="square" tIns="50800">
            <a:noAutofit/>
          </a:bodyPr>
          <a:lstStyle/>
          <a:p>
            <a:pPr indent="0" lvl="0" marL="0" marR="0" rtl="0" algn="l">
              <a:lnSpc>
                <a:spcPct val="160000"/>
              </a:lnSpc>
              <a:spcBef>
                <a:spcPts val="0"/>
              </a:spcBef>
              <a:spcAft>
                <a:spcPts val="0"/>
              </a:spcAft>
              <a:buClr>
                <a:srgbClr val="000000"/>
              </a:buClr>
              <a:buSzPts val="750"/>
              <a:buFont typeface="Arial"/>
              <a:buNone/>
            </a:pPr>
            <a:r>
              <a:rPr b="1" i="0" lang="en-US" sz="750" u="none" cap="none" strike="noStrike">
                <a:solidFill>
                  <a:srgbClr val="8AC542"/>
                </a:solidFill>
                <a:latin typeface="Calibri"/>
                <a:ea typeface="Calibri"/>
                <a:cs typeface="Calibri"/>
                <a:sym typeface="Calibri"/>
              </a:rPr>
              <a:t>✓  Phase 4 — clear to proceed</a:t>
            </a:r>
            <a:endParaRPr b="0" i="0" sz="1400" u="none" cap="none" strike="noStrike">
              <a:solidFill>
                <a:srgbClr val="000000"/>
              </a:solidFill>
              <a:latin typeface="Arial"/>
              <a:ea typeface="Arial"/>
              <a:cs typeface="Arial"/>
              <a:sym typeface="Arial"/>
            </a:endParaRPr>
          </a:p>
        </p:txBody>
      </p:sp>
      <p:sp>
        <p:nvSpPr>
          <p:cNvPr id="464" name="Google Shape;464;p26"/>
          <p:cNvSpPr/>
          <p:nvPr/>
        </p:nvSpPr>
        <p:spPr>
          <a:xfrm>
            <a:off x="254000" y="4648200"/>
            <a:ext cx="8636000" cy="177800"/>
          </a:xfrm>
          <a:prstGeom prst="rect">
            <a:avLst/>
          </a:prstGeom>
          <a:noFill/>
          <a:ln>
            <a:noFill/>
          </a:ln>
        </p:spPr>
        <p:txBody>
          <a:bodyPr anchorCtr="0" anchor="t" bIns="25400" lIns="25400" spcFirstLastPara="1" rIns="25400" wrap="square" tIns="25400">
            <a:noAutofit/>
          </a:bodyPr>
          <a:lstStyle/>
          <a:p>
            <a:pPr indent="0" lvl="0" marL="0" marR="0" rtl="0" algn="l">
              <a:lnSpc>
                <a:spcPct val="154838"/>
              </a:lnSpc>
              <a:spcBef>
                <a:spcPts val="0"/>
              </a:spcBef>
              <a:spcAft>
                <a:spcPts val="0"/>
              </a:spcAft>
              <a:buClr>
                <a:srgbClr val="000000"/>
              </a:buClr>
              <a:buSzPts val="775"/>
              <a:buFont typeface="Arial"/>
              <a:buNone/>
            </a:pPr>
            <a:r>
              <a:rPr b="0" i="1" lang="en-US" sz="775" u="none" cap="none" strike="noStrike">
                <a:solidFill>
                  <a:srgbClr val="9CA3AF"/>
                </a:solidFill>
                <a:latin typeface="Calibri"/>
                <a:ea typeface="Calibri"/>
                <a:cs typeface="Calibri"/>
                <a:sym typeface="Calibri"/>
              </a:rPr>
              <a:t>Time estimates are indicative and will be confirmed once open questions are resolved per the dependency flags above.</a:t>
            </a:r>
            <a:endParaRPr b="0" i="0" sz="1400" u="none" cap="none" strike="noStrike">
              <a:solidFill>
                <a:srgbClr val="000000"/>
              </a:solidFill>
              <a:latin typeface="Arial"/>
              <a:ea typeface="Arial"/>
              <a:cs typeface="Arial"/>
              <a:sym typeface="Arial"/>
            </a:endParaRPr>
          </a:p>
        </p:txBody>
      </p:sp>
      <p:sp>
        <p:nvSpPr>
          <p:cNvPr id="465" name="Google Shape;465;p26"/>
          <p:cNvSpPr/>
          <p:nvPr/>
        </p:nvSpPr>
        <p:spPr>
          <a:xfrm>
            <a:off x="6578600" y="4191000"/>
            <a:ext cx="1955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65517"/>
              </a:lnSpc>
              <a:spcBef>
                <a:spcPts val="0"/>
              </a:spcBef>
              <a:spcAft>
                <a:spcPts val="0"/>
              </a:spcAft>
              <a:buClr>
                <a:srgbClr val="000000"/>
              </a:buClr>
              <a:buSzPts val="725"/>
              <a:buFont typeface="Arial"/>
              <a:buNone/>
            </a:pPr>
            <a:r>
              <a:rPr b="0" i="0" lang="en-US" sz="725" u="none" cap="none" strike="noStrike">
                <a:solidFill>
                  <a:srgbClr val="6B7280"/>
                </a:solidFill>
                <a:latin typeface="Calibri"/>
                <a:ea typeface="Calibri"/>
                <a:cs typeface="Calibri"/>
                <a:sym typeface="Calibri"/>
              </a:rPr>
              <a:t>No blocking dependencies</a:t>
            </a:r>
            <a:endParaRPr b="0" i="0" sz="1400" u="none" cap="none" strike="noStrike">
              <a:solidFill>
                <a:srgbClr val="000000"/>
              </a:solidFill>
              <a:latin typeface="Arial"/>
              <a:ea typeface="Arial"/>
              <a:cs typeface="Arial"/>
              <a:sym typeface="Arial"/>
            </a:endParaRPr>
          </a:p>
          <a:p>
            <a:pPr indent="0" lvl="0" marL="0" marR="0" rtl="0" algn="l">
              <a:lnSpc>
                <a:spcPct val="165517"/>
              </a:lnSpc>
              <a:spcBef>
                <a:spcPts val="40"/>
              </a:spcBef>
              <a:spcAft>
                <a:spcPts val="0"/>
              </a:spcAft>
              <a:buClr>
                <a:srgbClr val="000000"/>
              </a:buClr>
              <a:buSzPts val="725"/>
              <a:buFont typeface="Arial"/>
              <a:buNone/>
            </a:pPr>
            <a:r>
              <a:rPr b="0" i="1" lang="en-US" sz="725" u="none" cap="none" strike="noStrike">
                <a:solidFill>
                  <a:srgbClr val="6B7280"/>
                </a:solidFill>
                <a:latin typeface="Calibri"/>
                <a:ea typeface="Calibri"/>
                <a:cs typeface="Calibri"/>
                <a:sym typeface="Calibri"/>
              </a:rPr>
              <a:t>Contingent on Phases 1–3 completing on schedule</a:t>
            </a:r>
            <a:endParaRPr b="0" i="0" sz="1400" u="none" cap="none" strike="noStrike">
              <a:solidFill>
                <a:srgbClr val="000000"/>
              </a:solidFill>
              <a:latin typeface="Arial"/>
              <a:ea typeface="Arial"/>
              <a:cs typeface="Arial"/>
              <a:sym typeface="Arial"/>
            </a:endParaRPr>
          </a:p>
        </p:txBody>
      </p:sp>
      <p:sp>
        <p:nvSpPr>
          <p:cNvPr id="466" name="Google Shape;466;p26"/>
          <p:cNvSpPr/>
          <p:nvPr/>
        </p:nvSpPr>
        <p:spPr>
          <a:xfrm>
            <a:off x="381000" y="25400"/>
            <a:ext cx="1850000" cy="152400"/>
          </a:xfrm>
          <a:prstGeom prst="roundRect">
            <a:avLst>
              <a:gd fmla="val 50000" name="adj"/>
            </a:avLst>
          </a:prstGeom>
          <a:solidFill>
            <a:srgbClr val="E6007A"/>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07 · SCOPE &amp; TIMELINE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27"/>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27"/>
          <p:cNvSpPr/>
          <p:nvPr/>
        </p:nvSpPr>
        <p:spPr>
          <a:xfrm>
            <a:off x="457200" y="203200"/>
            <a:ext cx="5080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Success Metrics &amp; KPIs</a:t>
            </a:r>
            <a:endParaRPr b="0" i="0" sz="1400" u="none" cap="none" strike="noStrike">
              <a:solidFill>
                <a:srgbClr val="000000"/>
              </a:solidFill>
              <a:latin typeface="Arial"/>
              <a:ea typeface="Arial"/>
              <a:cs typeface="Arial"/>
              <a:sym typeface="Arial"/>
            </a:endParaRPr>
          </a:p>
        </p:txBody>
      </p:sp>
      <p:sp>
        <p:nvSpPr>
          <p:cNvPr id="474" name="Google Shape;474;p27"/>
          <p:cNvSpPr/>
          <p:nvPr/>
        </p:nvSpPr>
        <p:spPr>
          <a:xfrm>
            <a:off x="457200" y="660400"/>
            <a:ext cx="82296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27"/>
          <p:cNvSpPr/>
          <p:nvPr/>
        </p:nvSpPr>
        <p:spPr>
          <a:xfrm>
            <a:off x="330200" y="838200"/>
            <a:ext cx="2730500" cy="3911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27"/>
          <p:cNvSpPr/>
          <p:nvPr/>
        </p:nvSpPr>
        <p:spPr>
          <a:xfrm>
            <a:off x="330200" y="838200"/>
            <a:ext cx="2730500" cy="50800"/>
          </a:xfrm>
          <a:prstGeom prst="roundRect">
            <a:avLst>
              <a:gd fmla="val 50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27"/>
          <p:cNvSpPr/>
          <p:nvPr/>
        </p:nvSpPr>
        <p:spPr>
          <a:xfrm>
            <a:off x="482600" y="990600"/>
            <a:ext cx="24257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Phase 1 Engagement Goals</a:t>
            </a:r>
            <a:endParaRPr b="0" i="0" sz="1400" u="none" cap="none" strike="noStrike">
              <a:solidFill>
                <a:srgbClr val="000000"/>
              </a:solidFill>
              <a:latin typeface="Arial"/>
              <a:ea typeface="Arial"/>
              <a:cs typeface="Arial"/>
              <a:sym typeface="Arial"/>
            </a:endParaRPr>
          </a:p>
        </p:txBody>
      </p:sp>
      <p:sp>
        <p:nvSpPr>
          <p:cNvPr id="478" name="Google Shape;478;p27"/>
          <p:cNvSpPr/>
          <p:nvPr/>
        </p:nvSpPr>
        <p:spPr>
          <a:xfrm>
            <a:off x="482600" y="12954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27"/>
          <p:cNvSpPr/>
          <p:nvPr/>
        </p:nvSpPr>
        <p:spPr>
          <a:xfrm>
            <a:off x="482600" y="1397000"/>
            <a:ext cx="2425700" cy="32512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All ~13,700 SKUs ingested into a single DX Graph SKU Collection</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COMPATIBLE_WITH Dynamic Relationship live across all ~10,800 Cover SKUs</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Up to 3 Taxonomy Collections modelled and mapped via MAPS_TO</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All four DX Engine flows (Config Validation, Wizard Step Options, Config ID Creation, BOM Explosion) running end-to-end against Lovesac data</a:t>
            </a:r>
            <a:endParaRPr b="0" i="0" sz="1400" u="none" cap="none" strike="noStrike">
              <a:solidFill>
                <a:srgbClr val="000000"/>
              </a:solidFill>
              <a:latin typeface="Arial"/>
              <a:ea typeface="Arial"/>
              <a:cs typeface="Arial"/>
              <a:sym typeface="Arial"/>
            </a:endParaRPr>
          </a:p>
        </p:txBody>
      </p:sp>
      <p:sp>
        <p:nvSpPr>
          <p:cNvPr id="480" name="Google Shape;480;p27"/>
          <p:cNvSpPr/>
          <p:nvPr/>
        </p:nvSpPr>
        <p:spPr>
          <a:xfrm>
            <a:off x="3213100" y="838200"/>
            <a:ext cx="2730500" cy="3911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27"/>
          <p:cNvSpPr/>
          <p:nvPr/>
        </p:nvSpPr>
        <p:spPr>
          <a:xfrm>
            <a:off x="3213100" y="838200"/>
            <a:ext cx="2730500" cy="50800"/>
          </a:xfrm>
          <a:prstGeom prst="roundRect">
            <a:avLst>
              <a:gd fmla="val 50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7"/>
          <p:cNvSpPr/>
          <p:nvPr/>
        </p:nvSpPr>
        <p:spPr>
          <a:xfrm>
            <a:off x="3365500" y="990600"/>
            <a:ext cx="24257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Business Outcomes</a:t>
            </a:r>
            <a:endParaRPr b="0" i="0" sz="1400" u="none" cap="none" strike="noStrike">
              <a:solidFill>
                <a:srgbClr val="000000"/>
              </a:solidFill>
              <a:latin typeface="Arial"/>
              <a:ea typeface="Arial"/>
              <a:cs typeface="Arial"/>
              <a:sym typeface="Arial"/>
            </a:endParaRPr>
          </a:p>
        </p:txBody>
      </p:sp>
      <p:sp>
        <p:nvSpPr>
          <p:cNvPr id="483" name="Google Shape;483;p27"/>
          <p:cNvSpPr/>
          <p:nvPr/>
        </p:nvSpPr>
        <p:spPr>
          <a:xfrm>
            <a:off x="3365500" y="12954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7"/>
          <p:cNvSpPr/>
          <p:nvPr/>
        </p:nvSpPr>
        <p:spPr>
          <a:xfrm>
            <a:off x="3365500" y="1397000"/>
            <a:ext cx="2425700" cy="32512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Single source of truth for Sactional compatibility</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POS associates can validate any configuration in real time</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New channels (kiosk, agent, feed) reuse the same Experience API instead of rebuilding logic</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Foundation in place for AgentForce / ChatGPT / Google Shopping integration</a:t>
            </a:r>
            <a:endParaRPr b="0" i="0" sz="1400" u="none" cap="none" strike="noStrike">
              <a:solidFill>
                <a:srgbClr val="000000"/>
              </a:solidFill>
              <a:latin typeface="Arial"/>
              <a:ea typeface="Arial"/>
              <a:cs typeface="Arial"/>
              <a:sym typeface="Arial"/>
            </a:endParaRPr>
          </a:p>
        </p:txBody>
      </p:sp>
      <p:sp>
        <p:nvSpPr>
          <p:cNvPr id="485" name="Google Shape;485;p27"/>
          <p:cNvSpPr/>
          <p:nvPr/>
        </p:nvSpPr>
        <p:spPr>
          <a:xfrm>
            <a:off x="6096000" y="838200"/>
            <a:ext cx="2730500" cy="3911600"/>
          </a:xfrm>
          <a:prstGeom prst="roundRect">
            <a:avLst>
              <a:gd fmla="val 3000" name="adj"/>
            </a:avLst>
          </a:prstGeom>
          <a:solidFill>
            <a:srgbClr val="FFFFFF"/>
          </a:solidFill>
          <a:ln cap="flat" cmpd="sng" w="9525">
            <a:solidFill>
              <a:srgbClr val="E5E7EB"/>
            </a:solidFill>
            <a:prstDash val="solid"/>
            <a:round/>
            <a:headEnd len="sm" w="sm" type="none"/>
            <a:tailEnd len="sm" w="sm" type="none"/>
          </a:ln>
          <a:effectLst>
            <a:outerShdw blurRad="50800" rotWithShape="0" algn="tl"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7"/>
          <p:cNvSpPr/>
          <p:nvPr/>
        </p:nvSpPr>
        <p:spPr>
          <a:xfrm>
            <a:off x="6096000" y="838200"/>
            <a:ext cx="2730500" cy="50800"/>
          </a:xfrm>
          <a:prstGeom prst="roundRect">
            <a:avLst>
              <a:gd fmla="val 50000" name="adj"/>
            </a:avLst>
          </a:prstGeom>
          <a:solidFill>
            <a:srgbClr val="9CA3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27"/>
          <p:cNvSpPr/>
          <p:nvPr/>
        </p:nvSpPr>
        <p:spPr>
          <a:xfrm>
            <a:off x="6248400" y="990600"/>
            <a:ext cx="24257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11827"/>
                </a:solidFill>
                <a:latin typeface="Calibri"/>
                <a:ea typeface="Calibri"/>
                <a:cs typeface="Calibri"/>
                <a:sym typeface="Calibri"/>
              </a:rPr>
              <a:t>How We'll Measure</a:t>
            </a:r>
            <a:endParaRPr b="0" i="0" sz="1400" u="none" cap="none" strike="noStrike">
              <a:solidFill>
                <a:srgbClr val="000000"/>
              </a:solidFill>
              <a:latin typeface="Arial"/>
              <a:ea typeface="Arial"/>
              <a:cs typeface="Arial"/>
              <a:sym typeface="Arial"/>
            </a:endParaRPr>
          </a:p>
        </p:txBody>
      </p:sp>
      <p:sp>
        <p:nvSpPr>
          <p:cNvPr id="488" name="Google Shape;488;p27"/>
          <p:cNvSpPr/>
          <p:nvPr/>
        </p:nvSpPr>
        <p:spPr>
          <a:xfrm>
            <a:off x="6248400" y="1295400"/>
            <a:ext cx="2425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7"/>
          <p:cNvSpPr/>
          <p:nvPr/>
        </p:nvSpPr>
        <p:spPr>
          <a:xfrm>
            <a:off x="6248400" y="1397000"/>
            <a:ext cx="2425700" cy="32512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API response time: &lt; 200ms p95 for configurator queries</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Zero data sync failures over a 30-day observation window</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All four DX Engine flows pass end-to-end UAT against Lovesac test cases</a:t>
            </a:r>
            <a:br>
              <a:rPr b="0" i="0" lang="en-US" sz="880" u="none" cap="none" strike="noStrike">
                <a:solidFill>
                  <a:srgbClr val="374151"/>
                </a:solidFill>
                <a:latin typeface="Calibri"/>
                <a:ea typeface="Calibri"/>
                <a:cs typeface="Calibri"/>
                <a:sym typeface="Calibri"/>
              </a:rPr>
            </a:br>
            <a:endParaRPr b="0" i="0" sz="880" u="none" cap="none" strike="noStrike">
              <a:solidFill>
                <a:srgbClr val="374151"/>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880"/>
              <a:buFont typeface="Arial"/>
              <a:buChar char="·"/>
            </a:pPr>
            <a:r>
              <a:rPr b="0" i="0" lang="en-US" sz="880" u="none" cap="none" strike="noStrike">
                <a:solidFill>
                  <a:srgbClr val="374151"/>
                </a:solidFill>
                <a:latin typeface="Calibri"/>
                <a:ea typeface="Calibri"/>
                <a:cs typeface="Calibri"/>
                <a:sym typeface="Calibri"/>
              </a:rPr>
              <a:t>Lovesac sign-off at each phase gate (4 gates over 12 weeks)</a:t>
            </a:r>
            <a:endParaRPr b="0" i="0" sz="1400" u="none" cap="none" strike="noStrike">
              <a:solidFill>
                <a:srgbClr val="000000"/>
              </a:solidFill>
              <a:latin typeface="Arial"/>
              <a:ea typeface="Arial"/>
              <a:cs typeface="Arial"/>
              <a:sym typeface="Arial"/>
            </a:endParaRPr>
          </a:p>
        </p:txBody>
      </p:sp>
      <p:sp>
        <p:nvSpPr>
          <p:cNvPr id="490" name="Google Shape;490;p27"/>
          <p:cNvSpPr/>
          <p:nvPr/>
        </p:nvSpPr>
        <p:spPr>
          <a:xfrm>
            <a:off x="0" y="4838700"/>
            <a:ext cx="9144000" cy="254000"/>
          </a:xfrm>
          <a:prstGeom prst="rect">
            <a:avLst/>
          </a:prstGeom>
          <a:no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Calibri"/>
                <a:ea typeface="Calibri"/>
                <a:cs typeface="Calibri"/>
                <a:sym typeface="Calibri"/>
              </a:rPr>
              <a:t>Lovesac × Conscia  ·  Project Kick-off  ·  April 8, 2026</a:t>
            </a:r>
            <a:endParaRPr b="0" i="0" sz="800" u="none" cap="none" strike="noStrike">
              <a:solidFill>
                <a:srgbClr val="9CA3AF"/>
              </a:solidFill>
              <a:latin typeface="Calibri"/>
              <a:ea typeface="Calibri"/>
              <a:cs typeface="Calibri"/>
              <a:sym typeface="Calibri"/>
            </a:endParaRPr>
          </a:p>
        </p:txBody>
      </p:sp>
      <p:sp>
        <p:nvSpPr>
          <p:cNvPr id="491" name="Google Shape;491;p27"/>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7"/>
          <p:cNvSpPr/>
          <p:nvPr/>
        </p:nvSpPr>
        <p:spPr>
          <a:xfrm>
            <a:off x="355600" y="4673600"/>
            <a:ext cx="8432800" cy="15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700"/>
              <a:buFont typeface="Arial"/>
              <a:buNone/>
            </a:pPr>
            <a:r>
              <a:rPr b="0" i="1" lang="en-US" sz="700" u="none" cap="none" strike="noStrike">
                <a:solidFill>
                  <a:srgbClr val="9CA3AF"/>
                </a:solidFill>
                <a:latin typeface="Calibri"/>
                <a:ea typeface="Calibri"/>
                <a:cs typeface="Calibri"/>
                <a:sym typeface="Calibri"/>
              </a:rPr>
              <a:t>Latency and volume targets to be confirmed with Lovesac at first technical review.</a:t>
            </a:r>
            <a:endParaRPr b="0" i="0" sz="1400" u="none" cap="none" strike="noStrike">
              <a:solidFill>
                <a:srgbClr val="000000"/>
              </a:solidFill>
              <a:latin typeface="Arial"/>
              <a:ea typeface="Arial"/>
              <a:cs typeface="Arial"/>
              <a:sym typeface="Arial"/>
            </a:endParaRPr>
          </a:p>
        </p:txBody>
      </p:sp>
      <p:sp>
        <p:nvSpPr>
          <p:cNvPr id="493" name="Google Shape;493;p27"/>
          <p:cNvSpPr/>
          <p:nvPr/>
        </p:nvSpPr>
        <p:spPr>
          <a:xfrm>
            <a:off x="457200" y="25400"/>
            <a:ext cx="3381324" cy="165100"/>
          </a:xfrm>
          <a:prstGeom prst="roundRect">
            <a:avLst>
              <a:gd fmla="val 50000" name="adj"/>
            </a:avLst>
          </a:prstGeom>
          <a:solidFill>
            <a:srgbClr val="22B8C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08 · SUCCESS METRICS &amp; WAYS OF WORKING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28"/>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28"/>
          <p:cNvSpPr/>
          <p:nvPr/>
        </p:nvSpPr>
        <p:spPr>
          <a:xfrm>
            <a:off x="381000" y="177800"/>
            <a:ext cx="6858000" cy="368301"/>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11827"/>
                </a:solidFill>
                <a:latin typeface="Arial"/>
                <a:ea typeface="Arial"/>
                <a:cs typeface="Arial"/>
                <a:sym typeface="Arial"/>
              </a:rPr>
              <a:t>Ways of Working</a:t>
            </a:r>
            <a:endParaRPr b="0" i="0" sz="1400" u="none" cap="none" strike="noStrike">
              <a:solidFill>
                <a:srgbClr val="000000"/>
              </a:solidFill>
              <a:latin typeface="Arial"/>
              <a:ea typeface="Arial"/>
              <a:cs typeface="Arial"/>
              <a:sym typeface="Arial"/>
            </a:endParaRPr>
          </a:p>
        </p:txBody>
      </p:sp>
      <p:cxnSp>
        <p:nvCxnSpPr>
          <p:cNvPr id="501" name="Google Shape;501;p28"/>
          <p:cNvCxnSpPr/>
          <p:nvPr/>
        </p:nvCxnSpPr>
        <p:spPr>
          <a:xfrm>
            <a:off x="254000" y="838200"/>
            <a:ext cx="8636000" cy="0"/>
          </a:xfrm>
          <a:prstGeom prst="straightConnector1">
            <a:avLst/>
          </a:prstGeom>
          <a:noFill/>
          <a:ln cap="flat" cmpd="sng" w="9525">
            <a:solidFill>
              <a:srgbClr val="E5E7EB"/>
            </a:solidFill>
            <a:prstDash val="solid"/>
            <a:round/>
            <a:headEnd len="sm" w="sm" type="none"/>
            <a:tailEnd len="sm" w="sm" type="none"/>
          </a:ln>
        </p:spPr>
      </p:cxnSp>
      <p:sp>
        <p:nvSpPr>
          <p:cNvPr id="502" name="Google Shape;502;p28"/>
          <p:cNvSpPr/>
          <p:nvPr/>
        </p:nvSpPr>
        <p:spPr>
          <a:xfrm>
            <a:off x="254000" y="914400"/>
            <a:ext cx="5334000" cy="3200400"/>
          </a:xfrm>
          <a:prstGeom prst="roundRect">
            <a:avLst>
              <a:gd fmla="val 4000" name="adj"/>
            </a:avLst>
          </a:prstGeom>
          <a:solidFill>
            <a:srgbClr val="FFFFFF"/>
          </a:solidFill>
          <a:ln cap="flat" cmpd="sng" w="9525">
            <a:solidFill>
              <a:srgbClr val="E5E7EB"/>
            </a:solidFill>
            <a:prstDash val="solid"/>
            <a:round/>
            <a:headEnd len="sm" w="sm" type="none"/>
            <a:tailEnd len="sm" w="sm" type="none"/>
          </a:ln>
          <a:effectLst>
            <a:outerShdw blurRad="50800" rotWithShape="0" algn="t"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8"/>
          <p:cNvSpPr/>
          <p:nvPr/>
        </p:nvSpPr>
        <p:spPr>
          <a:xfrm>
            <a:off x="254000" y="914400"/>
            <a:ext cx="5334000" cy="50800"/>
          </a:xfrm>
          <a:prstGeom prst="roundRect">
            <a:avLst>
              <a:gd fmla="val 4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8"/>
          <p:cNvSpPr/>
          <p:nvPr/>
        </p:nvSpPr>
        <p:spPr>
          <a:xfrm>
            <a:off x="355600" y="990600"/>
            <a:ext cx="2000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EB1A63"/>
                </a:solidFill>
                <a:latin typeface="Arial"/>
                <a:ea typeface="Arial"/>
                <a:cs typeface="Arial"/>
                <a:sym typeface="Arial"/>
              </a:rPr>
              <a:t>TEAM STRUCTURE</a:t>
            </a:r>
            <a:endParaRPr b="0" i="0" sz="1400" u="none" cap="none" strike="noStrike">
              <a:solidFill>
                <a:srgbClr val="000000"/>
              </a:solidFill>
              <a:latin typeface="Arial"/>
              <a:ea typeface="Arial"/>
              <a:cs typeface="Arial"/>
              <a:sym typeface="Arial"/>
            </a:endParaRPr>
          </a:p>
        </p:txBody>
      </p:sp>
      <p:graphicFrame>
        <p:nvGraphicFramePr>
          <p:cNvPr id="505" name="Google Shape;505;p28"/>
          <p:cNvGraphicFramePr/>
          <p:nvPr/>
        </p:nvGraphicFramePr>
        <p:xfrm>
          <a:off x="355600" y="1219200"/>
          <a:ext cx="3000000" cy="3000000"/>
        </p:xfrm>
        <a:graphic>
          <a:graphicData uri="http://schemas.openxmlformats.org/drawingml/2006/table">
            <a:tbl>
              <a:tblPr>
                <a:noFill/>
                <a:tableStyleId>{0D4D99D2-26C0-4E69-9BA2-07DF6A91B270}</a:tableStyleId>
              </a:tblPr>
              <a:tblGrid>
                <a:gridCol w="2057400"/>
                <a:gridCol w="1485900"/>
                <a:gridCol w="1485900"/>
              </a:tblGrid>
              <a:tr h="482600">
                <a:tc>
                  <a:txBody>
                    <a:bodyPr/>
                    <a:lstStyle/>
                    <a:p>
                      <a:pPr indent="0" lvl="0" marL="0" marR="0" rtl="0" algn="l">
                        <a:lnSpc>
                          <a:spcPct val="100000"/>
                        </a:lnSpc>
                        <a:spcBef>
                          <a:spcPts val="0"/>
                        </a:spcBef>
                        <a:spcAft>
                          <a:spcPts val="0"/>
                        </a:spcAft>
                        <a:buClr>
                          <a:srgbClr val="000000"/>
                        </a:buClr>
                        <a:buSzPts val="900"/>
                        <a:buFont typeface="Arial"/>
                        <a:buNone/>
                      </a:pPr>
                      <a:r>
                        <a:rPr b="1" lang="en-US" sz="900" u="none" cap="none" strike="noStrike">
                          <a:solidFill>
                            <a:srgbClr val="FFFFFF"/>
                          </a:solidFill>
                        </a:rPr>
                        <a:t>Role</a:t>
                      </a:r>
                      <a:endParaRPr sz="1400" u="none" cap="none" strike="noStrike"/>
                    </a:p>
                  </a:txBody>
                  <a:tcPr marT="45725" marB="45725" marR="91450" marL="91450">
                    <a:solidFill>
                      <a:srgbClr val="EB1A63"/>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Conscia</a:t>
                      </a:r>
                      <a:endParaRPr sz="1400" u="none" cap="none" strike="noStrike"/>
                    </a:p>
                  </a:txBody>
                  <a:tcPr marT="45725" marB="45725" marR="91450" marL="91450">
                    <a:solidFill>
                      <a:srgbClr val="EB1A63"/>
                    </a:solidFill>
                  </a:tcPr>
                </a:tc>
                <a:tc>
                  <a:txBody>
                    <a:bodyPr/>
                    <a:lstStyle/>
                    <a:p>
                      <a:pPr indent="0" lvl="0" marL="0" marR="0" rtl="0" algn="ctr">
                        <a:lnSpc>
                          <a:spcPct val="100000"/>
                        </a:lnSpc>
                        <a:spcBef>
                          <a:spcPts val="0"/>
                        </a:spcBef>
                        <a:spcAft>
                          <a:spcPts val="0"/>
                        </a:spcAft>
                        <a:buClr>
                          <a:srgbClr val="000000"/>
                        </a:buClr>
                        <a:buSzPts val="900"/>
                        <a:buFont typeface="Arial"/>
                        <a:buNone/>
                      </a:pPr>
                      <a:r>
                        <a:rPr b="1" lang="en-US" sz="900" u="none" cap="none" strike="noStrike">
                          <a:solidFill>
                            <a:srgbClr val="FFFFFF"/>
                          </a:solidFill>
                        </a:rPr>
                        <a:t>Lovesac</a:t>
                      </a:r>
                      <a:endParaRPr sz="1400" u="none" cap="none" strike="noStrike"/>
                    </a:p>
                  </a:txBody>
                  <a:tcPr marT="45725" marB="45725" marR="91450" marL="91450">
                    <a:solidFill>
                      <a:srgbClr val="EB1A63"/>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Executive Sponsor</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Sana</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Amelia Jacobs</a:t>
                      </a:r>
                      <a:endParaRPr sz="1400" u="none" cap="none" strike="noStrike"/>
                    </a:p>
                  </a:txBody>
                  <a:tcPr marT="45725" marB="45725" marR="91450" marL="91450">
                    <a:solidFill>
                      <a:srgbClr val="F9FAFB"/>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Project Lead</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Morgan</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i="1" lang="en-US" sz="850" u="none" cap="none" strike="noStrike">
                          <a:solidFill>
                            <a:srgbClr val="9CA3AF"/>
                          </a:solidFill>
                        </a:rPr>
                        <a:t>TBC at kickoff</a:t>
                      </a:r>
                      <a:endParaRPr sz="1400" u="none" cap="none" strike="noStrike"/>
                    </a:p>
                  </a:txBody>
                  <a:tcPr marT="45725" marB="45725" marR="91450" marL="91450">
                    <a:solidFill>
                      <a:srgbClr val="F5F6F7"/>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Solution Architect</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David</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Tate Swanson</a:t>
                      </a:r>
                      <a:endParaRPr sz="1400" u="none" cap="none" strike="noStrike"/>
                    </a:p>
                  </a:txBody>
                  <a:tcPr marT="45725" marB="45725" marR="91450" marL="91450">
                    <a:solidFill>
                      <a:srgbClr val="F9FAFB"/>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Solution Engineer</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Laurel</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i="1" lang="en-US" sz="850" u="none" cap="none" strike="noStrike">
                          <a:solidFill>
                            <a:srgbClr val="9CA3AF"/>
                          </a:solidFill>
                        </a:rPr>
                        <a:t>Data owner — TBC</a:t>
                      </a:r>
                      <a:endParaRPr sz="1400" u="none" cap="none" strike="noStrike"/>
                    </a:p>
                  </a:txBody>
                  <a:tcPr marT="45725" marB="45725" marR="91450" marL="91450">
                    <a:solidFill>
                      <a:srgbClr val="F5F6F7"/>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Platform Engineer</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Harshil</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i="1" lang="en-US" sz="850" u="none" cap="none" strike="noStrike">
                          <a:solidFill>
                            <a:srgbClr val="9CA3AF"/>
                          </a:solidFill>
                        </a:rPr>
                        <a:t>Tech lead — TBC</a:t>
                      </a:r>
                      <a:endParaRPr sz="1400" u="none" cap="none" strike="noStrike"/>
                    </a:p>
                  </a:txBody>
                  <a:tcPr marT="45725" marB="45725" marR="91450" marL="91450">
                    <a:solidFill>
                      <a:srgbClr val="EDF0F2"/>
                    </a:solidFill>
                  </a:tcPr>
                </a:tc>
              </a:tr>
              <a:tr h="393700">
                <a:tc>
                  <a:txBody>
                    <a:bodyPr/>
                    <a:lstStyle/>
                    <a:p>
                      <a:pPr indent="0" lvl="0" marL="0" marR="0" rtl="0" algn="l">
                        <a:lnSpc>
                          <a:spcPct val="100000"/>
                        </a:lnSpc>
                        <a:spcBef>
                          <a:spcPts val="0"/>
                        </a:spcBef>
                        <a:spcAft>
                          <a:spcPts val="0"/>
                        </a:spcAft>
                        <a:buClr>
                          <a:srgbClr val="000000"/>
                        </a:buClr>
                        <a:buSzPts val="850"/>
                        <a:buFont typeface="Arial"/>
                        <a:buNone/>
                      </a:pPr>
                      <a:r>
                        <a:rPr lang="en-US" sz="850" u="none" cap="none" strike="noStrike">
                          <a:solidFill>
                            <a:srgbClr val="374151"/>
                          </a:solidFill>
                        </a:rPr>
                        <a:t>QA / Testing</a:t>
                      </a:r>
                      <a:endParaRPr sz="1400" u="none" cap="none" strike="noStrike"/>
                    </a:p>
                  </a:txBody>
                  <a:tcPr marT="45725" marB="45725" marR="91450" marL="91450">
                    <a:solidFill>
                      <a:srgbClr val="F9FAFB"/>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lang="en-US" sz="850" u="none" cap="none" strike="noStrike">
                          <a:solidFill>
                            <a:srgbClr val="374151"/>
                          </a:solidFill>
                        </a:rPr>
                        <a:t>Laurel &amp; Harshil</a:t>
                      </a:r>
                      <a:endParaRPr sz="1400" u="none" cap="none" strike="noStrike"/>
                    </a:p>
                  </a:txBody>
                  <a:tcPr marT="45725" marB="45725" marR="91450" marL="91450">
                    <a:solidFill>
                      <a:srgbClr val="FFFFFF"/>
                    </a:solidFill>
                  </a:tcPr>
                </a:tc>
                <a:tc>
                  <a:txBody>
                    <a:bodyPr/>
                    <a:lstStyle/>
                    <a:p>
                      <a:pPr indent="0" lvl="0" marL="0" marR="0" rtl="0" algn="ctr">
                        <a:lnSpc>
                          <a:spcPct val="100000"/>
                        </a:lnSpc>
                        <a:spcBef>
                          <a:spcPts val="0"/>
                        </a:spcBef>
                        <a:spcAft>
                          <a:spcPts val="0"/>
                        </a:spcAft>
                        <a:buClr>
                          <a:srgbClr val="000000"/>
                        </a:buClr>
                        <a:buSzPts val="850"/>
                        <a:buFont typeface="Arial"/>
                        <a:buNone/>
                      </a:pPr>
                      <a:r>
                        <a:rPr i="1" lang="en-US" sz="850" u="none" cap="none" strike="noStrike">
                          <a:solidFill>
                            <a:srgbClr val="9CA3AF"/>
                          </a:solidFill>
                        </a:rPr>
                        <a:t>TBC</a:t>
                      </a:r>
                      <a:endParaRPr sz="1400" u="none" cap="none" strike="noStrike"/>
                    </a:p>
                  </a:txBody>
                  <a:tcPr marT="45725" marB="45725" marR="91450" marL="91450">
                    <a:solidFill>
                      <a:srgbClr val="F5F6F7"/>
                    </a:solidFill>
                  </a:tcPr>
                </a:tc>
              </a:tr>
            </a:tbl>
          </a:graphicData>
        </a:graphic>
      </p:graphicFrame>
      <p:sp>
        <p:nvSpPr>
          <p:cNvPr id="506" name="Google Shape;506;p28"/>
          <p:cNvSpPr/>
          <p:nvPr/>
        </p:nvSpPr>
        <p:spPr>
          <a:xfrm>
            <a:off x="5715000" y="914400"/>
            <a:ext cx="3175000" cy="3200400"/>
          </a:xfrm>
          <a:prstGeom prst="roundRect">
            <a:avLst>
              <a:gd fmla="val 4000" name="adj"/>
            </a:avLst>
          </a:prstGeom>
          <a:solidFill>
            <a:srgbClr val="FFFFFF"/>
          </a:solidFill>
          <a:ln cap="flat" cmpd="sng" w="9525">
            <a:solidFill>
              <a:srgbClr val="E5E7EB"/>
            </a:solidFill>
            <a:prstDash val="solid"/>
            <a:round/>
            <a:headEnd len="sm" w="sm" type="none"/>
            <a:tailEnd len="sm" w="sm" type="none"/>
          </a:ln>
          <a:effectLst>
            <a:outerShdw blurRad="50800" rotWithShape="0" algn="t"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8"/>
          <p:cNvSpPr/>
          <p:nvPr/>
        </p:nvSpPr>
        <p:spPr>
          <a:xfrm>
            <a:off x="5715000" y="914400"/>
            <a:ext cx="3175000" cy="50800"/>
          </a:xfrm>
          <a:prstGeom prst="roundRect">
            <a:avLst>
              <a:gd fmla="val 4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28"/>
          <p:cNvSpPr/>
          <p:nvPr/>
        </p:nvSpPr>
        <p:spPr>
          <a:xfrm>
            <a:off x="5816600" y="990600"/>
            <a:ext cx="2000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7BCD6"/>
                </a:solidFill>
                <a:latin typeface="Arial"/>
                <a:ea typeface="Arial"/>
                <a:cs typeface="Arial"/>
                <a:sym typeface="Arial"/>
              </a:rPr>
              <a:t>WORKING CADENCE</a:t>
            </a:r>
            <a:endParaRPr b="0" i="0" sz="1400" u="none" cap="none" strike="noStrike">
              <a:solidFill>
                <a:srgbClr val="000000"/>
              </a:solidFill>
              <a:latin typeface="Arial"/>
              <a:ea typeface="Arial"/>
              <a:cs typeface="Arial"/>
              <a:sym typeface="Arial"/>
            </a:endParaRPr>
          </a:p>
        </p:txBody>
      </p:sp>
      <p:sp>
        <p:nvSpPr>
          <p:cNvPr id="509" name="Google Shape;509;p28"/>
          <p:cNvSpPr/>
          <p:nvPr/>
        </p:nvSpPr>
        <p:spPr>
          <a:xfrm>
            <a:off x="5715000" y="1041400"/>
            <a:ext cx="3175000" cy="5080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8"/>
          <p:cNvSpPr/>
          <p:nvPr/>
        </p:nvSpPr>
        <p:spPr>
          <a:xfrm>
            <a:off x="5816600" y="1244600"/>
            <a:ext cx="101600" cy="101600"/>
          </a:xfrm>
          <a:prstGeom prst="ellipse">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8"/>
          <p:cNvSpPr/>
          <p:nvPr/>
        </p:nvSpPr>
        <p:spPr>
          <a:xfrm>
            <a:off x="5994400" y="1092200"/>
            <a:ext cx="27940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EB1A63"/>
                </a:solidFill>
                <a:latin typeface="Arial"/>
                <a:ea typeface="Arial"/>
                <a:cs typeface="Arial"/>
                <a:sym typeface="Arial"/>
              </a:rPr>
              <a:t>Weekly</a:t>
            </a:r>
            <a:r>
              <a:rPr b="1" i="0" lang="en-US" sz="900" u="none" cap="none" strike="noStrike">
                <a:solidFill>
                  <a:srgbClr val="111827"/>
                </a:solidFill>
                <a:latin typeface="Arial"/>
                <a:ea typeface="Arial"/>
                <a:cs typeface="Arial"/>
                <a:sym typeface="Arial"/>
              </a:rPr>
              <a:t>  Project Standup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B7280"/>
                </a:solidFill>
                <a:latin typeface="Arial"/>
                <a:ea typeface="Arial"/>
                <a:cs typeface="Arial"/>
                <a:sym typeface="Arial"/>
              </a:rPr>
              <a:t>30 min · Both teams · Status, blockers, decisions</a:t>
            </a:r>
            <a:endParaRPr b="0" i="0" sz="1400" u="none" cap="none" strike="noStrike">
              <a:solidFill>
                <a:srgbClr val="000000"/>
              </a:solidFill>
              <a:latin typeface="Arial"/>
              <a:ea typeface="Arial"/>
              <a:cs typeface="Arial"/>
              <a:sym typeface="Arial"/>
            </a:endParaRPr>
          </a:p>
        </p:txBody>
      </p:sp>
      <p:sp>
        <p:nvSpPr>
          <p:cNvPr id="512" name="Google Shape;512;p28"/>
          <p:cNvSpPr/>
          <p:nvPr/>
        </p:nvSpPr>
        <p:spPr>
          <a:xfrm>
            <a:off x="5715000" y="1625600"/>
            <a:ext cx="3175000" cy="5080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8"/>
          <p:cNvSpPr/>
          <p:nvPr/>
        </p:nvSpPr>
        <p:spPr>
          <a:xfrm>
            <a:off x="5816600" y="1828800"/>
            <a:ext cx="101600" cy="101600"/>
          </a:xfrm>
          <a:prstGeom prst="ellipse">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8"/>
          <p:cNvSpPr/>
          <p:nvPr/>
        </p:nvSpPr>
        <p:spPr>
          <a:xfrm>
            <a:off x="5994400" y="1676400"/>
            <a:ext cx="27940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07BCD6"/>
                </a:solidFill>
                <a:latin typeface="Arial"/>
                <a:ea typeface="Arial"/>
                <a:cs typeface="Arial"/>
                <a:sym typeface="Arial"/>
              </a:rPr>
              <a:t>Bi-weekly</a:t>
            </a:r>
            <a:r>
              <a:rPr b="1" i="0" lang="en-US" sz="900" u="none" cap="none" strike="noStrike">
                <a:solidFill>
                  <a:srgbClr val="111827"/>
                </a:solidFill>
                <a:latin typeface="Arial"/>
                <a:ea typeface="Arial"/>
                <a:cs typeface="Arial"/>
                <a:sym typeface="Arial"/>
              </a:rPr>
              <a:t>  Steering Check-in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B7280"/>
                </a:solidFill>
                <a:latin typeface="Arial"/>
                <a:ea typeface="Arial"/>
                <a:cs typeface="Arial"/>
                <a:sym typeface="Arial"/>
              </a:rPr>
              <a:t>60 min · Leads only · Scope, risks, milestones</a:t>
            </a:r>
            <a:endParaRPr b="0" i="0" sz="1400" u="none" cap="none" strike="noStrike">
              <a:solidFill>
                <a:srgbClr val="000000"/>
              </a:solidFill>
              <a:latin typeface="Arial"/>
              <a:ea typeface="Arial"/>
              <a:cs typeface="Arial"/>
              <a:sym typeface="Arial"/>
            </a:endParaRPr>
          </a:p>
        </p:txBody>
      </p:sp>
      <p:sp>
        <p:nvSpPr>
          <p:cNvPr id="515" name="Google Shape;515;p28"/>
          <p:cNvSpPr/>
          <p:nvPr/>
        </p:nvSpPr>
        <p:spPr>
          <a:xfrm>
            <a:off x="5715000" y="2209800"/>
            <a:ext cx="3175000" cy="5080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28"/>
          <p:cNvSpPr/>
          <p:nvPr/>
        </p:nvSpPr>
        <p:spPr>
          <a:xfrm>
            <a:off x="5816600" y="2413000"/>
            <a:ext cx="101600" cy="101600"/>
          </a:xfrm>
          <a:prstGeom prst="ellipse">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28"/>
          <p:cNvSpPr/>
          <p:nvPr/>
        </p:nvSpPr>
        <p:spPr>
          <a:xfrm>
            <a:off x="5994400" y="2260600"/>
            <a:ext cx="27940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8AC542"/>
                </a:solidFill>
                <a:latin typeface="Arial"/>
                <a:ea typeface="Arial"/>
                <a:cs typeface="Arial"/>
                <a:sym typeface="Arial"/>
              </a:rPr>
              <a:t>As-needed</a:t>
            </a:r>
            <a:r>
              <a:rPr b="1" i="0" lang="en-US" sz="900" u="none" cap="none" strike="noStrike">
                <a:solidFill>
                  <a:srgbClr val="111827"/>
                </a:solidFill>
                <a:latin typeface="Arial"/>
                <a:ea typeface="Arial"/>
                <a:cs typeface="Arial"/>
                <a:sym typeface="Arial"/>
              </a:rPr>
              <a:t>  Technical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B7280"/>
                </a:solidFill>
                <a:latin typeface="Arial"/>
                <a:ea typeface="Arial"/>
                <a:cs typeface="Arial"/>
                <a:sym typeface="Arial"/>
              </a:rPr>
              <a:t>Data model, API design, integration reviews</a:t>
            </a:r>
            <a:endParaRPr b="0" i="0" sz="1400" u="none" cap="none" strike="noStrike">
              <a:solidFill>
                <a:srgbClr val="000000"/>
              </a:solidFill>
              <a:latin typeface="Arial"/>
              <a:ea typeface="Arial"/>
              <a:cs typeface="Arial"/>
              <a:sym typeface="Arial"/>
            </a:endParaRPr>
          </a:p>
        </p:txBody>
      </p:sp>
      <p:sp>
        <p:nvSpPr>
          <p:cNvPr id="518" name="Google Shape;518;p28"/>
          <p:cNvSpPr/>
          <p:nvPr/>
        </p:nvSpPr>
        <p:spPr>
          <a:xfrm>
            <a:off x="5715000" y="2794000"/>
            <a:ext cx="3175000" cy="5080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28"/>
          <p:cNvSpPr/>
          <p:nvPr/>
        </p:nvSpPr>
        <p:spPr>
          <a:xfrm>
            <a:off x="5816600" y="2997200"/>
            <a:ext cx="101600" cy="101600"/>
          </a:xfrm>
          <a:prstGeom prst="ellipse">
            <a:avLst/>
          </a:prstGeom>
          <a:solidFill>
            <a:srgbClr val="458CC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28"/>
          <p:cNvSpPr/>
          <p:nvPr/>
        </p:nvSpPr>
        <p:spPr>
          <a:xfrm>
            <a:off x="5994400" y="2844800"/>
            <a:ext cx="27940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458CCB"/>
                </a:solidFill>
                <a:latin typeface="Arial"/>
                <a:ea typeface="Arial"/>
                <a:cs typeface="Arial"/>
                <a:sym typeface="Arial"/>
              </a:rPr>
              <a:t>End of Phase</a:t>
            </a:r>
            <a:r>
              <a:rPr b="1" i="0" lang="en-US" sz="900" u="none" cap="none" strike="noStrike">
                <a:solidFill>
                  <a:srgbClr val="111827"/>
                </a:solidFill>
                <a:latin typeface="Arial"/>
                <a:ea typeface="Arial"/>
                <a:cs typeface="Arial"/>
                <a:sym typeface="Arial"/>
              </a:rPr>
              <a:t>  Phase Gate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B7280"/>
                </a:solidFill>
                <a:latin typeface="Arial"/>
                <a:ea typeface="Arial"/>
                <a:cs typeface="Arial"/>
                <a:sym typeface="Arial"/>
              </a:rPr>
              <a:t>Demo, sign-off, and next phase kick-off</a:t>
            </a:r>
            <a:endParaRPr b="0" i="0" sz="1400" u="none" cap="none" strike="noStrike">
              <a:solidFill>
                <a:srgbClr val="000000"/>
              </a:solidFill>
              <a:latin typeface="Arial"/>
              <a:ea typeface="Arial"/>
              <a:cs typeface="Arial"/>
              <a:sym typeface="Arial"/>
            </a:endParaRPr>
          </a:p>
        </p:txBody>
      </p:sp>
      <p:sp>
        <p:nvSpPr>
          <p:cNvPr id="521" name="Google Shape;521;p28"/>
          <p:cNvSpPr/>
          <p:nvPr/>
        </p:nvSpPr>
        <p:spPr>
          <a:xfrm>
            <a:off x="5715000" y="3378200"/>
            <a:ext cx="3175000" cy="5080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28"/>
          <p:cNvSpPr/>
          <p:nvPr/>
        </p:nvSpPr>
        <p:spPr>
          <a:xfrm>
            <a:off x="5816600" y="3581400"/>
            <a:ext cx="101600" cy="101600"/>
          </a:xfrm>
          <a:prstGeom prst="ellipse">
            <a:avLst/>
          </a:prstGeom>
          <a:solidFill>
            <a:srgbClr val="F898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28"/>
          <p:cNvSpPr/>
          <p:nvPr/>
        </p:nvSpPr>
        <p:spPr>
          <a:xfrm>
            <a:off x="5994400" y="3429000"/>
            <a:ext cx="27940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50"/>
              <a:buFont typeface="Arial"/>
              <a:buNone/>
            </a:pPr>
            <a:r>
              <a:rPr b="1" i="0" lang="en-US" sz="750" u="none" cap="none" strike="noStrike">
                <a:solidFill>
                  <a:srgbClr val="F8981D"/>
                </a:solidFill>
                <a:latin typeface="Arial"/>
                <a:ea typeface="Arial"/>
                <a:cs typeface="Arial"/>
                <a:sym typeface="Arial"/>
              </a:rPr>
              <a:t>Ongoing</a:t>
            </a:r>
            <a:r>
              <a:rPr b="1" i="0" lang="en-US" sz="900" u="none" cap="none" strike="noStrike">
                <a:solidFill>
                  <a:srgbClr val="111827"/>
                </a:solidFill>
                <a:latin typeface="Arial"/>
                <a:ea typeface="Arial"/>
                <a:cs typeface="Arial"/>
                <a:sym typeface="Arial"/>
              </a:rPr>
              <a:t>  Slack / async comms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750"/>
              <a:buFont typeface="Arial"/>
              <a:buNone/>
            </a:pPr>
            <a:r>
              <a:rPr b="0" i="0" lang="en-US" sz="750" u="none" cap="none" strike="noStrike">
                <a:solidFill>
                  <a:srgbClr val="6B7280"/>
                </a:solidFill>
                <a:latin typeface="Arial"/>
                <a:ea typeface="Arial"/>
                <a:cs typeface="Arial"/>
                <a:sym typeface="Arial"/>
              </a:rPr>
              <a:t>Shared channel for day-to-day coordination</a:t>
            </a:r>
            <a:endParaRPr b="0" i="0" sz="1400" u="none" cap="none" strike="noStrike">
              <a:solidFill>
                <a:srgbClr val="000000"/>
              </a:solidFill>
              <a:latin typeface="Arial"/>
              <a:ea typeface="Arial"/>
              <a:cs typeface="Arial"/>
              <a:sym typeface="Arial"/>
            </a:endParaRPr>
          </a:p>
        </p:txBody>
      </p:sp>
      <p:sp>
        <p:nvSpPr>
          <p:cNvPr id="524" name="Google Shape;524;p28"/>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525" name="Google Shape;525;p28"/>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28"/>
          <p:cNvSpPr/>
          <p:nvPr/>
        </p:nvSpPr>
        <p:spPr>
          <a:xfrm>
            <a:off x="381000" y="25400"/>
            <a:ext cx="4200000" cy="152400"/>
          </a:xfrm>
          <a:prstGeom prst="roundRect">
            <a:avLst>
              <a:gd fmla="val 50000" name="adj"/>
            </a:avLst>
          </a:prstGeom>
          <a:solidFill>
            <a:srgbClr val="22B8C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08 · SUCCESS METRICS &amp; WAYS OF WORKING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9"/>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29"/>
          <p:cNvSpPr/>
          <p:nvPr/>
        </p:nvSpPr>
        <p:spPr>
          <a:xfrm>
            <a:off x="381000" y="188668"/>
            <a:ext cx="6858000" cy="381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Arial"/>
                <a:ea typeface="Arial"/>
                <a:cs typeface="Arial"/>
                <a:sym typeface="Arial"/>
              </a:rPr>
              <a:t>Open Questions</a:t>
            </a:r>
            <a:endParaRPr b="0" i="0" sz="1400" u="none" cap="none" strike="noStrike">
              <a:solidFill>
                <a:srgbClr val="000000"/>
              </a:solidFill>
              <a:latin typeface="Arial"/>
              <a:ea typeface="Arial"/>
              <a:cs typeface="Arial"/>
              <a:sym typeface="Arial"/>
            </a:endParaRPr>
          </a:p>
        </p:txBody>
      </p:sp>
      <p:sp>
        <p:nvSpPr>
          <p:cNvPr id="534" name="Google Shape;534;p29"/>
          <p:cNvSpPr/>
          <p:nvPr/>
        </p:nvSpPr>
        <p:spPr>
          <a:xfrm>
            <a:off x="355600" y="645868"/>
            <a:ext cx="8432800" cy="254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850" u="none" cap="none" strike="noStrike">
                <a:solidFill>
                  <a:srgbClr val="6B7280"/>
                </a:solidFill>
                <a:latin typeface="Calibri"/>
                <a:ea typeface="Calibri"/>
                <a:cs typeface="Calibri"/>
                <a:sym typeface="Calibri"/>
              </a:rPr>
              <a:t>We've shared a full questions document with your team ahead of today (32 questions across 5 areas). This slide is the shape of that conversation — we'll go deeper on the items most likely to shape Phase 1.</a:t>
            </a:r>
            <a:endParaRPr b="0" i="0" sz="1200" u="none" cap="none" strike="noStrike">
              <a:solidFill>
                <a:srgbClr val="000000"/>
              </a:solidFill>
              <a:latin typeface="Arial"/>
              <a:ea typeface="Arial"/>
              <a:cs typeface="Arial"/>
              <a:sym typeface="Arial"/>
            </a:endParaRPr>
          </a:p>
        </p:txBody>
      </p:sp>
      <p:cxnSp>
        <p:nvCxnSpPr>
          <p:cNvPr id="535" name="Google Shape;535;p29"/>
          <p:cNvCxnSpPr/>
          <p:nvPr/>
        </p:nvCxnSpPr>
        <p:spPr>
          <a:xfrm>
            <a:off x="254000" y="950668"/>
            <a:ext cx="8636000" cy="0"/>
          </a:xfrm>
          <a:prstGeom prst="straightConnector1">
            <a:avLst/>
          </a:prstGeom>
          <a:noFill/>
          <a:ln cap="flat" cmpd="sng" w="9525">
            <a:solidFill>
              <a:srgbClr val="E5E7EB"/>
            </a:solidFill>
            <a:prstDash val="solid"/>
            <a:round/>
            <a:headEnd len="sm" w="sm" type="none"/>
            <a:tailEnd len="sm" w="sm" type="none"/>
          </a:ln>
        </p:spPr>
      </p:cxnSp>
      <p:sp>
        <p:nvSpPr>
          <p:cNvPr id="536" name="Google Shape;536;p29"/>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537" name="Google Shape;537;p29"/>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9"/>
          <p:cNvSpPr/>
          <p:nvPr/>
        </p:nvSpPr>
        <p:spPr>
          <a:xfrm>
            <a:off x="254000" y="1026868"/>
            <a:ext cx="2806700" cy="1727200"/>
          </a:xfrm>
          <a:prstGeom prst="roundRect">
            <a:avLst>
              <a:gd fmla="val 12000" name="adj"/>
            </a:avLst>
          </a:prstGeom>
          <a:solidFill>
            <a:srgbClr val="FFFFFF"/>
          </a:solidFill>
          <a:ln>
            <a:noFill/>
          </a:ln>
          <a:effectLst>
            <a:outerShdw blurRad="38100" rotWithShape="0" algn="ctr"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29"/>
          <p:cNvSpPr/>
          <p:nvPr/>
        </p:nvSpPr>
        <p:spPr>
          <a:xfrm>
            <a:off x="254000" y="1026868"/>
            <a:ext cx="63500" cy="17272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29"/>
          <p:cNvSpPr/>
          <p:nvPr/>
        </p:nvSpPr>
        <p:spPr>
          <a:xfrm>
            <a:off x="431800" y="1191968"/>
            <a:ext cx="660400" cy="304800"/>
          </a:xfrm>
          <a:prstGeom prst="roundRect">
            <a:avLst>
              <a:gd fmla="val 16000" name="adj"/>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9"/>
          <p:cNvSpPr/>
          <p:nvPr/>
        </p:nvSpPr>
        <p:spPr>
          <a:xfrm>
            <a:off x="431800" y="1191968"/>
            <a:ext cx="6604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12</a:t>
            </a:r>
            <a:r>
              <a:rPr b="0" i="0" lang="en-US" sz="900" u="none" cap="none" strike="noStrike">
                <a:solidFill>
                  <a:srgbClr val="FFFFFF"/>
                </a:solidFill>
                <a:latin typeface="Calibri"/>
                <a:ea typeface="Calibri"/>
                <a:cs typeface="Calibri"/>
                <a:sym typeface="Calibri"/>
              </a:rPr>
              <a:t> </a:t>
            </a:r>
            <a:r>
              <a:rPr b="1" i="0" lang="en-US" sz="900" u="none" cap="none" strike="noStrike">
                <a:solidFill>
                  <a:srgbClr val="FFFFFF"/>
                </a:solidFill>
                <a:latin typeface="Calibri"/>
                <a:ea typeface="Calibri"/>
                <a:cs typeface="Calibri"/>
                <a:sym typeface="Calibri"/>
              </a:rPr>
              <a:t>Qs</a:t>
            </a:r>
            <a:endParaRPr b="0" i="0" sz="1400" u="none" cap="none" strike="noStrike">
              <a:solidFill>
                <a:srgbClr val="000000"/>
              </a:solidFill>
              <a:latin typeface="Arial"/>
              <a:ea typeface="Arial"/>
              <a:cs typeface="Arial"/>
              <a:sym typeface="Arial"/>
            </a:endParaRPr>
          </a:p>
        </p:txBody>
      </p:sp>
      <p:sp>
        <p:nvSpPr>
          <p:cNvPr id="542" name="Google Shape;542;p29"/>
          <p:cNvSpPr/>
          <p:nvPr/>
        </p:nvSpPr>
        <p:spPr>
          <a:xfrm>
            <a:off x="1168400" y="1191968"/>
            <a:ext cx="17907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DATA</a:t>
            </a:r>
            <a:endParaRPr b="0" i="0" sz="1400" u="none" cap="none" strike="noStrike">
              <a:solidFill>
                <a:srgbClr val="000000"/>
              </a:solidFill>
              <a:latin typeface="Arial"/>
              <a:ea typeface="Arial"/>
              <a:cs typeface="Arial"/>
              <a:sym typeface="Arial"/>
            </a:endParaRPr>
          </a:p>
        </p:txBody>
      </p:sp>
      <p:sp>
        <p:nvSpPr>
          <p:cNvPr id="543" name="Google Shape;543;p29"/>
          <p:cNvSpPr/>
          <p:nvPr/>
        </p:nvSpPr>
        <p:spPr>
          <a:xfrm>
            <a:off x="431800" y="1585668"/>
            <a:ext cx="2552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9"/>
          <p:cNvSpPr/>
          <p:nvPr/>
        </p:nvSpPr>
        <p:spPr>
          <a:xfrm>
            <a:off x="431800" y="1661868"/>
            <a:ext cx="2552700" cy="10160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Where did each product file come from, and which is authoritative?</a:t>
            </a:r>
            <a:endParaRPr b="0" i="0" sz="1400" u="none" cap="none" strike="noStrike">
              <a:solidFill>
                <a:srgbClr val="000000"/>
              </a:solidFill>
              <a:latin typeface="Arial"/>
              <a:ea typeface="Arial"/>
              <a:cs typeface="Arial"/>
              <a:sym typeface="Arial"/>
            </a:endParaRPr>
          </a:p>
          <a:p>
            <a:pPr indent="0" lvl="0" marL="0" marR="0" rtl="0" algn="l">
              <a:lnSpc>
                <a:spcPct val="152941"/>
              </a:lnSpc>
              <a:spcBef>
                <a:spcPts val="30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Will product data flow via Celigo, or directly from source?</a:t>
            </a:r>
            <a:endParaRPr b="0" i="0" sz="1400" u="none" cap="none" strike="noStrike">
              <a:solidFill>
                <a:srgbClr val="000000"/>
              </a:solidFill>
              <a:latin typeface="Arial"/>
              <a:ea typeface="Arial"/>
              <a:cs typeface="Arial"/>
              <a:sym typeface="Arial"/>
            </a:endParaRPr>
          </a:p>
        </p:txBody>
      </p:sp>
      <p:sp>
        <p:nvSpPr>
          <p:cNvPr id="545" name="Google Shape;545;p29"/>
          <p:cNvSpPr/>
          <p:nvPr/>
        </p:nvSpPr>
        <p:spPr>
          <a:xfrm>
            <a:off x="3162300" y="1026868"/>
            <a:ext cx="2806700" cy="1727200"/>
          </a:xfrm>
          <a:prstGeom prst="roundRect">
            <a:avLst>
              <a:gd fmla="val 12000" name="adj"/>
            </a:avLst>
          </a:prstGeom>
          <a:solidFill>
            <a:srgbClr val="FFFFFF"/>
          </a:solidFill>
          <a:ln>
            <a:noFill/>
          </a:ln>
          <a:effectLst>
            <a:outerShdw blurRad="38100" rotWithShape="0" algn="ctr"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9"/>
          <p:cNvSpPr/>
          <p:nvPr/>
        </p:nvSpPr>
        <p:spPr>
          <a:xfrm>
            <a:off x="3162300" y="1026868"/>
            <a:ext cx="63500" cy="1727200"/>
          </a:xfrm>
          <a:prstGeom prst="rect">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29"/>
          <p:cNvSpPr/>
          <p:nvPr/>
        </p:nvSpPr>
        <p:spPr>
          <a:xfrm>
            <a:off x="3340100" y="1191968"/>
            <a:ext cx="660400" cy="304800"/>
          </a:xfrm>
          <a:prstGeom prst="roundRect">
            <a:avLst>
              <a:gd fmla="val 16000" name="adj"/>
            </a:avLst>
          </a:prstGeom>
          <a:solidFill>
            <a:srgbClr val="07BC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9"/>
          <p:cNvSpPr/>
          <p:nvPr/>
        </p:nvSpPr>
        <p:spPr>
          <a:xfrm>
            <a:off x="3340100" y="1191968"/>
            <a:ext cx="6604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6</a:t>
            </a:r>
            <a:r>
              <a:rPr b="0" i="0" lang="en-US" sz="900" u="none" cap="none" strike="noStrike">
                <a:solidFill>
                  <a:srgbClr val="FFFFFF"/>
                </a:solidFill>
                <a:latin typeface="Calibri"/>
                <a:ea typeface="Calibri"/>
                <a:cs typeface="Calibri"/>
                <a:sym typeface="Calibri"/>
              </a:rPr>
              <a:t> </a:t>
            </a:r>
            <a:r>
              <a:rPr b="1" i="0" lang="en-US" sz="900" u="none" cap="none" strike="noStrike">
                <a:solidFill>
                  <a:srgbClr val="FFFFFF"/>
                </a:solidFill>
                <a:latin typeface="Calibri"/>
                <a:ea typeface="Calibri"/>
                <a:cs typeface="Calibri"/>
                <a:sym typeface="Calibri"/>
              </a:rPr>
              <a:t>Qs</a:t>
            </a:r>
            <a:endParaRPr b="0" i="0" sz="1400" u="none" cap="none" strike="noStrike">
              <a:solidFill>
                <a:srgbClr val="000000"/>
              </a:solidFill>
              <a:latin typeface="Arial"/>
              <a:ea typeface="Arial"/>
              <a:cs typeface="Arial"/>
              <a:sym typeface="Arial"/>
            </a:endParaRPr>
          </a:p>
        </p:txBody>
      </p:sp>
      <p:sp>
        <p:nvSpPr>
          <p:cNvPr id="549" name="Google Shape;549;p29"/>
          <p:cNvSpPr/>
          <p:nvPr/>
        </p:nvSpPr>
        <p:spPr>
          <a:xfrm>
            <a:off x="4076700" y="1191968"/>
            <a:ext cx="17907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7BCD6"/>
                </a:solidFill>
                <a:latin typeface="Calibri"/>
                <a:ea typeface="Calibri"/>
                <a:cs typeface="Calibri"/>
                <a:sym typeface="Calibri"/>
              </a:rPr>
              <a:t>INTEGRATION</a:t>
            </a:r>
            <a:endParaRPr b="0" i="0" sz="1400" u="none" cap="none" strike="noStrike">
              <a:solidFill>
                <a:srgbClr val="000000"/>
              </a:solidFill>
              <a:latin typeface="Arial"/>
              <a:ea typeface="Arial"/>
              <a:cs typeface="Arial"/>
              <a:sym typeface="Arial"/>
            </a:endParaRPr>
          </a:p>
        </p:txBody>
      </p:sp>
      <p:sp>
        <p:nvSpPr>
          <p:cNvPr id="550" name="Google Shape;550;p29"/>
          <p:cNvSpPr/>
          <p:nvPr/>
        </p:nvSpPr>
        <p:spPr>
          <a:xfrm>
            <a:off x="3340100" y="1585668"/>
            <a:ext cx="2552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9"/>
          <p:cNvSpPr/>
          <p:nvPr/>
        </p:nvSpPr>
        <p:spPr>
          <a:xfrm>
            <a:off x="3340100" y="1661868"/>
            <a:ext cx="2552700" cy="10160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PLM (TBD) vs DX Graph — who is the product master?</a:t>
            </a:r>
            <a:endParaRPr b="0" i="0" sz="1400" u="none" cap="none" strike="noStrike">
              <a:solidFill>
                <a:srgbClr val="000000"/>
              </a:solidFill>
              <a:latin typeface="Arial"/>
              <a:ea typeface="Arial"/>
              <a:cs typeface="Arial"/>
              <a:sym typeface="Arial"/>
            </a:endParaRPr>
          </a:p>
          <a:p>
            <a:pPr indent="0" lvl="0" marL="0" marR="0" rtl="0" algn="l">
              <a:lnSpc>
                <a:spcPct val="152941"/>
              </a:lnSpc>
              <a:spcBef>
                <a:spcPts val="30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How does a validated config reach Manhattan Active Omni today?</a:t>
            </a:r>
            <a:endParaRPr b="0" i="0" sz="1400" u="none" cap="none" strike="noStrike">
              <a:solidFill>
                <a:srgbClr val="000000"/>
              </a:solidFill>
              <a:latin typeface="Arial"/>
              <a:ea typeface="Arial"/>
              <a:cs typeface="Arial"/>
              <a:sym typeface="Arial"/>
            </a:endParaRPr>
          </a:p>
        </p:txBody>
      </p:sp>
      <p:sp>
        <p:nvSpPr>
          <p:cNvPr id="552" name="Google Shape;552;p29"/>
          <p:cNvSpPr/>
          <p:nvPr/>
        </p:nvSpPr>
        <p:spPr>
          <a:xfrm>
            <a:off x="6070600" y="1026868"/>
            <a:ext cx="2806700" cy="1727200"/>
          </a:xfrm>
          <a:prstGeom prst="roundRect">
            <a:avLst>
              <a:gd fmla="val 12000" name="adj"/>
            </a:avLst>
          </a:prstGeom>
          <a:solidFill>
            <a:srgbClr val="FFFFFF"/>
          </a:solidFill>
          <a:ln>
            <a:noFill/>
          </a:ln>
          <a:effectLst>
            <a:outerShdw blurRad="38100" rotWithShape="0" algn="ctr"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29"/>
          <p:cNvSpPr/>
          <p:nvPr/>
        </p:nvSpPr>
        <p:spPr>
          <a:xfrm>
            <a:off x="6070600" y="1026868"/>
            <a:ext cx="63500" cy="1727200"/>
          </a:xfrm>
          <a:prstGeom prst="rect">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9"/>
          <p:cNvSpPr/>
          <p:nvPr/>
        </p:nvSpPr>
        <p:spPr>
          <a:xfrm>
            <a:off x="6248400" y="1191968"/>
            <a:ext cx="660400" cy="304800"/>
          </a:xfrm>
          <a:prstGeom prst="roundRect">
            <a:avLst>
              <a:gd fmla="val 16000" name="adj"/>
            </a:avLst>
          </a:prstGeom>
          <a:solidFill>
            <a:srgbClr val="8AC5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29"/>
          <p:cNvSpPr/>
          <p:nvPr/>
        </p:nvSpPr>
        <p:spPr>
          <a:xfrm>
            <a:off x="6248400" y="1191968"/>
            <a:ext cx="6604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9</a:t>
            </a:r>
            <a:r>
              <a:rPr b="0" i="0" lang="en-US" sz="900" u="none" cap="none" strike="noStrike">
                <a:solidFill>
                  <a:srgbClr val="FFFFFF"/>
                </a:solidFill>
                <a:latin typeface="Calibri"/>
                <a:ea typeface="Calibri"/>
                <a:cs typeface="Calibri"/>
                <a:sym typeface="Calibri"/>
              </a:rPr>
              <a:t> </a:t>
            </a:r>
            <a:r>
              <a:rPr b="1" i="0" lang="en-US" sz="900" u="none" cap="none" strike="noStrike">
                <a:solidFill>
                  <a:srgbClr val="FFFFFF"/>
                </a:solidFill>
                <a:latin typeface="Calibri"/>
                <a:ea typeface="Calibri"/>
                <a:cs typeface="Calibri"/>
                <a:sym typeface="Calibri"/>
              </a:rPr>
              <a:t>Qs</a:t>
            </a:r>
            <a:endParaRPr b="0" i="0" sz="1400" u="none" cap="none" strike="noStrike">
              <a:solidFill>
                <a:srgbClr val="000000"/>
              </a:solidFill>
              <a:latin typeface="Arial"/>
              <a:ea typeface="Arial"/>
              <a:cs typeface="Arial"/>
              <a:sym typeface="Arial"/>
            </a:endParaRPr>
          </a:p>
        </p:txBody>
      </p:sp>
      <p:sp>
        <p:nvSpPr>
          <p:cNvPr id="556" name="Google Shape;556;p29"/>
          <p:cNvSpPr/>
          <p:nvPr/>
        </p:nvSpPr>
        <p:spPr>
          <a:xfrm>
            <a:off x="6985000" y="1191968"/>
            <a:ext cx="17907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AC542"/>
                </a:solidFill>
                <a:latin typeface="Calibri"/>
                <a:ea typeface="Calibri"/>
                <a:cs typeface="Calibri"/>
                <a:sym typeface="Calibri"/>
              </a:rPr>
              <a:t>CONFIG &amp; RULES</a:t>
            </a:r>
            <a:endParaRPr b="0" i="0" sz="1400" u="none" cap="none" strike="noStrike">
              <a:solidFill>
                <a:srgbClr val="000000"/>
              </a:solidFill>
              <a:latin typeface="Arial"/>
              <a:ea typeface="Arial"/>
              <a:cs typeface="Arial"/>
              <a:sym typeface="Arial"/>
            </a:endParaRPr>
          </a:p>
        </p:txBody>
      </p:sp>
      <p:sp>
        <p:nvSpPr>
          <p:cNvPr id="557" name="Google Shape;557;p29"/>
          <p:cNvSpPr/>
          <p:nvPr/>
        </p:nvSpPr>
        <p:spPr>
          <a:xfrm>
            <a:off x="6248400" y="1585668"/>
            <a:ext cx="25527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9"/>
          <p:cNvSpPr/>
          <p:nvPr/>
        </p:nvSpPr>
        <p:spPr>
          <a:xfrm>
            <a:off x="6248400" y="1661868"/>
            <a:ext cx="2552700" cy="10160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Quickship — product type or live inventory?</a:t>
            </a:r>
            <a:endParaRPr b="0" i="0" sz="1400" u="none" cap="none" strike="noStrike">
              <a:solidFill>
                <a:srgbClr val="000000"/>
              </a:solidFill>
              <a:latin typeface="Arial"/>
              <a:ea typeface="Arial"/>
              <a:cs typeface="Arial"/>
              <a:sym typeface="Arial"/>
            </a:endParaRPr>
          </a:p>
          <a:p>
            <a:pPr indent="0" lvl="0" marL="0" marR="0" rtl="0" algn="l">
              <a:lnSpc>
                <a:spcPct val="152941"/>
              </a:lnSpc>
              <a:spcBef>
                <a:spcPts val="30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Adjacency rules — please validate our proposed table.</a:t>
            </a:r>
            <a:endParaRPr b="0" i="0" sz="1400" u="none" cap="none" strike="noStrike">
              <a:solidFill>
                <a:srgbClr val="000000"/>
              </a:solidFill>
              <a:latin typeface="Arial"/>
              <a:ea typeface="Arial"/>
              <a:cs typeface="Arial"/>
              <a:sym typeface="Arial"/>
            </a:endParaRPr>
          </a:p>
        </p:txBody>
      </p:sp>
      <p:sp>
        <p:nvSpPr>
          <p:cNvPr id="559" name="Google Shape;559;p29"/>
          <p:cNvSpPr/>
          <p:nvPr/>
        </p:nvSpPr>
        <p:spPr>
          <a:xfrm>
            <a:off x="254000" y="2855668"/>
            <a:ext cx="4267200" cy="1727200"/>
          </a:xfrm>
          <a:prstGeom prst="roundRect">
            <a:avLst>
              <a:gd fmla="val 12000" name="adj"/>
            </a:avLst>
          </a:prstGeom>
          <a:solidFill>
            <a:srgbClr val="FFFFFF"/>
          </a:solidFill>
          <a:ln>
            <a:noFill/>
          </a:ln>
          <a:effectLst>
            <a:outerShdw blurRad="38100" rotWithShape="0" algn="ctr"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9"/>
          <p:cNvSpPr/>
          <p:nvPr/>
        </p:nvSpPr>
        <p:spPr>
          <a:xfrm>
            <a:off x="254000" y="2855668"/>
            <a:ext cx="63500" cy="1727200"/>
          </a:xfrm>
          <a:prstGeom prst="rect">
            <a:avLst/>
          </a:prstGeom>
          <a:solidFill>
            <a:srgbClr val="458CC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9"/>
          <p:cNvSpPr/>
          <p:nvPr/>
        </p:nvSpPr>
        <p:spPr>
          <a:xfrm>
            <a:off x="431800" y="3020768"/>
            <a:ext cx="660400" cy="304800"/>
          </a:xfrm>
          <a:prstGeom prst="roundRect">
            <a:avLst>
              <a:gd fmla="val 16000" name="adj"/>
            </a:avLst>
          </a:prstGeom>
          <a:solidFill>
            <a:srgbClr val="458CC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9"/>
          <p:cNvSpPr/>
          <p:nvPr/>
        </p:nvSpPr>
        <p:spPr>
          <a:xfrm>
            <a:off x="431800" y="3020768"/>
            <a:ext cx="6604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3</a:t>
            </a:r>
            <a:r>
              <a:rPr b="0" i="0" lang="en-US" sz="900" u="none" cap="none" strike="noStrike">
                <a:solidFill>
                  <a:srgbClr val="FFFFFF"/>
                </a:solidFill>
                <a:latin typeface="Calibri"/>
                <a:ea typeface="Calibri"/>
                <a:cs typeface="Calibri"/>
                <a:sym typeface="Calibri"/>
              </a:rPr>
              <a:t> </a:t>
            </a:r>
            <a:r>
              <a:rPr b="1" i="0" lang="en-US" sz="900" u="none" cap="none" strike="noStrike">
                <a:solidFill>
                  <a:srgbClr val="FFFFFF"/>
                </a:solidFill>
                <a:latin typeface="Calibri"/>
                <a:ea typeface="Calibri"/>
                <a:cs typeface="Calibri"/>
                <a:sym typeface="Calibri"/>
              </a:rPr>
              <a:t>Qs</a:t>
            </a:r>
            <a:endParaRPr b="0" i="0" sz="1400" u="none" cap="none" strike="noStrike">
              <a:solidFill>
                <a:srgbClr val="000000"/>
              </a:solidFill>
              <a:latin typeface="Arial"/>
              <a:ea typeface="Arial"/>
              <a:cs typeface="Arial"/>
              <a:sym typeface="Arial"/>
            </a:endParaRPr>
          </a:p>
        </p:txBody>
      </p:sp>
      <p:sp>
        <p:nvSpPr>
          <p:cNvPr id="563" name="Google Shape;563;p29"/>
          <p:cNvSpPr/>
          <p:nvPr/>
        </p:nvSpPr>
        <p:spPr>
          <a:xfrm>
            <a:off x="1168400" y="3020768"/>
            <a:ext cx="3251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458CCB"/>
                </a:solidFill>
                <a:latin typeface="Calibri"/>
                <a:ea typeface="Calibri"/>
                <a:cs typeface="Calibri"/>
                <a:sym typeface="Calibri"/>
              </a:rPr>
              <a:t>USER STORIES</a:t>
            </a:r>
            <a:endParaRPr b="0" i="0" sz="1400" u="none" cap="none" strike="noStrike">
              <a:solidFill>
                <a:srgbClr val="000000"/>
              </a:solidFill>
              <a:latin typeface="Arial"/>
              <a:ea typeface="Arial"/>
              <a:cs typeface="Arial"/>
              <a:sym typeface="Arial"/>
            </a:endParaRPr>
          </a:p>
        </p:txBody>
      </p:sp>
      <p:sp>
        <p:nvSpPr>
          <p:cNvPr id="564" name="Google Shape;564;p29"/>
          <p:cNvSpPr/>
          <p:nvPr/>
        </p:nvSpPr>
        <p:spPr>
          <a:xfrm>
            <a:off x="431800" y="3414468"/>
            <a:ext cx="40132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9"/>
          <p:cNvSpPr/>
          <p:nvPr/>
        </p:nvSpPr>
        <p:spPr>
          <a:xfrm>
            <a:off x="431800" y="3490668"/>
            <a:ext cx="4013200" cy="10160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What does the in-store POS configuration workflow look like today?</a:t>
            </a:r>
            <a:endParaRPr b="0" i="0" sz="1400" u="none" cap="none" strike="noStrike">
              <a:solidFill>
                <a:srgbClr val="000000"/>
              </a:solidFill>
              <a:latin typeface="Arial"/>
              <a:ea typeface="Arial"/>
              <a:cs typeface="Arial"/>
              <a:sym typeface="Arial"/>
            </a:endParaRPr>
          </a:p>
          <a:p>
            <a:pPr indent="0" lvl="0" marL="0" marR="0" rtl="0" algn="l">
              <a:lnSpc>
                <a:spcPct val="152941"/>
              </a:lnSpc>
              <a:spcBef>
                <a:spcPts val="30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Are there planned changes to the lovesac.com configurator UX?</a:t>
            </a:r>
            <a:endParaRPr b="0" i="0" sz="1400" u="none" cap="none" strike="noStrike">
              <a:solidFill>
                <a:srgbClr val="000000"/>
              </a:solidFill>
              <a:latin typeface="Arial"/>
              <a:ea typeface="Arial"/>
              <a:cs typeface="Arial"/>
              <a:sym typeface="Arial"/>
            </a:endParaRPr>
          </a:p>
        </p:txBody>
      </p:sp>
      <p:sp>
        <p:nvSpPr>
          <p:cNvPr id="566" name="Google Shape;566;p29"/>
          <p:cNvSpPr/>
          <p:nvPr/>
        </p:nvSpPr>
        <p:spPr>
          <a:xfrm>
            <a:off x="4622800" y="2855668"/>
            <a:ext cx="4267200" cy="1727200"/>
          </a:xfrm>
          <a:prstGeom prst="roundRect">
            <a:avLst>
              <a:gd fmla="val 12000" name="adj"/>
            </a:avLst>
          </a:prstGeom>
          <a:solidFill>
            <a:srgbClr val="FFFFFF"/>
          </a:solidFill>
          <a:ln>
            <a:noFill/>
          </a:ln>
          <a:effectLst>
            <a:outerShdw blurRad="38100" rotWithShape="0" algn="ctr" dir="54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29"/>
          <p:cNvSpPr/>
          <p:nvPr/>
        </p:nvSpPr>
        <p:spPr>
          <a:xfrm>
            <a:off x="4622800" y="2855668"/>
            <a:ext cx="63500" cy="1727200"/>
          </a:xfrm>
          <a:prstGeom prst="rect">
            <a:avLst/>
          </a:prstGeom>
          <a:solidFill>
            <a:srgbClr val="F898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9"/>
          <p:cNvSpPr/>
          <p:nvPr/>
        </p:nvSpPr>
        <p:spPr>
          <a:xfrm>
            <a:off x="4800600" y="3020768"/>
            <a:ext cx="660400" cy="304800"/>
          </a:xfrm>
          <a:prstGeom prst="roundRect">
            <a:avLst>
              <a:gd fmla="val 16000" name="adj"/>
            </a:avLst>
          </a:prstGeom>
          <a:solidFill>
            <a:srgbClr val="F8981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9"/>
          <p:cNvSpPr/>
          <p:nvPr/>
        </p:nvSpPr>
        <p:spPr>
          <a:xfrm>
            <a:off x="4800600" y="3020768"/>
            <a:ext cx="660400" cy="304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Calibri"/>
                <a:ea typeface="Calibri"/>
                <a:cs typeface="Calibri"/>
                <a:sym typeface="Calibri"/>
              </a:rPr>
              <a:t>2</a:t>
            </a:r>
            <a:r>
              <a:rPr b="0" i="0" lang="en-US" sz="900" u="none" cap="none" strike="noStrike">
                <a:solidFill>
                  <a:srgbClr val="FFFFFF"/>
                </a:solidFill>
                <a:latin typeface="Calibri"/>
                <a:ea typeface="Calibri"/>
                <a:cs typeface="Calibri"/>
                <a:sym typeface="Calibri"/>
              </a:rPr>
              <a:t> </a:t>
            </a:r>
            <a:r>
              <a:rPr b="1" i="0" lang="en-US" sz="900" u="none" cap="none" strike="noStrike">
                <a:solidFill>
                  <a:srgbClr val="FFFFFF"/>
                </a:solidFill>
                <a:latin typeface="Calibri"/>
                <a:ea typeface="Calibri"/>
                <a:cs typeface="Calibri"/>
                <a:sym typeface="Calibri"/>
              </a:rPr>
              <a:t>Qs</a:t>
            </a:r>
            <a:endParaRPr b="0" i="0" sz="1400" u="none" cap="none" strike="noStrike">
              <a:solidFill>
                <a:srgbClr val="000000"/>
              </a:solidFill>
              <a:latin typeface="Arial"/>
              <a:ea typeface="Arial"/>
              <a:cs typeface="Arial"/>
              <a:sym typeface="Arial"/>
            </a:endParaRPr>
          </a:p>
        </p:txBody>
      </p:sp>
      <p:sp>
        <p:nvSpPr>
          <p:cNvPr id="570" name="Google Shape;570;p29"/>
          <p:cNvSpPr/>
          <p:nvPr/>
        </p:nvSpPr>
        <p:spPr>
          <a:xfrm>
            <a:off x="5537200" y="3020768"/>
            <a:ext cx="3251200" cy="30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8981D"/>
                </a:solidFill>
                <a:latin typeface="Calibri"/>
                <a:ea typeface="Calibri"/>
                <a:cs typeface="Calibri"/>
                <a:sym typeface="Calibri"/>
              </a:rPr>
              <a:t>PROJECT &amp; GOVERNANCE</a:t>
            </a:r>
            <a:endParaRPr b="0" i="0" sz="1400" u="none" cap="none" strike="noStrike">
              <a:solidFill>
                <a:srgbClr val="000000"/>
              </a:solidFill>
              <a:latin typeface="Arial"/>
              <a:ea typeface="Arial"/>
              <a:cs typeface="Arial"/>
              <a:sym typeface="Arial"/>
            </a:endParaRPr>
          </a:p>
        </p:txBody>
      </p:sp>
      <p:sp>
        <p:nvSpPr>
          <p:cNvPr id="571" name="Google Shape;571;p29"/>
          <p:cNvSpPr/>
          <p:nvPr/>
        </p:nvSpPr>
        <p:spPr>
          <a:xfrm>
            <a:off x="4800600" y="3414468"/>
            <a:ext cx="4013200" cy="12700"/>
          </a:xfrm>
          <a:prstGeom prst="rect">
            <a:avLst/>
          </a:prstGeom>
          <a:solidFill>
            <a:srgbClr val="E5E7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29"/>
          <p:cNvSpPr/>
          <p:nvPr/>
        </p:nvSpPr>
        <p:spPr>
          <a:xfrm>
            <a:off x="4800600" y="3490668"/>
            <a:ext cx="4013200" cy="10160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Who is the named Lovesac PM?</a:t>
            </a:r>
            <a:endParaRPr b="0" i="0" sz="1400" u="none" cap="none" strike="noStrike">
              <a:solidFill>
                <a:srgbClr val="000000"/>
              </a:solidFill>
              <a:latin typeface="Arial"/>
              <a:ea typeface="Arial"/>
              <a:cs typeface="Arial"/>
              <a:sym typeface="Arial"/>
            </a:endParaRPr>
          </a:p>
          <a:p>
            <a:pPr indent="0" lvl="0" marL="0" marR="0" rtl="0" algn="l">
              <a:lnSpc>
                <a:spcPct val="152941"/>
              </a:lnSpc>
              <a:spcBef>
                <a:spcPts val="300"/>
              </a:spcBef>
              <a:spcAft>
                <a:spcPts val="0"/>
              </a:spcAft>
              <a:buClr>
                <a:srgbClr val="000000"/>
              </a:buClr>
              <a:buSzPts val="850"/>
              <a:buFont typeface="Arial"/>
              <a:buNone/>
            </a:pPr>
            <a:r>
              <a:rPr b="0" i="1" lang="en-US" sz="850" u="none" cap="none" strike="noStrike">
                <a:solidFill>
                  <a:srgbClr val="6B7280"/>
                </a:solidFill>
                <a:latin typeface="Calibri"/>
                <a:ea typeface="Calibri"/>
                <a:cs typeface="Calibri"/>
                <a:sym typeface="Calibri"/>
              </a:rPr>
              <a:t>· What are the POS volume and latency expectations?</a:t>
            </a:r>
            <a:endParaRPr b="0" i="0" sz="1400" u="none" cap="none" strike="noStrike">
              <a:solidFill>
                <a:srgbClr val="000000"/>
              </a:solidFill>
              <a:latin typeface="Arial"/>
              <a:ea typeface="Arial"/>
              <a:cs typeface="Arial"/>
              <a:sym typeface="Arial"/>
            </a:endParaRPr>
          </a:p>
        </p:txBody>
      </p:sp>
      <p:sp>
        <p:nvSpPr>
          <p:cNvPr id="573" name="Google Shape;573;p29"/>
          <p:cNvSpPr/>
          <p:nvPr/>
        </p:nvSpPr>
        <p:spPr>
          <a:xfrm>
            <a:off x="254000" y="4659068"/>
            <a:ext cx="8636000" cy="1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b="0" i="0" lang="en-US" sz="850" u="none" cap="none" strike="noStrike">
                <a:solidFill>
                  <a:srgbClr val="9CA3AF"/>
                </a:solidFill>
                <a:latin typeface="Calibri"/>
                <a:ea typeface="Calibri"/>
                <a:cs typeface="Calibri"/>
                <a:sym typeface="Calibri"/>
              </a:rPr>
              <a:t>Full document: </a:t>
            </a:r>
            <a:r>
              <a:rPr b="1" i="0" lang="en-US" sz="850" u="none" cap="none" strike="noStrike">
                <a:solidFill>
                  <a:srgbClr val="6B7280"/>
                </a:solidFill>
                <a:latin typeface="Calibri"/>
                <a:ea typeface="Calibri"/>
                <a:cs typeface="Calibri"/>
                <a:sym typeface="Calibri"/>
              </a:rPr>
              <a:t>Questions_for_Lovesac_EXT_Conscia.docx</a:t>
            </a:r>
            <a:r>
              <a:rPr b="0" i="0" lang="en-US" sz="850" u="none" cap="none" strike="noStrike">
                <a:solidFill>
                  <a:srgbClr val="9CA3AF"/>
                </a:solidFill>
                <a:latin typeface="Calibri"/>
                <a:ea typeface="Calibri"/>
                <a:cs typeface="Calibri"/>
                <a:sym typeface="Calibri"/>
              </a:rPr>
              <a:t> — sent April 2</a:t>
            </a:r>
            <a:endParaRPr b="0" i="0" sz="1400" u="none" cap="none" strike="noStrike">
              <a:solidFill>
                <a:srgbClr val="000000"/>
              </a:solidFill>
              <a:latin typeface="Arial"/>
              <a:ea typeface="Arial"/>
              <a:cs typeface="Arial"/>
              <a:sym typeface="Arial"/>
            </a:endParaRPr>
          </a:p>
        </p:txBody>
      </p:sp>
      <p:sp>
        <p:nvSpPr>
          <p:cNvPr id="574" name="Google Shape;574;p29"/>
          <p:cNvSpPr/>
          <p:nvPr/>
        </p:nvSpPr>
        <p:spPr>
          <a:xfrm>
            <a:off x="381000" y="25400"/>
            <a:ext cx="3200000" cy="152400"/>
          </a:xfrm>
          <a:prstGeom prst="roundRect">
            <a:avLst>
              <a:gd fmla="val 50000" name="adj"/>
            </a:avLst>
          </a:prstGeom>
          <a:solidFill>
            <a:srgbClr val="8BC53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09 · OPEN QUESTIONS &amp; NEXT STEPS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0"/>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30"/>
          <p:cNvSpPr/>
          <p:nvPr/>
        </p:nvSpPr>
        <p:spPr>
          <a:xfrm>
            <a:off x="381000" y="203200"/>
            <a:ext cx="6858000" cy="381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Next Steps</a:t>
            </a:r>
            <a:endParaRPr b="0" i="0" sz="1400" u="none" cap="none" strike="noStrike">
              <a:solidFill>
                <a:srgbClr val="000000"/>
              </a:solidFill>
              <a:latin typeface="Arial"/>
              <a:ea typeface="Arial"/>
              <a:cs typeface="Arial"/>
              <a:sym typeface="Arial"/>
            </a:endParaRPr>
          </a:p>
        </p:txBody>
      </p:sp>
      <p:sp>
        <p:nvSpPr>
          <p:cNvPr id="582" name="Google Shape;582;p30"/>
          <p:cNvSpPr/>
          <p:nvPr/>
        </p:nvSpPr>
        <p:spPr>
          <a:xfrm>
            <a:off x="381000" y="749300"/>
            <a:ext cx="7772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850" u="none" cap="none" strike="noStrike">
                <a:solidFill>
                  <a:srgbClr val="6B7280"/>
                </a:solidFill>
                <a:latin typeface="Arial"/>
                <a:ea typeface="Arial"/>
                <a:cs typeface="Arial"/>
                <a:sym typeface="Arial"/>
              </a:rPr>
              <a:t>Actions coming out of today's session — owners and target dates for both teams.</a:t>
            </a:r>
            <a:endParaRPr b="0" i="0" sz="850" u="none" cap="none" strike="noStrike">
              <a:solidFill>
                <a:srgbClr val="000000"/>
              </a:solidFill>
              <a:latin typeface="Arial"/>
              <a:ea typeface="Arial"/>
              <a:cs typeface="Arial"/>
              <a:sym typeface="Arial"/>
            </a:endParaRPr>
          </a:p>
        </p:txBody>
      </p:sp>
      <p:cxnSp>
        <p:nvCxnSpPr>
          <p:cNvPr id="583" name="Google Shape;583;p30"/>
          <p:cNvCxnSpPr/>
          <p:nvPr/>
        </p:nvCxnSpPr>
        <p:spPr>
          <a:xfrm>
            <a:off x="254000" y="1054100"/>
            <a:ext cx="8636000" cy="0"/>
          </a:xfrm>
          <a:prstGeom prst="straightConnector1">
            <a:avLst/>
          </a:prstGeom>
          <a:noFill/>
          <a:ln cap="flat" cmpd="sng" w="9525">
            <a:solidFill>
              <a:srgbClr val="E5E7EB"/>
            </a:solidFill>
            <a:prstDash val="solid"/>
            <a:round/>
            <a:headEnd len="sm" w="sm" type="none"/>
            <a:tailEnd len="sm" w="sm" type="none"/>
          </a:ln>
        </p:spPr>
      </p:cxnSp>
      <p:sp>
        <p:nvSpPr>
          <p:cNvPr id="584" name="Google Shape;584;p30"/>
          <p:cNvSpPr/>
          <p:nvPr/>
        </p:nvSpPr>
        <p:spPr>
          <a:xfrm>
            <a:off x="254000" y="1231900"/>
            <a:ext cx="8636000" cy="4191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0"/>
          <p:cNvSpPr/>
          <p:nvPr/>
        </p:nvSpPr>
        <p:spPr>
          <a:xfrm>
            <a:off x="406400" y="12319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9</a:t>
            </a:r>
            <a:endParaRPr b="0" i="0" sz="1400" u="none" cap="none" strike="noStrike">
              <a:solidFill>
                <a:srgbClr val="000000"/>
              </a:solidFill>
              <a:latin typeface="Arial"/>
              <a:ea typeface="Arial"/>
              <a:cs typeface="Arial"/>
              <a:sym typeface="Arial"/>
            </a:endParaRPr>
          </a:p>
        </p:txBody>
      </p:sp>
      <p:sp>
        <p:nvSpPr>
          <p:cNvPr id="586" name="Google Shape;586;p30"/>
          <p:cNvSpPr/>
          <p:nvPr/>
        </p:nvSpPr>
        <p:spPr>
          <a:xfrm>
            <a:off x="1625600" y="1320800"/>
            <a:ext cx="914400" cy="228600"/>
          </a:xfrm>
          <a:prstGeom prst="roundRect">
            <a:avLst>
              <a:gd fmla="val 50000" name="adj"/>
            </a:avLst>
          </a:prstGeom>
          <a:solidFill>
            <a:srgbClr val="8AC54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Both</a:t>
            </a:r>
            <a:endParaRPr b="0" i="0" sz="1400" u="none" cap="none" strike="noStrike">
              <a:solidFill>
                <a:srgbClr val="000000"/>
              </a:solidFill>
              <a:latin typeface="Arial"/>
              <a:ea typeface="Arial"/>
              <a:cs typeface="Arial"/>
              <a:sym typeface="Arial"/>
            </a:endParaRPr>
          </a:p>
        </p:txBody>
      </p:sp>
      <p:sp>
        <p:nvSpPr>
          <p:cNvPr id="587" name="Google Shape;587;p30"/>
          <p:cNvSpPr/>
          <p:nvPr/>
        </p:nvSpPr>
        <p:spPr>
          <a:xfrm>
            <a:off x="2641600" y="12319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Distribute kickoff notes, decisions log, and open-question owners</a:t>
            </a:r>
            <a:endParaRPr b="0" i="0" sz="1400" u="none" cap="none" strike="noStrike">
              <a:solidFill>
                <a:srgbClr val="000000"/>
              </a:solidFill>
              <a:latin typeface="Arial"/>
              <a:ea typeface="Arial"/>
              <a:cs typeface="Arial"/>
              <a:sym typeface="Arial"/>
            </a:endParaRPr>
          </a:p>
        </p:txBody>
      </p:sp>
      <p:sp>
        <p:nvSpPr>
          <p:cNvPr id="588" name="Google Shape;588;p30"/>
          <p:cNvSpPr/>
          <p:nvPr/>
        </p:nvSpPr>
        <p:spPr>
          <a:xfrm>
            <a:off x="254000" y="1651000"/>
            <a:ext cx="8636000" cy="419100"/>
          </a:xfrm>
          <a:prstGeom prst="roundRect">
            <a:avLst>
              <a:gd fmla="val 6000" name="adj"/>
            </a:avLst>
          </a:prstGeom>
          <a:solidFill>
            <a:srgbClr val="F9FAFB"/>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30"/>
          <p:cNvSpPr/>
          <p:nvPr/>
        </p:nvSpPr>
        <p:spPr>
          <a:xfrm>
            <a:off x="406400" y="16510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11</a:t>
            </a:r>
            <a:endParaRPr b="0" i="0" sz="1400" u="none" cap="none" strike="noStrike">
              <a:solidFill>
                <a:srgbClr val="000000"/>
              </a:solidFill>
              <a:latin typeface="Arial"/>
              <a:ea typeface="Arial"/>
              <a:cs typeface="Arial"/>
              <a:sym typeface="Arial"/>
            </a:endParaRPr>
          </a:p>
        </p:txBody>
      </p:sp>
      <p:sp>
        <p:nvSpPr>
          <p:cNvPr id="590" name="Google Shape;590;p30"/>
          <p:cNvSpPr/>
          <p:nvPr/>
        </p:nvSpPr>
        <p:spPr>
          <a:xfrm>
            <a:off x="1625600" y="1739900"/>
            <a:ext cx="914400" cy="228600"/>
          </a:xfrm>
          <a:prstGeom prst="roundRect">
            <a:avLst>
              <a:gd fmla="val 50000" name="adj"/>
            </a:avLst>
          </a:prstGeom>
          <a:solidFill>
            <a:srgbClr val="EB1A6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Lovesac</a:t>
            </a:r>
            <a:endParaRPr b="0" i="0" sz="1400" u="none" cap="none" strike="noStrike">
              <a:solidFill>
                <a:srgbClr val="000000"/>
              </a:solidFill>
              <a:latin typeface="Arial"/>
              <a:ea typeface="Arial"/>
              <a:cs typeface="Arial"/>
              <a:sym typeface="Arial"/>
            </a:endParaRPr>
          </a:p>
        </p:txBody>
      </p:sp>
      <p:sp>
        <p:nvSpPr>
          <p:cNvPr id="591" name="Google Shape;591;p30"/>
          <p:cNvSpPr/>
          <p:nvPr/>
        </p:nvSpPr>
        <p:spPr>
          <a:xfrm>
            <a:off x="2641600" y="16510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Confirm the 3 source backends — name, access method (API / file via Celigo / direct), refresh cadence</a:t>
            </a:r>
            <a:endParaRPr b="0" i="0" sz="1400" u="none" cap="none" strike="noStrike">
              <a:solidFill>
                <a:srgbClr val="000000"/>
              </a:solidFill>
              <a:latin typeface="Arial"/>
              <a:ea typeface="Arial"/>
              <a:cs typeface="Arial"/>
              <a:sym typeface="Arial"/>
            </a:endParaRPr>
          </a:p>
        </p:txBody>
      </p:sp>
      <p:sp>
        <p:nvSpPr>
          <p:cNvPr id="592" name="Google Shape;592;p30"/>
          <p:cNvSpPr/>
          <p:nvPr/>
        </p:nvSpPr>
        <p:spPr>
          <a:xfrm>
            <a:off x="254000" y="2070100"/>
            <a:ext cx="8636000" cy="4191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30"/>
          <p:cNvSpPr/>
          <p:nvPr/>
        </p:nvSpPr>
        <p:spPr>
          <a:xfrm>
            <a:off x="406400" y="20701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11</a:t>
            </a:r>
            <a:endParaRPr b="0" i="0" sz="1400" u="none" cap="none" strike="noStrike">
              <a:solidFill>
                <a:srgbClr val="000000"/>
              </a:solidFill>
              <a:latin typeface="Arial"/>
              <a:ea typeface="Arial"/>
              <a:cs typeface="Arial"/>
              <a:sym typeface="Arial"/>
            </a:endParaRPr>
          </a:p>
        </p:txBody>
      </p:sp>
      <p:sp>
        <p:nvSpPr>
          <p:cNvPr id="594" name="Google Shape;594;p30"/>
          <p:cNvSpPr/>
          <p:nvPr/>
        </p:nvSpPr>
        <p:spPr>
          <a:xfrm>
            <a:off x="1625600" y="2159000"/>
            <a:ext cx="914400" cy="228600"/>
          </a:xfrm>
          <a:prstGeom prst="roundRect">
            <a:avLst>
              <a:gd fmla="val 50000" name="adj"/>
            </a:avLst>
          </a:prstGeom>
          <a:solidFill>
            <a:srgbClr val="EB1A6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Lovesac</a:t>
            </a:r>
            <a:endParaRPr b="0" i="0" sz="1400" u="none" cap="none" strike="noStrike">
              <a:solidFill>
                <a:srgbClr val="000000"/>
              </a:solidFill>
              <a:latin typeface="Arial"/>
              <a:ea typeface="Arial"/>
              <a:cs typeface="Arial"/>
              <a:sym typeface="Arial"/>
            </a:endParaRPr>
          </a:p>
        </p:txBody>
      </p:sp>
      <p:sp>
        <p:nvSpPr>
          <p:cNvPr id="595" name="Google Shape;595;p30"/>
          <p:cNvSpPr/>
          <p:nvPr/>
        </p:nvSpPr>
        <p:spPr>
          <a:xfrm>
            <a:off x="2641600" y="20701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Confirm which of the 3 hierarchy proposals from the March 12 review will be adopted</a:t>
            </a:r>
            <a:endParaRPr b="0" i="0" sz="1400" u="none" cap="none" strike="noStrike">
              <a:solidFill>
                <a:srgbClr val="000000"/>
              </a:solidFill>
              <a:latin typeface="Arial"/>
              <a:ea typeface="Arial"/>
              <a:cs typeface="Arial"/>
              <a:sym typeface="Arial"/>
            </a:endParaRPr>
          </a:p>
        </p:txBody>
      </p:sp>
      <p:sp>
        <p:nvSpPr>
          <p:cNvPr id="596" name="Google Shape;596;p30"/>
          <p:cNvSpPr/>
          <p:nvPr/>
        </p:nvSpPr>
        <p:spPr>
          <a:xfrm>
            <a:off x="254000" y="2489200"/>
            <a:ext cx="8636000" cy="419100"/>
          </a:xfrm>
          <a:prstGeom prst="roundRect">
            <a:avLst>
              <a:gd fmla="val 6000" name="adj"/>
            </a:avLst>
          </a:prstGeom>
          <a:solidFill>
            <a:srgbClr val="F9FAFB"/>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30"/>
          <p:cNvSpPr/>
          <p:nvPr/>
        </p:nvSpPr>
        <p:spPr>
          <a:xfrm>
            <a:off x="406400" y="24892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14</a:t>
            </a:r>
            <a:endParaRPr b="0" i="0" sz="1400" u="none" cap="none" strike="noStrike">
              <a:solidFill>
                <a:srgbClr val="000000"/>
              </a:solidFill>
              <a:latin typeface="Arial"/>
              <a:ea typeface="Arial"/>
              <a:cs typeface="Arial"/>
              <a:sym typeface="Arial"/>
            </a:endParaRPr>
          </a:p>
        </p:txBody>
      </p:sp>
      <p:sp>
        <p:nvSpPr>
          <p:cNvPr id="598" name="Google Shape;598;p30"/>
          <p:cNvSpPr/>
          <p:nvPr/>
        </p:nvSpPr>
        <p:spPr>
          <a:xfrm>
            <a:off x="1625600" y="2578100"/>
            <a:ext cx="914400" cy="228600"/>
          </a:xfrm>
          <a:prstGeom prst="roundRect">
            <a:avLst>
              <a:gd fmla="val 50000" name="adj"/>
            </a:avLst>
          </a:prstGeom>
          <a:solidFill>
            <a:srgbClr val="EB1A6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Lovesac</a:t>
            </a:r>
            <a:endParaRPr b="0" i="0" sz="1400" u="none" cap="none" strike="noStrike">
              <a:solidFill>
                <a:srgbClr val="000000"/>
              </a:solidFill>
              <a:latin typeface="Arial"/>
              <a:ea typeface="Arial"/>
              <a:cs typeface="Arial"/>
              <a:sym typeface="Arial"/>
            </a:endParaRPr>
          </a:p>
        </p:txBody>
      </p:sp>
      <p:sp>
        <p:nvSpPr>
          <p:cNvPr id="599" name="Google Shape;599;p30"/>
          <p:cNvSpPr/>
          <p:nvPr/>
        </p:nvSpPr>
        <p:spPr>
          <a:xfrm>
            <a:off x="2641600" y="24892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Validate the proposed component adjacency table (resolves Q5)</a:t>
            </a:r>
            <a:endParaRPr b="0" i="0" sz="1400" u="none" cap="none" strike="noStrike">
              <a:solidFill>
                <a:srgbClr val="000000"/>
              </a:solidFill>
              <a:latin typeface="Arial"/>
              <a:ea typeface="Arial"/>
              <a:cs typeface="Arial"/>
              <a:sym typeface="Arial"/>
            </a:endParaRPr>
          </a:p>
        </p:txBody>
      </p:sp>
      <p:sp>
        <p:nvSpPr>
          <p:cNvPr id="600" name="Google Shape;600;p30"/>
          <p:cNvSpPr/>
          <p:nvPr/>
        </p:nvSpPr>
        <p:spPr>
          <a:xfrm>
            <a:off x="254000" y="2908300"/>
            <a:ext cx="8636000" cy="419100"/>
          </a:xfrm>
          <a:prstGeom prst="roundRect">
            <a:avLst>
              <a:gd fmla="val 6000" name="adj"/>
            </a:avLst>
          </a:prstGeom>
          <a:solidFill>
            <a:srgbClr val="FFFFFF"/>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30"/>
          <p:cNvSpPr/>
          <p:nvPr/>
        </p:nvSpPr>
        <p:spPr>
          <a:xfrm>
            <a:off x="406400" y="29083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9</a:t>
            </a:r>
            <a:endParaRPr b="0" i="0" sz="1400" u="none" cap="none" strike="noStrike">
              <a:solidFill>
                <a:srgbClr val="000000"/>
              </a:solidFill>
              <a:latin typeface="Arial"/>
              <a:ea typeface="Arial"/>
              <a:cs typeface="Arial"/>
              <a:sym typeface="Arial"/>
            </a:endParaRPr>
          </a:p>
        </p:txBody>
      </p:sp>
      <p:sp>
        <p:nvSpPr>
          <p:cNvPr id="602" name="Google Shape;602;p30"/>
          <p:cNvSpPr/>
          <p:nvPr/>
        </p:nvSpPr>
        <p:spPr>
          <a:xfrm>
            <a:off x="1625600" y="2997200"/>
            <a:ext cx="914400" cy="228600"/>
          </a:xfrm>
          <a:prstGeom prst="roundRect">
            <a:avLst>
              <a:gd fmla="val 50000" name="adj"/>
            </a:avLst>
          </a:prstGeom>
          <a:solidFill>
            <a:srgbClr val="EB1A6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Lovesac</a:t>
            </a:r>
            <a:endParaRPr b="0" i="0" sz="1400" u="none" cap="none" strike="noStrike">
              <a:solidFill>
                <a:srgbClr val="000000"/>
              </a:solidFill>
              <a:latin typeface="Arial"/>
              <a:ea typeface="Arial"/>
              <a:cs typeface="Arial"/>
              <a:sym typeface="Arial"/>
            </a:endParaRPr>
          </a:p>
        </p:txBody>
      </p:sp>
      <p:sp>
        <p:nvSpPr>
          <p:cNvPr id="603" name="Google Shape;603;p30"/>
          <p:cNvSpPr/>
          <p:nvPr/>
        </p:nvSpPr>
        <p:spPr>
          <a:xfrm>
            <a:off x="2641600" y="29083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Name the Lovesac Project Manager and Data Owner</a:t>
            </a:r>
            <a:endParaRPr b="0" i="0" sz="1400" u="none" cap="none" strike="noStrike">
              <a:solidFill>
                <a:srgbClr val="000000"/>
              </a:solidFill>
              <a:latin typeface="Arial"/>
              <a:ea typeface="Arial"/>
              <a:cs typeface="Arial"/>
              <a:sym typeface="Arial"/>
            </a:endParaRPr>
          </a:p>
        </p:txBody>
      </p:sp>
      <p:sp>
        <p:nvSpPr>
          <p:cNvPr id="604" name="Google Shape;604;p30"/>
          <p:cNvSpPr/>
          <p:nvPr/>
        </p:nvSpPr>
        <p:spPr>
          <a:xfrm>
            <a:off x="254000" y="3327400"/>
            <a:ext cx="8636000" cy="419100"/>
          </a:xfrm>
          <a:prstGeom prst="roundRect">
            <a:avLst>
              <a:gd fmla="val 6000" name="adj"/>
            </a:avLst>
          </a:prstGeom>
          <a:solidFill>
            <a:srgbClr val="F9FAFB"/>
          </a:solidFill>
          <a:ln cap="flat" cmpd="sng" w="9525">
            <a:solidFill>
              <a:srgbClr val="E5E7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30"/>
          <p:cNvSpPr/>
          <p:nvPr/>
        </p:nvSpPr>
        <p:spPr>
          <a:xfrm>
            <a:off x="406400" y="33274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11</a:t>
            </a:r>
            <a:endParaRPr b="0" i="0" sz="1400" u="none" cap="none" strike="noStrike">
              <a:solidFill>
                <a:srgbClr val="000000"/>
              </a:solidFill>
              <a:latin typeface="Arial"/>
              <a:ea typeface="Arial"/>
              <a:cs typeface="Arial"/>
              <a:sym typeface="Arial"/>
            </a:endParaRPr>
          </a:p>
        </p:txBody>
      </p:sp>
      <p:sp>
        <p:nvSpPr>
          <p:cNvPr id="606" name="Google Shape;606;p30"/>
          <p:cNvSpPr/>
          <p:nvPr/>
        </p:nvSpPr>
        <p:spPr>
          <a:xfrm>
            <a:off x="1625600" y="3416300"/>
            <a:ext cx="914400" cy="228600"/>
          </a:xfrm>
          <a:prstGeom prst="roundRect">
            <a:avLst>
              <a:gd fmla="val 50000" name="adj"/>
            </a:avLst>
          </a:prstGeom>
          <a:solidFill>
            <a:srgbClr val="07BC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Conscia</a:t>
            </a:r>
            <a:endParaRPr b="0" i="0" sz="1400" u="none" cap="none" strike="noStrike">
              <a:solidFill>
                <a:srgbClr val="000000"/>
              </a:solidFill>
              <a:latin typeface="Arial"/>
              <a:ea typeface="Arial"/>
              <a:cs typeface="Arial"/>
              <a:sym typeface="Arial"/>
            </a:endParaRPr>
          </a:p>
        </p:txBody>
      </p:sp>
      <p:sp>
        <p:nvSpPr>
          <p:cNvPr id="607" name="Google Shape;607;p30"/>
          <p:cNvSpPr/>
          <p:nvPr/>
        </p:nvSpPr>
        <p:spPr>
          <a:xfrm>
            <a:off x="2641600" y="33274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Provision DX Graph sandbox environment and share credentials</a:t>
            </a:r>
            <a:endParaRPr b="0" i="0" sz="1400" u="none" cap="none" strike="noStrike">
              <a:solidFill>
                <a:srgbClr val="000000"/>
              </a:solidFill>
              <a:latin typeface="Arial"/>
              <a:ea typeface="Arial"/>
              <a:cs typeface="Arial"/>
              <a:sym typeface="Arial"/>
            </a:endParaRPr>
          </a:p>
        </p:txBody>
      </p:sp>
      <p:sp>
        <p:nvSpPr>
          <p:cNvPr id="608" name="Google Shape;608;p30"/>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609" name="Google Shape;609;p30"/>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30"/>
          <p:cNvSpPr/>
          <p:nvPr/>
        </p:nvSpPr>
        <p:spPr>
          <a:xfrm>
            <a:off x="254000" y="3746500"/>
            <a:ext cx="8636000" cy="4191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30"/>
          <p:cNvSpPr/>
          <p:nvPr/>
        </p:nvSpPr>
        <p:spPr>
          <a:xfrm>
            <a:off x="406400" y="37465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9</a:t>
            </a:r>
            <a:endParaRPr b="0" i="0" sz="1400" u="none" cap="none" strike="noStrike">
              <a:solidFill>
                <a:srgbClr val="000000"/>
              </a:solidFill>
              <a:latin typeface="Arial"/>
              <a:ea typeface="Arial"/>
              <a:cs typeface="Arial"/>
              <a:sym typeface="Arial"/>
            </a:endParaRPr>
          </a:p>
        </p:txBody>
      </p:sp>
      <p:sp>
        <p:nvSpPr>
          <p:cNvPr id="612" name="Google Shape;612;p30"/>
          <p:cNvSpPr/>
          <p:nvPr/>
        </p:nvSpPr>
        <p:spPr>
          <a:xfrm>
            <a:off x="1625600" y="3835400"/>
            <a:ext cx="914400" cy="228600"/>
          </a:xfrm>
          <a:prstGeom prst="roundRect">
            <a:avLst>
              <a:gd fmla="val 50000" name="adj"/>
            </a:avLst>
          </a:prstGeom>
          <a:solidFill>
            <a:srgbClr val="07BC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Conscia</a:t>
            </a:r>
            <a:endParaRPr b="0" i="0" sz="1400" u="none" cap="none" strike="noStrike">
              <a:solidFill>
                <a:srgbClr val="000000"/>
              </a:solidFill>
              <a:latin typeface="Arial"/>
              <a:ea typeface="Arial"/>
              <a:cs typeface="Arial"/>
              <a:sym typeface="Arial"/>
            </a:endParaRPr>
          </a:p>
        </p:txBody>
      </p:sp>
      <p:sp>
        <p:nvSpPr>
          <p:cNvPr id="613" name="Google Shape;613;p30"/>
          <p:cNvSpPr/>
          <p:nvPr/>
        </p:nvSpPr>
        <p:spPr>
          <a:xfrm>
            <a:off x="2641600" y="37465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Share the AI-derived compatibility rules document for product-team review</a:t>
            </a:r>
            <a:endParaRPr b="0" i="0" sz="1400" u="none" cap="none" strike="noStrike">
              <a:solidFill>
                <a:srgbClr val="000000"/>
              </a:solidFill>
              <a:latin typeface="Arial"/>
              <a:ea typeface="Arial"/>
              <a:cs typeface="Arial"/>
              <a:sym typeface="Arial"/>
            </a:endParaRPr>
          </a:p>
        </p:txBody>
      </p:sp>
      <p:sp>
        <p:nvSpPr>
          <p:cNvPr id="614" name="Google Shape;614;p30"/>
          <p:cNvSpPr/>
          <p:nvPr/>
        </p:nvSpPr>
        <p:spPr>
          <a:xfrm>
            <a:off x="254000" y="4165600"/>
            <a:ext cx="8636000" cy="419100"/>
          </a:xfrm>
          <a:prstGeom prst="rect">
            <a:avLst/>
          </a:prstGeom>
          <a:solidFill>
            <a:srgbClr val="F9FA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30"/>
          <p:cNvSpPr/>
          <p:nvPr/>
        </p:nvSpPr>
        <p:spPr>
          <a:xfrm>
            <a:off x="406400" y="4165600"/>
            <a:ext cx="11430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50"/>
              <a:buFont typeface="Arial"/>
              <a:buNone/>
            </a:pPr>
            <a:r>
              <a:rPr b="1" i="0" lang="en-US" sz="850" u="none" cap="none" strike="noStrike">
                <a:solidFill>
                  <a:srgbClr val="111827"/>
                </a:solidFill>
                <a:latin typeface="Calibri"/>
                <a:ea typeface="Calibri"/>
                <a:cs typeface="Calibri"/>
                <a:sym typeface="Calibri"/>
              </a:rPr>
              <a:t>April 15</a:t>
            </a:r>
            <a:endParaRPr b="0" i="0" sz="1400" u="none" cap="none" strike="noStrike">
              <a:solidFill>
                <a:srgbClr val="000000"/>
              </a:solidFill>
              <a:latin typeface="Arial"/>
              <a:ea typeface="Arial"/>
              <a:cs typeface="Arial"/>
              <a:sym typeface="Arial"/>
            </a:endParaRPr>
          </a:p>
        </p:txBody>
      </p:sp>
      <p:sp>
        <p:nvSpPr>
          <p:cNvPr id="616" name="Google Shape;616;p30"/>
          <p:cNvSpPr/>
          <p:nvPr/>
        </p:nvSpPr>
        <p:spPr>
          <a:xfrm>
            <a:off x="1625600" y="4254500"/>
            <a:ext cx="914400" cy="228600"/>
          </a:xfrm>
          <a:prstGeom prst="roundRect">
            <a:avLst>
              <a:gd fmla="val 50000" name="adj"/>
            </a:avLst>
          </a:prstGeom>
          <a:solidFill>
            <a:srgbClr val="8AC54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Calibri"/>
                <a:ea typeface="Calibri"/>
                <a:cs typeface="Calibri"/>
                <a:sym typeface="Calibri"/>
              </a:rPr>
              <a:t>Both</a:t>
            </a:r>
            <a:endParaRPr b="0" i="0" sz="1400" u="none" cap="none" strike="noStrike">
              <a:solidFill>
                <a:srgbClr val="000000"/>
              </a:solidFill>
              <a:latin typeface="Arial"/>
              <a:ea typeface="Arial"/>
              <a:cs typeface="Arial"/>
              <a:sym typeface="Arial"/>
            </a:endParaRPr>
          </a:p>
        </p:txBody>
      </p:sp>
      <p:sp>
        <p:nvSpPr>
          <p:cNvPr id="617" name="Google Shape;617;p30"/>
          <p:cNvSpPr/>
          <p:nvPr/>
        </p:nvSpPr>
        <p:spPr>
          <a:xfrm>
            <a:off x="2641600" y="4165600"/>
            <a:ext cx="6248400" cy="41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374151"/>
                </a:solidFill>
                <a:latin typeface="Calibri"/>
                <a:ea typeface="Calibri"/>
                <a:cs typeface="Calibri"/>
                <a:sym typeface="Calibri"/>
              </a:rPr>
              <a:t>First weekly project standup — review readiness, lock Phase 1 sprint plan</a:t>
            </a:r>
            <a:endParaRPr b="0" i="0" sz="1400" u="none" cap="none" strike="noStrike">
              <a:solidFill>
                <a:srgbClr val="000000"/>
              </a:solidFill>
              <a:latin typeface="Arial"/>
              <a:ea typeface="Arial"/>
              <a:cs typeface="Arial"/>
              <a:sym typeface="Arial"/>
            </a:endParaRPr>
          </a:p>
        </p:txBody>
      </p:sp>
      <p:sp>
        <p:nvSpPr>
          <p:cNvPr id="618" name="Google Shape;618;p30"/>
          <p:cNvSpPr/>
          <p:nvPr/>
        </p:nvSpPr>
        <p:spPr>
          <a:xfrm>
            <a:off x="381000" y="25400"/>
            <a:ext cx="3200000" cy="152400"/>
          </a:xfrm>
          <a:prstGeom prst="roundRect">
            <a:avLst>
              <a:gd fmla="val 50000" name="adj"/>
            </a:avLst>
          </a:prstGeom>
          <a:solidFill>
            <a:srgbClr val="8BC53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FFFFFF"/>
                </a:solidFill>
                <a:latin typeface="Calibri"/>
                <a:ea typeface="Calibri"/>
                <a:cs typeface="Calibri"/>
                <a:sym typeface="Calibri"/>
              </a:rPr>
              <a:t>09 · OPEN QUESTIONS &amp; NEXT STEPS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1"/>
          <p:cNvSpPr/>
          <p:nvPr/>
        </p:nvSpPr>
        <p:spPr>
          <a:xfrm>
            <a:off x="0" y="0"/>
            <a:ext cx="9144000" cy="5143500"/>
          </a:xfrm>
          <a:prstGeom prst="rect">
            <a:avLst/>
          </a:prstGeom>
          <a:solidFill>
            <a:srgbClr val="FDF2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31"/>
          <p:cNvSpPr/>
          <p:nvPr/>
        </p:nvSpPr>
        <p:spPr>
          <a:xfrm>
            <a:off x="6223000" y="3810000"/>
            <a:ext cx="3810000" cy="3810000"/>
          </a:xfrm>
          <a:prstGeom prst="ellipse">
            <a:avLst/>
          </a:prstGeom>
          <a:solidFill>
            <a:srgbClr val="FBCFE8">
              <a:alpha val="3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31"/>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31"/>
          <p:cNvSpPr/>
          <p:nvPr/>
        </p:nvSpPr>
        <p:spPr>
          <a:xfrm>
            <a:off x="3759200" y="1930400"/>
            <a:ext cx="1625600" cy="304800"/>
          </a:xfrm>
          <a:prstGeom prst="roundRect">
            <a:avLst>
              <a:gd fmla="val 50000" name="adj"/>
            </a:avLst>
          </a:prstGeom>
          <a:solidFill>
            <a:srgbClr val="C2185B"/>
          </a:solidFill>
          <a:ln>
            <a:noFill/>
          </a:ln>
        </p:spPr>
        <p:txBody>
          <a:bodyPr anchorCtr="0" anchor="ctr" bIns="25400" lIns="50800" spcFirstLastPara="1" rIns="50800" wrap="square" tIns="25400">
            <a:noAutofit/>
          </a:bodyPr>
          <a:lstStyle/>
          <a:p>
            <a:pPr indent="0" lvl="0" marL="0" marR="0" rtl="0" algn="ctr">
              <a:lnSpc>
                <a:spcPct val="100000"/>
              </a:lnSpc>
              <a:spcBef>
                <a:spcPts val="0"/>
              </a:spcBef>
              <a:spcAft>
                <a:spcPts val="0"/>
              </a:spcAft>
              <a:buClr>
                <a:srgbClr val="000000"/>
              </a:buClr>
              <a:buSzPts val="850"/>
              <a:buFont typeface="Arial"/>
              <a:buNone/>
            </a:pPr>
            <a:r>
              <a:rPr b="1" i="0" lang="en-US" sz="850" u="none" cap="none" strike="noStrike">
                <a:solidFill>
                  <a:srgbClr val="FFFFFF"/>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
        <p:nvSpPr>
          <p:cNvPr id="627" name="Google Shape;627;p31"/>
          <p:cNvSpPr/>
          <p:nvPr/>
        </p:nvSpPr>
        <p:spPr>
          <a:xfrm>
            <a:off x="762000" y="2362200"/>
            <a:ext cx="7620000" cy="863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5600"/>
              <a:buFont typeface="Arial"/>
              <a:buNone/>
            </a:pPr>
            <a:r>
              <a:rPr b="1" i="0" lang="en-US" sz="5600" u="none" cap="none" strike="noStrike">
                <a:solidFill>
                  <a:srgbClr val="111827"/>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
        <p:nvSpPr>
          <p:cNvPr id="628" name="Google Shape;628;p31"/>
          <p:cNvSpPr/>
          <p:nvPr/>
        </p:nvSpPr>
        <p:spPr>
          <a:xfrm>
            <a:off x="1016000" y="3276600"/>
            <a:ext cx="7112000" cy="43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Reference material — Threekit &amp; Conscia comparison and phased role transition.</a:t>
            </a:r>
            <a:endParaRPr b="0" i="0" sz="1400" u="none" cap="none" strike="noStrike">
              <a:solidFill>
                <a:srgbClr val="000000"/>
              </a:solidFill>
              <a:latin typeface="Arial"/>
              <a:ea typeface="Arial"/>
              <a:cs typeface="Arial"/>
              <a:sym typeface="Arial"/>
            </a:endParaRPr>
          </a:p>
        </p:txBody>
      </p:sp>
      <p:sp>
        <p:nvSpPr>
          <p:cNvPr id="629" name="Google Shape;629;p31"/>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630" name="Google Shape;630;p31"/>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32"/>
          <p:cNvSpPr/>
          <p:nvPr/>
        </p:nvSpPr>
        <p:spPr>
          <a:xfrm>
            <a:off x="0" y="0"/>
            <a:ext cx="9144000" cy="5143500"/>
          </a:xfrm>
          <a:prstGeom prst="rect">
            <a:avLst/>
          </a:prstGeom>
          <a:gradFill>
            <a:gsLst>
              <a:gs pos="0">
                <a:srgbClr val="FBF2F4"/>
              </a:gs>
              <a:gs pos="100000">
                <a:srgbClr val="F5EDF0"/>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32"/>
          <p:cNvSpPr/>
          <p:nvPr/>
        </p:nvSpPr>
        <p:spPr>
          <a:xfrm>
            <a:off x="0" y="0"/>
            <a:ext cx="101600" cy="5143500"/>
          </a:xfrm>
          <a:prstGeom prst="rect">
            <a:avLst/>
          </a:prstGeom>
          <a:solidFill>
            <a:srgbClr val="EB1A63"/>
          </a:solidFill>
          <a:ln>
            <a:noFill/>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32"/>
          <p:cNvSpPr/>
          <p:nvPr/>
        </p:nvSpPr>
        <p:spPr>
          <a:xfrm>
            <a:off x="101600" y="0"/>
            <a:ext cx="9042400" cy="711200"/>
          </a:xfrm>
          <a:prstGeom prst="rect">
            <a:avLst/>
          </a:prstGeom>
          <a:solidFill>
            <a:srgbClr val="FFFFFF"/>
          </a:solidFill>
          <a:ln>
            <a:noFill/>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32"/>
          <p:cNvSpPr/>
          <p:nvPr/>
        </p:nvSpPr>
        <p:spPr>
          <a:xfrm>
            <a:off x="254000" y="152400"/>
            <a:ext cx="6350000" cy="406400"/>
          </a:xfrm>
          <a:prstGeom prst="rect">
            <a:avLst/>
          </a:prstGeom>
          <a:noFill/>
          <a:ln>
            <a:noFill/>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11827"/>
                </a:solidFill>
                <a:latin typeface="Calibri"/>
                <a:ea typeface="Calibri"/>
                <a:cs typeface="Calibri"/>
                <a:sym typeface="Calibri"/>
              </a:rPr>
              <a:t>Threekit &amp; Conscia: Different Jobs, Different Tools</a:t>
            </a:r>
            <a:endParaRPr b="0" i="0" sz="1400" u="none" cap="none" strike="noStrike">
              <a:solidFill>
                <a:srgbClr val="000000"/>
              </a:solidFill>
              <a:latin typeface="Arial"/>
              <a:ea typeface="Arial"/>
              <a:cs typeface="Arial"/>
              <a:sym typeface="Arial"/>
            </a:endParaRPr>
          </a:p>
        </p:txBody>
      </p:sp>
      <p:sp>
        <p:nvSpPr>
          <p:cNvPr id="639" name="Google Shape;639;p32"/>
          <p:cNvSpPr/>
          <p:nvPr/>
        </p:nvSpPr>
        <p:spPr>
          <a:xfrm>
            <a:off x="101600" y="711200"/>
            <a:ext cx="9042400" cy="12700"/>
          </a:xfrm>
          <a:prstGeom prst="rect">
            <a:avLst/>
          </a:prstGeom>
          <a:solidFill>
            <a:srgbClr val="E5E7EB"/>
          </a:solidFill>
          <a:ln>
            <a:noFill/>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32"/>
          <p:cNvSpPr/>
          <p:nvPr/>
        </p:nvSpPr>
        <p:spPr>
          <a:xfrm>
            <a:off x="254000" y="825500"/>
            <a:ext cx="2349500" cy="254000"/>
          </a:xfrm>
          <a:prstGeom prst="rect">
            <a:avLst/>
          </a:prstGeom>
          <a:solidFill>
            <a:srgbClr val="F3F4F6"/>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6B7280"/>
                </a:solidFill>
                <a:latin typeface="Calibri"/>
                <a:ea typeface="Calibri"/>
                <a:cs typeface="Calibri"/>
                <a:sym typeface="Calibri"/>
              </a:rPr>
              <a:t>Dimension</a:t>
            </a:r>
            <a:endParaRPr b="0" i="0" sz="1400" u="none" cap="none" strike="noStrike">
              <a:solidFill>
                <a:srgbClr val="000000"/>
              </a:solidFill>
              <a:latin typeface="Arial"/>
              <a:ea typeface="Arial"/>
              <a:cs typeface="Arial"/>
              <a:sym typeface="Arial"/>
            </a:endParaRPr>
          </a:p>
        </p:txBody>
      </p:sp>
      <p:sp>
        <p:nvSpPr>
          <p:cNvPr id="641" name="Google Shape;641;p32"/>
          <p:cNvSpPr/>
          <p:nvPr/>
        </p:nvSpPr>
        <p:spPr>
          <a:xfrm>
            <a:off x="2667000" y="825500"/>
            <a:ext cx="3073400" cy="254000"/>
          </a:xfrm>
          <a:prstGeom prst="rect">
            <a:avLst/>
          </a:prstGeom>
          <a:solidFill>
            <a:srgbClr val="F3F4F6"/>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374151"/>
                </a:solidFill>
                <a:latin typeface="Calibri"/>
                <a:ea typeface="Calibri"/>
                <a:cs typeface="Calibri"/>
                <a:sym typeface="Calibri"/>
              </a:rPr>
              <a:t>Threekit</a:t>
            </a:r>
            <a:endParaRPr b="0" i="0" sz="1400" u="none" cap="none" strike="noStrike">
              <a:solidFill>
                <a:srgbClr val="000000"/>
              </a:solidFill>
              <a:latin typeface="Arial"/>
              <a:ea typeface="Arial"/>
              <a:cs typeface="Arial"/>
              <a:sym typeface="Arial"/>
            </a:endParaRPr>
          </a:p>
        </p:txBody>
      </p:sp>
      <p:sp>
        <p:nvSpPr>
          <p:cNvPr id="642" name="Google Shape;642;p32"/>
          <p:cNvSpPr/>
          <p:nvPr/>
        </p:nvSpPr>
        <p:spPr>
          <a:xfrm>
            <a:off x="5842000" y="825500"/>
            <a:ext cx="3073400" cy="254000"/>
          </a:xfrm>
          <a:prstGeom prst="rect">
            <a:avLst/>
          </a:prstGeom>
          <a:solidFill>
            <a:srgbClr val="FDF2F5"/>
          </a:solidFill>
          <a:ln cap="flat" cmpd="sng" w="9525">
            <a:solidFill>
              <a:srgbClr val="EB1A63"/>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Conscia</a:t>
            </a:r>
            <a:endParaRPr b="0" i="0" sz="1400" u="none" cap="none" strike="noStrike">
              <a:solidFill>
                <a:srgbClr val="000000"/>
              </a:solidFill>
              <a:latin typeface="Arial"/>
              <a:ea typeface="Arial"/>
              <a:cs typeface="Arial"/>
              <a:sym typeface="Arial"/>
            </a:endParaRPr>
          </a:p>
        </p:txBody>
      </p:sp>
      <p:sp>
        <p:nvSpPr>
          <p:cNvPr id="643" name="Google Shape;643;p32"/>
          <p:cNvSpPr/>
          <p:nvPr/>
        </p:nvSpPr>
        <p:spPr>
          <a:xfrm>
            <a:off x="254000" y="1079500"/>
            <a:ext cx="23495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Primary job</a:t>
            </a:r>
            <a:endParaRPr b="0" i="0" sz="1400" u="none" cap="none" strike="noStrike">
              <a:solidFill>
                <a:srgbClr val="000000"/>
              </a:solidFill>
              <a:latin typeface="Arial"/>
              <a:ea typeface="Arial"/>
              <a:cs typeface="Arial"/>
              <a:sym typeface="Arial"/>
            </a:endParaRPr>
          </a:p>
        </p:txBody>
      </p:sp>
      <p:sp>
        <p:nvSpPr>
          <p:cNvPr id="644" name="Google Shape;644;p32"/>
          <p:cNvSpPr/>
          <p:nvPr/>
        </p:nvSpPr>
        <p:spPr>
          <a:xfrm>
            <a:off x="2667000" y="1079500"/>
            <a:ext cx="30734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3D product visualisation &amp; configuration</a:t>
            </a:r>
            <a:endParaRPr b="0" i="0" sz="1400" u="none" cap="none" strike="noStrike">
              <a:solidFill>
                <a:srgbClr val="000000"/>
              </a:solidFill>
              <a:latin typeface="Arial"/>
              <a:ea typeface="Arial"/>
              <a:cs typeface="Arial"/>
              <a:sym typeface="Arial"/>
            </a:endParaRPr>
          </a:p>
        </p:txBody>
      </p:sp>
      <p:sp>
        <p:nvSpPr>
          <p:cNvPr id="645" name="Google Shape;645;p32"/>
          <p:cNvSpPr/>
          <p:nvPr/>
        </p:nvSpPr>
        <p:spPr>
          <a:xfrm>
            <a:off x="5842000" y="1079500"/>
            <a:ext cx="3073400" cy="508000"/>
          </a:xfrm>
          <a:prstGeom prst="rect">
            <a:avLst/>
          </a:prstGeom>
          <a:solidFill>
            <a:srgbClr val="FEF6F8"/>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API-layer orchestration across all systems</a:t>
            </a:r>
            <a:endParaRPr b="0" i="0" sz="1400" u="none" cap="none" strike="noStrike">
              <a:solidFill>
                <a:srgbClr val="000000"/>
              </a:solidFill>
              <a:latin typeface="Arial"/>
              <a:ea typeface="Arial"/>
              <a:cs typeface="Arial"/>
              <a:sym typeface="Arial"/>
            </a:endParaRPr>
          </a:p>
        </p:txBody>
      </p:sp>
      <p:sp>
        <p:nvSpPr>
          <p:cNvPr id="646" name="Google Shape;646;p32"/>
          <p:cNvSpPr/>
          <p:nvPr/>
        </p:nvSpPr>
        <p:spPr>
          <a:xfrm>
            <a:off x="254000" y="1587500"/>
            <a:ext cx="23495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Data stored</a:t>
            </a:r>
            <a:endParaRPr b="0" i="0" sz="1400" u="none" cap="none" strike="noStrike">
              <a:solidFill>
                <a:srgbClr val="000000"/>
              </a:solidFill>
              <a:latin typeface="Arial"/>
              <a:ea typeface="Arial"/>
              <a:cs typeface="Arial"/>
              <a:sym typeface="Arial"/>
            </a:endParaRPr>
          </a:p>
        </p:txBody>
      </p:sp>
      <p:sp>
        <p:nvSpPr>
          <p:cNvPr id="647" name="Google Shape;647;p32"/>
          <p:cNvSpPr/>
          <p:nvPr/>
        </p:nvSpPr>
        <p:spPr>
          <a:xfrm>
            <a:off x="2667000" y="1587500"/>
            <a:ext cx="30734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Visual assets, component rules, constraints</a:t>
            </a:r>
            <a:endParaRPr b="0" i="0" sz="1400" u="none" cap="none" strike="noStrike">
              <a:solidFill>
                <a:srgbClr val="000000"/>
              </a:solidFill>
              <a:latin typeface="Arial"/>
              <a:ea typeface="Arial"/>
              <a:cs typeface="Arial"/>
              <a:sym typeface="Arial"/>
            </a:endParaRPr>
          </a:p>
        </p:txBody>
      </p:sp>
      <p:sp>
        <p:nvSpPr>
          <p:cNvPr id="648" name="Google Shape;648;p32"/>
          <p:cNvSpPr/>
          <p:nvPr/>
        </p:nvSpPr>
        <p:spPr>
          <a:xfrm>
            <a:off x="5842000" y="1587500"/>
            <a:ext cx="3073400" cy="508000"/>
          </a:xfrm>
          <a:prstGeom prst="rect">
            <a:avLst/>
          </a:prstGeom>
          <a:solidFill>
            <a:srgbClr val="FDF2F5"/>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Product graph, business logic, channel rules</a:t>
            </a:r>
            <a:endParaRPr b="0" i="0" sz="1400" u="none" cap="none" strike="noStrike">
              <a:solidFill>
                <a:srgbClr val="000000"/>
              </a:solidFill>
              <a:latin typeface="Arial"/>
              <a:ea typeface="Arial"/>
              <a:cs typeface="Arial"/>
              <a:sym typeface="Arial"/>
            </a:endParaRPr>
          </a:p>
        </p:txBody>
      </p:sp>
      <p:sp>
        <p:nvSpPr>
          <p:cNvPr id="649" name="Google Shape;649;p32"/>
          <p:cNvSpPr/>
          <p:nvPr/>
        </p:nvSpPr>
        <p:spPr>
          <a:xfrm>
            <a:off x="254000" y="2095500"/>
            <a:ext cx="23495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Who queries it</a:t>
            </a:r>
            <a:endParaRPr b="0" i="0" sz="1400" u="none" cap="none" strike="noStrike">
              <a:solidFill>
                <a:srgbClr val="000000"/>
              </a:solidFill>
              <a:latin typeface="Arial"/>
              <a:ea typeface="Arial"/>
              <a:cs typeface="Arial"/>
              <a:sym typeface="Arial"/>
            </a:endParaRPr>
          </a:p>
        </p:txBody>
      </p:sp>
      <p:sp>
        <p:nvSpPr>
          <p:cNvPr id="650" name="Google Shape;650;p32"/>
          <p:cNvSpPr/>
          <p:nvPr/>
        </p:nvSpPr>
        <p:spPr>
          <a:xfrm>
            <a:off x="2667000" y="2095500"/>
            <a:ext cx="30734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Lovesac.com configurator only</a:t>
            </a:r>
            <a:endParaRPr b="0" i="0" sz="1400" u="none" cap="none" strike="noStrike">
              <a:solidFill>
                <a:srgbClr val="000000"/>
              </a:solidFill>
              <a:latin typeface="Arial"/>
              <a:ea typeface="Arial"/>
              <a:cs typeface="Arial"/>
              <a:sym typeface="Arial"/>
            </a:endParaRPr>
          </a:p>
        </p:txBody>
      </p:sp>
      <p:sp>
        <p:nvSpPr>
          <p:cNvPr id="651" name="Google Shape;651;p32"/>
          <p:cNvSpPr/>
          <p:nvPr/>
        </p:nvSpPr>
        <p:spPr>
          <a:xfrm>
            <a:off x="5842000" y="2095500"/>
            <a:ext cx="3073400" cy="508000"/>
          </a:xfrm>
          <a:prstGeom prst="rect">
            <a:avLst/>
          </a:prstGeom>
          <a:solidFill>
            <a:srgbClr val="FEF6F8"/>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Any channel — web, app, kiosk, AI agent</a:t>
            </a:r>
            <a:endParaRPr b="0" i="0" sz="1400" u="none" cap="none" strike="noStrike">
              <a:solidFill>
                <a:srgbClr val="000000"/>
              </a:solidFill>
              <a:latin typeface="Arial"/>
              <a:ea typeface="Arial"/>
              <a:cs typeface="Arial"/>
              <a:sym typeface="Arial"/>
            </a:endParaRPr>
          </a:p>
        </p:txBody>
      </p:sp>
      <p:sp>
        <p:nvSpPr>
          <p:cNvPr id="652" name="Google Shape;652;p32"/>
          <p:cNvSpPr/>
          <p:nvPr/>
        </p:nvSpPr>
        <p:spPr>
          <a:xfrm>
            <a:off x="254000" y="2603500"/>
            <a:ext cx="23495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How data flows</a:t>
            </a:r>
            <a:endParaRPr b="0" i="0" sz="1400" u="none" cap="none" strike="noStrike">
              <a:solidFill>
                <a:srgbClr val="000000"/>
              </a:solidFill>
              <a:latin typeface="Arial"/>
              <a:ea typeface="Arial"/>
              <a:cs typeface="Arial"/>
              <a:sym typeface="Arial"/>
            </a:endParaRPr>
          </a:p>
        </p:txBody>
      </p:sp>
      <p:sp>
        <p:nvSpPr>
          <p:cNvPr id="653" name="Google Shape;653;p32"/>
          <p:cNvSpPr/>
          <p:nvPr/>
        </p:nvSpPr>
        <p:spPr>
          <a:xfrm>
            <a:off x="2667000" y="2603500"/>
            <a:ext cx="30734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Push: Lovesac team uploads updates manually</a:t>
            </a:r>
            <a:endParaRPr b="0" i="0" sz="1400" u="none" cap="none" strike="noStrike">
              <a:solidFill>
                <a:srgbClr val="000000"/>
              </a:solidFill>
              <a:latin typeface="Arial"/>
              <a:ea typeface="Arial"/>
              <a:cs typeface="Arial"/>
              <a:sym typeface="Arial"/>
            </a:endParaRPr>
          </a:p>
        </p:txBody>
      </p:sp>
      <p:sp>
        <p:nvSpPr>
          <p:cNvPr id="654" name="Google Shape;654;p32"/>
          <p:cNvSpPr/>
          <p:nvPr/>
        </p:nvSpPr>
        <p:spPr>
          <a:xfrm>
            <a:off x="5842000" y="2603500"/>
            <a:ext cx="3073400" cy="508000"/>
          </a:xfrm>
          <a:prstGeom prst="rect">
            <a:avLst/>
          </a:prstGeom>
          <a:solidFill>
            <a:srgbClr val="FDF2F5"/>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Pull: real-time API calls, live sync</a:t>
            </a:r>
            <a:endParaRPr b="0" i="0" sz="1400" u="none" cap="none" strike="noStrike">
              <a:solidFill>
                <a:srgbClr val="000000"/>
              </a:solidFill>
              <a:latin typeface="Arial"/>
              <a:ea typeface="Arial"/>
              <a:cs typeface="Arial"/>
              <a:sym typeface="Arial"/>
            </a:endParaRPr>
          </a:p>
        </p:txBody>
      </p:sp>
      <p:sp>
        <p:nvSpPr>
          <p:cNvPr id="655" name="Google Shape;655;p32"/>
          <p:cNvSpPr/>
          <p:nvPr/>
        </p:nvSpPr>
        <p:spPr>
          <a:xfrm>
            <a:off x="254000" y="3111500"/>
            <a:ext cx="23495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AI / agent access</a:t>
            </a:r>
            <a:endParaRPr b="0" i="0" sz="1400" u="none" cap="none" strike="noStrike">
              <a:solidFill>
                <a:srgbClr val="000000"/>
              </a:solidFill>
              <a:latin typeface="Arial"/>
              <a:ea typeface="Arial"/>
              <a:cs typeface="Arial"/>
              <a:sym typeface="Arial"/>
            </a:endParaRPr>
          </a:p>
        </p:txBody>
      </p:sp>
      <p:sp>
        <p:nvSpPr>
          <p:cNvPr id="656" name="Google Shape;656;p32"/>
          <p:cNvSpPr/>
          <p:nvPr/>
        </p:nvSpPr>
        <p:spPr>
          <a:xfrm>
            <a:off x="2667000" y="3111500"/>
            <a:ext cx="30734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Not designed for programmatic access</a:t>
            </a:r>
            <a:endParaRPr b="0" i="0" sz="1400" u="none" cap="none" strike="noStrike">
              <a:solidFill>
                <a:srgbClr val="000000"/>
              </a:solidFill>
              <a:latin typeface="Arial"/>
              <a:ea typeface="Arial"/>
              <a:cs typeface="Arial"/>
              <a:sym typeface="Arial"/>
            </a:endParaRPr>
          </a:p>
        </p:txBody>
      </p:sp>
      <p:sp>
        <p:nvSpPr>
          <p:cNvPr id="657" name="Google Shape;657;p32"/>
          <p:cNvSpPr/>
          <p:nvPr/>
        </p:nvSpPr>
        <p:spPr>
          <a:xfrm>
            <a:off x="5842000" y="3111500"/>
            <a:ext cx="3073400" cy="508000"/>
          </a:xfrm>
          <a:prstGeom prst="rect">
            <a:avLst/>
          </a:prstGeom>
          <a:solidFill>
            <a:srgbClr val="FEF6F8"/>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Native MCP endpoint; agent-ready by design</a:t>
            </a:r>
            <a:endParaRPr b="0" i="0" sz="1400" u="none" cap="none" strike="noStrike">
              <a:solidFill>
                <a:srgbClr val="000000"/>
              </a:solidFill>
              <a:latin typeface="Arial"/>
              <a:ea typeface="Arial"/>
              <a:cs typeface="Arial"/>
              <a:sym typeface="Arial"/>
            </a:endParaRPr>
          </a:p>
        </p:txBody>
      </p:sp>
      <p:sp>
        <p:nvSpPr>
          <p:cNvPr id="658" name="Google Shape;658;p32"/>
          <p:cNvSpPr/>
          <p:nvPr/>
        </p:nvSpPr>
        <p:spPr>
          <a:xfrm>
            <a:off x="254000" y="3619500"/>
            <a:ext cx="23495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Where it lives</a:t>
            </a:r>
            <a:endParaRPr b="0" i="0" sz="1400" u="none" cap="none" strike="noStrike">
              <a:solidFill>
                <a:srgbClr val="000000"/>
              </a:solidFill>
              <a:latin typeface="Arial"/>
              <a:ea typeface="Arial"/>
              <a:cs typeface="Arial"/>
              <a:sym typeface="Arial"/>
            </a:endParaRPr>
          </a:p>
        </p:txBody>
      </p:sp>
      <p:sp>
        <p:nvSpPr>
          <p:cNvPr id="659" name="Google Shape;659;p32"/>
          <p:cNvSpPr/>
          <p:nvPr/>
        </p:nvSpPr>
        <p:spPr>
          <a:xfrm>
            <a:off x="2667000" y="3619500"/>
            <a:ext cx="3073400" cy="508000"/>
          </a:xfrm>
          <a:prstGeom prst="rect">
            <a:avLst/>
          </a:prstGeom>
          <a:solidFill>
            <a:srgbClr val="FAF9F9"/>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SaaS, Threekit-hosted</a:t>
            </a:r>
            <a:endParaRPr b="0" i="0" sz="1400" u="none" cap="none" strike="noStrike">
              <a:solidFill>
                <a:srgbClr val="000000"/>
              </a:solidFill>
              <a:latin typeface="Arial"/>
              <a:ea typeface="Arial"/>
              <a:cs typeface="Arial"/>
              <a:sym typeface="Arial"/>
            </a:endParaRPr>
          </a:p>
        </p:txBody>
      </p:sp>
      <p:sp>
        <p:nvSpPr>
          <p:cNvPr id="660" name="Google Shape;660;p32"/>
          <p:cNvSpPr/>
          <p:nvPr/>
        </p:nvSpPr>
        <p:spPr>
          <a:xfrm>
            <a:off x="5842000" y="3619500"/>
            <a:ext cx="3073400" cy="508000"/>
          </a:xfrm>
          <a:prstGeom prst="rect">
            <a:avLst/>
          </a:prstGeom>
          <a:solidFill>
            <a:srgbClr val="FDF2F5"/>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Orchestration layer above your existing stack</a:t>
            </a:r>
            <a:endParaRPr b="0" i="0" sz="1400" u="none" cap="none" strike="noStrike">
              <a:solidFill>
                <a:srgbClr val="000000"/>
              </a:solidFill>
              <a:latin typeface="Arial"/>
              <a:ea typeface="Arial"/>
              <a:cs typeface="Arial"/>
              <a:sym typeface="Arial"/>
            </a:endParaRPr>
          </a:p>
        </p:txBody>
      </p:sp>
      <p:sp>
        <p:nvSpPr>
          <p:cNvPr id="661" name="Google Shape;661;p32"/>
          <p:cNvSpPr/>
          <p:nvPr/>
        </p:nvSpPr>
        <p:spPr>
          <a:xfrm>
            <a:off x="254000" y="4127500"/>
            <a:ext cx="23495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50"/>
              <a:buFont typeface="Arial"/>
              <a:buNone/>
            </a:pPr>
            <a:r>
              <a:rPr b="1" i="0" lang="en-US" sz="950" u="none" cap="none" strike="noStrike">
                <a:solidFill>
                  <a:srgbClr val="374151"/>
                </a:solidFill>
                <a:latin typeface="Calibri"/>
                <a:ea typeface="Calibri"/>
                <a:cs typeface="Calibri"/>
                <a:sym typeface="Calibri"/>
              </a:rPr>
              <a:t>Phase 1 role</a:t>
            </a:r>
            <a:endParaRPr b="0" i="0" sz="1400" u="none" cap="none" strike="noStrike">
              <a:solidFill>
                <a:srgbClr val="000000"/>
              </a:solidFill>
              <a:latin typeface="Arial"/>
              <a:ea typeface="Arial"/>
              <a:cs typeface="Arial"/>
              <a:sym typeface="Arial"/>
            </a:endParaRPr>
          </a:p>
        </p:txBody>
      </p:sp>
      <p:sp>
        <p:nvSpPr>
          <p:cNvPr id="662" name="Google Shape;662;p32"/>
          <p:cNvSpPr/>
          <p:nvPr/>
        </p:nvSpPr>
        <p:spPr>
          <a:xfrm>
            <a:off x="2667000" y="4127500"/>
            <a:ext cx="3073400" cy="508000"/>
          </a:xfrm>
          <a:prstGeom prst="rect">
            <a:avLst/>
          </a:prstGeom>
          <a:solidFill>
            <a:srgbClr val="FFFFFF"/>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6B7280"/>
                </a:solidFill>
                <a:latin typeface="Calibri"/>
                <a:ea typeface="Calibri"/>
                <a:cs typeface="Calibri"/>
                <a:sym typeface="Calibri"/>
              </a:rPr>
              <a:t>Continues as the rendering engine</a:t>
            </a:r>
            <a:endParaRPr b="0" i="0" sz="1400" u="none" cap="none" strike="noStrike">
              <a:solidFill>
                <a:srgbClr val="000000"/>
              </a:solidFill>
              <a:latin typeface="Arial"/>
              <a:ea typeface="Arial"/>
              <a:cs typeface="Arial"/>
              <a:sym typeface="Arial"/>
            </a:endParaRPr>
          </a:p>
        </p:txBody>
      </p:sp>
      <p:sp>
        <p:nvSpPr>
          <p:cNvPr id="663" name="Google Shape;663;p32"/>
          <p:cNvSpPr/>
          <p:nvPr/>
        </p:nvSpPr>
        <p:spPr>
          <a:xfrm>
            <a:off x="5842000" y="4127500"/>
            <a:ext cx="3073400" cy="508000"/>
          </a:xfrm>
          <a:prstGeom prst="rect">
            <a:avLst/>
          </a:prstGeom>
          <a:solidFill>
            <a:srgbClr val="FEF6F8"/>
          </a:solidFill>
          <a:ln cap="flat" cmpd="sng" w="9525">
            <a:solidFill>
              <a:srgbClr val="E5E7EB"/>
            </a:solidFill>
            <a:prstDash val="solid"/>
            <a:round/>
            <a:headEnd len="sm" w="sm" type="none"/>
            <a:tailEnd len="sm" w="sm" type="none"/>
          </a:ln>
        </p:spPr>
        <p:txBody>
          <a:bodyPr anchorCtr="0" anchor="ctr" bIns="25400" lIns="63500" spcFirstLastPara="1" rIns="63500" wrap="square" tIns="254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111827"/>
                </a:solidFill>
                <a:latin typeface="Calibri"/>
                <a:ea typeface="Calibri"/>
                <a:cs typeface="Calibri"/>
                <a:sym typeface="Calibri"/>
              </a:rPr>
              <a:t>Reads from Threekit, exposes data everywhere</a:t>
            </a:r>
            <a:endParaRPr b="0" i="0" sz="1400" u="none" cap="none" strike="noStrike">
              <a:solidFill>
                <a:srgbClr val="000000"/>
              </a:solidFill>
              <a:latin typeface="Arial"/>
              <a:ea typeface="Arial"/>
              <a:cs typeface="Arial"/>
              <a:sym typeface="Arial"/>
            </a:endParaRPr>
          </a:p>
        </p:txBody>
      </p:sp>
      <p:sp>
        <p:nvSpPr>
          <p:cNvPr id="664" name="Google Shape;664;p32"/>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665" name="Google Shape;665;p32"/>
          <p:cNvSpPr/>
          <p:nvPr/>
        </p:nvSpPr>
        <p:spPr>
          <a:xfrm>
            <a:off x="8216347" y="101600"/>
            <a:ext cx="812800" cy="177800"/>
          </a:xfrm>
          <a:prstGeom prst="roundRect">
            <a:avLst>
              <a:gd fmla="val 2000" name="adj"/>
            </a:avLst>
          </a:prstGeom>
          <a:solidFill>
            <a:srgbClr val="F3F4F6"/>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91304"/>
              </a:lnSpc>
              <a:spcBef>
                <a:spcPts val="0"/>
              </a:spcBef>
              <a:spcAft>
                <a:spcPts val="0"/>
              </a:spcAft>
              <a:buClr>
                <a:srgbClr val="000000"/>
              </a:buClr>
              <a:buSzPts val="575"/>
              <a:buFont typeface="Arial"/>
              <a:buNone/>
            </a:pPr>
            <a:r>
              <a:rPr b="1" i="0" lang="en-US" sz="575" u="none" cap="none" strike="noStrike">
                <a:solidFill>
                  <a:srgbClr val="9CA3AF"/>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
        <p:nvSpPr>
          <p:cNvPr id="666" name="Google Shape;666;p32"/>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33"/>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33"/>
          <p:cNvSpPr/>
          <p:nvPr/>
        </p:nvSpPr>
        <p:spPr>
          <a:xfrm>
            <a:off x="381000" y="7620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11827"/>
                </a:solidFill>
                <a:latin typeface="Calibri"/>
                <a:ea typeface="Calibri"/>
                <a:cs typeface="Calibri"/>
                <a:sym typeface="Calibri"/>
              </a:rPr>
              <a:t>Celigo and Conscia: Complementary Layers</a:t>
            </a:r>
            <a:endParaRPr b="0" i="0" sz="1400" u="none" cap="none" strike="noStrike">
              <a:solidFill>
                <a:srgbClr val="000000"/>
              </a:solidFill>
              <a:latin typeface="Arial"/>
              <a:ea typeface="Arial"/>
              <a:cs typeface="Arial"/>
              <a:sym typeface="Arial"/>
            </a:endParaRPr>
          </a:p>
        </p:txBody>
      </p:sp>
      <p:sp>
        <p:nvSpPr>
          <p:cNvPr id="674" name="Google Shape;674;p33"/>
          <p:cNvSpPr/>
          <p:nvPr/>
        </p:nvSpPr>
        <p:spPr>
          <a:xfrm>
            <a:off x="381000" y="533400"/>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Different categories of tool solving different problems in the Lovesac stack</a:t>
            </a:r>
            <a:endParaRPr b="0" i="0" sz="850" u="none" cap="none" strike="noStrike">
              <a:solidFill>
                <a:srgbClr val="000000"/>
              </a:solidFill>
              <a:latin typeface="Arial"/>
              <a:ea typeface="Arial"/>
              <a:cs typeface="Arial"/>
              <a:sym typeface="Arial"/>
            </a:endParaRPr>
          </a:p>
        </p:txBody>
      </p:sp>
      <p:cxnSp>
        <p:nvCxnSpPr>
          <p:cNvPr id="675" name="Google Shape;675;p33"/>
          <p:cNvCxnSpPr/>
          <p:nvPr/>
        </p:nvCxnSpPr>
        <p:spPr>
          <a:xfrm>
            <a:off x="254000" y="838200"/>
            <a:ext cx="8636000" cy="0"/>
          </a:xfrm>
          <a:prstGeom prst="straightConnector1">
            <a:avLst/>
          </a:prstGeom>
          <a:noFill/>
          <a:ln cap="flat" cmpd="sng" w="9525">
            <a:solidFill>
              <a:srgbClr val="E5E7EB"/>
            </a:solidFill>
            <a:prstDash val="solid"/>
            <a:round/>
            <a:headEnd len="sm" w="sm" type="none"/>
            <a:tailEnd len="sm" w="sm" type="none"/>
          </a:ln>
        </p:spPr>
      </p:cxnSp>
      <p:sp>
        <p:nvSpPr>
          <p:cNvPr id="676" name="Google Shape;676;p33"/>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677" name="Google Shape;677;p33"/>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33"/>
          <p:cNvSpPr/>
          <p:nvPr/>
        </p:nvSpPr>
        <p:spPr>
          <a:xfrm>
            <a:off x="203200" y="888999"/>
            <a:ext cx="1371600" cy="228600"/>
          </a:xfrm>
          <a:prstGeom prst="roundRect">
            <a:avLst>
              <a:gd fmla="val 2000" name="adj"/>
            </a:avLst>
          </a:prstGeom>
          <a:solidFill>
            <a:srgbClr val="F3F4F6"/>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57142"/>
              </a:lnSpc>
              <a:spcBef>
                <a:spcPts val="0"/>
              </a:spcBef>
              <a:spcAft>
                <a:spcPts val="0"/>
              </a:spcAft>
              <a:buClr>
                <a:srgbClr val="000000"/>
              </a:buClr>
              <a:buSzPts val="700"/>
              <a:buFont typeface="Arial"/>
              <a:buNone/>
            </a:pPr>
            <a:r>
              <a:rPr b="1" i="0" lang="en-US" sz="700" u="none" cap="none" strike="noStrike">
                <a:solidFill>
                  <a:srgbClr val="4B5563"/>
                </a:solidFill>
                <a:latin typeface="Calibri"/>
                <a:ea typeface="Calibri"/>
                <a:cs typeface="Calibri"/>
                <a:sym typeface="Calibri"/>
              </a:rPr>
              <a:t>Concern</a:t>
            </a:r>
            <a:endParaRPr b="0" i="0" sz="1400" u="none" cap="none" strike="noStrike">
              <a:solidFill>
                <a:srgbClr val="000000"/>
              </a:solidFill>
              <a:latin typeface="Arial"/>
              <a:ea typeface="Arial"/>
              <a:cs typeface="Arial"/>
              <a:sym typeface="Arial"/>
            </a:endParaRPr>
          </a:p>
        </p:txBody>
      </p:sp>
      <p:sp>
        <p:nvSpPr>
          <p:cNvPr id="679" name="Google Shape;679;p33"/>
          <p:cNvSpPr/>
          <p:nvPr/>
        </p:nvSpPr>
        <p:spPr>
          <a:xfrm>
            <a:off x="1574800" y="888999"/>
            <a:ext cx="3556000" cy="228600"/>
          </a:xfrm>
          <a:prstGeom prst="roundRect">
            <a:avLst>
              <a:gd fmla="val 2000" name="adj"/>
            </a:avLst>
          </a:prstGeom>
          <a:solidFill>
            <a:srgbClr val="F3F4F6"/>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57142"/>
              </a:lnSpc>
              <a:spcBef>
                <a:spcPts val="0"/>
              </a:spcBef>
              <a:spcAft>
                <a:spcPts val="0"/>
              </a:spcAft>
              <a:buClr>
                <a:srgbClr val="000000"/>
              </a:buClr>
              <a:buSzPts val="700"/>
              <a:buFont typeface="Arial"/>
              <a:buNone/>
            </a:pPr>
            <a:r>
              <a:rPr b="1" i="0" lang="en-US" sz="700" u="none" cap="none" strike="noStrike">
                <a:solidFill>
                  <a:srgbClr val="4B5563"/>
                </a:solidFill>
                <a:latin typeface="Calibri"/>
                <a:ea typeface="Calibri"/>
                <a:cs typeface="Calibri"/>
                <a:sym typeface="Calibri"/>
              </a:rPr>
              <a:t>Celigo (iPaaS)</a:t>
            </a:r>
            <a:endParaRPr b="0" i="0" sz="1400" u="none" cap="none" strike="noStrike">
              <a:solidFill>
                <a:srgbClr val="000000"/>
              </a:solidFill>
              <a:latin typeface="Arial"/>
              <a:ea typeface="Arial"/>
              <a:cs typeface="Arial"/>
              <a:sym typeface="Arial"/>
            </a:endParaRPr>
          </a:p>
        </p:txBody>
      </p:sp>
      <p:sp>
        <p:nvSpPr>
          <p:cNvPr id="680" name="Google Shape;680;p33"/>
          <p:cNvSpPr/>
          <p:nvPr/>
        </p:nvSpPr>
        <p:spPr>
          <a:xfrm>
            <a:off x="5130800" y="888999"/>
            <a:ext cx="3810000" cy="228600"/>
          </a:xfrm>
          <a:prstGeom prst="roundRect">
            <a:avLst>
              <a:gd fmla="val 2000" name="adj"/>
            </a:avLst>
          </a:prstGeom>
          <a:solidFill>
            <a:srgbClr val="0D9488"/>
          </a:solidFill>
          <a:ln cap="flat" cmpd="sng" w="9525">
            <a:solidFill>
              <a:srgbClr val="D1D5DB"/>
            </a:solidFill>
            <a:prstDash val="solid"/>
            <a:round/>
            <a:headEnd len="sm" w="sm" type="none"/>
            <a:tailEnd len="sm" w="sm" type="none"/>
          </a:ln>
        </p:spPr>
        <p:txBody>
          <a:bodyPr anchorCtr="0" anchor="ctr" bIns="50800" lIns="50800" spcFirstLastPara="1" rIns="50800" wrap="square" tIns="50800">
            <a:noAutofit/>
          </a:bodyPr>
          <a:lstStyle/>
          <a:p>
            <a:pPr indent="0" lvl="0" marL="0" marR="0" rtl="0" algn="ctr">
              <a:lnSpc>
                <a:spcPct val="157142"/>
              </a:lnSpc>
              <a:spcBef>
                <a:spcPts val="0"/>
              </a:spcBef>
              <a:spcAft>
                <a:spcPts val="0"/>
              </a:spcAft>
              <a:buClr>
                <a:srgbClr val="000000"/>
              </a:buClr>
              <a:buSzPts val="700"/>
              <a:buFont typeface="Arial"/>
              <a:buNone/>
            </a:pPr>
            <a:r>
              <a:rPr b="1" i="0" lang="en-US" sz="700" u="none" cap="none" strike="noStrike">
                <a:solidFill>
                  <a:srgbClr val="FFFFFF"/>
                </a:solidFill>
                <a:latin typeface="Calibri"/>
                <a:ea typeface="Calibri"/>
                <a:cs typeface="Calibri"/>
                <a:sym typeface="Calibri"/>
              </a:rPr>
              <a:t>Conscia  (DX Graph + DX Engine)</a:t>
            </a:r>
            <a:endParaRPr b="0" i="0" sz="1400" u="none" cap="none" strike="noStrike">
              <a:solidFill>
                <a:srgbClr val="000000"/>
              </a:solidFill>
              <a:latin typeface="Arial"/>
              <a:ea typeface="Arial"/>
              <a:cs typeface="Arial"/>
              <a:sym typeface="Arial"/>
            </a:endParaRPr>
          </a:p>
        </p:txBody>
      </p:sp>
      <p:sp>
        <p:nvSpPr>
          <p:cNvPr id="681" name="Google Shape;681;p33"/>
          <p:cNvSpPr/>
          <p:nvPr/>
        </p:nvSpPr>
        <p:spPr>
          <a:xfrm>
            <a:off x="203200" y="1117599"/>
            <a:ext cx="13716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Category</a:t>
            </a:r>
            <a:endParaRPr b="0" i="0" sz="1400" u="none" cap="none" strike="noStrike">
              <a:solidFill>
                <a:srgbClr val="000000"/>
              </a:solidFill>
              <a:latin typeface="Arial"/>
              <a:ea typeface="Arial"/>
              <a:cs typeface="Arial"/>
              <a:sym typeface="Arial"/>
            </a:endParaRPr>
          </a:p>
        </p:txBody>
      </p:sp>
      <p:sp>
        <p:nvSpPr>
          <p:cNvPr id="682" name="Google Shape;682;p33"/>
          <p:cNvSpPr/>
          <p:nvPr/>
        </p:nvSpPr>
        <p:spPr>
          <a:xfrm>
            <a:off x="1574800" y="1117599"/>
            <a:ext cx="35560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Integration Platform as a Service</a:t>
            </a:r>
            <a:endParaRPr b="0" i="0" sz="1400" u="none" cap="none" strike="noStrike">
              <a:solidFill>
                <a:srgbClr val="000000"/>
              </a:solidFill>
              <a:latin typeface="Arial"/>
              <a:ea typeface="Arial"/>
              <a:cs typeface="Arial"/>
              <a:sym typeface="Arial"/>
            </a:endParaRPr>
          </a:p>
        </p:txBody>
      </p:sp>
      <p:sp>
        <p:nvSpPr>
          <p:cNvPr id="683" name="Google Shape;683;p33"/>
          <p:cNvSpPr/>
          <p:nvPr/>
        </p:nvSpPr>
        <p:spPr>
          <a:xfrm>
            <a:off x="5130800" y="1117599"/>
            <a:ext cx="3810000" cy="381000"/>
          </a:xfrm>
          <a:prstGeom prst="roundRect">
            <a:avLst>
              <a:gd fmla="val 2000" name="adj"/>
            </a:avLst>
          </a:prstGeom>
          <a:solidFill>
            <a:srgbClr val="F0FDFA"/>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Governed semantic layer + experience orchestration</a:t>
            </a:r>
            <a:endParaRPr b="0" i="0" sz="1400" u="none" cap="none" strike="noStrike">
              <a:solidFill>
                <a:srgbClr val="000000"/>
              </a:solidFill>
              <a:latin typeface="Arial"/>
              <a:ea typeface="Arial"/>
              <a:cs typeface="Arial"/>
              <a:sym typeface="Arial"/>
            </a:endParaRPr>
          </a:p>
        </p:txBody>
      </p:sp>
      <p:sp>
        <p:nvSpPr>
          <p:cNvPr id="684" name="Google Shape;684;p33"/>
          <p:cNvSpPr/>
          <p:nvPr/>
        </p:nvSpPr>
        <p:spPr>
          <a:xfrm>
            <a:off x="203200" y="1498599"/>
            <a:ext cx="13716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Core job</a:t>
            </a:r>
            <a:endParaRPr b="0" i="0" sz="1400" u="none" cap="none" strike="noStrike">
              <a:solidFill>
                <a:srgbClr val="000000"/>
              </a:solidFill>
              <a:latin typeface="Arial"/>
              <a:ea typeface="Arial"/>
              <a:cs typeface="Arial"/>
              <a:sym typeface="Arial"/>
            </a:endParaRPr>
          </a:p>
        </p:txBody>
      </p:sp>
      <p:sp>
        <p:nvSpPr>
          <p:cNvPr id="685" name="Google Shape;685;p33"/>
          <p:cNvSpPr/>
          <p:nvPr/>
        </p:nvSpPr>
        <p:spPr>
          <a:xfrm>
            <a:off x="1574800" y="1498599"/>
            <a:ext cx="35560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Move records between SaaS apps with mapping and error handling</a:t>
            </a:r>
            <a:endParaRPr b="0" i="0" sz="1400" u="none" cap="none" strike="noStrike">
              <a:solidFill>
                <a:srgbClr val="000000"/>
              </a:solidFill>
              <a:latin typeface="Arial"/>
              <a:ea typeface="Arial"/>
              <a:cs typeface="Arial"/>
              <a:sym typeface="Arial"/>
            </a:endParaRPr>
          </a:p>
        </p:txBody>
      </p:sp>
      <p:sp>
        <p:nvSpPr>
          <p:cNvPr id="686" name="Google Shape;686;p33"/>
          <p:cNvSpPr/>
          <p:nvPr/>
        </p:nvSpPr>
        <p:spPr>
          <a:xfrm>
            <a:off x="5130800" y="1498599"/>
            <a:ext cx="3810000" cy="381000"/>
          </a:xfrm>
          <a:prstGeom prst="roundRect">
            <a:avLst>
              <a:gd fmla="val 2000" name="adj"/>
            </a:avLst>
          </a:prstGeom>
          <a:solidFill>
            <a:srgbClr val="F7FFFE"/>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Hold the canonical product model and serve real-time channel APIs</a:t>
            </a:r>
            <a:endParaRPr b="0" i="0" sz="1400" u="none" cap="none" strike="noStrike">
              <a:solidFill>
                <a:srgbClr val="000000"/>
              </a:solidFill>
              <a:latin typeface="Arial"/>
              <a:ea typeface="Arial"/>
              <a:cs typeface="Arial"/>
              <a:sym typeface="Arial"/>
            </a:endParaRPr>
          </a:p>
        </p:txBody>
      </p:sp>
      <p:sp>
        <p:nvSpPr>
          <p:cNvPr id="687" name="Google Shape;687;p33"/>
          <p:cNvSpPr/>
          <p:nvPr/>
        </p:nvSpPr>
        <p:spPr>
          <a:xfrm>
            <a:off x="203200" y="1879599"/>
            <a:ext cx="13716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Data pattern</a:t>
            </a:r>
            <a:endParaRPr b="0" i="0" sz="1400" u="none" cap="none" strike="noStrike">
              <a:solidFill>
                <a:srgbClr val="000000"/>
              </a:solidFill>
              <a:latin typeface="Arial"/>
              <a:ea typeface="Arial"/>
              <a:cs typeface="Arial"/>
              <a:sym typeface="Arial"/>
            </a:endParaRPr>
          </a:p>
        </p:txBody>
      </p:sp>
      <p:sp>
        <p:nvSpPr>
          <p:cNvPr id="688" name="Google Shape;688;p33"/>
          <p:cNvSpPr/>
          <p:nvPr/>
        </p:nvSpPr>
        <p:spPr>
          <a:xfrm>
            <a:off x="1574800" y="1879599"/>
            <a:ext cx="35560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Batch and event-driven flows, source-to-destination</a:t>
            </a:r>
            <a:endParaRPr b="0" i="0" sz="1400" u="none" cap="none" strike="noStrike">
              <a:solidFill>
                <a:srgbClr val="000000"/>
              </a:solidFill>
              <a:latin typeface="Arial"/>
              <a:ea typeface="Arial"/>
              <a:cs typeface="Arial"/>
              <a:sym typeface="Arial"/>
            </a:endParaRPr>
          </a:p>
        </p:txBody>
      </p:sp>
      <p:sp>
        <p:nvSpPr>
          <p:cNvPr id="689" name="Google Shape;689;p33"/>
          <p:cNvSpPr/>
          <p:nvPr/>
        </p:nvSpPr>
        <p:spPr>
          <a:xfrm>
            <a:off x="5130800" y="1879599"/>
            <a:ext cx="3810000" cy="381000"/>
          </a:xfrm>
          <a:prstGeom prst="roundRect">
            <a:avLst>
              <a:gd fmla="val 2000" name="adj"/>
            </a:avLst>
          </a:prstGeom>
          <a:solidFill>
            <a:srgbClr val="F0FDFA"/>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Unified graph with relationships (COMPATIBLE_WITH, BUNDLES, CONTAINS)</a:t>
            </a:r>
            <a:endParaRPr b="0" i="0" sz="1400" u="none" cap="none" strike="noStrike">
              <a:solidFill>
                <a:srgbClr val="000000"/>
              </a:solidFill>
              <a:latin typeface="Arial"/>
              <a:ea typeface="Arial"/>
              <a:cs typeface="Arial"/>
              <a:sym typeface="Arial"/>
            </a:endParaRPr>
          </a:p>
        </p:txBody>
      </p:sp>
      <p:sp>
        <p:nvSpPr>
          <p:cNvPr id="690" name="Google Shape;690;p33"/>
          <p:cNvSpPr/>
          <p:nvPr/>
        </p:nvSpPr>
        <p:spPr>
          <a:xfrm>
            <a:off x="203200" y="2260599"/>
            <a:ext cx="13716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Latency</a:t>
            </a:r>
            <a:endParaRPr b="0" i="0" sz="1400" u="none" cap="none" strike="noStrike">
              <a:solidFill>
                <a:srgbClr val="000000"/>
              </a:solidFill>
              <a:latin typeface="Arial"/>
              <a:ea typeface="Arial"/>
              <a:cs typeface="Arial"/>
              <a:sym typeface="Arial"/>
            </a:endParaRPr>
          </a:p>
        </p:txBody>
      </p:sp>
      <p:sp>
        <p:nvSpPr>
          <p:cNvPr id="691" name="Google Shape;691;p33"/>
          <p:cNvSpPr/>
          <p:nvPr/>
        </p:nvSpPr>
        <p:spPr>
          <a:xfrm>
            <a:off x="1574800" y="2260599"/>
            <a:ext cx="35560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Throughput-optimised: scheduled or webhook</a:t>
            </a:r>
            <a:endParaRPr b="0" i="0" sz="1400" u="none" cap="none" strike="noStrike">
              <a:solidFill>
                <a:srgbClr val="000000"/>
              </a:solidFill>
              <a:latin typeface="Arial"/>
              <a:ea typeface="Arial"/>
              <a:cs typeface="Arial"/>
              <a:sym typeface="Arial"/>
            </a:endParaRPr>
          </a:p>
        </p:txBody>
      </p:sp>
      <p:sp>
        <p:nvSpPr>
          <p:cNvPr id="692" name="Google Shape;692;p33"/>
          <p:cNvSpPr/>
          <p:nvPr/>
        </p:nvSpPr>
        <p:spPr>
          <a:xfrm>
            <a:off x="5130800" y="2260599"/>
            <a:ext cx="3810000" cy="381000"/>
          </a:xfrm>
          <a:prstGeom prst="roundRect">
            <a:avLst>
              <a:gd fmla="val 2000" name="adj"/>
            </a:avLst>
          </a:prstGeom>
          <a:solidFill>
            <a:srgbClr val="F7FFFE"/>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Sub-second synchronous, on the critical path of POS and web</a:t>
            </a:r>
            <a:endParaRPr b="0" i="0" sz="1400" u="none" cap="none" strike="noStrike">
              <a:solidFill>
                <a:srgbClr val="000000"/>
              </a:solidFill>
              <a:latin typeface="Arial"/>
              <a:ea typeface="Arial"/>
              <a:cs typeface="Arial"/>
              <a:sym typeface="Arial"/>
            </a:endParaRPr>
          </a:p>
        </p:txBody>
      </p:sp>
      <p:sp>
        <p:nvSpPr>
          <p:cNvPr id="693" name="Google Shape;693;p33"/>
          <p:cNvSpPr/>
          <p:nvPr/>
        </p:nvSpPr>
        <p:spPr>
          <a:xfrm>
            <a:off x="203200" y="2641599"/>
            <a:ext cx="13716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Rules</a:t>
            </a:r>
            <a:endParaRPr b="0" i="0" sz="1400" u="none" cap="none" strike="noStrike">
              <a:solidFill>
                <a:srgbClr val="000000"/>
              </a:solidFill>
              <a:latin typeface="Arial"/>
              <a:ea typeface="Arial"/>
              <a:cs typeface="Arial"/>
              <a:sym typeface="Arial"/>
            </a:endParaRPr>
          </a:p>
        </p:txBody>
      </p:sp>
      <p:sp>
        <p:nvSpPr>
          <p:cNvPr id="694" name="Google Shape;694;p33"/>
          <p:cNvSpPr/>
          <p:nvPr/>
        </p:nvSpPr>
        <p:spPr>
          <a:xfrm>
            <a:off x="1574800" y="2641599"/>
            <a:ext cx="35560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Flow-level branching for integration builders</a:t>
            </a:r>
            <a:endParaRPr b="0" i="0" sz="1400" u="none" cap="none" strike="noStrike">
              <a:solidFill>
                <a:srgbClr val="000000"/>
              </a:solidFill>
              <a:latin typeface="Arial"/>
              <a:ea typeface="Arial"/>
              <a:cs typeface="Arial"/>
              <a:sym typeface="Arial"/>
            </a:endParaRPr>
          </a:p>
        </p:txBody>
      </p:sp>
      <p:sp>
        <p:nvSpPr>
          <p:cNvPr id="695" name="Google Shape;695;p33"/>
          <p:cNvSpPr/>
          <p:nvPr/>
        </p:nvSpPr>
        <p:spPr>
          <a:xfrm>
            <a:off x="5130800" y="2641599"/>
            <a:ext cx="3810000" cy="381000"/>
          </a:xfrm>
          <a:prstGeom prst="roundRect">
            <a:avLst>
              <a:gd fmla="val 2000" name="adj"/>
            </a:avLst>
          </a:prstGeom>
          <a:solidFill>
            <a:srgbClr val="F0FDFA"/>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Business-user Experience Rules: priority, A/B, segmentation</a:t>
            </a:r>
            <a:endParaRPr b="0" i="0" sz="1400" u="none" cap="none" strike="noStrike">
              <a:solidFill>
                <a:srgbClr val="000000"/>
              </a:solidFill>
              <a:latin typeface="Arial"/>
              <a:ea typeface="Arial"/>
              <a:cs typeface="Arial"/>
              <a:sym typeface="Arial"/>
            </a:endParaRPr>
          </a:p>
        </p:txBody>
      </p:sp>
      <p:sp>
        <p:nvSpPr>
          <p:cNvPr id="696" name="Google Shape;696;p33"/>
          <p:cNvSpPr/>
          <p:nvPr/>
        </p:nvSpPr>
        <p:spPr>
          <a:xfrm>
            <a:off x="203200" y="3022599"/>
            <a:ext cx="13716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Frontend</a:t>
            </a:r>
            <a:endParaRPr b="0" i="0" sz="1400" u="none" cap="none" strike="noStrike">
              <a:solidFill>
                <a:srgbClr val="000000"/>
              </a:solidFill>
              <a:latin typeface="Arial"/>
              <a:ea typeface="Arial"/>
              <a:cs typeface="Arial"/>
              <a:sym typeface="Arial"/>
            </a:endParaRPr>
          </a:p>
        </p:txBody>
      </p:sp>
      <p:sp>
        <p:nvSpPr>
          <p:cNvPr id="697" name="Google Shape;697;p33"/>
          <p:cNvSpPr/>
          <p:nvPr/>
        </p:nvSpPr>
        <p:spPr>
          <a:xfrm>
            <a:off x="1574800" y="3022599"/>
            <a:ext cx="35560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None — frontends call multiple flows or build their own BFF</a:t>
            </a:r>
            <a:endParaRPr b="0" i="0" sz="1400" u="none" cap="none" strike="noStrike">
              <a:solidFill>
                <a:srgbClr val="000000"/>
              </a:solidFill>
              <a:latin typeface="Arial"/>
              <a:ea typeface="Arial"/>
              <a:cs typeface="Arial"/>
              <a:sym typeface="Arial"/>
            </a:endParaRPr>
          </a:p>
        </p:txBody>
      </p:sp>
      <p:sp>
        <p:nvSpPr>
          <p:cNvPr id="698" name="Google Shape;698;p33"/>
          <p:cNvSpPr/>
          <p:nvPr/>
        </p:nvSpPr>
        <p:spPr>
          <a:xfrm>
            <a:off x="5130800" y="3022599"/>
            <a:ext cx="3810000" cy="381000"/>
          </a:xfrm>
          <a:prstGeom prst="roundRect">
            <a:avLst>
              <a:gd fmla="val 2000" name="adj"/>
            </a:avLst>
          </a:prstGeom>
          <a:solidFill>
            <a:srgbClr val="F7FFFE"/>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Single Experience API call returns unified, channel-shaped JSON</a:t>
            </a:r>
            <a:endParaRPr b="0" i="0" sz="1400" u="none" cap="none" strike="noStrike">
              <a:solidFill>
                <a:srgbClr val="000000"/>
              </a:solidFill>
              <a:latin typeface="Arial"/>
              <a:ea typeface="Arial"/>
              <a:cs typeface="Arial"/>
              <a:sym typeface="Arial"/>
            </a:endParaRPr>
          </a:p>
        </p:txBody>
      </p:sp>
      <p:sp>
        <p:nvSpPr>
          <p:cNvPr id="699" name="Google Shape;699;p33"/>
          <p:cNvSpPr/>
          <p:nvPr/>
        </p:nvSpPr>
        <p:spPr>
          <a:xfrm>
            <a:off x="203200" y="3403599"/>
            <a:ext cx="13716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Agentic / MCP</a:t>
            </a:r>
            <a:endParaRPr b="0" i="0" sz="1400" u="none" cap="none" strike="noStrike">
              <a:solidFill>
                <a:srgbClr val="000000"/>
              </a:solidFill>
              <a:latin typeface="Arial"/>
              <a:ea typeface="Arial"/>
              <a:cs typeface="Arial"/>
              <a:sym typeface="Arial"/>
            </a:endParaRPr>
          </a:p>
        </p:txBody>
      </p:sp>
      <p:sp>
        <p:nvSpPr>
          <p:cNvPr id="700" name="Google Shape;700;p33"/>
          <p:cNvSpPr/>
          <p:nvPr/>
        </p:nvSpPr>
        <p:spPr>
          <a:xfrm>
            <a:off x="1574800" y="3403599"/>
            <a:ext cx="3556000" cy="3810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MCP server exposes integration flows</a:t>
            </a:r>
            <a:endParaRPr b="0" i="0" sz="1400" u="none" cap="none" strike="noStrike">
              <a:solidFill>
                <a:srgbClr val="000000"/>
              </a:solidFill>
              <a:latin typeface="Arial"/>
              <a:ea typeface="Arial"/>
              <a:cs typeface="Arial"/>
              <a:sym typeface="Arial"/>
            </a:endParaRPr>
          </a:p>
        </p:txBody>
      </p:sp>
      <p:sp>
        <p:nvSpPr>
          <p:cNvPr id="701" name="Google Shape;701;p33"/>
          <p:cNvSpPr/>
          <p:nvPr/>
        </p:nvSpPr>
        <p:spPr>
          <a:xfrm>
            <a:off x="5130800" y="3403599"/>
            <a:ext cx="3810000" cy="381000"/>
          </a:xfrm>
          <a:prstGeom prst="roundRect">
            <a:avLst>
              <a:gd fmla="val 2000" name="adj"/>
            </a:avLst>
          </a:prstGeom>
          <a:solidFill>
            <a:srgbClr val="F0FDFA"/>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MCP server exposes governed semantic capabilities</a:t>
            </a:r>
            <a:endParaRPr b="0" i="0" sz="1400" u="none" cap="none" strike="noStrike">
              <a:solidFill>
                <a:srgbClr val="000000"/>
              </a:solidFill>
              <a:latin typeface="Arial"/>
              <a:ea typeface="Arial"/>
              <a:cs typeface="Arial"/>
              <a:sym typeface="Arial"/>
            </a:endParaRPr>
          </a:p>
        </p:txBody>
      </p:sp>
      <p:sp>
        <p:nvSpPr>
          <p:cNvPr id="702" name="Google Shape;702;p33"/>
          <p:cNvSpPr/>
          <p:nvPr/>
        </p:nvSpPr>
        <p:spPr>
          <a:xfrm>
            <a:off x="203200" y="3784599"/>
            <a:ext cx="13716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l">
              <a:lnSpc>
                <a:spcPct val="157142"/>
              </a:lnSpc>
              <a:spcBef>
                <a:spcPts val="0"/>
              </a:spcBef>
              <a:spcAft>
                <a:spcPts val="0"/>
              </a:spcAft>
              <a:buClr>
                <a:srgbClr val="000000"/>
              </a:buClr>
              <a:buSzPts val="700"/>
              <a:buFont typeface="Arial"/>
              <a:buNone/>
            </a:pPr>
            <a:r>
              <a:rPr b="1" i="0" lang="en-US" sz="700" u="none" cap="none" strike="noStrike">
                <a:solidFill>
                  <a:srgbClr val="111827"/>
                </a:solidFill>
                <a:latin typeface="Calibri"/>
                <a:ea typeface="Calibri"/>
                <a:cs typeface="Calibri"/>
                <a:sym typeface="Calibri"/>
              </a:rPr>
              <a:t>Where it shines</a:t>
            </a:r>
            <a:endParaRPr b="0" i="0" sz="1400" u="none" cap="none" strike="noStrike">
              <a:solidFill>
                <a:srgbClr val="000000"/>
              </a:solidFill>
              <a:latin typeface="Arial"/>
              <a:ea typeface="Arial"/>
              <a:cs typeface="Arial"/>
              <a:sym typeface="Arial"/>
            </a:endParaRPr>
          </a:p>
        </p:txBody>
      </p:sp>
      <p:sp>
        <p:nvSpPr>
          <p:cNvPr id="703" name="Google Shape;703;p33"/>
          <p:cNvSpPr/>
          <p:nvPr/>
        </p:nvSpPr>
        <p:spPr>
          <a:xfrm>
            <a:off x="1574800" y="3784599"/>
            <a:ext cx="3556000" cy="381000"/>
          </a:xfrm>
          <a:prstGeom prst="roundRect">
            <a:avLst>
              <a:gd fmla="val 2000" name="adj"/>
            </a:avLst>
          </a:prstGeom>
          <a:solidFill>
            <a:srgbClr val="FFFFFF"/>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374151"/>
                </a:solidFill>
                <a:latin typeface="Calibri"/>
                <a:ea typeface="Calibri"/>
                <a:cs typeface="Calibri"/>
                <a:sym typeface="Calibri"/>
              </a:rPr>
              <a:t>NetSuite ↔ Adobe Commerce ↔ Manhattan Active Omni ↔ Salesforce plumbing</a:t>
            </a:r>
            <a:endParaRPr b="0" i="0" sz="1400" u="none" cap="none" strike="noStrike">
              <a:solidFill>
                <a:srgbClr val="000000"/>
              </a:solidFill>
              <a:latin typeface="Arial"/>
              <a:ea typeface="Arial"/>
              <a:cs typeface="Arial"/>
              <a:sym typeface="Arial"/>
            </a:endParaRPr>
          </a:p>
        </p:txBody>
      </p:sp>
      <p:sp>
        <p:nvSpPr>
          <p:cNvPr id="704" name="Google Shape;704;p33"/>
          <p:cNvSpPr/>
          <p:nvPr/>
        </p:nvSpPr>
        <p:spPr>
          <a:xfrm>
            <a:off x="5130800" y="3784599"/>
            <a:ext cx="3810000" cy="381000"/>
          </a:xfrm>
          <a:prstGeom prst="roundRect">
            <a:avLst>
              <a:gd fmla="val 2000" name="adj"/>
            </a:avLst>
          </a:prstGeom>
          <a:solidFill>
            <a:srgbClr val="F7FFFE"/>
          </a:solidFill>
          <a:ln cap="flat" cmpd="sng" w="9525">
            <a:solidFill>
              <a:srgbClr val="D1D5DB"/>
            </a:solidFill>
            <a:prstDash val="solid"/>
            <a:round/>
            <a:headEnd len="sm" w="sm" type="none"/>
            <a:tailEnd len="sm" w="sm" type="none"/>
          </a:ln>
        </p:spPr>
        <p:txBody>
          <a:bodyPr anchorCtr="0" anchor="t" bIns="63500" lIns="63500" spcFirstLastPara="1" rIns="63500" wrap="square" tIns="63500">
            <a:noAutofit/>
          </a:bodyPr>
          <a:lstStyle/>
          <a:p>
            <a:pPr indent="0" lvl="0" marL="0" marR="0" rtl="0" algn="l">
              <a:lnSpc>
                <a:spcPct val="161764"/>
              </a:lnSpc>
              <a:spcBef>
                <a:spcPts val="0"/>
              </a:spcBef>
              <a:spcAft>
                <a:spcPts val="0"/>
              </a:spcAft>
              <a:buClr>
                <a:srgbClr val="000000"/>
              </a:buClr>
              <a:buSzPts val="680"/>
              <a:buFont typeface="Arial"/>
              <a:buNone/>
            </a:pPr>
            <a:r>
              <a:rPr b="0" i="0" lang="en-US" sz="680" u="none" cap="none" strike="noStrike">
                <a:solidFill>
                  <a:srgbClr val="134E4A"/>
                </a:solidFill>
                <a:latin typeface="Calibri"/>
                <a:ea typeface="Calibri"/>
                <a:cs typeface="Calibri"/>
                <a:sym typeface="Calibri"/>
              </a:rPr>
              <a:t>Config validation, BOM explosion, wizard steps, agentic channels</a:t>
            </a:r>
            <a:endParaRPr b="0" i="0" sz="1400" u="none" cap="none" strike="noStrike">
              <a:solidFill>
                <a:srgbClr val="000000"/>
              </a:solidFill>
              <a:latin typeface="Arial"/>
              <a:ea typeface="Arial"/>
              <a:cs typeface="Arial"/>
              <a:sym typeface="Arial"/>
            </a:endParaRPr>
          </a:p>
        </p:txBody>
      </p:sp>
      <p:sp>
        <p:nvSpPr>
          <p:cNvPr id="705" name="Google Shape;705;p33"/>
          <p:cNvSpPr/>
          <p:nvPr/>
        </p:nvSpPr>
        <p:spPr>
          <a:xfrm>
            <a:off x="203200" y="4254501"/>
            <a:ext cx="8737600" cy="596899"/>
          </a:xfrm>
          <a:prstGeom prst="roundRect">
            <a:avLst>
              <a:gd fmla="val 1500" name="adj"/>
            </a:avLst>
          </a:prstGeom>
          <a:solidFill>
            <a:srgbClr val="FEF2F2"/>
          </a:solidFill>
          <a:ln cap="flat" cmpd="sng" w="9525">
            <a:solidFill>
              <a:srgbClr val="FECACA"/>
            </a:solidFill>
            <a:prstDash val="solid"/>
            <a:round/>
            <a:headEnd len="sm" w="sm" type="none"/>
            <a:tailEnd len="sm" w="sm" type="none"/>
          </a:ln>
        </p:spPr>
        <p:txBody>
          <a:bodyPr anchorCtr="0" anchor="ctr" bIns="63500" lIns="63500" spcFirstLastPara="1" rIns="63500" wrap="square" tIns="63500">
            <a:noAutofit/>
          </a:bodyPr>
          <a:lstStyle/>
          <a:p>
            <a:pPr indent="0" lvl="0" marL="0" marR="0" rtl="0" algn="ctr">
              <a:lnSpc>
                <a:spcPct val="150000"/>
              </a:lnSpc>
              <a:spcBef>
                <a:spcPts val="0"/>
              </a:spcBef>
              <a:spcAft>
                <a:spcPts val="0"/>
              </a:spcAft>
              <a:buClr>
                <a:srgbClr val="000000"/>
              </a:buClr>
              <a:buSzPts val="1100"/>
              <a:buFont typeface="Arial"/>
              <a:buNone/>
            </a:pPr>
            <a:r>
              <a:rPr b="0" i="1" lang="en-US" sz="1100" u="none" cap="none" strike="noStrike">
                <a:solidFill>
                  <a:srgbClr val="991B1B"/>
                </a:solidFill>
                <a:latin typeface="Calibri"/>
                <a:ea typeface="Calibri"/>
                <a:cs typeface="Calibri"/>
                <a:sym typeface="Calibri"/>
              </a:rPr>
              <a:t>The Sactional SKU-explosion problem is a model and orchestration problem, not a transport problem. </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100"/>
              <a:buFont typeface="Arial"/>
              <a:buNone/>
            </a:pPr>
            <a:r>
              <a:rPr b="0" i="1" lang="en-US" sz="1100" u="none" cap="none" strike="noStrike">
                <a:solidFill>
                  <a:srgbClr val="991B1B"/>
                </a:solidFill>
                <a:latin typeface="Calibri"/>
                <a:ea typeface="Calibri"/>
                <a:cs typeface="Calibri"/>
                <a:sym typeface="Calibri"/>
              </a:rPr>
              <a:t>Celigo moves data between systems.  Conscia gives that data meaning and serves it in real time.</a:t>
            </a:r>
            <a:endParaRPr b="0" i="0" sz="1400" u="none" cap="none" strike="noStrike">
              <a:solidFill>
                <a:srgbClr val="000000"/>
              </a:solidFill>
              <a:latin typeface="Arial"/>
              <a:ea typeface="Arial"/>
              <a:cs typeface="Arial"/>
              <a:sym typeface="Arial"/>
            </a:endParaRPr>
          </a:p>
        </p:txBody>
      </p:sp>
      <p:sp>
        <p:nvSpPr>
          <p:cNvPr id="706" name="Google Shape;706;p33"/>
          <p:cNvSpPr/>
          <p:nvPr/>
        </p:nvSpPr>
        <p:spPr>
          <a:xfrm>
            <a:off x="8216347" y="101600"/>
            <a:ext cx="812800" cy="177800"/>
          </a:xfrm>
          <a:prstGeom prst="roundRect">
            <a:avLst>
              <a:gd fmla="val 2000" name="adj"/>
            </a:avLst>
          </a:prstGeom>
          <a:solidFill>
            <a:srgbClr val="F3F4F6"/>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91304"/>
              </a:lnSpc>
              <a:spcBef>
                <a:spcPts val="0"/>
              </a:spcBef>
              <a:spcAft>
                <a:spcPts val="0"/>
              </a:spcAft>
              <a:buClr>
                <a:srgbClr val="000000"/>
              </a:buClr>
              <a:buSzPts val="575"/>
              <a:buFont typeface="Arial"/>
              <a:buNone/>
            </a:pPr>
            <a:r>
              <a:rPr b="1" i="0" lang="en-US" sz="575" u="none" cap="none" strike="noStrike">
                <a:solidFill>
                  <a:srgbClr val="9CA3AF"/>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34"/>
          <p:cNvSpPr/>
          <p:nvPr/>
        </p:nvSpPr>
        <p:spPr>
          <a:xfrm>
            <a:off x="0" y="0"/>
            <a:ext cx="101600" cy="5143500"/>
          </a:xfrm>
          <a:prstGeom prst="rect">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34"/>
          <p:cNvSpPr/>
          <p:nvPr/>
        </p:nvSpPr>
        <p:spPr>
          <a:xfrm>
            <a:off x="381000" y="7620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11827"/>
                </a:solidFill>
                <a:latin typeface="Calibri"/>
                <a:ea typeface="Calibri"/>
                <a:cs typeface="Calibri"/>
                <a:sym typeface="Calibri"/>
              </a:rPr>
              <a:t>How Conscia Integrates with Celigo</a:t>
            </a:r>
            <a:endParaRPr b="0" i="0" sz="1400" u="none" cap="none" strike="noStrike">
              <a:solidFill>
                <a:srgbClr val="000000"/>
              </a:solidFill>
              <a:latin typeface="Arial"/>
              <a:ea typeface="Arial"/>
              <a:cs typeface="Arial"/>
              <a:sym typeface="Arial"/>
            </a:endParaRPr>
          </a:p>
        </p:txBody>
      </p:sp>
      <p:sp>
        <p:nvSpPr>
          <p:cNvPr id="714" name="Google Shape;714;p34"/>
          <p:cNvSpPr/>
          <p:nvPr/>
        </p:nvSpPr>
        <p:spPr>
          <a:xfrm>
            <a:off x="381000" y="533400"/>
            <a:ext cx="7772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850" u="none" cap="none" strike="noStrike">
                <a:solidFill>
                  <a:srgbClr val="6B7280"/>
                </a:solidFill>
                <a:latin typeface="Calibri"/>
                <a:ea typeface="Calibri"/>
                <a:cs typeface="Calibri"/>
                <a:sym typeface="Calibri"/>
              </a:rPr>
              <a:t>Three patterns, one end-state architecture</a:t>
            </a:r>
            <a:endParaRPr b="0" i="0" sz="850" u="none" cap="none" strike="noStrike">
              <a:solidFill>
                <a:srgbClr val="000000"/>
              </a:solidFill>
              <a:latin typeface="Arial"/>
              <a:ea typeface="Arial"/>
              <a:cs typeface="Arial"/>
              <a:sym typeface="Arial"/>
            </a:endParaRPr>
          </a:p>
        </p:txBody>
      </p:sp>
      <p:cxnSp>
        <p:nvCxnSpPr>
          <p:cNvPr id="715" name="Google Shape;715;p34"/>
          <p:cNvCxnSpPr/>
          <p:nvPr/>
        </p:nvCxnSpPr>
        <p:spPr>
          <a:xfrm>
            <a:off x="254000" y="838200"/>
            <a:ext cx="8636000" cy="0"/>
          </a:xfrm>
          <a:prstGeom prst="straightConnector1">
            <a:avLst/>
          </a:prstGeom>
          <a:noFill/>
          <a:ln cap="flat" cmpd="sng" w="9525">
            <a:solidFill>
              <a:srgbClr val="E5E7EB"/>
            </a:solidFill>
            <a:prstDash val="solid"/>
            <a:round/>
            <a:headEnd len="sm" w="sm" type="none"/>
            <a:tailEnd len="sm" w="sm" type="none"/>
          </a:ln>
        </p:spPr>
      </p:cxnSp>
      <p:sp>
        <p:nvSpPr>
          <p:cNvPr id="716" name="Google Shape;716;p34"/>
          <p:cNvSpPr/>
          <p:nvPr/>
        </p:nvSpPr>
        <p:spPr>
          <a:xfrm>
            <a:off x="0" y="4876800"/>
            <a:ext cx="9144000" cy="266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9CA3AF"/>
                </a:solidFill>
                <a:latin typeface="Arial"/>
                <a:ea typeface="Arial"/>
                <a:cs typeface="Arial"/>
                <a:sym typeface="Arial"/>
              </a:rPr>
              <a:t>Lovesac × Conscia  ·  Project Kick-off  ·  April 8, 2026</a:t>
            </a:r>
            <a:endParaRPr b="0" i="0" sz="800" u="none" cap="none" strike="noStrike">
              <a:solidFill>
                <a:srgbClr val="9CA3AF"/>
              </a:solidFill>
              <a:latin typeface="Arial"/>
              <a:ea typeface="Arial"/>
              <a:cs typeface="Arial"/>
              <a:sym typeface="Arial"/>
            </a:endParaRPr>
          </a:p>
        </p:txBody>
      </p:sp>
      <p:sp>
        <p:nvSpPr>
          <p:cNvPr id="717" name="Google Shape;717;p34"/>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34"/>
          <p:cNvSpPr/>
          <p:nvPr/>
        </p:nvSpPr>
        <p:spPr>
          <a:xfrm>
            <a:off x="203200" y="889000"/>
            <a:ext cx="2768600" cy="1549400"/>
          </a:xfrm>
          <a:prstGeom prst="roundRect">
            <a:avLst>
              <a:gd fmla="val 2000" name="adj"/>
            </a:avLst>
          </a:prstGeom>
          <a:solidFill>
            <a:srgbClr val="F9FAFB"/>
          </a:solidFill>
          <a:ln cap="flat" cmpd="sng" w="9525">
            <a:solidFill>
              <a:srgbClr val="EB1A6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34"/>
          <p:cNvSpPr/>
          <p:nvPr/>
        </p:nvSpPr>
        <p:spPr>
          <a:xfrm>
            <a:off x="2235200" y="939800"/>
            <a:ext cx="685800" cy="139700"/>
          </a:xfrm>
          <a:prstGeom prst="roundRect">
            <a:avLst>
              <a:gd fmla="val 3000" name="adj"/>
            </a:avLst>
          </a:prstGeom>
          <a:solidFill>
            <a:srgbClr val="EB1A63"/>
          </a:solidFill>
          <a:ln>
            <a:noFill/>
          </a:ln>
        </p:spPr>
        <p:txBody>
          <a:bodyPr anchorCtr="0" anchor="ctr" bIns="25400" lIns="25400" spcFirstLastPara="1" rIns="25400" wrap="square" tIns="25400">
            <a:noAutofit/>
          </a:bodyPr>
          <a:lstStyle/>
          <a:p>
            <a:pPr indent="0" lvl="0" marL="0" marR="0" rtl="0" algn="ctr">
              <a:lnSpc>
                <a:spcPct val="200000"/>
              </a:lnSpc>
              <a:spcBef>
                <a:spcPts val="0"/>
              </a:spcBef>
              <a:spcAft>
                <a:spcPts val="0"/>
              </a:spcAft>
              <a:buClr>
                <a:srgbClr val="000000"/>
              </a:buClr>
              <a:buSzPts val="525"/>
              <a:buFont typeface="Arial"/>
              <a:buNone/>
            </a:pPr>
            <a:r>
              <a:rPr b="1" i="0" lang="en-US" sz="525" u="none" cap="none" strike="noStrike">
                <a:solidFill>
                  <a:srgbClr val="FFFFFF"/>
                </a:solidFill>
                <a:latin typeface="Calibri"/>
                <a:ea typeface="Calibri"/>
                <a:cs typeface="Calibri"/>
                <a:sym typeface="Calibri"/>
              </a:rPr>
              <a:t>RECOMMENDED</a:t>
            </a:r>
            <a:endParaRPr b="0" i="0" sz="1400" u="none" cap="none" strike="noStrike">
              <a:solidFill>
                <a:srgbClr val="000000"/>
              </a:solidFill>
              <a:latin typeface="Arial"/>
              <a:ea typeface="Arial"/>
              <a:cs typeface="Arial"/>
              <a:sym typeface="Arial"/>
            </a:endParaRPr>
          </a:p>
        </p:txBody>
      </p:sp>
      <p:sp>
        <p:nvSpPr>
          <p:cNvPr id="720" name="Google Shape;720;p34"/>
          <p:cNvSpPr/>
          <p:nvPr/>
        </p:nvSpPr>
        <p:spPr>
          <a:xfrm>
            <a:off x="254000" y="939800"/>
            <a:ext cx="1016000" cy="139700"/>
          </a:xfrm>
          <a:prstGeom prst="rect">
            <a:avLst/>
          </a:prstGeom>
          <a:noFill/>
          <a:ln>
            <a:noFill/>
          </a:ln>
        </p:spPr>
        <p:txBody>
          <a:bodyPr anchorCtr="0" anchor="t" bIns="25400" lIns="25400" spcFirstLastPara="1" rIns="25400" wrap="square" tIns="25400">
            <a:noAutofit/>
          </a:bodyPr>
          <a:lstStyle/>
          <a:p>
            <a:pPr indent="0" lvl="0" marL="0" marR="0" rtl="0" algn="l">
              <a:lnSpc>
                <a:spcPct val="104999"/>
              </a:lnSpc>
              <a:spcBef>
                <a:spcPts val="0"/>
              </a:spcBef>
              <a:spcAft>
                <a:spcPts val="0"/>
              </a:spcAft>
              <a:buClr>
                <a:srgbClr val="000000"/>
              </a:buClr>
              <a:buSzPts val="1000"/>
              <a:buFont typeface="Arial"/>
              <a:buNone/>
            </a:pPr>
            <a:r>
              <a:rPr b="1" i="0" lang="en-US" sz="1000" u="none" cap="none" strike="noStrike">
                <a:solidFill>
                  <a:srgbClr val="EB1A63"/>
                </a:solidFill>
                <a:latin typeface="Calibri"/>
                <a:ea typeface="Calibri"/>
                <a:cs typeface="Calibri"/>
                <a:sym typeface="Calibri"/>
              </a:rPr>
              <a:t>A.  INGEST</a:t>
            </a:r>
            <a:endParaRPr b="0" i="0" sz="1400" u="none" cap="none" strike="noStrike">
              <a:solidFill>
                <a:srgbClr val="000000"/>
              </a:solidFill>
              <a:latin typeface="Arial"/>
              <a:ea typeface="Arial"/>
              <a:cs typeface="Arial"/>
              <a:sym typeface="Arial"/>
            </a:endParaRPr>
          </a:p>
        </p:txBody>
      </p:sp>
      <p:sp>
        <p:nvSpPr>
          <p:cNvPr id="721" name="Google Shape;721;p34"/>
          <p:cNvSpPr/>
          <p:nvPr/>
        </p:nvSpPr>
        <p:spPr>
          <a:xfrm>
            <a:off x="254000" y="1250950"/>
            <a:ext cx="2641600" cy="1651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Celigo feeds Conscia</a:t>
            </a:r>
            <a:endParaRPr b="0" i="0" sz="1400" u="none" cap="none" strike="noStrike">
              <a:solidFill>
                <a:srgbClr val="000000"/>
              </a:solidFill>
              <a:latin typeface="Arial"/>
              <a:ea typeface="Arial"/>
              <a:cs typeface="Arial"/>
              <a:sym typeface="Arial"/>
            </a:endParaRPr>
          </a:p>
        </p:txBody>
      </p:sp>
      <p:sp>
        <p:nvSpPr>
          <p:cNvPr id="722" name="Google Shape;722;p34"/>
          <p:cNvSpPr/>
          <p:nvPr/>
        </p:nvSpPr>
        <p:spPr>
          <a:xfrm>
            <a:off x="266700" y="1447800"/>
            <a:ext cx="2641600" cy="927100"/>
          </a:xfrm>
          <a:prstGeom prst="rect">
            <a:avLst/>
          </a:prstGeom>
          <a:noFill/>
          <a:ln>
            <a:noFill/>
          </a:ln>
        </p:spPr>
        <p:txBody>
          <a:bodyPr anchorCtr="0" anchor="t" bIns="38100" lIns="38100" spcFirstLastPara="1" rIns="38100" wrap="square" tIns="38100">
            <a:noAutofit/>
          </a:bodyPr>
          <a:lstStyle/>
          <a:p>
            <a:pPr indent="-120960" lvl="0" marL="120960" marR="0" rtl="0" algn="l">
              <a:lnSpc>
                <a:spcPct val="177419"/>
              </a:lnSpc>
              <a:spcBef>
                <a:spcPts val="0"/>
              </a:spcBef>
              <a:spcAft>
                <a:spcPts val="0"/>
              </a:spcAft>
              <a:buClr>
                <a:srgbClr val="000000"/>
              </a:buClr>
              <a:buSzPts val="620"/>
              <a:buFont typeface="Arial"/>
              <a:buChar char="•"/>
            </a:pPr>
            <a:r>
              <a:rPr b="0" i="0" lang="en-US" sz="620" u="none" cap="none" strike="noStrike">
                <a:solidFill>
                  <a:srgbClr val="374151"/>
                </a:solidFill>
                <a:latin typeface="Calibri"/>
                <a:ea typeface="Calibri"/>
                <a:cs typeface="Calibri"/>
                <a:sym typeface="Calibri"/>
              </a:rPr>
              <a:t>Celigo's existing NetSuite item/matrix/kit exports also write to Conscia ingest endpoint</a:t>
            </a:r>
            <a:endParaRPr b="0" i="0" sz="1400" u="none" cap="none" strike="noStrike">
              <a:solidFill>
                <a:srgbClr val="000000"/>
              </a:solidFill>
              <a:latin typeface="Arial"/>
              <a:ea typeface="Arial"/>
              <a:cs typeface="Arial"/>
              <a:sym typeface="Arial"/>
            </a:endParaRPr>
          </a:p>
          <a:p>
            <a:pPr indent="-120960" lvl="0" marL="120960" marR="0" rtl="0" algn="l">
              <a:lnSpc>
                <a:spcPct val="177419"/>
              </a:lnSpc>
              <a:spcBef>
                <a:spcPts val="30"/>
              </a:spcBef>
              <a:spcAft>
                <a:spcPts val="0"/>
              </a:spcAft>
              <a:buClr>
                <a:srgbClr val="000000"/>
              </a:buClr>
              <a:buSzPts val="620"/>
              <a:buFont typeface="Arial"/>
              <a:buChar char="•"/>
            </a:pPr>
            <a:r>
              <a:rPr b="0" i="0" lang="en-US" sz="620" u="none" cap="none" strike="noStrike">
                <a:solidFill>
                  <a:srgbClr val="374151"/>
                </a:solidFill>
                <a:latin typeface="Calibri"/>
                <a:ea typeface="Calibri"/>
                <a:cs typeface="Calibri"/>
                <a:sym typeface="Calibri"/>
              </a:rPr>
              <a:t>Reuses existing saved searches, custom fields, and field mappings</a:t>
            </a:r>
            <a:endParaRPr b="0" i="0" sz="1400" u="none" cap="none" strike="noStrike">
              <a:solidFill>
                <a:srgbClr val="000000"/>
              </a:solidFill>
              <a:latin typeface="Arial"/>
              <a:ea typeface="Arial"/>
              <a:cs typeface="Arial"/>
              <a:sym typeface="Arial"/>
            </a:endParaRPr>
          </a:p>
          <a:p>
            <a:pPr indent="-120960" lvl="0" marL="120960" marR="0" rtl="0" algn="l">
              <a:lnSpc>
                <a:spcPct val="177419"/>
              </a:lnSpc>
              <a:spcBef>
                <a:spcPts val="30"/>
              </a:spcBef>
              <a:spcAft>
                <a:spcPts val="0"/>
              </a:spcAft>
              <a:buClr>
                <a:srgbClr val="000000"/>
              </a:buClr>
              <a:buSzPts val="620"/>
              <a:buFont typeface="Arial"/>
              <a:buChar char="•"/>
            </a:pPr>
            <a:r>
              <a:rPr b="0" i="0" lang="en-US" sz="620" u="none" cap="none" strike="noStrike">
                <a:solidFill>
                  <a:srgbClr val="374151"/>
                </a:solidFill>
                <a:latin typeface="Calibri"/>
                <a:ea typeface="Calibri"/>
                <a:cs typeface="Calibri"/>
                <a:sym typeface="Calibri"/>
              </a:rPr>
              <a:t>JSON webhook or SFTP — nightly delta + on-demand full refresh</a:t>
            </a:r>
            <a:endParaRPr b="0" i="0" sz="1400" u="none" cap="none" strike="noStrike">
              <a:solidFill>
                <a:srgbClr val="000000"/>
              </a:solidFill>
              <a:latin typeface="Arial"/>
              <a:ea typeface="Arial"/>
              <a:cs typeface="Arial"/>
              <a:sym typeface="Arial"/>
            </a:endParaRPr>
          </a:p>
          <a:p>
            <a:pPr indent="0" lvl="0" marL="0" marR="0" rtl="0" algn="l">
              <a:lnSpc>
                <a:spcPct val="175000"/>
              </a:lnSpc>
              <a:spcBef>
                <a:spcPts val="0"/>
              </a:spcBef>
              <a:spcAft>
                <a:spcPts val="0"/>
              </a:spcAft>
              <a:buClr>
                <a:srgbClr val="000000"/>
              </a:buClr>
              <a:buSzPts val="600"/>
              <a:buFont typeface="Arial"/>
              <a:buNone/>
            </a:pPr>
            <a:r>
              <a:rPr b="0" i="1" lang="en-US" sz="600" u="none" cap="none" strike="noStrike">
                <a:solidFill>
                  <a:srgbClr val="6B7280"/>
                </a:solidFill>
                <a:latin typeface="Calibri"/>
                <a:ea typeface="Calibri"/>
                <a:cs typeface="Calibri"/>
                <a:sym typeface="Calibri"/>
              </a:rPr>
              <a:t>Why: don't rebuild work Celigo is already doing well</a:t>
            </a:r>
            <a:endParaRPr b="0" i="0" sz="1400" u="none" cap="none" strike="noStrike">
              <a:solidFill>
                <a:srgbClr val="000000"/>
              </a:solidFill>
              <a:latin typeface="Arial"/>
              <a:ea typeface="Arial"/>
              <a:cs typeface="Arial"/>
              <a:sym typeface="Arial"/>
            </a:endParaRPr>
          </a:p>
        </p:txBody>
      </p:sp>
      <p:sp>
        <p:nvSpPr>
          <p:cNvPr id="723" name="Google Shape;723;p34"/>
          <p:cNvSpPr/>
          <p:nvPr/>
        </p:nvSpPr>
        <p:spPr>
          <a:xfrm>
            <a:off x="3060700" y="889000"/>
            <a:ext cx="2768600" cy="1549400"/>
          </a:xfrm>
          <a:prstGeom prst="roundRect">
            <a:avLst>
              <a:gd fmla="val 2000" name="adj"/>
            </a:avLst>
          </a:prstGeom>
          <a:solidFill>
            <a:srgbClr val="F0FDFA"/>
          </a:solidFill>
          <a:ln cap="flat" cmpd="sng" w="9525">
            <a:solidFill>
              <a:srgbClr val="5EEAD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34"/>
          <p:cNvSpPr/>
          <p:nvPr/>
        </p:nvSpPr>
        <p:spPr>
          <a:xfrm>
            <a:off x="3111500" y="939800"/>
            <a:ext cx="1143000" cy="139700"/>
          </a:xfrm>
          <a:prstGeom prst="rect">
            <a:avLst/>
          </a:prstGeom>
          <a:noFill/>
          <a:ln>
            <a:noFill/>
          </a:ln>
        </p:spPr>
        <p:txBody>
          <a:bodyPr anchorCtr="0" anchor="t" bIns="25400" lIns="25400" spcFirstLastPara="1" rIns="25400" wrap="square" tIns="25400">
            <a:noAutofit/>
          </a:bodyPr>
          <a:lstStyle/>
          <a:p>
            <a:pPr indent="0" lvl="0" marL="0" marR="0" rtl="0" algn="l">
              <a:lnSpc>
                <a:spcPct val="104999"/>
              </a:lnSpc>
              <a:spcBef>
                <a:spcPts val="0"/>
              </a:spcBef>
              <a:spcAft>
                <a:spcPts val="0"/>
              </a:spcAft>
              <a:buClr>
                <a:srgbClr val="000000"/>
              </a:buClr>
              <a:buSzPts val="1000"/>
              <a:buFont typeface="Arial"/>
              <a:buNone/>
            </a:pPr>
            <a:r>
              <a:rPr b="1" i="0" lang="en-US" sz="1000" u="none" cap="none" strike="noStrike">
                <a:solidFill>
                  <a:srgbClr val="2D605D"/>
                </a:solidFill>
                <a:latin typeface="Calibri"/>
                <a:ea typeface="Calibri"/>
                <a:cs typeface="Calibri"/>
                <a:sym typeface="Calibri"/>
              </a:rPr>
              <a:t>B.  READ PATH</a:t>
            </a:r>
            <a:endParaRPr b="0" i="0" sz="1400" u="none" cap="none" strike="noStrike">
              <a:solidFill>
                <a:srgbClr val="000000"/>
              </a:solidFill>
              <a:latin typeface="Arial"/>
              <a:ea typeface="Arial"/>
              <a:cs typeface="Arial"/>
              <a:sym typeface="Arial"/>
            </a:endParaRPr>
          </a:p>
        </p:txBody>
      </p:sp>
      <p:sp>
        <p:nvSpPr>
          <p:cNvPr id="725" name="Google Shape;725;p34"/>
          <p:cNvSpPr/>
          <p:nvPr/>
        </p:nvSpPr>
        <p:spPr>
          <a:xfrm>
            <a:off x="3124200" y="1130298"/>
            <a:ext cx="2641600" cy="317501"/>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POS calls Conscia direct, Lovesac.com calls Experience API &amp; Agent shopping calls via MCP</a:t>
            </a:r>
            <a:endParaRPr b="0" i="0" sz="1400" u="none" cap="none" strike="noStrike">
              <a:solidFill>
                <a:srgbClr val="000000"/>
              </a:solidFill>
              <a:latin typeface="Arial"/>
              <a:ea typeface="Arial"/>
              <a:cs typeface="Arial"/>
              <a:sym typeface="Arial"/>
            </a:endParaRPr>
          </a:p>
        </p:txBody>
      </p:sp>
      <p:sp>
        <p:nvSpPr>
          <p:cNvPr id="726" name="Google Shape;726;p34"/>
          <p:cNvSpPr/>
          <p:nvPr/>
        </p:nvSpPr>
        <p:spPr>
          <a:xfrm>
            <a:off x="3124200" y="1447800"/>
            <a:ext cx="2641600" cy="927099"/>
          </a:xfrm>
          <a:prstGeom prst="rect">
            <a:avLst/>
          </a:prstGeom>
          <a:noFill/>
          <a:ln>
            <a:noFill/>
          </a:ln>
        </p:spPr>
        <p:txBody>
          <a:bodyPr anchorCtr="0" anchor="t" bIns="38100" lIns="38100" spcFirstLastPara="1" rIns="38100" wrap="square" tIns="38100">
            <a:noAutofit/>
          </a:bodyPr>
          <a:lstStyle/>
          <a:p>
            <a:pPr indent="-120960" lvl="0" marL="120960" marR="0" rtl="0" algn="l">
              <a:lnSpc>
                <a:spcPct val="177419"/>
              </a:lnSpc>
              <a:spcBef>
                <a:spcPts val="0"/>
              </a:spcBef>
              <a:spcAft>
                <a:spcPts val="0"/>
              </a:spcAft>
              <a:buClr>
                <a:srgbClr val="000000"/>
              </a:buClr>
              <a:buSzPts val="620"/>
              <a:buFont typeface="Arial"/>
              <a:buChar char="•"/>
            </a:pPr>
            <a:r>
              <a:rPr b="0" i="0" lang="en-US" sz="620" u="none" cap="none" strike="noStrike">
                <a:solidFill>
                  <a:srgbClr val="134E4A"/>
                </a:solidFill>
                <a:latin typeface="Calibri"/>
                <a:ea typeface="Calibri"/>
                <a:cs typeface="Calibri"/>
                <a:sym typeface="Calibri"/>
              </a:rPr>
              <a:t>Salesforce Retail Cloud calls DX Engine Experience API directly for real-time config validation</a:t>
            </a:r>
            <a:endParaRPr b="0" i="0" sz="1400" u="none" cap="none" strike="noStrike">
              <a:solidFill>
                <a:srgbClr val="000000"/>
              </a:solidFill>
              <a:latin typeface="Arial"/>
              <a:ea typeface="Arial"/>
              <a:cs typeface="Arial"/>
              <a:sym typeface="Arial"/>
            </a:endParaRPr>
          </a:p>
          <a:p>
            <a:pPr indent="-120960" lvl="0" marL="120960" marR="0" rtl="0" algn="l">
              <a:lnSpc>
                <a:spcPct val="177419"/>
              </a:lnSpc>
              <a:spcBef>
                <a:spcPts val="30"/>
              </a:spcBef>
              <a:spcAft>
                <a:spcPts val="0"/>
              </a:spcAft>
              <a:buClr>
                <a:srgbClr val="000000"/>
              </a:buClr>
              <a:buSzPts val="620"/>
              <a:buFont typeface="Arial"/>
              <a:buChar char="•"/>
            </a:pPr>
            <a:r>
              <a:rPr b="0" i="0" lang="en-US" sz="620" u="none" cap="none" strike="noStrike">
                <a:solidFill>
                  <a:srgbClr val="134E4A"/>
                </a:solidFill>
                <a:latin typeface="Calibri"/>
                <a:ea typeface="Calibri"/>
                <a:cs typeface="Calibri"/>
                <a:sym typeface="Calibri"/>
              </a:rPr>
              <a:t>Celigo is not on this path — wrong latency profile for synchronous checkout</a:t>
            </a:r>
            <a:endParaRPr b="0" i="0" sz="1400" u="none" cap="none" strike="noStrike">
              <a:solidFill>
                <a:srgbClr val="000000"/>
              </a:solidFill>
              <a:latin typeface="Arial"/>
              <a:ea typeface="Arial"/>
              <a:cs typeface="Arial"/>
              <a:sym typeface="Arial"/>
            </a:endParaRPr>
          </a:p>
          <a:p>
            <a:pPr indent="0" lvl="0" marL="0" marR="0" rtl="0" algn="l">
              <a:lnSpc>
                <a:spcPct val="175000"/>
              </a:lnSpc>
              <a:spcBef>
                <a:spcPts val="0"/>
              </a:spcBef>
              <a:spcAft>
                <a:spcPts val="0"/>
              </a:spcAft>
              <a:buClr>
                <a:srgbClr val="000000"/>
              </a:buClr>
              <a:buSzPts val="600"/>
              <a:buFont typeface="Arial"/>
              <a:buNone/>
            </a:pPr>
            <a:r>
              <a:rPr b="0" i="1" lang="en-US" sz="600" u="none" cap="none" strike="noStrike">
                <a:solidFill>
                  <a:srgbClr val="0D9488"/>
                </a:solidFill>
                <a:latin typeface="Calibri"/>
                <a:ea typeface="Calibri"/>
                <a:cs typeface="Calibri"/>
                <a:sym typeface="Calibri"/>
              </a:rPr>
              <a:t>Phase 1 POC scope</a:t>
            </a:r>
            <a:endParaRPr b="0" i="0" sz="1400" u="none" cap="none" strike="noStrike">
              <a:solidFill>
                <a:srgbClr val="000000"/>
              </a:solidFill>
              <a:latin typeface="Arial"/>
              <a:ea typeface="Arial"/>
              <a:cs typeface="Arial"/>
              <a:sym typeface="Arial"/>
            </a:endParaRPr>
          </a:p>
        </p:txBody>
      </p:sp>
      <p:sp>
        <p:nvSpPr>
          <p:cNvPr id="727" name="Google Shape;727;p34"/>
          <p:cNvSpPr/>
          <p:nvPr/>
        </p:nvSpPr>
        <p:spPr>
          <a:xfrm>
            <a:off x="5918200" y="889000"/>
            <a:ext cx="2768600" cy="1549400"/>
          </a:xfrm>
          <a:prstGeom prst="roundRect">
            <a:avLst>
              <a:gd fmla="val 2000" name="adj"/>
            </a:avLst>
          </a:prstGeom>
          <a:solidFill>
            <a:srgbClr val="FAFAF9"/>
          </a:solid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4"/>
          <p:cNvSpPr/>
          <p:nvPr/>
        </p:nvSpPr>
        <p:spPr>
          <a:xfrm>
            <a:off x="5969000" y="939800"/>
            <a:ext cx="1270000" cy="139700"/>
          </a:xfrm>
          <a:prstGeom prst="rect">
            <a:avLst/>
          </a:prstGeom>
          <a:noFill/>
          <a:ln>
            <a:noFill/>
          </a:ln>
        </p:spPr>
        <p:txBody>
          <a:bodyPr anchorCtr="0" anchor="t" bIns="25400" lIns="25400" spcFirstLastPara="1" rIns="25400" wrap="square" tIns="25400">
            <a:noAutofit/>
          </a:bodyPr>
          <a:lstStyle/>
          <a:p>
            <a:pPr indent="0" lvl="0" marL="0" marR="0" rtl="0" algn="l">
              <a:lnSpc>
                <a:spcPct val="104999"/>
              </a:lnSpc>
              <a:spcBef>
                <a:spcPts val="0"/>
              </a:spcBef>
              <a:spcAft>
                <a:spcPts val="0"/>
              </a:spcAft>
              <a:buClr>
                <a:srgbClr val="000000"/>
              </a:buClr>
              <a:buSzPts val="1000"/>
              <a:buFont typeface="Arial"/>
              <a:buNone/>
            </a:pPr>
            <a:r>
              <a:rPr b="1" i="0" lang="en-US" sz="1000" u="none" cap="none" strike="noStrike">
                <a:solidFill>
                  <a:srgbClr val="6D727E"/>
                </a:solidFill>
                <a:latin typeface="Calibri"/>
                <a:ea typeface="Calibri"/>
                <a:cs typeface="Calibri"/>
                <a:sym typeface="Calibri"/>
              </a:rPr>
              <a:t>C.  BOM HANDOFF</a:t>
            </a:r>
            <a:endParaRPr b="0" i="0" sz="1400" u="none" cap="none" strike="noStrike">
              <a:solidFill>
                <a:srgbClr val="000000"/>
              </a:solidFill>
              <a:latin typeface="Arial"/>
              <a:ea typeface="Arial"/>
              <a:cs typeface="Arial"/>
              <a:sym typeface="Arial"/>
            </a:endParaRPr>
          </a:p>
        </p:txBody>
      </p:sp>
      <p:sp>
        <p:nvSpPr>
          <p:cNvPr id="729" name="Google Shape;729;p34"/>
          <p:cNvSpPr/>
          <p:nvPr/>
        </p:nvSpPr>
        <p:spPr>
          <a:xfrm>
            <a:off x="5981700" y="1250950"/>
            <a:ext cx="2641600" cy="1651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000000"/>
              </a:buClr>
              <a:buSzPts val="750"/>
              <a:buFont typeface="Arial"/>
              <a:buNone/>
            </a:pPr>
            <a:r>
              <a:rPr b="1" i="0" lang="en-US" sz="750" u="none" cap="none" strike="noStrike">
                <a:solidFill>
                  <a:srgbClr val="111827"/>
                </a:solidFill>
                <a:latin typeface="Calibri"/>
                <a:ea typeface="Calibri"/>
                <a:cs typeface="Calibri"/>
                <a:sym typeface="Calibri"/>
              </a:rPr>
              <a:t>Conscia hands off via Celigo</a:t>
            </a:r>
            <a:endParaRPr b="0" i="0" sz="1400" u="none" cap="none" strike="noStrike">
              <a:solidFill>
                <a:srgbClr val="000000"/>
              </a:solidFill>
              <a:latin typeface="Arial"/>
              <a:ea typeface="Arial"/>
              <a:cs typeface="Arial"/>
              <a:sym typeface="Arial"/>
            </a:endParaRPr>
          </a:p>
        </p:txBody>
      </p:sp>
      <p:sp>
        <p:nvSpPr>
          <p:cNvPr id="730" name="Google Shape;730;p34"/>
          <p:cNvSpPr/>
          <p:nvPr/>
        </p:nvSpPr>
        <p:spPr>
          <a:xfrm>
            <a:off x="5981700" y="1447800"/>
            <a:ext cx="2641600" cy="927100"/>
          </a:xfrm>
          <a:prstGeom prst="rect">
            <a:avLst/>
          </a:prstGeom>
          <a:noFill/>
          <a:ln>
            <a:noFill/>
          </a:ln>
        </p:spPr>
        <p:txBody>
          <a:bodyPr anchorCtr="0" anchor="t" bIns="38100" lIns="38100" spcFirstLastPara="1" rIns="38100" wrap="square" tIns="38100">
            <a:noAutofit/>
          </a:bodyPr>
          <a:lstStyle/>
          <a:p>
            <a:pPr indent="-120960" lvl="0" marL="120960" marR="0" rtl="0" algn="l">
              <a:lnSpc>
                <a:spcPct val="177419"/>
              </a:lnSpc>
              <a:spcBef>
                <a:spcPts val="0"/>
              </a:spcBef>
              <a:spcAft>
                <a:spcPts val="0"/>
              </a:spcAft>
              <a:buClr>
                <a:srgbClr val="000000"/>
              </a:buClr>
              <a:buSzPts val="620"/>
              <a:buFont typeface="Arial"/>
              <a:buChar char="•"/>
            </a:pPr>
            <a:r>
              <a:rPr b="0" i="0" lang="en-US" sz="620" u="none" cap="none" strike="noStrike">
                <a:solidFill>
                  <a:srgbClr val="374151"/>
                </a:solidFill>
                <a:latin typeface="Calibri"/>
                <a:ea typeface="Calibri"/>
                <a:cs typeface="Calibri"/>
                <a:sym typeface="Calibri"/>
              </a:rPr>
              <a:t>DX Engine produces exploded BOM from a Config ID</a:t>
            </a:r>
            <a:endParaRPr b="0" i="0" sz="1400" u="none" cap="none" strike="noStrike">
              <a:solidFill>
                <a:srgbClr val="000000"/>
              </a:solidFill>
              <a:latin typeface="Arial"/>
              <a:ea typeface="Arial"/>
              <a:cs typeface="Arial"/>
              <a:sym typeface="Arial"/>
            </a:endParaRPr>
          </a:p>
          <a:p>
            <a:pPr indent="-120960" lvl="0" marL="120960" marR="0" rtl="0" algn="l">
              <a:lnSpc>
                <a:spcPct val="177419"/>
              </a:lnSpc>
              <a:spcBef>
                <a:spcPts val="30"/>
              </a:spcBef>
              <a:spcAft>
                <a:spcPts val="0"/>
              </a:spcAft>
              <a:buClr>
                <a:srgbClr val="000000"/>
              </a:buClr>
              <a:buSzPts val="620"/>
              <a:buFont typeface="Arial"/>
              <a:buChar char="•"/>
            </a:pPr>
            <a:r>
              <a:rPr b="0" i="0" lang="en-US" sz="620" u="none" cap="none" strike="noStrike">
                <a:solidFill>
                  <a:srgbClr val="374151"/>
                </a:solidFill>
                <a:latin typeface="Calibri"/>
                <a:ea typeface="Calibri"/>
                <a:cs typeface="Calibri"/>
                <a:sym typeface="Calibri"/>
              </a:rPr>
              <a:t>Hands off to existing Celigo flow talking to Manhattan Active Omni</a:t>
            </a:r>
            <a:endParaRPr b="0" i="0" sz="1400" u="none" cap="none" strike="noStrike">
              <a:solidFill>
                <a:srgbClr val="000000"/>
              </a:solidFill>
              <a:latin typeface="Arial"/>
              <a:ea typeface="Arial"/>
              <a:cs typeface="Arial"/>
              <a:sym typeface="Arial"/>
            </a:endParaRPr>
          </a:p>
          <a:p>
            <a:pPr indent="0" lvl="0" marL="0" marR="0" rtl="0" algn="l">
              <a:lnSpc>
                <a:spcPct val="175000"/>
              </a:lnSpc>
              <a:spcBef>
                <a:spcPts val="0"/>
              </a:spcBef>
              <a:spcAft>
                <a:spcPts val="0"/>
              </a:spcAft>
              <a:buClr>
                <a:srgbClr val="000000"/>
              </a:buClr>
              <a:buSzPts val="600"/>
              <a:buFont typeface="Arial"/>
              <a:buNone/>
            </a:pPr>
            <a:r>
              <a:rPr b="0" i="1" lang="en-US" sz="600" u="none" cap="none" strike="noStrike">
                <a:solidFill>
                  <a:srgbClr val="6B7280"/>
                </a:solidFill>
                <a:latin typeface="Calibri"/>
                <a:ea typeface="Calibri"/>
                <a:cs typeface="Calibri"/>
                <a:sym typeface="Calibri"/>
              </a:rPr>
              <a:t>Conscia = config brain;  Celigo = logistics plumbing</a:t>
            </a:r>
            <a:endParaRPr b="0" i="0" sz="1400" u="none" cap="none" strike="noStrike">
              <a:solidFill>
                <a:srgbClr val="000000"/>
              </a:solidFill>
              <a:latin typeface="Arial"/>
              <a:ea typeface="Arial"/>
              <a:cs typeface="Arial"/>
              <a:sym typeface="Arial"/>
            </a:endParaRPr>
          </a:p>
        </p:txBody>
      </p:sp>
      <p:sp>
        <p:nvSpPr>
          <p:cNvPr id="731" name="Google Shape;731;p34"/>
          <p:cNvSpPr/>
          <p:nvPr/>
        </p:nvSpPr>
        <p:spPr>
          <a:xfrm>
            <a:off x="203200" y="2489200"/>
            <a:ext cx="8737600" cy="12700"/>
          </a:xfrm>
          <a:prstGeom prst="rect">
            <a:avLst/>
          </a:prstGeom>
          <a:noFill/>
          <a:ln cap="flat" cmpd="sng" w="9525">
            <a:solidFill>
              <a:srgbClr val="D1D5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34"/>
          <p:cNvSpPr/>
          <p:nvPr/>
        </p:nvSpPr>
        <p:spPr>
          <a:xfrm>
            <a:off x="203200" y="2514600"/>
            <a:ext cx="2540000" cy="139700"/>
          </a:xfrm>
          <a:prstGeom prst="rect">
            <a:avLst/>
          </a:prstGeom>
          <a:noFill/>
          <a:ln>
            <a:noFill/>
          </a:ln>
        </p:spPr>
        <p:txBody>
          <a:bodyPr anchorCtr="0" anchor="t" bIns="25400" lIns="25400" spcFirstLastPara="1" rIns="25400" wrap="square" tIns="25400">
            <a:noAutofit/>
          </a:bodyPr>
          <a:lstStyle/>
          <a:p>
            <a:pPr indent="0" lvl="0" marL="0" marR="0" rtl="0" algn="l">
              <a:lnSpc>
                <a:spcPct val="168000"/>
              </a:lnSpc>
              <a:spcBef>
                <a:spcPts val="0"/>
              </a:spcBef>
              <a:spcAft>
                <a:spcPts val="0"/>
              </a:spcAft>
              <a:buClr>
                <a:srgbClr val="000000"/>
              </a:buClr>
              <a:buSzPts val="625"/>
              <a:buFont typeface="Arial"/>
              <a:buNone/>
            </a:pPr>
            <a:r>
              <a:rPr b="0" i="1" lang="en-US" sz="625" u="none" cap="none" strike="noStrike">
                <a:solidFill>
                  <a:srgbClr val="9CA3AF"/>
                </a:solidFill>
                <a:latin typeface="Calibri"/>
                <a:ea typeface="Calibri"/>
                <a:cs typeface="Calibri"/>
                <a:sym typeface="Calibri"/>
              </a:rPr>
              <a:t>Data flow diagram</a:t>
            </a:r>
            <a:endParaRPr b="0" i="0" sz="1400" u="none" cap="none" strike="noStrike">
              <a:solidFill>
                <a:srgbClr val="000000"/>
              </a:solidFill>
              <a:latin typeface="Arial"/>
              <a:ea typeface="Arial"/>
              <a:cs typeface="Arial"/>
              <a:sym typeface="Arial"/>
            </a:endParaRPr>
          </a:p>
        </p:txBody>
      </p:sp>
      <p:sp>
        <p:nvSpPr>
          <p:cNvPr id="733" name="Google Shape;733;p34"/>
          <p:cNvSpPr/>
          <p:nvPr/>
        </p:nvSpPr>
        <p:spPr>
          <a:xfrm>
            <a:off x="8140700" y="114300"/>
            <a:ext cx="863600" cy="139700"/>
          </a:xfrm>
          <a:prstGeom prst="roundRect">
            <a:avLst>
              <a:gd fmla="val 2000" name="adj"/>
            </a:avLst>
          </a:prstGeom>
          <a:solidFill>
            <a:srgbClr val="F3F4F6"/>
          </a:solidFill>
          <a:ln cap="flat" cmpd="sng" w="9525">
            <a:solidFill>
              <a:srgbClr val="D1D5DB"/>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82608"/>
              </a:lnSpc>
              <a:spcBef>
                <a:spcPts val="0"/>
              </a:spcBef>
              <a:spcAft>
                <a:spcPts val="0"/>
              </a:spcAft>
              <a:buClr>
                <a:srgbClr val="000000"/>
              </a:buClr>
              <a:buSzPts val="575"/>
              <a:buFont typeface="Arial"/>
              <a:buNone/>
            </a:pPr>
            <a:r>
              <a:rPr b="1" i="0" lang="en-US" sz="575" u="none" cap="none" strike="noStrike">
                <a:solidFill>
                  <a:srgbClr val="9CA3AF"/>
                </a:solidFill>
                <a:latin typeface="Calibri"/>
                <a:ea typeface="Calibri"/>
                <a:cs typeface="Calibri"/>
                <a:sym typeface="Calibri"/>
              </a:rPr>
              <a:t>APPENDIX</a:t>
            </a:r>
            <a:endParaRPr b="0" i="0" sz="1400" u="none" cap="none" strike="noStrike">
              <a:solidFill>
                <a:srgbClr val="000000"/>
              </a:solidFill>
              <a:latin typeface="Arial"/>
              <a:ea typeface="Arial"/>
              <a:cs typeface="Arial"/>
              <a:sym typeface="Arial"/>
            </a:endParaRPr>
          </a:p>
        </p:txBody>
      </p:sp>
      <p:sp>
        <p:nvSpPr>
          <p:cNvPr id="734" name="Google Shape;734;p34"/>
          <p:cNvSpPr/>
          <p:nvPr/>
        </p:nvSpPr>
        <p:spPr>
          <a:xfrm>
            <a:off x="203200" y="2717800"/>
            <a:ext cx="1117600" cy="355600"/>
          </a:xfrm>
          <a:prstGeom prst="roundRect">
            <a:avLst>
              <a:gd fmla="val 2000" name="adj"/>
            </a:avLst>
          </a:prstGeom>
          <a:solidFill>
            <a:srgbClr val="EFF6FF"/>
          </a:solidFill>
          <a:ln cap="flat" cmpd="sng" w="9525">
            <a:solidFill>
              <a:srgbClr val="93C5FD"/>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lnSpc>
                <a:spcPct val="150000"/>
              </a:lnSpc>
              <a:spcBef>
                <a:spcPts val="0"/>
              </a:spcBef>
              <a:spcAft>
                <a:spcPts val="0"/>
              </a:spcAft>
              <a:buClr>
                <a:srgbClr val="000000"/>
              </a:buClr>
              <a:buSzPts val="700"/>
              <a:buFont typeface="Arial"/>
              <a:buNone/>
            </a:pPr>
            <a:r>
              <a:rPr b="1" i="0" lang="en-US" sz="700" u="none" cap="none" strike="noStrike">
                <a:solidFill>
                  <a:srgbClr val="1E40AF"/>
                </a:solidFill>
                <a:latin typeface="Calibri"/>
                <a:ea typeface="Calibri"/>
                <a:cs typeface="Calibri"/>
                <a:sym typeface="Calibri"/>
              </a:rPr>
              <a:t>NetSuite</a:t>
            </a:r>
            <a:endParaRPr b="0" i="0" sz="1400" u="none" cap="none" strike="noStrike">
              <a:solidFill>
                <a:srgbClr val="000000"/>
              </a:solidFill>
              <a:latin typeface="Arial"/>
              <a:ea typeface="Arial"/>
              <a:cs typeface="Arial"/>
              <a:sym typeface="Arial"/>
            </a:endParaRPr>
          </a:p>
          <a:p>
            <a:pPr indent="0" lvl="0" marL="0" marR="0" rtl="0" algn="ctr">
              <a:lnSpc>
                <a:spcPct val="182608"/>
              </a:lnSpc>
              <a:spcBef>
                <a:spcPts val="0"/>
              </a:spcBef>
              <a:spcAft>
                <a:spcPts val="0"/>
              </a:spcAft>
              <a:buClr>
                <a:srgbClr val="000000"/>
              </a:buClr>
              <a:buSzPts val="575"/>
              <a:buFont typeface="Arial"/>
              <a:buNone/>
            </a:pPr>
            <a:r>
              <a:rPr b="0" i="0" lang="en-US" sz="575" u="none" cap="none" strike="noStrike">
                <a:solidFill>
                  <a:srgbClr val="1E40AF"/>
                </a:solidFill>
                <a:latin typeface="Calibri"/>
                <a:ea typeface="Calibri"/>
                <a:cs typeface="Calibri"/>
                <a:sym typeface="Calibri"/>
              </a:rPr>
              <a:t>ERP / Product Master</a:t>
            </a:r>
            <a:endParaRPr b="0" i="0" sz="1400" u="none" cap="none" strike="noStrike">
              <a:solidFill>
                <a:srgbClr val="000000"/>
              </a:solidFill>
              <a:latin typeface="Arial"/>
              <a:ea typeface="Arial"/>
              <a:cs typeface="Arial"/>
              <a:sym typeface="Arial"/>
            </a:endParaRPr>
          </a:p>
        </p:txBody>
      </p:sp>
      <p:sp>
        <p:nvSpPr>
          <p:cNvPr id="735" name="Google Shape;735;p34"/>
          <p:cNvSpPr/>
          <p:nvPr/>
        </p:nvSpPr>
        <p:spPr>
          <a:xfrm>
            <a:off x="1346200" y="2844800"/>
            <a:ext cx="152400" cy="1016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34"/>
          <p:cNvSpPr/>
          <p:nvPr/>
        </p:nvSpPr>
        <p:spPr>
          <a:xfrm>
            <a:off x="1524000" y="2717800"/>
            <a:ext cx="2234096" cy="355600"/>
          </a:xfrm>
          <a:prstGeom prst="roundRect">
            <a:avLst>
              <a:gd fmla="val 2000" name="adj"/>
            </a:avLst>
          </a:prstGeom>
          <a:solidFill>
            <a:srgbClr val="F9FAFB"/>
          </a:solidFill>
          <a:ln cap="flat" cmpd="sng" w="9525">
            <a:solidFill>
              <a:srgbClr val="D1D5DB"/>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lnSpc>
                <a:spcPct val="150000"/>
              </a:lnSpc>
              <a:spcBef>
                <a:spcPts val="0"/>
              </a:spcBef>
              <a:spcAft>
                <a:spcPts val="0"/>
              </a:spcAft>
              <a:buClr>
                <a:srgbClr val="000000"/>
              </a:buClr>
              <a:buSzPts val="700"/>
              <a:buFont typeface="Arial"/>
              <a:buNone/>
            </a:pPr>
            <a:r>
              <a:rPr b="1" i="0" lang="en-US" sz="700" u="none" cap="none" strike="noStrike">
                <a:solidFill>
                  <a:srgbClr val="374151"/>
                </a:solidFill>
                <a:latin typeface="Calibri"/>
                <a:ea typeface="Calibri"/>
                <a:cs typeface="Calibri"/>
                <a:sym typeface="Calibri"/>
              </a:rPr>
              <a:t>Celigo</a:t>
            </a:r>
            <a:endParaRPr b="0" i="0" sz="1400" u="none" cap="none" strike="noStrike">
              <a:solidFill>
                <a:srgbClr val="000000"/>
              </a:solidFill>
              <a:latin typeface="Arial"/>
              <a:ea typeface="Arial"/>
              <a:cs typeface="Arial"/>
              <a:sym typeface="Arial"/>
            </a:endParaRPr>
          </a:p>
          <a:p>
            <a:pPr indent="0" lvl="0" marL="0" marR="0" rtl="0" algn="ctr">
              <a:lnSpc>
                <a:spcPct val="182608"/>
              </a:lnSpc>
              <a:spcBef>
                <a:spcPts val="0"/>
              </a:spcBef>
              <a:spcAft>
                <a:spcPts val="0"/>
              </a:spcAft>
              <a:buClr>
                <a:srgbClr val="000000"/>
              </a:buClr>
              <a:buSzPts val="575"/>
              <a:buFont typeface="Arial"/>
              <a:buNone/>
            </a:pPr>
            <a:r>
              <a:rPr b="0" i="0" lang="en-US" sz="575" u="none" cap="none" strike="noStrike">
                <a:solidFill>
                  <a:srgbClr val="374151"/>
                </a:solidFill>
                <a:latin typeface="Calibri"/>
                <a:ea typeface="Calibri"/>
                <a:cs typeface="Calibri"/>
                <a:sym typeface="Calibri"/>
              </a:rPr>
              <a:t>iPaaS</a:t>
            </a:r>
            <a:endParaRPr b="0" i="0" sz="1400" u="none" cap="none" strike="noStrike">
              <a:solidFill>
                <a:srgbClr val="000000"/>
              </a:solidFill>
              <a:latin typeface="Arial"/>
              <a:ea typeface="Arial"/>
              <a:cs typeface="Arial"/>
              <a:sym typeface="Arial"/>
            </a:endParaRPr>
          </a:p>
        </p:txBody>
      </p:sp>
      <p:sp>
        <p:nvSpPr>
          <p:cNvPr id="737" name="Google Shape;737;p34"/>
          <p:cNvSpPr/>
          <p:nvPr/>
        </p:nvSpPr>
        <p:spPr>
          <a:xfrm>
            <a:off x="3847548" y="2916030"/>
            <a:ext cx="152400" cy="101600"/>
          </a:xfrm>
          <a:prstGeom prst="right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34"/>
          <p:cNvSpPr/>
          <p:nvPr/>
        </p:nvSpPr>
        <p:spPr>
          <a:xfrm>
            <a:off x="4089400" y="2603500"/>
            <a:ext cx="1676400" cy="184703"/>
          </a:xfrm>
          <a:prstGeom prst="roundRect">
            <a:avLst>
              <a:gd fmla="val 1000" name="adj"/>
            </a:avLst>
          </a:prstGeom>
          <a:solidFill>
            <a:srgbClr val="FFFBEB"/>
          </a:solidFill>
          <a:ln cap="flat" cmpd="sng" w="9525">
            <a:solidFill>
              <a:srgbClr val="FCD34D"/>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31250"/>
              </a:lnSpc>
              <a:spcBef>
                <a:spcPts val="0"/>
              </a:spcBef>
              <a:spcAft>
                <a:spcPts val="0"/>
              </a:spcAft>
              <a:buClr>
                <a:srgbClr val="000000"/>
              </a:buClr>
              <a:buSzPts val="800"/>
              <a:buFont typeface="Arial"/>
              <a:buNone/>
            </a:pPr>
            <a:r>
              <a:rPr b="0" i="0" lang="en-US" sz="800" u="none" cap="none" strike="noStrike">
                <a:solidFill>
                  <a:srgbClr val="92400E"/>
                </a:solidFill>
                <a:latin typeface="Calibri"/>
                <a:ea typeface="Calibri"/>
                <a:cs typeface="Calibri"/>
                <a:sym typeface="Calibri"/>
              </a:rPr>
              <a:t>Magento / Adobe Commerce</a:t>
            </a:r>
            <a:endParaRPr b="0" i="0" sz="1400" u="none" cap="none" strike="noStrike">
              <a:solidFill>
                <a:srgbClr val="000000"/>
              </a:solidFill>
              <a:latin typeface="Arial"/>
              <a:ea typeface="Arial"/>
              <a:cs typeface="Arial"/>
              <a:sym typeface="Arial"/>
            </a:endParaRPr>
          </a:p>
        </p:txBody>
      </p:sp>
      <p:sp>
        <p:nvSpPr>
          <p:cNvPr id="739" name="Google Shape;739;p34"/>
          <p:cNvSpPr/>
          <p:nvPr/>
        </p:nvSpPr>
        <p:spPr>
          <a:xfrm>
            <a:off x="4089400" y="3098040"/>
            <a:ext cx="1676400" cy="194780"/>
          </a:xfrm>
          <a:prstGeom prst="roundRect">
            <a:avLst>
              <a:gd fmla="val 1000" name="adj"/>
            </a:avLst>
          </a:prstGeom>
          <a:solidFill>
            <a:srgbClr val="FFFBEB"/>
          </a:solidFill>
          <a:ln cap="flat" cmpd="sng" w="9525">
            <a:solidFill>
              <a:srgbClr val="FCD34D"/>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31250"/>
              </a:lnSpc>
              <a:spcBef>
                <a:spcPts val="0"/>
              </a:spcBef>
              <a:spcAft>
                <a:spcPts val="0"/>
              </a:spcAft>
              <a:buClr>
                <a:srgbClr val="000000"/>
              </a:buClr>
              <a:buSzPts val="800"/>
              <a:buFont typeface="Arial"/>
              <a:buNone/>
            </a:pPr>
            <a:r>
              <a:rPr b="0" i="0" lang="en-US" sz="800" u="none" cap="none" strike="noStrike">
                <a:solidFill>
                  <a:srgbClr val="92400E"/>
                </a:solidFill>
                <a:latin typeface="Calibri"/>
                <a:ea typeface="Calibri"/>
                <a:cs typeface="Calibri"/>
                <a:sym typeface="Calibri"/>
              </a:rPr>
              <a:t>Manhattan Active Omni</a:t>
            </a:r>
            <a:endParaRPr b="0" i="0" sz="1400" u="none" cap="none" strike="noStrike">
              <a:solidFill>
                <a:srgbClr val="000000"/>
              </a:solidFill>
              <a:latin typeface="Arial"/>
              <a:ea typeface="Arial"/>
              <a:cs typeface="Arial"/>
              <a:sym typeface="Arial"/>
            </a:endParaRPr>
          </a:p>
        </p:txBody>
      </p:sp>
      <p:sp>
        <p:nvSpPr>
          <p:cNvPr id="740" name="Google Shape;740;p34"/>
          <p:cNvSpPr/>
          <p:nvPr/>
        </p:nvSpPr>
        <p:spPr>
          <a:xfrm>
            <a:off x="4089400" y="2851702"/>
            <a:ext cx="1676400" cy="178627"/>
          </a:xfrm>
          <a:prstGeom prst="roundRect">
            <a:avLst>
              <a:gd fmla="val 1000" name="adj"/>
            </a:avLst>
          </a:prstGeom>
          <a:solidFill>
            <a:srgbClr val="FFFBEB"/>
          </a:solidFill>
          <a:ln cap="flat" cmpd="sng" w="9525">
            <a:solidFill>
              <a:srgbClr val="FCD34D"/>
            </a:solidFill>
            <a:prstDash val="solid"/>
            <a:round/>
            <a:headEnd len="sm" w="sm" type="none"/>
            <a:tailEnd len="sm" w="sm" type="none"/>
          </a:ln>
        </p:spPr>
        <p:txBody>
          <a:bodyPr anchorCtr="0" anchor="ctr" bIns="25400" lIns="25400" spcFirstLastPara="1" rIns="25400" wrap="square" tIns="25400">
            <a:noAutofit/>
          </a:bodyPr>
          <a:lstStyle/>
          <a:p>
            <a:pPr indent="0" lvl="0" marL="0" marR="0" rtl="0" algn="ctr">
              <a:lnSpc>
                <a:spcPct val="131250"/>
              </a:lnSpc>
              <a:spcBef>
                <a:spcPts val="0"/>
              </a:spcBef>
              <a:spcAft>
                <a:spcPts val="0"/>
              </a:spcAft>
              <a:buClr>
                <a:srgbClr val="000000"/>
              </a:buClr>
              <a:buSzPts val="800"/>
              <a:buFont typeface="Arial"/>
              <a:buNone/>
            </a:pPr>
            <a:r>
              <a:rPr b="0" i="0" lang="en-US" sz="800" u="none" cap="none" strike="noStrike">
                <a:solidFill>
                  <a:srgbClr val="92400E"/>
                </a:solidFill>
                <a:latin typeface="Calibri"/>
                <a:ea typeface="Calibri"/>
                <a:cs typeface="Calibri"/>
                <a:sym typeface="Calibri"/>
              </a:rPr>
              <a:t>Salesforce Retail Cloud</a:t>
            </a:r>
            <a:endParaRPr b="0" i="0" sz="1400" u="none" cap="none" strike="noStrike">
              <a:solidFill>
                <a:srgbClr val="000000"/>
              </a:solidFill>
              <a:latin typeface="Arial"/>
              <a:ea typeface="Arial"/>
              <a:cs typeface="Arial"/>
              <a:sym typeface="Arial"/>
            </a:endParaRPr>
          </a:p>
        </p:txBody>
      </p:sp>
      <p:sp>
        <p:nvSpPr>
          <p:cNvPr id="741" name="Google Shape;741;p34"/>
          <p:cNvSpPr/>
          <p:nvPr/>
        </p:nvSpPr>
        <p:spPr>
          <a:xfrm>
            <a:off x="2019300" y="3093830"/>
            <a:ext cx="101600" cy="898940"/>
          </a:xfrm>
          <a:prstGeom prst="downArrow">
            <a:avLst>
              <a:gd fmla="val 50000" name="adj1"/>
              <a:gd fmla="val 50000" name="adj2"/>
            </a:avLst>
          </a:prstGeom>
          <a:solidFill>
            <a:srgbClr val="EB1A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4"/>
          <p:cNvSpPr/>
          <p:nvPr/>
        </p:nvSpPr>
        <p:spPr>
          <a:xfrm>
            <a:off x="1586948" y="3992770"/>
            <a:ext cx="1371600" cy="355600"/>
          </a:xfrm>
          <a:prstGeom prst="roundRect">
            <a:avLst>
              <a:gd fmla="val 2000" name="adj"/>
            </a:avLst>
          </a:prstGeom>
          <a:solidFill>
            <a:srgbClr val="F0FDFA"/>
          </a:solidFill>
          <a:ln cap="flat" cmpd="sng" w="12700">
            <a:solidFill>
              <a:srgbClr val="5EEAD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lnSpc>
                <a:spcPct val="150000"/>
              </a:lnSpc>
              <a:spcBef>
                <a:spcPts val="0"/>
              </a:spcBef>
              <a:spcAft>
                <a:spcPts val="0"/>
              </a:spcAft>
              <a:buClr>
                <a:srgbClr val="000000"/>
              </a:buClr>
              <a:buSzPts val="700"/>
              <a:buFont typeface="Arial"/>
              <a:buNone/>
            </a:pPr>
            <a:r>
              <a:rPr b="1" i="0" lang="en-US" sz="700" u="none" cap="none" strike="noStrike">
                <a:solidFill>
                  <a:srgbClr val="134E4A"/>
                </a:solidFill>
                <a:latin typeface="Calibri"/>
                <a:ea typeface="Calibri"/>
                <a:cs typeface="Calibri"/>
                <a:sym typeface="Calibri"/>
              </a:rPr>
              <a:t>DX Graph</a:t>
            </a:r>
            <a:endParaRPr b="0" i="0" sz="1400" u="none" cap="none" strike="noStrike">
              <a:solidFill>
                <a:srgbClr val="000000"/>
              </a:solidFill>
              <a:latin typeface="Arial"/>
              <a:ea typeface="Arial"/>
              <a:cs typeface="Arial"/>
              <a:sym typeface="Arial"/>
            </a:endParaRPr>
          </a:p>
          <a:p>
            <a:pPr indent="0" lvl="0" marL="0" marR="0" rtl="0" algn="ctr">
              <a:lnSpc>
                <a:spcPct val="182608"/>
              </a:lnSpc>
              <a:spcBef>
                <a:spcPts val="0"/>
              </a:spcBef>
              <a:spcAft>
                <a:spcPts val="0"/>
              </a:spcAft>
              <a:buClr>
                <a:srgbClr val="000000"/>
              </a:buClr>
              <a:buSzPts val="575"/>
              <a:buFont typeface="Arial"/>
              <a:buNone/>
            </a:pPr>
            <a:r>
              <a:rPr b="0" i="0" lang="en-US" sz="575" u="none" cap="none" strike="noStrike">
                <a:solidFill>
                  <a:srgbClr val="0D9488"/>
                </a:solidFill>
                <a:latin typeface="Calibri"/>
                <a:ea typeface="Calibri"/>
                <a:cs typeface="Calibri"/>
                <a:sym typeface="Calibri"/>
              </a:rPr>
              <a:t>Governed Product Master</a:t>
            </a:r>
            <a:endParaRPr b="0" i="0" sz="1400" u="none" cap="none" strike="noStrike">
              <a:solidFill>
                <a:srgbClr val="000000"/>
              </a:solidFill>
              <a:latin typeface="Arial"/>
              <a:ea typeface="Arial"/>
              <a:cs typeface="Arial"/>
              <a:sym typeface="Arial"/>
            </a:endParaRPr>
          </a:p>
        </p:txBody>
      </p:sp>
      <p:sp>
        <p:nvSpPr>
          <p:cNvPr id="743" name="Google Shape;743;p34"/>
          <p:cNvSpPr/>
          <p:nvPr/>
        </p:nvSpPr>
        <p:spPr>
          <a:xfrm>
            <a:off x="2983948" y="4119770"/>
            <a:ext cx="152400" cy="101600"/>
          </a:xfrm>
          <a:prstGeom prst="rightArrow">
            <a:avLst>
              <a:gd fmla="val 50000" name="adj1"/>
              <a:gd fmla="val 50000" name="adj2"/>
            </a:avLst>
          </a:prstGeom>
          <a:solidFill>
            <a:srgbClr val="0D9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34"/>
          <p:cNvSpPr/>
          <p:nvPr/>
        </p:nvSpPr>
        <p:spPr>
          <a:xfrm>
            <a:off x="3161748" y="3992770"/>
            <a:ext cx="1371600" cy="355600"/>
          </a:xfrm>
          <a:prstGeom prst="roundRect">
            <a:avLst>
              <a:gd fmla="val 2000" name="adj"/>
            </a:avLst>
          </a:prstGeom>
          <a:solidFill>
            <a:srgbClr val="F0FDFA"/>
          </a:solidFill>
          <a:ln cap="flat" cmpd="sng" w="12700">
            <a:solidFill>
              <a:srgbClr val="5EEAD4"/>
            </a:solidFill>
            <a:prstDash val="solid"/>
            <a:round/>
            <a:headEnd len="sm" w="sm" type="none"/>
            <a:tailEnd len="sm" w="sm" type="none"/>
          </a:ln>
        </p:spPr>
        <p:txBody>
          <a:bodyPr anchorCtr="0" anchor="ctr" bIns="38100" lIns="38100" spcFirstLastPara="1" rIns="38100" wrap="square" tIns="38100">
            <a:noAutofit/>
          </a:bodyPr>
          <a:lstStyle/>
          <a:p>
            <a:pPr indent="0" lvl="0" marL="0" marR="0" rtl="0" algn="ctr">
              <a:lnSpc>
                <a:spcPct val="150000"/>
              </a:lnSpc>
              <a:spcBef>
                <a:spcPts val="0"/>
              </a:spcBef>
              <a:spcAft>
                <a:spcPts val="0"/>
              </a:spcAft>
              <a:buClr>
                <a:srgbClr val="000000"/>
              </a:buClr>
              <a:buSzPts val="700"/>
              <a:buFont typeface="Arial"/>
              <a:buNone/>
            </a:pPr>
            <a:r>
              <a:rPr b="1" i="0" lang="en-US" sz="700" u="none" cap="none" strike="noStrike">
                <a:solidFill>
                  <a:srgbClr val="134E4A"/>
                </a:solidFill>
                <a:latin typeface="Calibri"/>
                <a:ea typeface="Calibri"/>
                <a:cs typeface="Calibri"/>
                <a:sym typeface="Calibri"/>
              </a:rPr>
              <a:t>DX Engine</a:t>
            </a:r>
            <a:endParaRPr b="0" i="0" sz="1400" u="none" cap="none" strike="noStrike">
              <a:solidFill>
                <a:srgbClr val="000000"/>
              </a:solidFill>
              <a:latin typeface="Arial"/>
              <a:ea typeface="Arial"/>
              <a:cs typeface="Arial"/>
              <a:sym typeface="Arial"/>
            </a:endParaRPr>
          </a:p>
          <a:p>
            <a:pPr indent="0" lvl="0" marL="0" marR="0" rtl="0" algn="ctr">
              <a:lnSpc>
                <a:spcPct val="182608"/>
              </a:lnSpc>
              <a:spcBef>
                <a:spcPts val="0"/>
              </a:spcBef>
              <a:spcAft>
                <a:spcPts val="0"/>
              </a:spcAft>
              <a:buClr>
                <a:srgbClr val="000000"/>
              </a:buClr>
              <a:buSzPts val="575"/>
              <a:buFont typeface="Arial"/>
              <a:buNone/>
            </a:pPr>
            <a:r>
              <a:rPr b="0" i="0" lang="en-US" sz="575" u="none" cap="none" strike="noStrike">
                <a:solidFill>
                  <a:srgbClr val="0D9488"/>
                </a:solidFill>
                <a:latin typeface="Calibri"/>
                <a:ea typeface="Calibri"/>
                <a:cs typeface="Calibri"/>
                <a:sym typeface="Calibri"/>
              </a:rPr>
              <a:t>Real-Time Orchestration</a:t>
            </a:r>
            <a:endParaRPr b="0" i="0" sz="1400" u="none" cap="none" strike="noStrike">
              <a:solidFill>
                <a:srgbClr val="000000"/>
              </a:solidFill>
              <a:latin typeface="Arial"/>
              <a:ea typeface="Arial"/>
              <a:cs typeface="Arial"/>
              <a:sym typeface="Arial"/>
            </a:endParaRPr>
          </a:p>
        </p:txBody>
      </p:sp>
      <p:sp>
        <p:nvSpPr>
          <p:cNvPr id="745" name="Google Shape;745;p34"/>
          <p:cNvSpPr/>
          <p:nvPr/>
        </p:nvSpPr>
        <p:spPr>
          <a:xfrm>
            <a:off x="4558748" y="4119770"/>
            <a:ext cx="152400" cy="101600"/>
          </a:xfrm>
          <a:prstGeom prst="rightArrow">
            <a:avLst>
              <a:gd fmla="val 50000" name="adj1"/>
              <a:gd fmla="val 50000" name="adj2"/>
            </a:avLst>
          </a:prstGeom>
          <a:solidFill>
            <a:srgbClr val="0D948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34"/>
          <p:cNvSpPr/>
          <p:nvPr/>
        </p:nvSpPr>
        <p:spPr>
          <a:xfrm>
            <a:off x="4784588" y="3616187"/>
            <a:ext cx="1701800" cy="165100"/>
          </a:xfrm>
          <a:prstGeom prst="roundRect">
            <a:avLst>
              <a:gd fmla="val 1500" name="adj"/>
            </a:avLst>
          </a:prstGeom>
          <a:solidFill>
            <a:srgbClr val="F0FDFA"/>
          </a:solidFill>
          <a:ln cap="flat" cmpd="sng" w="9525">
            <a:solidFill>
              <a:srgbClr val="5EEAD4"/>
            </a:solidFill>
            <a:prstDash val="solid"/>
            <a:round/>
            <a:headEnd len="sm" w="sm" type="none"/>
            <a:tailEnd len="sm" w="sm" type="none"/>
          </a:ln>
        </p:spPr>
        <p:txBody>
          <a:bodyPr anchorCtr="0" anchor="t" bIns="25400" lIns="25400" spcFirstLastPara="1" rIns="25400" wrap="square" tIns="25400">
            <a:noAutofit/>
          </a:bodyPr>
          <a:lstStyle/>
          <a:p>
            <a:pPr indent="0" lvl="0" marL="0" marR="0" rtl="0" algn="l">
              <a:lnSpc>
                <a:spcPct val="175000"/>
              </a:lnSpc>
              <a:spcBef>
                <a:spcPts val="0"/>
              </a:spcBef>
              <a:spcAft>
                <a:spcPts val="0"/>
              </a:spcAft>
              <a:buClr>
                <a:srgbClr val="000000"/>
              </a:buClr>
              <a:buSzPts val="600"/>
              <a:buFont typeface="Arial"/>
              <a:buNone/>
            </a:pPr>
            <a:r>
              <a:rPr b="1" i="0" lang="en-US" sz="600" u="none" cap="none" strike="noStrike">
                <a:solidFill>
                  <a:srgbClr val="134E4A"/>
                </a:solidFill>
                <a:latin typeface="Calibri"/>
                <a:ea typeface="Calibri"/>
                <a:cs typeface="Calibri"/>
                <a:sym typeface="Calibri"/>
              </a:rPr>
              <a:t>POS Terminals</a:t>
            </a:r>
            <a:endParaRPr b="0" i="0" sz="1400" u="none" cap="none" strike="noStrike">
              <a:solidFill>
                <a:srgbClr val="000000"/>
              </a:solidFill>
              <a:latin typeface="Arial"/>
              <a:ea typeface="Arial"/>
              <a:cs typeface="Arial"/>
              <a:sym typeface="Arial"/>
            </a:endParaRPr>
          </a:p>
          <a:p>
            <a:pPr indent="0" lvl="0" marL="0" marR="0" rtl="0" algn="l">
              <a:lnSpc>
                <a:spcPct val="131250"/>
              </a:lnSpc>
              <a:spcBef>
                <a:spcPts val="0"/>
              </a:spcBef>
              <a:spcAft>
                <a:spcPts val="0"/>
              </a:spcAft>
              <a:buClr>
                <a:srgbClr val="000000"/>
              </a:buClr>
              <a:buSzPts val="800"/>
              <a:buFont typeface="Arial"/>
              <a:buNone/>
            </a:pPr>
            <a:r>
              <a:rPr b="0" i="1" lang="en-US" sz="800" u="none" cap="none" strike="noStrike">
                <a:solidFill>
                  <a:srgbClr val="134E4A"/>
                </a:solidFill>
                <a:latin typeface="Calibri"/>
                <a:ea typeface="Calibri"/>
                <a:cs typeface="Calibri"/>
                <a:sym typeface="Calibri"/>
              </a:rPr>
              <a:t>(B) real-time validation</a:t>
            </a:r>
            <a:endParaRPr b="0" i="0" sz="1400" u="none" cap="none" strike="noStrike">
              <a:solidFill>
                <a:srgbClr val="000000"/>
              </a:solidFill>
              <a:latin typeface="Arial"/>
              <a:ea typeface="Arial"/>
              <a:cs typeface="Arial"/>
              <a:sym typeface="Arial"/>
            </a:endParaRPr>
          </a:p>
        </p:txBody>
      </p:sp>
      <p:sp>
        <p:nvSpPr>
          <p:cNvPr id="747" name="Google Shape;747;p34"/>
          <p:cNvSpPr/>
          <p:nvPr/>
        </p:nvSpPr>
        <p:spPr>
          <a:xfrm>
            <a:off x="4798392" y="4023830"/>
            <a:ext cx="1701800" cy="165100"/>
          </a:xfrm>
          <a:prstGeom prst="roundRect">
            <a:avLst>
              <a:gd fmla="val 1500" name="adj"/>
            </a:avLst>
          </a:prstGeom>
          <a:solidFill>
            <a:srgbClr val="F0FDFA"/>
          </a:solidFill>
          <a:ln cap="flat" cmpd="sng" w="9525">
            <a:solidFill>
              <a:srgbClr val="5EEAD4"/>
            </a:solidFill>
            <a:prstDash val="solid"/>
            <a:round/>
            <a:headEnd len="sm" w="sm" type="none"/>
            <a:tailEnd len="sm" w="sm" type="none"/>
          </a:ln>
        </p:spPr>
        <p:txBody>
          <a:bodyPr anchorCtr="0" anchor="t" bIns="25400" lIns="25400" spcFirstLastPara="1" rIns="25400" wrap="square" tIns="25400">
            <a:noAutofit/>
          </a:bodyPr>
          <a:lstStyle/>
          <a:p>
            <a:pPr indent="0" lvl="0" marL="0" marR="0" rtl="0" algn="l">
              <a:lnSpc>
                <a:spcPct val="175000"/>
              </a:lnSpc>
              <a:spcBef>
                <a:spcPts val="0"/>
              </a:spcBef>
              <a:spcAft>
                <a:spcPts val="0"/>
              </a:spcAft>
              <a:buClr>
                <a:srgbClr val="000000"/>
              </a:buClr>
              <a:buSzPts val="600"/>
              <a:buFont typeface="Arial"/>
              <a:buNone/>
            </a:pPr>
            <a:r>
              <a:rPr b="1" i="0" lang="en-US" sz="600" u="none" cap="none" strike="noStrike">
                <a:solidFill>
                  <a:srgbClr val="134E4A"/>
                </a:solidFill>
                <a:latin typeface="Calibri"/>
                <a:ea typeface="Calibri"/>
                <a:cs typeface="Calibri"/>
                <a:sym typeface="Calibri"/>
              </a:rPr>
              <a:t>Lovesac.com</a:t>
            </a:r>
            <a:endParaRPr b="0" i="0" sz="1400" u="none" cap="none" strike="noStrike">
              <a:solidFill>
                <a:srgbClr val="000000"/>
              </a:solidFill>
              <a:latin typeface="Arial"/>
              <a:ea typeface="Arial"/>
              <a:cs typeface="Arial"/>
              <a:sym typeface="Arial"/>
            </a:endParaRPr>
          </a:p>
          <a:p>
            <a:pPr indent="0" lvl="0" marL="0" marR="0" rtl="0" algn="l">
              <a:lnSpc>
                <a:spcPct val="116666"/>
              </a:lnSpc>
              <a:spcBef>
                <a:spcPts val="0"/>
              </a:spcBef>
              <a:spcAft>
                <a:spcPts val="0"/>
              </a:spcAft>
              <a:buClr>
                <a:srgbClr val="000000"/>
              </a:buClr>
              <a:buSzPts val="900"/>
              <a:buFont typeface="Arial"/>
              <a:buNone/>
            </a:pPr>
            <a:r>
              <a:rPr b="0" i="1" lang="en-US" sz="900" u="none" cap="none" strike="noStrike">
                <a:solidFill>
                  <a:srgbClr val="134E4A"/>
                </a:solidFill>
                <a:latin typeface="Calibri"/>
                <a:ea typeface="Calibri"/>
                <a:cs typeface="Calibri"/>
                <a:sym typeface="Calibri"/>
              </a:rPr>
              <a:t>(B) </a:t>
            </a:r>
            <a:r>
              <a:rPr b="0" i="1" lang="en-US" sz="800" u="none" cap="none" strike="noStrike">
                <a:solidFill>
                  <a:srgbClr val="134E4A"/>
                </a:solidFill>
                <a:latin typeface="Calibri"/>
                <a:ea typeface="Calibri"/>
                <a:cs typeface="Calibri"/>
                <a:sym typeface="Calibri"/>
              </a:rPr>
              <a:t>Experience API</a:t>
            </a:r>
            <a:endParaRPr b="0" i="0" sz="1400" u="none" cap="none" strike="noStrike">
              <a:solidFill>
                <a:srgbClr val="000000"/>
              </a:solidFill>
              <a:latin typeface="Arial"/>
              <a:ea typeface="Arial"/>
              <a:cs typeface="Arial"/>
              <a:sym typeface="Arial"/>
            </a:endParaRPr>
          </a:p>
        </p:txBody>
      </p:sp>
      <p:sp>
        <p:nvSpPr>
          <p:cNvPr id="748" name="Google Shape;748;p34"/>
          <p:cNvSpPr/>
          <p:nvPr/>
        </p:nvSpPr>
        <p:spPr>
          <a:xfrm>
            <a:off x="4781827" y="4399722"/>
            <a:ext cx="1701800" cy="165100"/>
          </a:xfrm>
          <a:prstGeom prst="roundRect">
            <a:avLst>
              <a:gd fmla="val 1500" name="adj"/>
            </a:avLst>
          </a:prstGeom>
          <a:solidFill>
            <a:srgbClr val="F0FDFA"/>
          </a:solidFill>
          <a:ln cap="flat" cmpd="sng" w="9525">
            <a:solidFill>
              <a:srgbClr val="5EEAD4"/>
            </a:solidFill>
            <a:prstDash val="solid"/>
            <a:round/>
            <a:headEnd len="sm" w="sm" type="none"/>
            <a:tailEnd len="sm" w="sm" type="none"/>
          </a:ln>
        </p:spPr>
        <p:txBody>
          <a:bodyPr anchorCtr="0" anchor="t" bIns="25400" lIns="25400" spcFirstLastPara="1" rIns="25400" wrap="square" tIns="25400">
            <a:noAutofit/>
          </a:bodyPr>
          <a:lstStyle/>
          <a:p>
            <a:pPr indent="0" lvl="0" marL="0" marR="0" rtl="0" algn="l">
              <a:lnSpc>
                <a:spcPct val="175000"/>
              </a:lnSpc>
              <a:spcBef>
                <a:spcPts val="0"/>
              </a:spcBef>
              <a:spcAft>
                <a:spcPts val="0"/>
              </a:spcAft>
              <a:buClr>
                <a:srgbClr val="000000"/>
              </a:buClr>
              <a:buSzPts val="600"/>
              <a:buFont typeface="Arial"/>
              <a:buNone/>
            </a:pPr>
            <a:r>
              <a:rPr b="1" i="0" lang="en-US" sz="600" u="none" cap="none" strike="noStrike">
                <a:solidFill>
                  <a:srgbClr val="134E4A"/>
                </a:solidFill>
                <a:latin typeface="Calibri"/>
                <a:ea typeface="Calibri"/>
                <a:cs typeface="Calibri"/>
                <a:sym typeface="Calibri"/>
              </a:rPr>
              <a:t>Google Shopping / ChatGPT</a:t>
            </a:r>
            <a:endParaRPr b="0" i="0" sz="1400" u="none" cap="none" strike="noStrike">
              <a:solidFill>
                <a:srgbClr val="000000"/>
              </a:solidFill>
              <a:latin typeface="Arial"/>
              <a:ea typeface="Arial"/>
              <a:cs typeface="Arial"/>
              <a:sym typeface="Arial"/>
            </a:endParaRPr>
          </a:p>
          <a:p>
            <a:pPr indent="0" lvl="0" marL="0" marR="0" rtl="0" algn="l">
              <a:lnSpc>
                <a:spcPct val="131250"/>
              </a:lnSpc>
              <a:spcBef>
                <a:spcPts val="0"/>
              </a:spcBef>
              <a:spcAft>
                <a:spcPts val="0"/>
              </a:spcAft>
              <a:buClr>
                <a:srgbClr val="000000"/>
              </a:buClr>
              <a:buSzPts val="800"/>
              <a:buFont typeface="Arial"/>
              <a:buNone/>
            </a:pPr>
            <a:r>
              <a:rPr b="0" i="1" lang="en-US" sz="800" u="none" cap="none" strike="noStrike">
                <a:solidFill>
                  <a:srgbClr val="134E4A"/>
                </a:solidFill>
                <a:latin typeface="Calibri"/>
                <a:ea typeface="Calibri"/>
                <a:cs typeface="Calibri"/>
                <a:sym typeface="Calibri"/>
              </a:rPr>
              <a:t>(B) via MCP</a:t>
            </a:r>
            <a:endParaRPr b="0" i="0" sz="1400" u="none" cap="none" strike="noStrike">
              <a:solidFill>
                <a:srgbClr val="000000"/>
              </a:solidFill>
              <a:latin typeface="Arial"/>
              <a:ea typeface="Arial"/>
              <a:cs typeface="Arial"/>
              <a:sym typeface="Arial"/>
            </a:endParaRPr>
          </a:p>
        </p:txBody>
      </p:sp>
      <p:sp>
        <p:nvSpPr>
          <p:cNvPr id="749" name="Google Shape;749;p34"/>
          <p:cNvSpPr/>
          <p:nvPr/>
        </p:nvSpPr>
        <p:spPr>
          <a:xfrm>
            <a:off x="2034209" y="3479800"/>
            <a:ext cx="1270000" cy="127000"/>
          </a:xfrm>
          <a:prstGeom prst="rect">
            <a:avLst/>
          </a:prstGeom>
          <a:noFill/>
          <a:ln>
            <a:noFill/>
          </a:ln>
        </p:spPr>
        <p:txBody>
          <a:bodyPr anchorCtr="0" anchor="ctr" bIns="25400" lIns="25400" spcFirstLastPara="1" rIns="25400" wrap="square" tIns="25400">
            <a:noAutofit/>
          </a:bodyPr>
          <a:lstStyle/>
          <a:p>
            <a:pPr indent="0" lvl="0" marL="0" marR="0" rtl="0" algn="ctr">
              <a:lnSpc>
                <a:spcPct val="131250"/>
              </a:lnSpc>
              <a:spcBef>
                <a:spcPts val="0"/>
              </a:spcBef>
              <a:spcAft>
                <a:spcPts val="0"/>
              </a:spcAft>
              <a:buClr>
                <a:srgbClr val="000000"/>
              </a:buClr>
              <a:buSzPts val="800"/>
              <a:buFont typeface="Arial"/>
              <a:buNone/>
            </a:pPr>
            <a:r>
              <a:rPr b="0" i="1" lang="en-US" sz="800" u="none" cap="none" strike="noStrike">
                <a:solidFill>
                  <a:srgbClr val="EB1A63"/>
                </a:solidFill>
                <a:latin typeface="Calibri"/>
                <a:ea typeface="Calibri"/>
                <a:cs typeface="Calibri"/>
                <a:sym typeface="Calibri"/>
              </a:rPr>
              <a:t>(A) ingest feed → DX Graph</a:t>
            </a:r>
            <a:endParaRPr b="0" i="0" sz="1400" u="none" cap="none" strike="noStrike">
              <a:solidFill>
                <a:srgbClr val="000000"/>
              </a:solidFill>
              <a:latin typeface="Arial"/>
              <a:ea typeface="Arial"/>
              <a:cs typeface="Arial"/>
              <a:sym typeface="Arial"/>
            </a:endParaRPr>
          </a:p>
        </p:txBody>
      </p:sp>
      <p:sp>
        <p:nvSpPr>
          <p:cNvPr id="750" name="Google Shape;750;p34"/>
          <p:cNvSpPr/>
          <p:nvPr/>
        </p:nvSpPr>
        <p:spPr>
          <a:xfrm>
            <a:off x="4558748" y="4018170"/>
            <a:ext cx="177800" cy="101600"/>
          </a:xfrm>
          <a:prstGeom prst="rect">
            <a:avLst/>
          </a:prstGeom>
          <a:noFill/>
          <a:ln>
            <a:noFill/>
          </a:ln>
        </p:spPr>
        <p:txBody>
          <a:bodyPr anchorCtr="0" anchor="ctr" bIns="25400" lIns="25400" spcFirstLastPara="1" rIns="25400" wrap="square" tIns="25400">
            <a:noAutofit/>
          </a:bodyPr>
          <a:lstStyle/>
          <a:p>
            <a:pPr indent="0" lvl="0" marL="0" marR="0" rtl="0" algn="ctr">
              <a:lnSpc>
                <a:spcPct val="175000"/>
              </a:lnSpc>
              <a:spcBef>
                <a:spcPts val="0"/>
              </a:spcBef>
              <a:spcAft>
                <a:spcPts val="0"/>
              </a:spcAft>
              <a:buClr>
                <a:srgbClr val="000000"/>
              </a:buClr>
              <a:buSzPts val="600"/>
              <a:buFont typeface="Arial"/>
              <a:buNone/>
            </a:pPr>
            <a:r>
              <a:t/>
            </a:r>
            <a:endParaRPr b="1" i="0" sz="600" u="none" cap="none" strike="noStrike">
              <a:solidFill>
                <a:srgbClr val="0D9488"/>
              </a:solidFill>
              <a:latin typeface="Calibri"/>
              <a:ea typeface="Calibri"/>
              <a:cs typeface="Calibri"/>
              <a:sym typeface="Calibri"/>
            </a:endParaRPr>
          </a:p>
        </p:txBody>
      </p:sp>
      <p:sp>
        <p:nvSpPr>
          <p:cNvPr id="751" name="Google Shape;751;p34"/>
          <p:cNvSpPr/>
          <p:nvPr/>
        </p:nvSpPr>
        <p:spPr>
          <a:xfrm rot="10800000">
            <a:off x="3479524" y="3084443"/>
            <a:ext cx="101600" cy="898940"/>
          </a:xfrm>
          <a:prstGeom prst="downArrow">
            <a:avLst>
              <a:gd fmla="val 50000" name="adj1"/>
              <a:gd fmla="val 50000" name="adj2"/>
            </a:avLst>
          </a:prstGeom>
          <a:solidFill>
            <a:srgbClr val="D1D5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34"/>
          <p:cNvSpPr txBox="1"/>
          <p:nvPr/>
        </p:nvSpPr>
        <p:spPr>
          <a:xfrm>
            <a:off x="3479523" y="3431760"/>
            <a:ext cx="915504" cy="225254"/>
          </a:xfrm>
          <a:prstGeom prst="rect">
            <a:avLst/>
          </a:prstGeom>
          <a:noFill/>
          <a:ln>
            <a:noFill/>
          </a:ln>
        </p:spPr>
        <p:txBody>
          <a:bodyPr anchorCtr="0" anchor="t" bIns="45700" lIns="91425" spcFirstLastPara="1" rIns="91425" wrap="square" tIns="45700">
            <a:spAutoFit/>
          </a:bodyPr>
          <a:lstStyle/>
          <a:p>
            <a:pPr indent="0" lvl="0" marL="0" marR="0" rtl="0" algn="l">
              <a:lnSpc>
                <a:spcPct val="131250"/>
              </a:lnSpc>
              <a:spcBef>
                <a:spcPts val="0"/>
              </a:spcBef>
              <a:spcAft>
                <a:spcPts val="0"/>
              </a:spcAft>
              <a:buClr>
                <a:srgbClr val="000000"/>
              </a:buClr>
              <a:buSzPts val="800"/>
              <a:buFont typeface="Arial"/>
              <a:buNone/>
            </a:pPr>
            <a:r>
              <a:rPr b="0" i="1" lang="en-US" sz="800" u="none" cap="none" strike="noStrike">
                <a:solidFill>
                  <a:srgbClr val="374151"/>
                </a:solidFill>
                <a:latin typeface="Calibri"/>
                <a:ea typeface="Calibri"/>
                <a:cs typeface="Calibri"/>
                <a:sym typeface="Calibri"/>
              </a:rPr>
              <a:t>(C) BOM handoff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2026-03-28T20:38:14Z</dcterms:created>
  <dc:creator>Conscia</dc:creator>
</cp:coreProperties>
</file>