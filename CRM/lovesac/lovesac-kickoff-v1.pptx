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HCJthnzYT8TGbZ49sVQp0B7AhE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Uccelli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00" y="1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3-30T10:36:39.560" idx="2">
    <p:pos x="161" y="472"/>
    <p:text>Maybe we need to explain why a PIM will not work and why traditional CPQ is too clunky?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2nmRY0c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6T09:21:30.196" idx="3">
    <p:pos x="6000" y="0"/>
    <p:text>Add diagrams to help explain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C71tAc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6T09:22:43.770" idx="4">
    <p:pos x="6000" y="0"/>
    <p:text>Add diagrams. Maybe use their diagram and then add DX graph and engine.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C71tAg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6T09:23:46.445" idx="5">
    <p:pos x="6000" y="0"/>
    <p:text>Ideally add user stories so scope is completely clear.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C71tAk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6T09:28:26.892" idx="6">
    <p:pos x="6000" y="0"/>
    <p:text>Update with progress on our new questions. As we have so many questions maybe we should just use categories and numbers and then show progress e.g. 5/5 Architecture questions answered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DOzMJ8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d4ba649c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d4ba649cf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3d4ba649cf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4de2a38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3d4de2a385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d4de2a385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394192" y="128016"/>
            <a:ext cx="256032" cy="256032"/>
          </a:xfrm>
          <a:prstGeom prst="ellipse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595360" y="128016"/>
            <a:ext cx="182880" cy="182880"/>
          </a:xfrm>
          <a:prstGeom prst="ellipse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741664" y="128016"/>
            <a:ext cx="128016" cy="128016"/>
          </a:xfrm>
          <a:prstGeom prst="ellipse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394192" y="329184"/>
            <a:ext cx="182880" cy="182880"/>
          </a:xfrm>
          <a:prstGeom prst="ellipse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595360" y="329184"/>
            <a:ext cx="256032" cy="256032"/>
          </a:xfrm>
          <a:prstGeom prst="ellipse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741664" y="329184"/>
            <a:ext cx="182880" cy="182880"/>
          </a:xfrm>
          <a:prstGeom prst="ellipse">
            <a:avLst/>
          </a:prstGeom>
          <a:solidFill>
            <a:srgbClr val="8AC542"/>
          </a:solidFill>
          <a:ln w="12700" cap="flat" cmpd="sng">
            <a:solidFill>
              <a:srgbClr val="8AC5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485632" y="493776"/>
            <a:ext cx="128016" cy="128016"/>
          </a:xfrm>
          <a:prstGeom prst="ellipse">
            <a:avLst/>
          </a:prstGeom>
          <a:solidFill>
            <a:srgbClr val="CDDC29"/>
          </a:solidFill>
          <a:ln w="12700" cap="flat" cmpd="sng">
            <a:solidFill>
              <a:srgbClr val="CDDC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650224" y="475488"/>
            <a:ext cx="182880" cy="182880"/>
          </a:xfrm>
          <a:prstGeom prst="ellipse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796528" y="475488"/>
            <a:ext cx="128016" cy="128016"/>
          </a:xfrm>
          <a:prstGeom prst="ellipse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540496" y="1920240"/>
            <a:ext cx="128016" cy="128016"/>
          </a:xfrm>
          <a:prstGeom prst="ellipse">
            <a:avLst/>
          </a:prstGeom>
          <a:solidFill>
            <a:srgbClr val="F8981D">
              <a:alpha val="45098"/>
            </a:srgbClr>
          </a:solidFill>
          <a:ln w="12700" cap="flat" cmpd="sng">
            <a:solidFill>
              <a:srgbClr val="F8981D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686800" y="1920240"/>
            <a:ext cx="91440" cy="91440"/>
          </a:xfrm>
          <a:prstGeom prst="ellipse">
            <a:avLst/>
          </a:prstGeom>
          <a:solidFill>
            <a:srgbClr val="FABF2D">
              <a:alpha val="45098"/>
            </a:srgbClr>
          </a:solidFill>
          <a:ln w="12700" cap="flat" cmpd="sng">
            <a:solidFill>
              <a:srgbClr val="FABF2D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540496" y="2048256"/>
            <a:ext cx="91440" cy="91440"/>
          </a:xfrm>
          <a:prstGeom prst="ellipse">
            <a:avLst/>
          </a:prstGeom>
          <a:solidFill>
            <a:srgbClr val="8AC542">
              <a:alpha val="45098"/>
            </a:srgbClr>
          </a:solidFill>
          <a:ln w="12700" cap="flat" cmpd="sng">
            <a:solidFill>
              <a:srgbClr val="8AC54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686800" y="2048256"/>
            <a:ext cx="128016" cy="128016"/>
          </a:xfrm>
          <a:prstGeom prst="ellipse">
            <a:avLst/>
          </a:prstGeom>
          <a:solidFill>
            <a:srgbClr val="458CCB">
              <a:alpha val="45098"/>
            </a:srgbClr>
          </a:solidFill>
          <a:ln w="12700" cap="flat" cmpd="sng">
            <a:solidFill>
              <a:srgbClr val="458CCB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497936" y="210331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1150" b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| The API and Data Foundation for Agentic Commerce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56032" y="548640"/>
            <a:ext cx="8631936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256032" y="749808"/>
            <a:ext cx="2743200" cy="256032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237744" y="7543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11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KICK-OFF  ·  MARCH 30, 2026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56025" y="1143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0"/>
              <a:buFont typeface="Calibri"/>
              <a:buNone/>
            </a:pPr>
            <a:r>
              <a:rPr lang="en-US" sz="47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Conscia: </a:t>
            </a:r>
            <a:r>
              <a:rPr lang="en-US" sz="4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Beyond Traditional PIM</a:t>
            </a:r>
            <a:endParaRPr sz="4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354924" y="2048225"/>
            <a:ext cx="79272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governed semantic foundation and real-time orchestration engin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 for complex, </a:t>
            </a:r>
            <a:r>
              <a:rPr lang="en-US" sz="1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configurable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commerce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56032" y="3179989"/>
            <a:ext cx="4572000" cy="292500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256032" y="3182104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lang="en-US" sz="1650" b="1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       POWERED BY: </a:t>
            </a:r>
            <a:r>
              <a:rPr lang="en-US" sz="165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DX GRAPH + DX ENGINE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256032" y="3730503"/>
            <a:ext cx="6858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Conscia × Lovesac Joint Kick-off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0" y="4791456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0" y="4814316"/>
            <a:ext cx="1524000" cy="329184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524000" y="4814316"/>
            <a:ext cx="1524000" cy="329184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3048000" y="4814316"/>
            <a:ext cx="1524000" cy="329184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4572000" y="4814316"/>
            <a:ext cx="1524000" cy="329184"/>
          </a:xfrm>
          <a:prstGeom prst="rect">
            <a:avLst/>
          </a:prstGeom>
          <a:solidFill>
            <a:srgbClr val="8AC542"/>
          </a:solidFill>
          <a:ln w="12700" cap="flat" cmpd="sng">
            <a:solidFill>
              <a:srgbClr val="8AC5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6096000" y="4814316"/>
            <a:ext cx="1524000" cy="329184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7620000" y="4814316"/>
            <a:ext cx="1524000" cy="329184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Google Shape;4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25" y="164538"/>
            <a:ext cx="1232572" cy="3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4ba649cf8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3d4ba649cf8_0_0"/>
          <p:cNvSpPr/>
          <p:nvPr/>
        </p:nvSpPr>
        <p:spPr>
          <a:xfrm>
            <a:off x="0" y="0"/>
            <a:ext cx="54900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g3d4ba649cf8_0_0"/>
          <p:cNvSpPr/>
          <p:nvPr/>
        </p:nvSpPr>
        <p:spPr>
          <a:xfrm>
            <a:off x="256032" y="73152"/>
            <a:ext cx="77724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Workshop Attendees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d4ba649cf8_0_0"/>
          <p:cNvSpPr/>
          <p:nvPr/>
        </p:nvSpPr>
        <p:spPr>
          <a:xfrm>
            <a:off x="0" y="914400"/>
            <a:ext cx="9144000" cy="2280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3d4ba649cf8_0_0"/>
          <p:cNvSpPr/>
          <p:nvPr/>
        </p:nvSpPr>
        <p:spPr>
          <a:xfrm>
            <a:off x="8138160" y="73152"/>
            <a:ext cx="8229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E322CD6-CB95-477E-90BA-08FC4D2B771B}"/>
              </a:ext>
            </a:extLst>
          </p:cNvPr>
          <p:cNvSpPr/>
          <p:nvPr/>
        </p:nvSpPr>
        <p:spPr>
          <a:xfrm>
            <a:off x="8432800" y="50800"/>
            <a:ext cx="254000" cy="254000"/>
          </a:xfrm>
          <a:prstGeom prst="ellipse">
            <a:avLst/>
          </a:prstGeom>
          <a:solidFill>
            <a:srgbClr val="EB1A6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56709FE-9B53-48B1-B648-7E80EF52860C}"/>
              </a:ext>
            </a:extLst>
          </p:cNvPr>
          <p:cNvSpPr/>
          <p:nvPr/>
        </p:nvSpPr>
        <p:spPr>
          <a:xfrm>
            <a:off x="8636000" y="50800"/>
            <a:ext cx="177800" cy="177800"/>
          </a:xfrm>
          <a:prstGeom prst="ellipse">
            <a:avLst/>
          </a:prstGeom>
          <a:solidFill>
            <a:srgbClr val="458CC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4ED660-C0F3-4022-92E4-2EE22AA570A5}"/>
              </a:ext>
            </a:extLst>
          </p:cNvPr>
          <p:cNvSpPr/>
          <p:nvPr/>
        </p:nvSpPr>
        <p:spPr>
          <a:xfrm>
            <a:off x="8775700" y="50800"/>
            <a:ext cx="127000" cy="127000"/>
          </a:xfrm>
          <a:prstGeom prst="ellipse">
            <a:avLst/>
          </a:prstGeom>
          <a:solidFill>
            <a:srgbClr val="07BC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834285-AC7E-4F42-BBFA-07C3BC3064D1}"/>
              </a:ext>
            </a:extLst>
          </p:cNvPr>
          <p:cNvSpPr/>
          <p:nvPr/>
        </p:nvSpPr>
        <p:spPr>
          <a:xfrm>
            <a:off x="8432800" y="241300"/>
            <a:ext cx="177800" cy="177800"/>
          </a:xfrm>
          <a:prstGeom prst="ellipse">
            <a:avLst/>
          </a:prstGeom>
          <a:solidFill>
            <a:srgbClr val="F8981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1F29BC3-5561-410D-9285-1EBCF66B07C0}"/>
              </a:ext>
            </a:extLst>
          </p:cNvPr>
          <p:cNvSpPr/>
          <p:nvPr/>
        </p:nvSpPr>
        <p:spPr>
          <a:xfrm>
            <a:off x="8636000" y="241300"/>
            <a:ext cx="254000" cy="254000"/>
          </a:xfrm>
          <a:prstGeom prst="ellipse">
            <a:avLst/>
          </a:prstGeom>
          <a:solidFill>
            <a:srgbClr val="FABF2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D13410-2D1A-44D8-83B1-03DF3EB0F85E}"/>
              </a:ext>
            </a:extLst>
          </p:cNvPr>
          <p:cNvSpPr/>
          <p:nvPr/>
        </p:nvSpPr>
        <p:spPr>
          <a:xfrm>
            <a:off x="8775700" y="241300"/>
            <a:ext cx="177800" cy="177800"/>
          </a:xfrm>
          <a:prstGeom prst="ellipse">
            <a:avLst/>
          </a:prstGeom>
          <a:solidFill>
            <a:srgbClr val="8AC54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3E6299-B69D-443C-968E-E1AA775AA233}"/>
              </a:ext>
            </a:extLst>
          </p:cNvPr>
          <p:cNvSpPr/>
          <p:nvPr/>
        </p:nvSpPr>
        <p:spPr>
          <a:xfrm>
            <a:off x="8521700" y="406400"/>
            <a:ext cx="127000" cy="127000"/>
          </a:xfrm>
          <a:prstGeom prst="ellipse">
            <a:avLst/>
          </a:prstGeom>
          <a:solidFill>
            <a:srgbClr val="CDDC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3BF2FC-C2BF-4AC7-A81D-77FD6A1FD2AE}"/>
              </a:ext>
            </a:extLst>
          </p:cNvPr>
          <p:cNvSpPr/>
          <p:nvPr/>
        </p:nvSpPr>
        <p:spPr>
          <a:xfrm>
            <a:off x="8686800" y="393700"/>
            <a:ext cx="177800" cy="177800"/>
          </a:xfrm>
          <a:prstGeom prst="ellipse">
            <a:avLst/>
          </a:prstGeom>
          <a:solidFill>
            <a:srgbClr val="07BC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61AF710-453E-43E5-AAB4-35831BE67128}"/>
              </a:ext>
            </a:extLst>
          </p:cNvPr>
          <p:cNvSpPr/>
          <p:nvPr/>
        </p:nvSpPr>
        <p:spPr>
          <a:xfrm>
            <a:off x="8839200" y="393700"/>
            <a:ext cx="127000" cy="127000"/>
          </a:xfrm>
          <a:prstGeom prst="ellipse">
            <a:avLst/>
          </a:prstGeom>
          <a:solidFill>
            <a:srgbClr val="EB1A6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8E04C-6E05-486B-A2CA-3729C376640F}"/>
              </a:ext>
            </a:extLst>
          </p:cNvPr>
          <p:cNvSpPr/>
          <p:nvPr/>
        </p:nvSpPr>
        <p:spPr>
          <a:xfrm>
            <a:off x="0" y="4864100"/>
            <a:ext cx="9144000" cy="279400"/>
          </a:xfrm>
          <a:prstGeom prst="rect">
            <a:avLst/>
          </a:prstGeom>
          <a:solidFill>
            <a:srgbClr val="F8FAF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0E3EE5-844F-417E-ABD9-09A7C44108EB}"/>
              </a:ext>
            </a:extLst>
          </p:cNvPr>
          <p:cNvSpPr txBox="1"/>
          <p:nvPr/>
        </p:nvSpPr>
        <p:spPr>
          <a:xfrm>
            <a:off x="279400" y="4864100"/>
            <a:ext cx="85979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Lovesac × Conscia  ·  Project Kick-off  ·  March 30, 2026</a:t>
            </a:r>
          </a:p>
        </p:txBody>
      </p:sp>
      <p:sp>
        <p:nvSpPr>
          <p:cNvPr id="200" name="Shape 200"/>
          <p:cNvSpPr/>
          <p:nvPr/>
        </p:nvSpPr>
        <p:spPr>
          <a:xfrm>
            <a:off x="254000" y="1028700"/>
            <a:ext cx="4191000" cy="355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1" name="Accent 201"/>
          <p:cNvSpPr/>
          <p:nvPr/>
        </p:nvSpPr>
        <p:spPr>
          <a:xfrm>
            <a:off x="254000" y="1028700"/>
            <a:ext cx="4191000" cy="508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202"/>
          <p:cNvSpPr txBox="1"/>
          <p:nvPr/>
        </p:nvSpPr>
        <p:spPr>
          <a:xfrm>
            <a:off x="457200" y="12065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b="1" dirty="0">
                <a:solidFill>
                  <a:srgbClr val="EB1A63"/>
                </a:solidFill>
                <a:latin typeface="Calibri"/>
              </a:rPr>
              <a:t>Conscia</a:t>
            </a:r>
          </a:p>
        </p:txBody>
      </p:sp>
      <p:sp>
        <p:nvSpPr>
          <p:cNvPr id="203" name="Circle 203"/>
          <p:cNvSpPr/>
          <p:nvPr/>
        </p:nvSpPr>
        <p:spPr>
          <a:xfrm>
            <a:off x="457200" y="1651000"/>
            <a:ext cx="355600" cy="355600"/>
          </a:xfrm>
          <a:prstGeom prst="ellipse">
            <a:avLst/>
          </a:prstGeom>
          <a:solidFill>
            <a:srgbClr val="EB1A6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914400" y="16510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Morgan</a:t>
            </a:r>
            <a:r>
              <a:rPr lang="en-US" sz="1000" dirty="0">
                <a:solidFill>
                  <a:srgbClr val="9CA3AF"/>
                </a:solidFill>
                <a:latin typeface="Calibri"/>
              </a:rPr>
              <a:t>  </a:t>
            </a:r>
          </a:p>
          <a:p>
            <a:pPr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morgan@conscia.co</a:t>
            </a:r>
          </a:p>
        </p:txBody>
      </p:sp>
      <p:sp>
        <p:nvSpPr>
          <p:cNvPr id="205" name="Circle 205"/>
          <p:cNvSpPr/>
          <p:nvPr/>
        </p:nvSpPr>
        <p:spPr>
          <a:xfrm>
            <a:off x="457200" y="2260600"/>
            <a:ext cx="355600" cy="355600"/>
          </a:xfrm>
          <a:prstGeom prst="ellipse">
            <a:avLst/>
          </a:prstGeom>
          <a:solidFill>
            <a:srgbClr val="EB1A6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914400" y="22606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David</a:t>
            </a:r>
          </a:p>
          <a:p>
            <a:r>
              <a:rPr lang="en-US" sz="900" dirty="0">
                <a:solidFill>
                  <a:srgbClr val="6B7280"/>
                </a:solidFill>
                <a:latin typeface="Calibri"/>
              </a:rPr>
              <a:t>david@conscia.co</a:t>
            </a:r>
          </a:p>
          <a:p>
            <a:pPr>
              <a:buNone/>
            </a:pPr>
            <a:endParaRPr lang="en-US" sz="14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07" name="Circle 207"/>
          <p:cNvSpPr/>
          <p:nvPr/>
        </p:nvSpPr>
        <p:spPr>
          <a:xfrm>
            <a:off x="457200" y="2870200"/>
            <a:ext cx="355600" cy="355600"/>
          </a:xfrm>
          <a:prstGeom prst="ellipse">
            <a:avLst/>
          </a:prstGeom>
          <a:solidFill>
            <a:srgbClr val="EB1A6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08" name="Text 208"/>
          <p:cNvSpPr txBox="1"/>
          <p:nvPr/>
        </p:nvSpPr>
        <p:spPr>
          <a:xfrm>
            <a:off x="914400" y="28702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Laurel</a:t>
            </a:r>
          </a:p>
          <a:p>
            <a:pPr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laurel@conscia.ai</a:t>
            </a:r>
          </a:p>
        </p:txBody>
      </p:sp>
      <p:sp>
        <p:nvSpPr>
          <p:cNvPr id="209" name="Circle 209"/>
          <p:cNvSpPr/>
          <p:nvPr/>
        </p:nvSpPr>
        <p:spPr>
          <a:xfrm>
            <a:off x="457200" y="3479800"/>
            <a:ext cx="355600" cy="355600"/>
          </a:xfrm>
          <a:prstGeom prst="ellipse">
            <a:avLst/>
          </a:prstGeom>
          <a:solidFill>
            <a:srgbClr val="EB1A6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10" name="Text 210"/>
          <p:cNvSpPr txBox="1"/>
          <p:nvPr/>
        </p:nvSpPr>
        <p:spPr>
          <a:xfrm>
            <a:off x="914400" y="34798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Sana</a:t>
            </a:r>
          </a:p>
          <a:p>
            <a:pPr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sana@conscia.ai</a:t>
            </a:r>
          </a:p>
        </p:txBody>
      </p:sp>
      <p:sp>
        <p:nvSpPr>
          <p:cNvPr id="211" name="Shape 211"/>
          <p:cNvSpPr/>
          <p:nvPr/>
        </p:nvSpPr>
        <p:spPr>
          <a:xfrm>
            <a:off x="4699000" y="1028700"/>
            <a:ext cx="4191000" cy="355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12" name="Accent 212"/>
          <p:cNvSpPr/>
          <p:nvPr/>
        </p:nvSpPr>
        <p:spPr>
          <a:xfrm>
            <a:off x="4699000" y="1028700"/>
            <a:ext cx="4191000" cy="508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213"/>
          <p:cNvSpPr txBox="1"/>
          <p:nvPr/>
        </p:nvSpPr>
        <p:spPr>
          <a:xfrm>
            <a:off x="4902200" y="12065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b="1" dirty="0">
                <a:solidFill>
                  <a:srgbClr val="07BCD6"/>
                </a:solidFill>
                <a:latin typeface="Calibri"/>
              </a:rPr>
              <a:t>Lovesac</a:t>
            </a:r>
          </a:p>
        </p:txBody>
      </p:sp>
      <p:sp>
        <p:nvSpPr>
          <p:cNvPr id="214" name="Circle 214"/>
          <p:cNvSpPr/>
          <p:nvPr/>
        </p:nvSpPr>
        <p:spPr>
          <a:xfrm>
            <a:off x="4902200" y="1651000"/>
            <a:ext cx="355600" cy="355600"/>
          </a:xfrm>
          <a:prstGeom prst="ellipse">
            <a:avLst/>
          </a:prstGeom>
          <a:solidFill>
            <a:srgbClr val="07BC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5359400" y="16510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Amelia Jacobs</a:t>
            </a:r>
          </a:p>
          <a:p>
            <a:pPr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ameliajacobs@lovesac.com</a:t>
            </a:r>
          </a:p>
        </p:txBody>
      </p:sp>
      <p:sp>
        <p:nvSpPr>
          <p:cNvPr id="216" name="Circle 216"/>
          <p:cNvSpPr/>
          <p:nvPr/>
        </p:nvSpPr>
        <p:spPr>
          <a:xfrm>
            <a:off x="4902200" y="2260600"/>
            <a:ext cx="355600" cy="355600"/>
          </a:xfrm>
          <a:prstGeom prst="ellipse">
            <a:avLst/>
          </a:prstGeom>
          <a:solidFill>
            <a:srgbClr val="07BC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17" name="Text 217"/>
          <p:cNvSpPr txBox="1"/>
          <p:nvPr/>
        </p:nvSpPr>
        <p:spPr>
          <a:xfrm>
            <a:off x="5359400" y="22606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Tate Swanson</a:t>
            </a:r>
          </a:p>
          <a:p>
            <a:pPr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tateswanson@lovesac.com</a:t>
            </a:r>
          </a:p>
        </p:txBody>
      </p:sp>
    </p:spTree>
    <p:extLst>
      <p:ext uri="{BB962C8B-B14F-4D97-AF65-F5344CB8AC3E}">
        <p14:creationId xmlns:p14="http://schemas.microsoft.com/office/powerpoint/2010/main" val="3891310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Today's Agenda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430768" y="45720"/>
            <a:ext cx="256032" cy="256032"/>
          </a:xfrm>
          <a:prstGeom prst="ellipse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8631936" y="45720"/>
            <a:ext cx="182880" cy="182880"/>
          </a:xfrm>
          <a:prstGeom prst="ellipse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778240" y="45720"/>
            <a:ext cx="128016" cy="128016"/>
          </a:xfrm>
          <a:prstGeom prst="ellipse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8430768" y="246888"/>
            <a:ext cx="182880" cy="182880"/>
          </a:xfrm>
          <a:prstGeom prst="ellipse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8631936" y="246888"/>
            <a:ext cx="256032" cy="256032"/>
          </a:xfrm>
          <a:prstGeom prst="ellipse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778240" y="246888"/>
            <a:ext cx="182880" cy="182880"/>
          </a:xfrm>
          <a:prstGeom prst="ellipse">
            <a:avLst/>
          </a:prstGeom>
          <a:solidFill>
            <a:srgbClr val="8AC542"/>
          </a:solidFill>
          <a:ln w="12700" cap="flat" cmpd="sng">
            <a:solidFill>
              <a:srgbClr val="8AC5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8522208" y="411480"/>
            <a:ext cx="128016" cy="128016"/>
          </a:xfrm>
          <a:prstGeom prst="ellipse">
            <a:avLst/>
          </a:prstGeom>
          <a:solidFill>
            <a:srgbClr val="CDDC29"/>
          </a:solidFill>
          <a:ln w="12700" cap="flat" cmpd="sng">
            <a:solidFill>
              <a:srgbClr val="CDDC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8686800" y="393192"/>
            <a:ext cx="182880" cy="182880"/>
          </a:xfrm>
          <a:prstGeom prst="ellipse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8833104" y="393192"/>
            <a:ext cx="128016" cy="128016"/>
          </a:xfrm>
          <a:prstGeom prst="ellipse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256032" y="1024128"/>
            <a:ext cx="2651760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256032" y="1024128"/>
            <a:ext cx="2651760" cy="54864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02336" y="11521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02336" y="1554480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 We're Here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02336" y="1883664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Business context, the SKU complexity challenge, and what success looks like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3035808" y="1024128"/>
            <a:ext cx="2651760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3035808" y="1024128"/>
            <a:ext cx="2651760" cy="54864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3182112" y="11521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3182112" y="1554480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3182112" y="1883664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DX Graph as product master + DX Engine as the real-time orchestration layer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5815584" y="1024128"/>
            <a:ext cx="2651760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5815584" y="1024128"/>
            <a:ext cx="2651760" cy="54864"/>
          </a:xfrm>
          <a:prstGeom prst="rect">
            <a:avLst/>
          </a:prstGeom>
          <a:solidFill>
            <a:srgbClr val="8AC542"/>
          </a:solidFill>
          <a:ln w="12700" cap="flat" cmpd="sng">
            <a:solidFill>
              <a:srgbClr val="8AC5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5961888" y="11521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C542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8AC54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5961888" y="1554480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Scope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961888" y="1883664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Deliverables, phasing, and what's out of scope for Phase 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256032" y="2569464"/>
            <a:ext cx="2651760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256032" y="2569464"/>
            <a:ext cx="2651760" cy="54864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402336" y="26974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8CCB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458CC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02336" y="3099816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Team &amp; Governance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02336" y="3429000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Roles, responsibilities, working cadence, and escalation paths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035808" y="2569464"/>
            <a:ext cx="2651760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3035808" y="2569464"/>
            <a:ext cx="2651760" cy="54864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3182112" y="26974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981D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8981D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182112" y="3099816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Open Questions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182112" y="3429000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Items we need Lovesac to confirm to unlock key workstreams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815584" y="2569464"/>
            <a:ext cx="2651760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5815584" y="2569464"/>
            <a:ext cx="2651760" cy="54864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961888" y="26974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BF2D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ABF2D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961888" y="3099816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961888" y="3429000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Actions, owners, and target dates coming out of today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2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Semantic Foundation for Complex, Configurable Commerce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16317" y="644658"/>
            <a:ext cx="8503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Conscia unifies product data, relationships, and rules into one governed foundation — served in real time to every channel, system, and agent.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8430768" y="45720"/>
            <a:ext cx="256032" cy="256032"/>
          </a:xfrm>
          <a:prstGeom prst="ellipse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8631936" y="45720"/>
            <a:ext cx="182880" cy="182880"/>
          </a:xfrm>
          <a:prstGeom prst="ellipse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8778240" y="45720"/>
            <a:ext cx="128016" cy="128016"/>
          </a:xfrm>
          <a:prstGeom prst="ellipse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8430768" y="246888"/>
            <a:ext cx="182880" cy="182880"/>
          </a:xfrm>
          <a:prstGeom prst="ellipse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8631936" y="246888"/>
            <a:ext cx="256032" cy="256032"/>
          </a:xfrm>
          <a:prstGeom prst="ellipse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8778240" y="246888"/>
            <a:ext cx="182880" cy="182880"/>
          </a:xfrm>
          <a:prstGeom prst="ellipse">
            <a:avLst/>
          </a:prstGeom>
          <a:solidFill>
            <a:srgbClr val="8AC542"/>
          </a:solidFill>
          <a:ln w="12700" cap="flat" cmpd="sng">
            <a:solidFill>
              <a:srgbClr val="8AC5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8522208" y="411480"/>
            <a:ext cx="128016" cy="128016"/>
          </a:xfrm>
          <a:prstGeom prst="ellipse">
            <a:avLst/>
          </a:prstGeom>
          <a:solidFill>
            <a:srgbClr val="CDDC29"/>
          </a:solidFill>
          <a:ln w="12700" cap="flat" cmpd="sng">
            <a:solidFill>
              <a:srgbClr val="CDDC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8686800" y="393192"/>
            <a:ext cx="182880" cy="182880"/>
          </a:xfrm>
          <a:prstGeom prst="ellipse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8833104" y="393192"/>
            <a:ext cx="128016" cy="128016"/>
          </a:xfrm>
          <a:prstGeom prst="ellipse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256032" y="1005840"/>
            <a:ext cx="8631936" cy="566928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256032" y="1005840"/>
            <a:ext cx="54864" cy="566928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57200" y="102412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Traditional PIM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57200" y="11887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manages product attributes "at rest" — batch updates, custom integrations, rules hardcoded across apps.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Result: rule debt, variant explosion, cart → BOM mismatch, slower launches.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224528" y="10789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663440" y="102412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Conscia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663440" y="1188720"/>
            <a:ext cx="40965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delivers real-time, deterministic outcomes — eligibility, compatibility, entitlements, and BOM results — through APIs every channel can rely 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56032" y="1664208"/>
            <a:ext cx="2651760" cy="3054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256032" y="1664208"/>
            <a:ext cx="2651760" cy="54864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402336" y="179222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BF2D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ABF2D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822960" y="1819656"/>
            <a:ext cx="1938528" cy="219456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822960" y="1819656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SEMANTIC FOUNDATION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02336" y="2139696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lang="en-US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DX</a:t>
            </a:r>
            <a:r>
              <a:rPr lang="en-US" sz="14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Graph (Product Graph)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02336" y="2523744"/>
            <a:ext cx="24140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 graph-based repository that models entities, attributes, and relationships as connected data — not flat SKU records. Lovesac's configurable Sactional system — components, covers, inserts, compatibility — lives here as first-class connected knowledge.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02336" y="3401568"/>
            <a:ext cx="2322576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402336" y="3474720"/>
            <a:ext cx="2414016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SKU + Configuration + Taxonomy Collections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COMPATIBLE_WITH, BUNDLES, CONTAINS relationships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Up to 3 taxonomy views for any channel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3063240" y="1664208"/>
            <a:ext cx="2651760" cy="3054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3063240" y="1664208"/>
            <a:ext cx="2651760" cy="54864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3209544" y="179222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3630168" y="1819656"/>
            <a:ext cx="1938528" cy="219456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3630168" y="1819656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NATIVE RULES ENGINE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3209544" y="2139696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DX Engine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209544" y="2523744"/>
            <a:ext cx="24140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 deterministic rules engine that evaluates eligibility, compatibility, constraints, and entitlements at runtime — not in batch. No more hardcoded logic scattered across apps.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3209544" y="3401568"/>
            <a:ext cx="2322576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3209544" y="3474720"/>
            <a:ext cx="2414016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Configuration Validation flow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Wizard Step Options flow (POS + web)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Channel-specific Experience Rules (Quickship, Outdoor)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5870448" y="1664208"/>
            <a:ext cx="2651760" cy="3054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5870448" y="1664208"/>
            <a:ext cx="2651760" cy="54864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6016752" y="179222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437376" y="1819656"/>
            <a:ext cx="1938528" cy="219456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6437376" y="1819656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REAL-TIME EXPERIENCE APIs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016752" y="2139696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Every Channel. One Truth.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6016752" y="2523744"/>
            <a:ext cx="24140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Experience APIs serve consistent product decisions to every channel and agent — from POS terminals to Lovesac.com to AI shopping agents like Google Shopping and ChatGPT.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6016752" y="3401568"/>
            <a:ext cx="2322576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6016752" y="3474720"/>
            <a:ext cx="2414016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ID Creation + BOM Explosion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Agentic Commerce via MCP (Google, ChatGPT)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POS, web, marketplace — same governed answers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 We're Here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256032" y="7498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Lovesac's Sactional is a highly configurable modular furniture system — and that configurability creates massive data complexity at scale.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256032" y="1060704"/>
            <a:ext cx="2286000" cy="3639312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256032" y="1243584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13+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256032" y="2176272"/>
            <a:ext cx="22860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Attribute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SKU explosion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75488" y="3639312"/>
            <a:ext cx="1847088" cy="256032"/>
          </a:xfrm>
          <a:prstGeom prst="rect">
            <a:avLst/>
          </a:prstGeom>
          <a:solidFill>
            <a:srgbClr val="D61357"/>
          </a:solidFill>
          <a:ln w="12700" cap="flat" cmpd="sng">
            <a:solidFill>
              <a:srgbClr val="D613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475488" y="3639312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CORE CHALLENGE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2724912" y="1060704"/>
            <a:ext cx="6163056" cy="1234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2871216" y="1207008"/>
            <a:ext cx="1371600" cy="219456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2871216" y="12070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MODEL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2871216" y="1481328"/>
            <a:ext cx="58887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 Compatibility Model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2871216" y="1773936"/>
            <a:ext cx="58887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Rules governing which covers, inserts, and components work together are implicit — not encoded as data relationships. This blocks real-time validation.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2724912" y="2350008"/>
            <a:ext cx="6163056" cy="1234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2871216" y="2496312"/>
            <a:ext cx="1371600" cy="219456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2871216" y="249631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2871216" y="2770632"/>
            <a:ext cx="58887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Fragmented Source Systems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2871216" y="3063240"/>
            <a:ext cx="58887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Product data is distributed across up to 3 backends with no unified transformation pipeline, no canonical taxonomy, and no single source of truth.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2724912" y="3639312"/>
            <a:ext cx="6163056" cy="1234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2871216" y="3785616"/>
            <a:ext cx="1371600" cy="219456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2871216" y="378561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2871216" y="4059936"/>
            <a:ext cx="58887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 Real-Time Orchestration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2871216" y="4352544"/>
            <a:ext cx="58887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validation, BOM explosion, and wizard step logic have no API-first foundation — blocking POS efficiency and AI shopping agent use cases.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256032" y="7498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 complementary platform capabilities that together make Conscia the governed product master for Lovesac.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256032" y="1024128"/>
            <a:ext cx="4169664" cy="3639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256032" y="1024128"/>
            <a:ext cx="4169664" cy="64008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438912" y="1161288"/>
            <a:ext cx="1188720" cy="237744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438912" y="1161288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DX GRAPH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438912" y="1499616"/>
            <a:ext cx="385876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Governed Product Data Layer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438912" y="1938528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BF2D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ABF2D"/>
                </a:solidFill>
                <a:latin typeface="Calibri"/>
                <a:ea typeface="Calibri"/>
                <a:cs typeface="Calibri"/>
                <a:sym typeface="Calibri"/>
              </a:rPr>
              <a:t>"What is true?"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38912" y="2249424"/>
            <a:ext cx="3712464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438912" y="2322576"/>
            <a:ext cx="3858768" cy="2231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Single unified SKU Collection — all brands, lines, and roles in one graph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Compatibility relationships: Cover → Insert (dynamic), Finished Good composition, Taxonomy mappings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Up to 3 parallel Taxonomy Collections (internal ops, Lovesac.com, marketplace channels)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 loaded from up to 3 source backends via Jobs (batch, API, or file ingestion)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System of record — not a cache. All downstream channels query DX Graph.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4700016" y="1024128"/>
            <a:ext cx="4169664" cy="3639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4700016" y="1024128"/>
            <a:ext cx="4169664" cy="64008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4882896" y="1161288"/>
            <a:ext cx="1188720" cy="237744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4882896" y="1161288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DX ENGINE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4882896" y="1499616"/>
            <a:ext cx="385876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Real-Time Orchestration Layer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4882896" y="1938528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"What should happen?"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882896" y="2249424"/>
            <a:ext cx="3712464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4882896" y="2322576"/>
            <a:ext cx="3858768" cy="2231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Configuration Validation: verify any Sactional build in real time against graph relationships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Visual Configurator: power the step-by-step wizard with valid next options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ID Creation: write validated builds to DX Graph as durable Config IDs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BOM Explosion: resolve a Config ID to a channel-shaped Bill of Materials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Agentic Commerce ready: flows exposable as MCP tools for Google Shopping, ChatGPT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End-to-End Architecture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256032" y="1005840"/>
            <a:ext cx="8631936" cy="621792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420624" y="1143000"/>
            <a:ext cx="3657600" cy="219456"/>
          </a:xfrm>
          <a:prstGeom prst="rect">
            <a:avLst/>
          </a:prstGeom>
          <a:solidFill>
            <a:srgbClr val="6B7280"/>
          </a:solidFill>
          <a:ln w="1270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20624" y="114300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BACKENDS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20624" y="1371600"/>
            <a:ext cx="835761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Batch feeds · API pulls · File ingestion via Data Buckets  —  with transformation &amp; normalisation via Jobs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549140" y="1664208"/>
            <a:ext cx="45720" cy="164592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407408" y="1792224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256032" y="1938528"/>
            <a:ext cx="8631936" cy="621792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420624" y="2075688"/>
            <a:ext cx="3657600" cy="219456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420624" y="207568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DX GRAPH — Governed Semantic Layer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20624" y="2304288"/>
            <a:ext cx="835761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SKU Collection · Configuration Collection · Taxonomy Collections · COMPATIBLE_WITH · BUNDLES · CONTAINS · MAPS_TO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549140" y="2596896"/>
            <a:ext cx="45720" cy="164592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4407408" y="2724912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256032" y="2871216"/>
            <a:ext cx="8631936" cy="621792"/>
          </a:xfrm>
          <a:prstGeom prst="rect">
            <a:avLst/>
          </a:prstGeom>
          <a:solidFill>
            <a:srgbClr val="FFF0F5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420624" y="3008376"/>
            <a:ext cx="3657600" cy="219456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420624" y="300837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DX ENGINE — Orchestration Layer (Experience API)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20624" y="3236976"/>
            <a:ext cx="835761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Validation · Wizard Step Options · Config ID Creation · BOM Explosion · Channel Feeds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549140" y="3529584"/>
            <a:ext cx="45720" cy="164592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4407408" y="365760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256032" y="3803904"/>
            <a:ext cx="8631936" cy="621792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420624" y="3941064"/>
            <a:ext cx="3657600" cy="219456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420624" y="394106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420624" y="4169664"/>
            <a:ext cx="835761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POS Systems · Lovesac.com · On-site Shopping Agent · Google Shopping · ChatGPT / 3rd-Party AI Agents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Scope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256032" y="1024128"/>
            <a:ext cx="2743200" cy="37124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256032" y="1024128"/>
            <a:ext cx="2743200" cy="54864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384048" y="1152144"/>
            <a:ext cx="2487168" cy="237744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384048" y="1152144"/>
            <a:ext cx="24871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DX GRAPH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384048" y="1517904"/>
            <a:ext cx="2542032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DX Graph Application provisioning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SKU, Configuration &amp; Taxonomy Collections (up to 3 taxonomies)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COMPATIBLE_WITH, BUNDLES, CONTAINS, MAPS_TO relationships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 ingest from up to 3 source backends via Jobs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Update up to 2 existing marketplace feeds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3145536" y="1024128"/>
            <a:ext cx="2871216" cy="37124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3145536" y="1024128"/>
            <a:ext cx="2871216" cy="54864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3273552" y="1152144"/>
            <a:ext cx="2615184" cy="237744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3273552" y="1152144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DX ENGINE (POC)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273552" y="1517904"/>
            <a:ext cx="2670048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Configuration Validation orchestration flow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Visual Configurator wizard step options flow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ID Creation flow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ID → BOM Explosion flow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Experience Rules for series &amp; channel constraints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163056" y="1024128"/>
            <a:ext cx="2724912" cy="37124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6163056" y="1024128"/>
            <a:ext cx="2724912" cy="54864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291072" y="1152144"/>
            <a:ext cx="2468880" cy="237744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6291072" y="1152144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OUT OF SCOPE — PHASE 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291072" y="1517904"/>
            <a:ext cx="2523744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Lovesac.com frontend integration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Real-time inventory availability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Full agentic channel (MCP) production deployment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Pricing engine integration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OMS / fulfilment system integration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4de2a385f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3d4de2a385f_0_0"/>
          <p:cNvSpPr/>
          <p:nvPr/>
        </p:nvSpPr>
        <p:spPr>
          <a:xfrm>
            <a:off x="0" y="0"/>
            <a:ext cx="54900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d4de2a385f_0_0"/>
          <p:cNvSpPr/>
          <p:nvPr/>
        </p:nvSpPr>
        <p:spPr>
          <a:xfrm>
            <a:off x="256032" y="73152"/>
            <a:ext cx="77724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1100" b="1">
                <a:solidFill>
                  <a:schemeClr val="dk1"/>
                </a:solidFill>
              </a:rPr>
              <a:t>Collections, Hierarchies, Taxonomies and Hierarchical Taxonomies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d4de2a385f_0_0"/>
          <p:cNvSpPr/>
          <p:nvPr/>
        </p:nvSpPr>
        <p:spPr>
          <a:xfrm>
            <a:off x="8138160" y="73152"/>
            <a:ext cx="8229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d4de2a385f_0_0"/>
          <p:cNvSpPr txBox="1"/>
          <p:nvPr/>
        </p:nvSpPr>
        <p:spPr>
          <a:xfrm>
            <a:off x="160975" y="726000"/>
            <a:ext cx="40740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Here is a high-level explanation about collection types: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Collections</a:t>
            </a:r>
            <a:r>
              <a:rPr lang="en-US" sz="1100">
                <a:solidFill>
                  <a:schemeClr val="dk1"/>
                </a:solidFill>
              </a:rPr>
              <a:t> are the foundation and hold data based on the data model configured.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Relationships</a:t>
            </a:r>
            <a:r>
              <a:rPr lang="en-US" sz="1100">
                <a:solidFill>
                  <a:schemeClr val="dk1"/>
                </a:solidFill>
              </a:rPr>
              <a:t> connect collections together. A 1:1 lookup maps a single record to exactly one record elsewhere. A 1:Many lookup links one record to multiple targets (shown as stacked). Dynamic relationships use expressions to create links between otherwise unrelated records.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Hierarchies</a:t>
            </a:r>
            <a:r>
              <a:rPr lang="en-US" sz="1100">
                <a:solidFill>
                  <a:schemeClr val="dk1"/>
                </a:solidFill>
              </a:rPr>
              <a:t> are special collections where records can have a parent record, building a tree structure (Grandparent → Parent → Child/Sibling). The key power here is that hierarchy paths — including ancestor and descendant arrays — recalculate automatically in real time whenever a record is moved.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Taxonomies</a:t>
            </a:r>
            <a:r>
              <a:rPr lang="en-US" sz="1100">
                <a:solidFill>
                  <a:schemeClr val="dk1"/>
                </a:solidFill>
              </a:rPr>
              <a:t> layer on top of collections to tag records dynamically. A standard Taxonomy collection holds labeling rules and applies them to a target collection.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</a:t>
            </a:r>
            <a:r>
              <a:rPr lang="en-US" sz="1100" b="1">
                <a:solidFill>
                  <a:schemeClr val="dk1"/>
                </a:solidFill>
              </a:rPr>
              <a:t>Hierarchical Taxonomy</a:t>
            </a:r>
            <a:r>
              <a:rPr lang="en-US" sz="1100">
                <a:solidFill>
                  <a:schemeClr val="dk1"/>
                </a:solidFill>
              </a:rPr>
              <a:t> takes this further: when a Hierarchy is also set as a Taxonomy, records in the target collection get tagged with the full hierarchy path (e.g. </a:t>
            </a:r>
            <a:r>
              <a:rPr lang="en-US" sz="900">
                <a:solidFill>
                  <a:srgbClr val="188038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 &gt; B &gt; C</a:t>
            </a:r>
            <a:r>
              <a:rPr lang="en-US" sz="1100">
                <a:solidFill>
                  <a:schemeClr val="dk1"/>
                </a:solidFill>
              </a:rPr>
              <a:t>), enabling implicit relationships and path-aware querying.</a:t>
            </a:r>
            <a:endParaRPr/>
          </a:p>
        </p:txBody>
      </p:sp>
      <p:sp>
        <p:nvSpPr>
          <p:cNvPr id="297" name="Google Shape;297;g3d4de2a385f_0_0"/>
          <p:cNvSpPr txBox="1"/>
          <p:nvPr/>
        </p:nvSpPr>
        <p:spPr>
          <a:xfrm>
            <a:off x="5372650" y="23188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Walkthrough of what has been implemented so far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Implementation Timeline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256032" y="1024128"/>
            <a:ext cx="2011680" cy="3657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256032" y="1024128"/>
            <a:ext cx="2011680" cy="502920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365760" y="1060704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65760" y="1280160"/>
            <a:ext cx="18105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Weeks 1–3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365760" y="1627632"/>
            <a:ext cx="184708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Foundation &amp; 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65760" y="2121408"/>
            <a:ext cx="1847088" cy="245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Provision DX Graph environment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Model SKU &amp; Configuration Collections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Configure data ingest Jobs (3 backends)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COMPATIBLE_WITH Dynamic Relationship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2340864" y="1024128"/>
            <a:ext cx="2011680" cy="3657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2340864" y="1024128"/>
            <a:ext cx="2011680" cy="502920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2450592" y="1060704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2450592" y="1280160"/>
            <a:ext cx="18105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Weeks 4–6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2450592" y="1627632"/>
            <a:ext cx="184708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Taxonomy &amp; Feeds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450592" y="2121408"/>
            <a:ext cx="1847088" cy="245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Model 3 Taxonomy Collections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Map all SKUs to taxonomies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Update 2 marketplace feeds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Validate data completeness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425696" y="1024128"/>
            <a:ext cx="2011680" cy="3657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4425696" y="1024128"/>
            <a:ext cx="2011680" cy="50292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4535424" y="1060704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535424" y="1280160"/>
            <a:ext cx="18105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7–10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535424" y="1627632"/>
            <a:ext cx="184708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DX Engine POC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535424" y="2121408"/>
            <a:ext cx="1847088" cy="245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Config Validation flow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Wizard Step Options flow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Config ID Creation flow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BOM Explosion flow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6510528" y="1024128"/>
            <a:ext cx="2011680" cy="3657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6510528" y="1024128"/>
            <a:ext cx="2011680" cy="502920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6620256" y="1060704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6620256" y="1280160"/>
            <a:ext cx="18105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11–12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6620256" y="1627632"/>
            <a:ext cx="184708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Testing &amp; Handoff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6620256" y="2121408"/>
            <a:ext cx="1847088" cy="245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End-to-end integration testing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Channel-specific QA (POS, web)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Documentation &amp; runbooks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Knowledge transfer to Lovesac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256032" y="4773168"/>
            <a:ext cx="8631936" cy="219456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402336" y="4773168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Note: Timeline is indicative. Final schedule to be agreed with Lovesac based on data readiness and open question resolution.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Team &amp; Governance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256032" y="1024128"/>
            <a:ext cx="5029200" cy="3703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256032" y="1024128"/>
            <a:ext cx="5029200" cy="54864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402336" y="1133856"/>
            <a:ext cx="1463040" cy="219456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402336" y="1133856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STRUCTURE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402336" y="1463040"/>
            <a:ext cx="1920240" cy="402336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475488" y="146304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2322576" y="1463040"/>
            <a:ext cx="1371600" cy="402336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2395728" y="14630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Conscia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3694176" y="1463040"/>
            <a:ext cx="1371600" cy="402336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3767328" y="14630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Lovesac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02336" y="1865376"/>
            <a:ext cx="1920240" cy="40233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475488" y="1865376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Executive Sponsor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2322576" y="1865376"/>
            <a:ext cx="1371600" cy="40233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2395728" y="186537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Sana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3694176" y="1865376"/>
            <a:ext cx="1371600" cy="40233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3767328" y="186537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Amelia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402336" y="2267712"/>
            <a:ext cx="1920240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475488" y="226771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Lead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2322576" y="2267712"/>
            <a:ext cx="1371600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2395728" y="22677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Morgan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694176" y="2267712"/>
            <a:ext cx="1371600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3767328" y="22677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Lovesac PM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402336" y="2670048"/>
            <a:ext cx="1920240" cy="40233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475488" y="267004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Solution Architect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2322576" y="2670048"/>
            <a:ext cx="1371600" cy="40233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2395728" y="267004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David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694176" y="2670048"/>
            <a:ext cx="1371600" cy="40233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3767328" y="267004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402336" y="3072384"/>
            <a:ext cx="1920240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475488" y="307238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Conscia Solution Engineer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2322576" y="3072384"/>
            <a:ext cx="1371600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2395728" y="307238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Laurel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3694176" y="3072384"/>
            <a:ext cx="1371600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3767328" y="307238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Lovesac Data Owner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402336" y="3474720"/>
            <a:ext cx="1920240" cy="40233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475488" y="347472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Conscia Platform Engineer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2322576" y="3474720"/>
            <a:ext cx="1371600" cy="40233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2395728" y="347472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Harshil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3694176" y="3474720"/>
            <a:ext cx="1371600" cy="40233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3767328" y="347472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Lovesac Tech Lead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402336" y="3877056"/>
            <a:ext cx="1920240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475488" y="3877056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QA / Testing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2322576" y="3877056"/>
            <a:ext cx="1371600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2395728" y="387705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Laurel/Harshil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3694176" y="3877056"/>
            <a:ext cx="1371600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3767328" y="387705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Lovesac QA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5486400" y="1024128"/>
            <a:ext cx="3401568" cy="3703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5486400" y="1024128"/>
            <a:ext cx="3401568" cy="54864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5632704" y="1133856"/>
            <a:ext cx="1645920" cy="219456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5632704" y="113385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WORKING CADENCE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5632704" y="1481328"/>
            <a:ext cx="3108960" cy="512064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5705856" y="151790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Weekly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5705856" y="1682496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Standup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5705856" y="1847088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30 min · Both teams · Status, blockers, decisions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5632704" y="2084832"/>
            <a:ext cx="3108960" cy="5120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5705856" y="21214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Bi-weekly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5705856" y="2286000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Steering Check-in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5705856" y="2450592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60 min · Leads only · Scope, risks, milestones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5632704" y="2688336"/>
            <a:ext cx="3108960" cy="512064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5705856" y="272491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As-needed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5705856" y="2889504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Technical Review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5705856" y="3054096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model, API design, integration reviews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5632704" y="3291840"/>
            <a:ext cx="3108960" cy="5120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5705856" y="332841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End of Phase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5705856" y="349300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Phase Gate Review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5705856" y="3657600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Demo, sign-off, and next phase kick-off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5632704" y="3895344"/>
            <a:ext cx="3108960" cy="512064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5705856" y="39319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Ongoing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5705856" y="409651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Slack / async comms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5705856" y="426110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Shared channel for day-to-day coordination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Open Questions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256032" y="7498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These items require Lovesac input to unlock key workstreams — we'll aim to resolve them during kick-off.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256032" y="1188720"/>
            <a:ext cx="4206240" cy="768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256032" y="1188720"/>
            <a:ext cx="54864" cy="768096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384048" y="1316736"/>
            <a:ext cx="347472" cy="219456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384048" y="131673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822960" y="1298448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Which 3 source backends will be ingested?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384048" y="1664208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Format (API vs. file) significantly affects implementation approach and timeline.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4681728" y="1188720"/>
            <a:ext cx="4206240" cy="768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4681728" y="1188720"/>
            <a:ext cx="54864" cy="768096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4809744" y="1316736"/>
            <a:ext cx="347472" cy="219456"/>
          </a:xfrm>
          <a:prstGeom prst="rect">
            <a:avLst/>
          </a:prstGeom>
          <a:solidFill>
            <a:srgbClr val="FABF2D"/>
          </a:solidFill>
          <a:ln w="12700" cap="flat" cmpd="sng">
            <a:solidFill>
              <a:srgbClr val="FABF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4809744" y="131673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5248656" y="1298448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are the 3 taxonomy versions required?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4809744" y="1664208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Internal taxonomy known. Marketplace schema (Google, ChatGPT) needs confirmation.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256032" y="2048256"/>
            <a:ext cx="4206240" cy="768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256032" y="2048256"/>
            <a:ext cx="54864" cy="768096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384048" y="2176272"/>
            <a:ext cx="347472" cy="219456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384048" y="217627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822960" y="2157984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Which 2 marketplace feeds will be updated?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384048" y="2523744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Feed format, update frequency, and API vs. file determines the integration pattern.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4681728" y="2048256"/>
            <a:ext cx="4206240" cy="768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4681728" y="2048256"/>
            <a:ext cx="54864" cy="768096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4809744" y="2176272"/>
            <a:ext cx="347472" cy="219456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4809744" y="217627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5248656" y="2157984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is the Config ID format requirement?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4809744" y="2523744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Does Lovesac need a specific format, or integration with an existing OMS?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256032" y="2907792"/>
            <a:ext cx="4206240" cy="768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256032" y="2907792"/>
            <a:ext cx="54864" cy="768096"/>
          </a:xfrm>
          <a:prstGeom prst="rect">
            <a:avLst/>
          </a:prstGeom>
          <a:solidFill>
            <a:srgbClr val="8AC542"/>
          </a:solidFill>
          <a:ln w="12700" cap="flat" cmpd="sng">
            <a:solidFill>
              <a:srgbClr val="8AC5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384048" y="3035808"/>
            <a:ext cx="347472" cy="219456"/>
          </a:xfrm>
          <a:prstGeom prst="rect">
            <a:avLst/>
          </a:prstGeom>
          <a:solidFill>
            <a:srgbClr val="8AC542"/>
          </a:solidFill>
          <a:ln w="12700" cap="flat" cmpd="sng">
            <a:solidFill>
              <a:srgbClr val="8AC5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384048" y="3035808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822960" y="3017520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Is Quickship a product type flag or live inventory?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384048" y="3383280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Currently modelled as classification. Live inventory requires a different integration.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4681728" y="2907792"/>
            <a:ext cx="4206240" cy="768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4681728" y="2907792"/>
            <a:ext cx="54864" cy="768096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4809744" y="3035808"/>
            <a:ext cx="347472" cy="219456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4809744" y="3035808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5248656" y="3017520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are the Sactional component adjacency rules?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4809744" y="3383280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Which component types can sit next to each other? An adjacency matrix or free-connect confirmation.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256032" y="7498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Actions coming out of today's session — owners and target dates for both teams.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256032" y="1042416"/>
            <a:ext cx="8631936" cy="47548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256032" y="1042416"/>
            <a:ext cx="54864" cy="475488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384048" y="1042416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8CC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58CCB"/>
                </a:solidFill>
                <a:latin typeface="Calibri"/>
                <a:ea typeface="Calibri"/>
                <a:cs typeface="Calibri"/>
                <a:sym typeface="Calibri"/>
              </a:rPr>
              <a:t>By March 31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1444752" y="1170432"/>
            <a:ext cx="859536" cy="219456"/>
          </a:xfrm>
          <a:prstGeom prst="rect">
            <a:avLst/>
          </a:prstGeom>
          <a:solidFill>
            <a:srgbClr val="458CCB"/>
          </a:solidFill>
          <a:ln w="12700" cap="flat" cmpd="sng">
            <a:solidFill>
              <a:srgbClr val="458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1444752" y="1170432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2432304" y="1042416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Confirm and distribute kick-off notes, decisions, and open question owners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256032" y="1572768"/>
            <a:ext cx="8631936" cy="4754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256032" y="1572768"/>
            <a:ext cx="54864" cy="475488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384048" y="1572768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981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8981D"/>
                </a:solidFill>
                <a:latin typeface="Calibri"/>
                <a:ea typeface="Calibri"/>
                <a:cs typeface="Calibri"/>
                <a:sym typeface="Calibri"/>
              </a:rPr>
              <a:t>By April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1444752" y="1700784"/>
            <a:ext cx="859536" cy="219456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1444752" y="1700784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Lovesac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2432304" y="1572768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Provide list of 3 source backends (format, access method) and 2 marketplace feeds to be updated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256032" y="2103120"/>
            <a:ext cx="8631936" cy="475488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256032" y="2103120"/>
            <a:ext cx="54864" cy="475488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384048" y="2103120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981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8981D"/>
                </a:solidFill>
                <a:latin typeface="Calibri"/>
                <a:ea typeface="Calibri"/>
                <a:cs typeface="Calibri"/>
                <a:sym typeface="Calibri"/>
              </a:rPr>
              <a:t>By April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1444752" y="2231136"/>
            <a:ext cx="859536" cy="219456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1444752" y="2231136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Lovesac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2432304" y="210312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Confirm 3 taxonomy versions required; share existing internal taxonomy documentation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256032" y="2633472"/>
            <a:ext cx="8631936" cy="4754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256032" y="2633472"/>
            <a:ext cx="54864" cy="475488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384048" y="2633472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981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8981D"/>
                </a:solidFill>
                <a:latin typeface="Calibri"/>
                <a:ea typeface="Calibri"/>
                <a:cs typeface="Calibri"/>
                <a:sym typeface="Calibri"/>
              </a:rPr>
              <a:t>By April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1444752" y="2761488"/>
            <a:ext cx="859536" cy="219456"/>
          </a:xfrm>
          <a:prstGeom prst="rect">
            <a:avLst/>
          </a:prstGeom>
          <a:solidFill>
            <a:srgbClr val="F8981D"/>
          </a:solidFill>
          <a:ln w="12700" cap="flat" cmpd="sng">
            <a:solidFill>
              <a:srgbClr val="F898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1444752" y="2761488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Lovesac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2432304" y="2633472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Provide component adjacency rules OR confirm within-series free-connect (resolves Open Question 6)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256032" y="3163824"/>
            <a:ext cx="8631936" cy="475488"/>
          </a:xfrm>
          <a:prstGeom prst="rect">
            <a:avLst/>
          </a:prstGeom>
          <a:solidFill>
            <a:srgbClr val="F0FB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256032" y="3163824"/>
            <a:ext cx="54864" cy="475488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384048" y="3163824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By April 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1444752" y="3291840"/>
            <a:ext cx="859536" cy="219456"/>
          </a:xfrm>
          <a:prstGeom prst="rect">
            <a:avLst/>
          </a:prstGeom>
          <a:solidFill>
            <a:srgbClr val="07BCD6"/>
          </a:solidFill>
          <a:ln w="12700" cap="flat" cmpd="sng">
            <a:solidFill>
              <a:srgbClr val="07BC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1"/>
          <p:cNvSpPr/>
          <p:nvPr/>
        </p:nvSpPr>
        <p:spPr>
          <a:xfrm>
            <a:off x="1444752" y="3291840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Conscia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2432304" y="3163824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Provision DX Graph environment and share access credentials with Lovesac team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256032" y="3694176"/>
            <a:ext cx="8631936" cy="4754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256032" y="3694176"/>
            <a:ext cx="54864" cy="475488"/>
          </a:xfrm>
          <a:prstGeom prst="rect">
            <a:avLst/>
          </a:prstGeom>
          <a:solidFill>
            <a:srgbClr val="8AC542"/>
          </a:solidFill>
          <a:ln w="12700" cap="flat" cmpd="sng">
            <a:solidFill>
              <a:srgbClr val="8AC5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1"/>
          <p:cNvSpPr/>
          <p:nvPr/>
        </p:nvSpPr>
        <p:spPr>
          <a:xfrm>
            <a:off x="384048" y="3694176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C54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C542"/>
                </a:solidFill>
                <a:latin typeface="Calibri"/>
                <a:ea typeface="Calibri"/>
                <a:cs typeface="Calibri"/>
                <a:sym typeface="Calibri"/>
              </a:rPr>
              <a:t>April 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1444752" y="3822192"/>
            <a:ext cx="859536" cy="219456"/>
          </a:xfrm>
          <a:prstGeom prst="rect">
            <a:avLst/>
          </a:prstGeom>
          <a:solidFill>
            <a:srgbClr val="8AC542"/>
          </a:solidFill>
          <a:ln w="12700" cap="flat" cmpd="sng">
            <a:solidFill>
              <a:srgbClr val="8AC5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1444752" y="3822192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2432304" y="3694176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First weekly project standup — review data readiness and confirm Phase 1 sprint plan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256032" y="4608576"/>
            <a:ext cx="8631936" cy="274320"/>
          </a:xfrm>
          <a:prstGeom prst="rect">
            <a:avLst/>
          </a:prstGeom>
          <a:solidFill>
            <a:srgbClr val="EB1A63"/>
          </a:solidFill>
          <a:ln w="12700" cap="flat" cmpd="sng">
            <a:solidFill>
              <a:srgbClr val="EB1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1"/>
          <p:cNvSpPr/>
          <p:nvPr/>
        </p:nvSpPr>
        <p:spPr>
          <a:xfrm>
            <a:off x="256032" y="4608576"/>
            <a:ext cx="8631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Let's build something great together.  Welcome to the project.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59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63CBA7-DA38-4B63-A77E-B112D0F83CBE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28162e83-ee21-4051-98bf-0d36cacca1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1843</Words>
  <Application>Microsoft Office PowerPoint</Application>
  <PresentationFormat>On-screen Show (16:9)</PresentationFormat>
  <Paragraphs>292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Conscia</dc:creator>
  <cp:lastModifiedBy>David Uccelli</cp:lastModifiedBy>
  <cp:revision>1</cp:revision>
  <dcterms:created xsi:type="dcterms:W3CDTF">2026-03-28T20:38:14Z</dcterms:created>
  <dcterms:modified xsi:type="dcterms:W3CDTF">2026-04-06T21:34:12Z</dcterms:modified>
</cp:coreProperties>
</file>