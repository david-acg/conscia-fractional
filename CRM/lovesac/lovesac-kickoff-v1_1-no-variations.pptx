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305" r:id="rId2"/>
    <p:sldId id="325" r:id="rId3"/>
    <p:sldId id="309" r:id="rId4"/>
    <p:sldId id="322" r:id="rId5"/>
    <p:sldId id="308" r:id="rId6"/>
    <p:sldId id="323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00" r:id="rId16"/>
    <p:sldId id="278" r:id="rId17"/>
    <p:sldId id="281" r:id="rId18"/>
    <p:sldId id="294" r:id="rId19"/>
    <p:sldId id="297" r:id="rId20"/>
    <p:sldId id="290" r:id="rId21"/>
    <p:sldId id="291" r:id="rId22"/>
    <p:sldId id="295" r:id="rId23"/>
    <p:sldId id="298" r:id="rId24"/>
    <p:sldId id="296" r:id="rId25"/>
    <p:sldId id="299" r:id="rId26"/>
    <p:sldId id="292" r:id="rId27"/>
    <p:sldId id="293" r:id="rId2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HCJthnzYT8TGbZ49sVQp0B7AhE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Uccelli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4ba649c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d4ba649cf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d4ba649cf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de2a3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d4de2a385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4de2a385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ll"/>
          <p:cNvSpPr/>
          <p:nvPr/>
        </p:nvSpPr>
        <p:spPr>
          <a:xfrm>
            <a:off x="457200" y="762000"/>
            <a:ext cx="3302000" cy="2794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13" name="Title"/>
          <p:cNvSpPr/>
          <p:nvPr/>
        </p:nvSpPr>
        <p:spPr>
          <a:xfrm>
            <a:off x="457200" y="1270000"/>
            <a:ext cx="8229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4200" b="1" dirty="0">
                <a:solidFill>
                  <a:srgbClr val="111827"/>
                </a:solidFill>
                <a:latin typeface="Calibri"/>
              </a:rPr>
              <a:t>Conscia: Beyond Traditional </a:t>
            </a:r>
            <a:r>
              <a:rPr lang="en-US" sz="42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14" name="Subtitle"/>
          <p:cNvSpPr/>
          <p:nvPr/>
        </p:nvSpPr>
        <p:spPr>
          <a:xfrm>
            <a:off x="457200" y="2476500"/>
            <a:ext cx="558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15" name="PoweredBy"/>
          <p:cNvSpPr/>
          <p:nvPr/>
        </p:nvSpPr>
        <p:spPr>
          <a:xfrm>
            <a:off x="457200" y="3429000"/>
            <a:ext cx="3810000" cy="2794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b="1" spc="150" dirty="0">
                <a:solidFill>
                  <a:srgbClr val="FFFFFF"/>
                </a:solidFill>
                <a:latin typeface="Calibri"/>
              </a:rPr>
              <a:t>POWERED BY: DX GRAPH + DX ENGINE</a:t>
            </a:r>
          </a:p>
        </p:txBody>
      </p:sp>
      <p:sp>
        <p:nvSpPr>
          <p:cNvPr id="16" name="Kickoff"/>
          <p:cNvSpPr/>
          <p:nvPr/>
        </p:nvSpPr>
        <p:spPr>
          <a:xfrm>
            <a:off x="457200" y="3937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17" name="Tagline"/>
          <p:cNvSpPr/>
          <p:nvPr/>
        </p:nvSpPr>
        <p:spPr>
          <a:xfrm>
            <a:off x="2540000" y="2286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900" dirty="0">
                <a:solidFill>
                  <a:srgbClr val="9CA3AF"/>
                </a:solidFill>
                <a:latin typeface="Calibri"/>
              </a:rPr>
              <a:t>The API and Data Foundation for Agentic Commerce</a:t>
            </a:r>
          </a:p>
        </p:txBody>
      </p:sp>
      <p:sp>
        <p:nvSpPr>
          <p:cNvPr id="18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3000" y="203200"/>
            <a:ext cx="1232572" cy="32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96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Today's Agenda</a:t>
            </a:r>
          </a:p>
        </p:txBody>
      </p:sp>
      <p:sp>
        <p:nvSpPr>
          <p:cNvPr id="12" name="Div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AccBar0"/>
          <p:cNvSpPr>
            <a:spLocks noGrp="1"/>
          </p:cNvSpPr>
          <p:nvPr/>
        </p:nvSpPr>
        <p:spPr>
          <a:xfrm>
            <a:off x="355600" y="800100"/>
            <a:ext cx="50800" cy="4191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01" name="Div0"/>
          <p:cNvSpPr>
            <a:spLocks noGrp="1"/>
          </p:cNvSpPr>
          <p:nvPr/>
        </p:nvSpPr>
        <p:spPr>
          <a:xfrm>
            <a:off x="482600" y="12319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Num0"/>
          <p:cNvSpPr>
            <a:spLocks noGrp="1"/>
          </p:cNvSpPr>
          <p:nvPr/>
        </p:nvSpPr>
        <p:spPr>
          <a:xfrm>
            <a:off x="508000" y="8255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303" name="Row0"/>
          <p:cNvSpPr>
            <a:spLocks noGrp="1"/>
          </p:cNvSpPr>
          <p:nvPr/>
        </p:nvSpPr>
        <p:spPr>
          <a:xfrm>
            <a:off x="889000" y="8001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Problem Statement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Recap of the challenges we're here to solve</a:t>
            </a:r>
          </a:p>
        </p:txBody>
      </p:sp>
      <p:sp>
        <p:nvSpPr>
          <p:cNvPr id="310" name="AccBar1"/>
          <p:cNvSpPr>
            <a:spLocks noGrp="1"/>
          </p:cNvSpPr>
          <p:nvPr/>
        </p:nvSpPr>
        <p:spPr>
          <a:xfrm>
            <a:off x="355600" y="1231900"/>
            <a:ext cx="50800" cy="4191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11" name="Div1"/>
          <p:cNvSpPr>
            <a:spLocks noGrp="1"/>
          </p:cNvSpPr>
          <p:nvPr/>
        </p:nvSpPr>
        <p:spPr>
          <a:xfrm>
            <a:off x="482600" y="16637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Num1"/>
          <p:cNvSpPr>
            <a:spLocks noGrp="1"/>
          </p:cNvSpPr>
          <p:nvPr/>
        </p:nvSpPr>
        <p:spPr>
          <a:xfrm>
            <a:off x="508000" y="12573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313" name="Row1"/>
          <p:cNvSpPr>
            <a:spLocks noGrp="1"/>
          </p:cNvSpPr>
          <p:nvPr/>
        </p:nvSpPr>
        <p:spPr>
          <a:xfrm>
            <a:off x="889000" y="12319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Meet the Teams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Introductions and roles</a:t>
            </a:r>
          </a:p>
        </p:txBody>
      </p:sp>
      <p:sp>
        <p:nvSpPr>
          <p:cNvPr id="320" name="AccBar2"/>
          <p:cNvSpPr>
            <a:spLocks noGrp="1"/>
          </p:cNvSpPr>
          <p:nvPr/>
        </p:nvSpPr>
        <p:spPr>
          <a:xfrm>
            <a:off x="355600" y="1663700"/>
            <a:ext cx="50800" cy="4191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21" name="Div2"/>
          <p:cNvSpPr>
            <a:spLocks noGrp="1"/>
          </p:cNvSpPr>
          <p:nvPr/>
        </p:nvSpPr>
        <p:spPr>
          <a:xfrm>
            <a:off x="482600" y="20955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Num2"/>
          <p:cNvSpPr>
            <a:spLocks noGrp="1"/>
          </p:cNvSpPr>
          <p:nvPr/>
        </p:nvSpPr>
        <p:spPr>
          <a:xfrm>
            <a:off x="508000" y="16891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323" name="Row2"/>
          <p:cNvSpPr>
            <a:spLocks noGrp="1"/>
          </p:cNvSpPr>
          <p:nvPr/>
        </p:nvSpPr>
        <p:spPr>
          <a:xfrm>
            <a:off x="889000" y="16637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Conscia Platform Overview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How DX Graph and DX Engine address Lovesac's needs</a:t>
            </a:r>
          </a:p>
        </p:txBody>
      </p:sp>
      <p:sp>
        <p:nvSpPr>
          <p:cNvPr id="330" name="AccBar3"/>
          <p:cNvSpPr>
            <a:spLocks noGrp="1"/>
          </p:cNvSpPr>
          <p:nvPr/>
        </p:nvSpPr>
        <p:spPr>
          <a:xfrm>
            <a:off x="355600" y="2095500"/>
            <a:ext cx="50800" cy="419100"/>
          </a:xfrm>
          <a:prstGeom prst="rect">
            <a:avLst/>
          </a:prstGeom>
          <a:solidFill>
            <a:srgbClr val="458CCB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31" name="Div3"/>
          <p:cNvSpPr>
            <a:spLocks noGrp="1"/>
          </p:cNvSpPr>
          <p:nvPr/>
        </p:nvSpPr>
        <p:spPr>
          <a:xfrm>
            <a:off x="482600" y="25273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Num3"/>
          <p:cNvSpPr>
            <a:spLocks noGrp="1"/>
          </p:cNvSpPr>
          <p:nvPr/>
        </p:nvSpPr>
        <p:spPr>
          <a:xfrm>
            <a:off x="508000" y="21209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333" name="Row3"/>
          <p:cNvSpPr>
            <a:spLocks noGrp="1"/>
          </p:cNvSpPr>
          <p:nvPr/>
        </p:nvSpPr>
        <p:spPr>
          <a:xfrm>
            <a:off x="889000" y="20955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Proposed Architecture Fit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Where Conscia sits within your existing stack</a:t>
            </a:r>
          </a:p>
        </p:txBody>
      </p:sp>
      <p:sp>
        <p:nvSpPr>
          <p:cNvPr id="340" name="AccBar4"/>
          <p:cNvSpPr>
            <a:spLocks noGrp="1"/>
          </p:cNvSpPr>
          <p:nvPr/>
        </p:nvSpPr>
        <p:spPr>
          <a:xfrm>
            <a:off x="355600" y="2527300"/>
            <a:ext cx="50800" cy="419100"/>
          </a:xfrm>
          <a:prstGeom prst="rect">
            <a:avLst/>
          </a:prstGeom>
          <a:solidFill>
            <a:srgbClr val="F8981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41" name="Div4"/>
          <p:cNvSpPr>
            <a:spLocks noGrp="1"/>
          </p:cNvSpPr>
          <p:nvPr/>
        </p:nvSpPr>
        <p:spPr>
          <a:xfrm>
            <a:off x="482600" y="29591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Num4"/>
          <p:cNvSpPr>
            <a:spLocks noGrp="1"/>
          </p:cNvSpPr>
          <p:nvPr/>
        </p:nvSpPr>
        <p:spPr>
          <a:xfrm>
            <a:off x="508000" y="25527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C49500"/>
                </a:solidFill>
                <a:latin typeface="Calibri"/>
              </a:rPr>
              <a:t>05</a:t>
            </a:r>
          </a:p>
        </p:txBody>
      </p:sp>
      <p:sp>
        <p:nvSpPr>
          <p:cNvPr id="343" name="Row4"/>
          <p:cNvSpPr>
            <a:spLocks noGrp="1"/>
          </p:cNvSpPr>
          <p:nvPr/>
        </p:nvSpPr>
        <p:spPr>
          <a:xfrm>
            <a:off x="889000" y="25273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Success Metrics and KPIs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Defining what good looks like</a:t>
            </a:r>
          </a:p>
        </p:txBody>
      </p:sp>
      <p:sp>
        <p:nvSpPr>
          <p:cNvPr id="350" name="AccBar5"/>
          <p:cNvSpPr>
            <a:spLocks noGrp="1"/>
          </p:cNvSpPr>
          <p:nvPr/>
        </p:nvSpPr>
        <p:spPr>
          <a:xfrm>
            <a:off x="355600" y="2959100"/>
            <a:ext cx="50800" cy="419100"/>
          </a:xfrm>
          <a:prstGeom prst="rect">
            <a:avLst/>
          </a:prstGeom>
          <a:solidFill>
            <a:srgbClr val="FABF2D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51" name="Div5"/>
          <p:cNvSpPr>
            <a:spLocks noGrp="1"/>
          </p:cNvSpPr>
          <p:nvPr/>
        </p:nvSpPr>
        <p:spPr>
          <a:xfrm>
            <a:off x="482600" y="33909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2" name="Num5"/>
          <p:cNvSpPr>
            <a:spLocks noGrp="1"/>
          </p:cNvSpPr>
          <p:nvPr/>
        </p:nvSpPr>
        <p:spPr>
          <a:xfrm>
            <a:off x="508000" y="29845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C4690A"/>
                </a:solidFill>
                <a:latin typeface="Calibri"/>
              </a:rPr>
              <a:t>06</a:t>
            </a:r>
          </a:p>
        </p:txBody>
      </p:sp>
      <p:sp>
        <p:nvSpPr>
          <p:cNvPr id="353" name="Row5"/>
          <p:cNvSpPr>
            <a:spLocks noGrp="1"/>
          </p:cNvSpPr>
          <p:nvPr/>
        </p:nvSpPr>
        <p:spPr>
          <a:xfrm>
            <a:off x="889000" y="29591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Early Findings from Your Data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Initial analysis and observations from pre-kickoff review</a:t>
            </a:r>
          </a:p>
        </p:txBody>
      </p:sp>
      <p:sp>
        <p:nvSpPr>
          <p:cNvPr id="360" name="AccBar6"/>
          <p:cNvSpPr>
            <a:spLocks noGrp="1"/>
          </p:cNvSpPr>
          <p:nvPr/>
        </p:nvSpPr>
        <p:spPr>
          <a:xfrm>
            <a:off x="355600" y="3390900"/>
            <a:ext cx="50800" cy="4191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61" name="Div6"/>
          <p:cNvSpPr>
            <a:spLocks noGrp="1"/>
          </p:cNvSpPr>
          <p:nvPr/>
        </p:nvSpPr>
        <p:spPr>
          <a:xfrm>
            <a:off x="482600" y="38227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2" name="Num6"/>
          <p:cNvSpPr>
            <a:spLocks noGrp="1"/>
          </p:cNvSpPr>
          <p:nvPr/>
        </p:nvSpPr>
        <p:spPr>
          <a:xfrm>
            <a:off x="508000" y="34163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  <a:latin typeface="Calibri"/>
              </a:rPr>
              <a:t>07</a:t>
            </a:r>
          </a:p>
        </p:txBody>
      </p:sp>
      <p:sp>
        <p:nvSpPr>
          <p:cNvPr id="363" name="Row6"/>
          <p:cNvSpPr>
            <a:spLocks noGrp="1"/>
          </p:cNvSpPr>
          <p:nvPr/>
        </p:nvSpPr>
        <p:spPr>
          <a:xfrm>
            <a:off x="889000" y="33909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Ways of Working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Roles, responsibilities, working cadence, and escalation paths</a:t>
            </a:r>
          </a:p>
        </p:txBody>
      </p:sp>
      <p:sp>
        <p:nvSpPr>
          <p:cNvPr id="370" name="AccBar7"/>
          <p:cNvSpPr>
            <a:spLocks noGrp="1"/>
          </p:cNvSpPr>
          <p:nvPr/>
        </p:nvSpPr>
        <p:spPr>
          <a:xfrm>
            <a:off x="355600" y="3822700"/>
            <a:ext cx="50800" cy="419100"/>
          </a:xfrm>
          <a:prstGeom prst="rect">
            <a:avLst/>
          </a:prstGeom>
          <a:solidFill>
            <a:srgbClr val="07BCD6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71" name="Div7"/>
          <p:cNvSpPr>
            <a:spLocks noGrp="1"/>
          </p:cNvSpPr>
          <p:nvPr/>
        </p:nvSpPr>
        <p:spPr>
          <a:xfrm>
            <a:off x="482600" y="4254500"/>
            <a:ext cx="8305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2" name="Num7"/>
          <p:cNvSpPr>
            <a:spLocks noGrp="1"/>
          </p:cNvSpPr>
          <p:nvPr/>
        </p:nvSpPr>
        <p:spPr>
          <a:xfrm>
            <a:off x="508000" y="38481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  <a:latin typeface="Calibri"/>
              </a:rPr>
              <a:t>08</a:t>
            </a:r>
          </a:p>
        </p:txBody>
      </p:sp>
      <p:sp>
        <p:nvSpPr>
          <p:cNvPr id="373" name="Row7"/>
          <p:cNvSpPr>
            <a:spLocks noGrp="1"/>
          </p:cNvSpPr>
          <p:nvPr/>
        </p:nvSpPr>
        <p:spPr>
          <a:xfrm>
            <a:off x="889000" y="38227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Open Questions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Items for Lovesac to take away and address</a:t>
            </a:r>
          </a:p>
        </p:txBody>
      </p:sp>
      <p:sp>
        <p:nvSpPr>
          <p:cNvPr id="380" name="AccBar8"/>
          <p:cNvSpPr>
            <a:spLocks noGrp="1"/>
          </p:cNvSpPr>
          <p:nvPr/>
        </p:nvSpPr>
        <p:spPr>
          <a:xfrm>
            <a:off x="355600" y="4254500"/>
            <a:ext cx="50800" cy="419100"/>
          </a:xfrm>
          <a:prstGeom prst="rect">
            <a:avLst/>
          </a:prstGeom>
          <a:solidFill>
            <a:srgbClr val="8AC542"/>
          </a:solidFill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endParaRPr/>
          </a:p>
        </p:txBody>
      </p:sp>
      <p:sp>
        <p:nvSpPr>
          <p:cNvPr id="382" name="Num8"/>
          <p:cNvSpPr>
            <a:spLocks noGrp="1"/>
          </p:cNvSpPr>
          <p:nvPr/>
        </p:nvSpPr>
        <p:spPr>
          <a:xfrm>
            <a:off x="508000" y="4279900"/>
            <a:ext cx="330200" cy="3683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  <a:latin typeface="Calibri"/>
              </a:rPr>
              <a:t>09</a:t>
            </a:r>
          </a:p>
        </p:txBody>
      </p:sp>
      <p:sp>
        <p:nvSpPr>
          <p:cNvPr id="383" name="Row8"/>
          <p:cNvSpPr>
            <a:spLocks noGrp="1"/>
          </p:cNvSpPr>
          <p:nvPr/>
        </p:nvSpPr>
        <p:spPr>
          <a:xfrm>
            <a:off x="889000" y="4254500"/>
            <a:ext cx="7899400" cy="419100"/>
          </a:xfrm>
          <a:prstGeom prst="rect">
            <a:avLst/>
          </a:prstGeom>
          <a:noFill/>
          <a:ln>
            <a:noFill/>
          </a:ln>
        </p:spPr>
        <p:txBody>
          <a:bodyPr wrap="square" lIns="50800" tIns="25400" rIns="50800" bIns="25400" anchor="ctr"/>
          <a:lstStyle/>
          <a:p>
            <a:pPr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Agreed Next Steps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—  Actions, owners, and target dates coming out of today</a:t>
            </a:r>
          </a:p>
        </p:txBody>
      </p:sp>
    </p:spTree>
    <p:extLst>
      <p:ext uri="{BB962C8B-B14F-4D97-AF65-F5344CB8AC3E}">
        <p14:creationId xmlns:p14="http://schemas.microsoft.com/office/powerpoint/2010/main" val="369621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StatCard"/>
          <p:cNvSpPr/>
          <p:nvPr/>
        </p:nvSpPr>
        <p:spPr>
          <a:xfrm>
            <a:off x="355600" y="838200"/>
            <a:ext cx="2159000" cy="3860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tatAcc"/>
          <p:cNvSpPr/>
          <p:nvPr/>
        </p:nvSpPr>
        <p:spPr>
          <a:xfrm>
            <a:off x="355600" y="838200"/>
            <a:ext cx="2159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StatNum"/>
          <p:cNvSpPr/>
          <p:nvPr/>
        </p:nvSpPr>
        <p:spPr>
          <a:xfrm>
            <a:off x="508000" y="12192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4800" b="1" dirty="0">
                <a:solidFill>
                  <a:srgbClr val="EB1A63"/>
                </a:solidFill>
                <a:latin typeface="Calibri"/>
              </a:rPr>
              <a:t>13+</a:t>
            </a:r>
          </a:p>
        </p:txBody>
      </p:sp>
      <p:sp>
        <p:nvSpPr>
          <p:cNvPr id="23" name="StatDesc"/>
          <p:cNvSpPr/>
          <p:nvPr/>
        </p:nvSpPr>
        <p:spPr>
          <a:xfrm>
            <a:off x="508000" y="21082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Attribute Dimensions driving SKU explosion</a:t>
            </a:r>
          </a:p>
        </p:txBody>
      </p:sp>
      <p:sp>
        <p:nvSpPr>
          <p:cNvPr id="24" name="Challenge"/>
          <p:cNvSpPr/>
          <p:nvPr/>
        </p:nvSpPr>
        <p:spPr>
          <a:xfrm>
            <a:off x="508000" y="2997200"/>
            <a:ext cx="1854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THE CORE CHALLENGE</a:t>
            </a:r>
          </a:p>
        </p:txBody>
      </p:sp>
      <p:sp>
        <p:nvSpPr>
          <p:cNvPr id="100" name="PC0"/>
          <p:cNvSpPr/>
          <p:nvPr/>
        </p:nvSpPr>
        <p:spPr>
          <a:xfrm>
            <a:off x="2692400" y="8382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PA0"/>
          <p:cNvSpPr/>
          <p:nvPr/>
        </p:nvSpPr>
        <p:spPr>
          <a:xfrm>
            <a:off x="2692400" y="8382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PL0"/>
          <p:cNvSpPr/>
          <p:nvPr/>
        </p:nvSpPr>
        <p:spPr>
          <a:xfrm>
            <a:off x="2895600" y="965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DATA MODEL</a:t>
            </a:r>
          </a:p>
        </p:txBody>
      </p:sp>
      <p:sp>
        <p:nvSpPr>
          <p:cNvPr id="103" name="PT0"/>
          <p:cNvSpPr/>
          <p:nvPr/>
        </p:nvSpPr>
        <p:spPr>
          <a:xfrm>
            <a:off x="2895600" y="1168400"/>
            <a:ext cx="579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111827"/>
                </a:solidFill>
                <a:latin typeface="Calibri"/>
              </a:rPr>
              <a:t>No Compatibility Model</a:t>
            </a:r>
          </a:p>
        </p:txBody>
      </p:sp>
      <p:sp>
        <p:nvSpPr>
          <p:cNvPr id="104" name="PD0"/>
          <p:cNvSpPr/>
          <p:nvPr/>
        </p:nvSpPr>
        <p:spPr>
          <a:xfrm>
            <a:off x="2895600" y="14478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Rules governing which covers, inserts, and components work together are implicit — not encoded as data relationships</a:t>
            </a:r>
          </a:p>
        </p:txBody>
      </p:sp>
      <p:sp>
        <p:nvSpPr>
          <p:cNvPr id="110" name="PC1"/>
          <p:cNvSpPr/>
          <p:nvPr/>
        </p:nvSpPr>
        <p:spPr>
          <a:xfrm>
            <a:off x="2692400" y="21336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PA1"/>
          <p:cNvSpPr/>
          <p:nvPr/>
        </p:nvSpPr>
        <p:spPr>
          <a:xfrm>
            <a:off x="2692400" y="21336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PL1"/>
          <p:cNvSpPr/>
          <p:nvPr/>
        </p:nvSpPr>
        <p:spPr>
          <a:xfrm>
            <a:off x="2895600" y="2260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INFRASTRUCTURE</a:t>
            </a:r>
          </a:p>
        </p:txBody>
      </p:sp>
      <p:sp>
        <p:nvSpPr>
          <p:cNvPr id="113" name="PT1"/>
          <p:cNvSpPr/>
          <p:nvPr/>
        </p:nvSpPr>
        <p:spPr>
          <a:xfrm>
            <a:off x="2895600" y="2463800"/>
            <a:ext cx="579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111827"/>
                </a:solidFill>
                <a:latin typeface="Calibri"/>
              </a:rPr>
              <a:t>Fragmented Source Systems</a:t>
            </a:r>
          </a:p>
        </p:txBody>
      </p:sp>
      <p:sp>
        <p:nvSpPr>
          <p:cNvPr id="114" name="PD1"/>
          <p:cNvSpPr/>
          <p:nvPr/>
        </p:nvSpPr>
        <p:spPr>
          <a:xfrm>
            <a:off x="2895600" y="27432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Product data is distributed across up to 3 backends with no unified transformation pipeline, no canonical taxonomy</a:t>
            </a:r>
          </a:p>
        </p:txBody>
      </p:sp>
      <p:sp>
        <p:nvSpPr>
          <p:cNvPr id="120" name="PC2"/>
          <p:cNvSpPr/>
          <p:nvPr/>
        </p:nvSpPr>
        <p:spPr>
          <a:xfrm>
            <a:off x="2692400" y="3429000"/>
            <a:ext cx="619760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PA2"/>
          <p:cNvSpPr/>
          <p:nvPr/>
        </p:nvSpPr>
        <p:spPr>
          <a:xfrm>
            <a:off x="2692400" y="3429000"/>
            <a:ext cx="50800" cy="11430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PL2"/>
          <p:cNvSpPr/>
          <p:nvPr/>
        </p:nvSpPr>
        <p:spPr>
          <a:xfrm>
            <a:off x="2895600" y="35560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8AC542"/>
                </a:solidFill>
                <a:latin typeface="Calibri"/>
              </a:rPr>
              <a:t>CHANNELS</a:t>
            </a:r>
          </a:p>
        </p:txBody>
      </p:sp>
      <p:sp>
        <p:nvSpPr>
          <p:cNvPr id="123" name="PT2"/>
          <p:cNvSpPr/>
          <p:nvPr/>
        </p:nvSpPr>
        <p:spPr>
          <a:xfrm>
            <a:off x="2895600" y="3759200"/>
            <a:ext cx="579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200" b="1" dirty="0">
                <a:solidFill>
                  <a:srgbClr val="111827"/>
                </a:solidFill>
                <a:latin typeface="Calibri"/>
              </a:rPr>
              <a:t>No Real-Time Orchestration</a:t>
            </a:r>
          </a:p>
        </p:txBody>
      </p:sp>
      <p:sp>
        <p:nvSpPr>
          <p:cNvPr id="124" name="PD2"/>
          <p:cNvSpPr/>
          <p:nvPr/>
        </p:nvSpPr>
        <p:spPr>
          <a:xfrm>
            <a:off x="2895600" y="4038600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Config validation, BOM explosion, and wizard step logic have no API-first orchestration layer to serve channels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8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itle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Meet the Teams</a:t>
            </a:r>
          </a:p>
        </p:txBody>
      </p:sp>
      <p:sp>
        <p:nvSpPr>
          <p:cNvPr id="12" name="Div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_Conscia"/>
          <p:cNvSpPr/>
          <p:nvPr/>
        </p:nvSpPr>
        <p:spPr>
          <a:xfrm>
            <a:off x="355600" y="838200"/>
            <a:ext cx="4064000" cy="279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_Conscia"/>
          <p:cNvSpPr/>
          <p:nvPr/>
        </p:nvSpPr>
        <p:spPr>
          <a:xfrm>
            <a:off x="355600" y="8382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Name_Conscia"/>
          <p:cNvSpPr/>
          <p:nvPr/>
        </p:nvSpPr>
        <p:spPr>
          <a:xfrm>
            <a:off x="533400" y="965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EB1A63"/>
                </a:solidFill>
                <a:latin typeface="Calibri"/>
              </a:rPr>
              <a:t>Conscia</a:t>
            </a:r>
          </a:p>
        </p:txBody>
      </p:sp>
      <p:sp>
        <p:nvSpPr>
          <p:cNvPr id="103" name="Av_M"/>
          <p:cNvSpPr/>
          <p:nvPr/>
        </p:nvSpPr>
        <p:spPr>
          <a:xfrm>
            <a:off x="533400" y="13970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M</a:t>
            </a:r>
          </a:p>
        </p:txBody>
      </p:sp>
      <p:sp>
        <p:nvSpPr>
          <p:cNvPr id="104" name="Mem_M"/>
          <p:cNvSpPr/>
          <p:nvPr/>
        </p:nvSpPr>
        <p:spPr>
          <a:xfrm>
            <a:off x="914400" y="12954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Morgan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Project Manager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morgan@conscia.co</a:t>
            </a:r>
          </a:p>
        </p:txBody>
      </p:sp>
      <p:sp>
        <p:nvSpPr>
          <p:cNvPr id="105" name="Av_D"/>
          <p:cNvSpPr/>
          <p:nvPr/>
        </p:nvSpPr>
        <p:spPr>
          <a:xfrm>
            <a:off x="533400" y="31496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D</a:t>
            </a:r>
          </a:p>
        </p:txBody>
      </p:sp>
      <p:sp>
        <p:nvSpPr>
          <p:cNvPr id="106" name="Mem_D"/>
          <p:cNvSpPr/>
          <p:nvPr/>
        </p:nvSpPr>
        <p:spPr>
          <a:xfrm>
            <a:off x="914400" y="30480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David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Solution Architect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david@conscia.co</a:t>
            </a:r>
          </a:p>
        </p:txBody>
      </p:sp>
      <p:sp>
        <p:nvSpPr>
          <p:cNvPr id="107" name="Av_L"/>
          <p:cNvSpPr/>
          <p:nvPr/>
        </p:nvSpPr>
        <p:spPr>
          <a:xfrm>
            <a:off x="533400" y="25654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L</a:t>
            </a:r>
          </a:p>
        </p:txBody>
      </p:sp>
      <p:sp>
        <p:nvSpPr>
          <p:cNvPr id="108" name="Mem_L"/>
          <p:cNvSpPr/>
          <p:nvPr/>
        </p:nvSpPr>
        <p:spPr>
          <a:xfrm>
            <a:off x="914400" y="24638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Laurel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Sr. Solution Engineer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laurel@conscia.ai</a:t>
            </a:r>
          </a:p>
        </p:txBody>
      </p:sp>
      <p:sp>
        <p:nvSpPr>
          <p:cNvPr id="109" name="Av_S"/>
          <p:cNvSpPr/>
          <p:nvPr/>
        </p:nvSpPr>
        <p:spPr>
          <a:xfrm>
            <a:off x="533400" y="1981200"/>
            <a:ext cx="304800" cy="304800"/>
          </a:xfrm>
          <a:prstGeom prst="ellipse">
            <a:avLst/>
          </a:prstGeom>
          <a:solidFill>
            <a:srgbClr val="EB1A63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  <a:latin typeface="Calibri"/>
              </a:rPr>
              <a:t>S</a:t>
            </a:r>
          </a:p>
        </p:txBody>
      </p:sp>
      <p:sp>
        <p:nvSpPr>
          <p:cNvPr id="110" name="Mem_S"/>
          <p:cNvSpPr/>
          <p:nvPr/>
        </p:nvSpPr>
        <p:spPr>
          <a:xfrm>
            <a:off x="914400" y="18796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Sana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Product Owner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sana@conscia.ai</a:t>
            </a:r>
          </a:p>
        </p:txBody>
      </p:sp>
      <p:sp>
        <p:nvSpPr>
          <p:cNvPr id="111" name="Card_Lovesac"/>
          <p:cNvSpPr/>
          <p:nvPr/>
        </p:nvSpPr>
        <p:spPr>
          <a:xfrm>
            <a:off x="4699000" y="838200"/>
            <a:ext cx="4064000" cy="279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Acc_Lovesac"/>
          <p:cNvSpPr/>
          <p:nvPr/>
        </p:nvSpPr>
        <p:spPr>
          <a:xfrm>
            <a:off x="4699000" y="8382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Name_Lovesac"/>
          <p:cNvSpPr/>
          <p:nvPr/>
        </p:nvSpPr>
        <p:spPr>
          <a:xfrm>
            <a:off x="4876800" y="9652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400" b="1" dirty="0">
                <a:solidFill>
                  <a:srgbClr val="07BCD6"/>
                </a:solidFill>
                <a:latin typeface="Calibri"/>
              </a:rPr>
              <a:t>Lovesac</a:t>
            </a:r>
          </a:p>
        </p:txBody>
      </p:sp>
      <p:sp>
        <p:nvSpPr>
          <p:cNvPr id="114" name="Av_A"/>
          <p:cNvSpPr/>
          <p:nvPr/>
        </p:nvSpPr>
        <p:spPr>
          <a:xfrm>
            <a:off x="4876800" y="1752600"/>
            <a:ext cx="304800" cy="304800"/>
          </a:xfrm>
          <a:prstGeom prst="ellipse">
            <a:avLst/>
          </a:prstGeom>
          <a:solidFill>
            <a:srgbClr val="07BCD6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  <a:latin typeface="Calibri"/>
              </a:rPr>
              <a:t>A</a:t>
            </a:r>
          </a:p>
        </p:txBody>
      </p:sp>
      <p:sp>
        <p:nvSpPr>
          <p:cNvPr id="115" name="Mem_A"/>
          <p:cNvSpPr/>
          <p:nvPr/>
        </p:nvSpPr>
        <p:spPr>
          <a:xfrm>
            <a:off x="5257800" y="16510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Amelia Jacobs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VP, Customer Experience &amp; IT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ameliajacobs@lovesac.com</a:t>
            </a:r>
          </a:p>
        </p:txBody>
      </p:sp>
      <p:sp>
        <p:nvSpPr>
          <p:cNvPr id="116" name="Av_T"/>
          <p:cNvSpPr/>
          <p:nvPr/>
        </p:nvSpPr>
        <p:spPr>
          <a:xfrm>
            <a:off x="4876800" y="2336800"/>
            <a:ext cx="304800" cy="304800"/>
          </a:xfrm>
          <a:prstGeom prst="ellipse">
            <a:avLst/>
          </a:prstGeom>
          <a:solidFill>
            <a:srgbClr val="07BCD6">
              <a:alpha val="20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  <a:latin typeface="Calibri"/>
              </a:rPr>
              <a:t>T</a:t>
            </a:r>
          </a:p>
        </p:txBody>
      </p:sp>
      <p:sp>
        <p:nvSpPr>
          <p:cNvPr id="117" name="Mem_T"/>
          <p:cNvSpPr/>
          <p:nvPr/>
        </p:nvSpPr>
        <p:spPr>
          <a:xfrm>
            <a:off x="5257800" y="2235200"/>
            <a:ext cx="3352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/>
              </a:rPr>
              <a:t>Tate Swanson</a:t>
            </a:r>
            <a:r>
              <a:rPr lang="en-US" sz="1100" dirty="0">
                <a:solidFill>
                  <a:srgbClr val="9CA3AF"/>
                </a:solidFill>
                <a:latin typeface="Calibri"/>
              </a:rPr>
              <a:t>  ·  Sr. Domain Data Architect</a:t>
            </a:r>
          </a:p>
          <a:p>
            <a:pPr>
              <a:lnSpc>
                <a:spcPts val="1100"/>
              </a:lnSpc>
              <a:spcBef>
                <a:spcPts val="0"/>
              </a:spcBef>
              <a:buNone/>
            </a:pPr>
            <a:r>
              <a:rPr lang="en-US" sz="1000" dirty="0">
                <a:solidFill>
                  <a:srgbClr val="9CA3AF"/>
                </a:solidFill>
                <a:latin typeface="Calibri"/>
              </a:rPr>
              <a:t>tateswanson@lovesac.com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0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GB" sz="2400" b="1" dirty="0" err="1">
                <a:solidFill>
                  <a:srgbClr val="111827"/>
                </a:solidFill>
                <a:latin typeface="Calibri"/>
              </a:rPr>
              <a:t>Conscia</a:t>
            </a:r>
            <a:r>
              <a:rPr lang="en-GB" sz="2400" b="1" dirty="0">
                <a:solidFill>
                  <a:srgbClr val="111827"/>
                </a:solidFill>
                <a:latin typeface="Calibri"/>
              </a:rPr>
              <a:t> Platform Overview</a:t>
            </a:r>
            <a:endParaRPr lang="en-US"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anner"/>
          <p:cNvSpPr/>
          <p:nvPr/>
        </p:nvSpPr>
        <p:spPr>
          <a:xfrm>
            <a:off x="355600" y="787400"/>
            <a:ext cx="84328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000" b="1" spc="150" dirty="0">
                <a:solidFill>
                  <a:srgbClr val="FFFFFF"/>
                </a:solidFill>
                <a:latin typeface="Calibri"/>
              </a:rPr>
              <a:t>CONSCIA: BEYOND TRADITIONAL PIM  —  A GOVERNED SEMANTIC FOUNDATION FOR COMMERCE</a:t>
            </a:r>
          </a:p>
        </p:txBody>
      </p:sp>
      <p:sp>
        <p:nvSpPr>
          <p:cNvPr id="100" name="C0"/>
          <p:cNvSpPr/>
          <p:nvPr/>
        </p:nvSpPr>
        <p:spPr>
          <a:xfrm>
            <a:off x="3556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0"/>
          <p:cNvSpPr/>
          <p:nvPr/>
        </p:nvSpPr>
        <p:spPr>
          <a:xfrm>
            <a:off x="3556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0"/>
          <p:cNvSpPr/>
          <p:nvPr/>
        </p:nvSpPr>
        <p:spPr>
          <a:xfrm>
            <a:off x="5080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01  SEMANTIC FOUNDATION</a:t>
            </a:r>
          </a:p>
        </p:txBody>
      </p:sp>
      <p:sp>
        <p:nvSpPr>
          <p:cNvPr id="103" name="CT0"/>
          <p:cNvSpPr/>
          <p:nvPr/>
        </p:nvSpPr>
        <p:spPr>
          <a:xfrm>
            <a:off x="5080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DX Graph</a:t>
            </a:r>
          </a:p>
        </p:txBody>
      </p:sp>
      <p:sp>
        <p:nvSpPr>
          <p:cNvPr id="104" name="CD0"/>
          <p:cNvSpPr/>
          <p:nvPr/>
        </p:nvSpPr>
        <p:spPr>
          <a:xfrm>
            <a:off x="5080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CB0"/>
          <p:cNvSpPr/>
          <p:nvPr/>
        </p:nvSpPr>
        <p:spPr>
          <a:xfrm>
            <a:off x="5080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Product master with unified schema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Semantic relationships between entities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Version-controlled, governed data layer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Foundation for AI-ready product data</a:t>
            </a:r>
          </a:p>
        </p:txBody>
      </p:sp>
      <p:sp>
        <p:nvSpPr>
          <p:cNvPr id="110" name="C1"/>
          <p:cNvSpPr/>
          <p:nvPr/>
        </p:nvSpPr>
        <p:spPr>
          <a:xfrm>
            <a:off x="32131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1"/>
          <p:cNvSpPr/>
          <p:nvPr/>
        </p:nvSpPr>
        <p:spPr>
          <a:xfrm>
            <a:off x="32131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1"/>
          <p:cNvSpPr/>
          <p:nvPr/>
        </p:nvSpPr>
        <p:spPr>
          <a:xfrm>
            <a:off x="33655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02  RULES ENGINE</a:t>
            </a:r>
          </a:p>
        </p:txBody>
      </p:sp>
      <p:sp>
        <p:nvSpPr>
          <p:cNvPr id="113" name="CT1"/>
          <p:cNvSpPr/>
          <p:nvPr/>
        </p:nvSpPr>
        <p:spPr>
          <a:xfrm>
            <a:off x="33655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DX Engine</a:t>
            </a:r>
          </a:p>
        </p:txBody>
      </p:sp>
      <p:sp>
        <p:nvSpPr>
          <p:cNvPr id="114" name="CD1"/>
          <p:cNvSpPr/>
          <p:nvPr/>
        </p:nvSpPr>
        <p:spPr>
          <a:xfrm>
            <a:off x="33655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CB1"/>
          <p:cNvSpPr/>
          <p:nvPr/>
        </p:nvSpPr>
        <p:spPr>
          <a:xfrm>
            <a:off x="33655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Real-time orchestration of business rules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Zero-code configuration interface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Eligibility, pricing, and content rules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Deterministic + AI-powered decisioning</a:t>
            </a:r>
          </a:p>
        </p:txBody>
      </p:sp>
      <p:sp>
        <p:nvSpPr>
          <p:cNvPr id="120" name="C2"/>
          <p:cNvSpPr/>
          <p:nvPr/>
        </p:nvSpPr>
        <p:spPr>
          <a:xfrm>
            <a:off x="6070600" y="1219200"/>
            <a:ext cx="2667000" cy="3479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2"/>
          <p:cNvSpPr/>
          <p:nvPr/>
        </p:nvSpPr>
        <p:spPr>
          <a:xfrm>
            <a:off x="6070600" y="12192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2"/>
          <p:cNvSpPr/>
          <p:nvPr/>
        </p:nvSpPr>
        <p:spPr>
          <a:xfrm>
            <a:off x="6223000" y="13970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8AC542"/>
                </a:solidFill>
                <a:latin typeface="Calibri"/>
              </a:rPr>
              <a:t>03  EXPERIENCE APIs</a:t>
            </a:r>
          </a:p>
        </p:txBody>
      </p:sp>
      <p:sp>
        <p:nvSpPr>
          <p:cNvPr id="123" name="CT2"/>
          <p:cNvSpPr/>
          <p:nvPr/>
        </p:nvSpPr>
        <p:spPr>
          <a:xfrm>
            <a:off x="6223000" y="1676400"/>
            <a:ext cx="236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600" b="1" dirty="0">
                <a:solidFill>
                  <a:srgbClr val="111827"/>
                </a:solidFill>
                <a:latin typeface="Calibri"/>
              </a:rPr>
              <a:t>Real-Time APIs</a:t>
            </a:r>
          </a:p>
        </p:txBody>
      </p:sp>
      <p:sp>
        <p:nvSpPr>
          <p:cNvPr id="124" name="CD2"/>
          <p:cNvSpPr/>
          <p:nvPr/>
        </p:nvSpPr>
        <p:spPr>
          <a:xfrm>
            <a:off x="6223000" y="2032000"/>
            <a:ext cx="23622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CB2"/>
          <p:cNvSpPr/>
          <p:nvPr/>
        </p:nvSpPr>
        <p:spPr>
          <a:xfrm>
            <a:off x="6223000" y="2133600"/>
            <a:ext cx="23622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One API for every channel and agent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Consistent responses across touchpoints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Sub-second response times at edge</a:t>
            </a:r>
          </a:p>
          <a:p>
            <a:pPr marL="171450" indent="-171450">
              <a:lnSpc>
                <a:spcPts val="1500"/>
              </a:lnSpc>
              <a:spcBef>
                <a:spcPts val="200"/>
              </a:spcBef>
              <a:buFont typeface="Arial"/>
              <a:buChar char="•"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No frontend glue code required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97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709576-DD4D-1AF2-981A-4FCB69D441E4}"/>
              </a:ext>
            </a:extLst>
          </p:cNvPr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532464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ub"/>
          <p:cNvSpPr/>
          <p:nvPr/>
        </p:nvSpPr>
        <p:spPr>
          <a:xfrm>
            <a:off x="355600" y="762000"/>
            <a:ext cx="8432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6B7280"/>
                </a:solidFill>
                <a:latin typeface="Calibri"/>
              </a:rPr>
              <a:t>Two complementary platform capabilities that together make Conscia the governed product master for Lovesac.</a:t>
            </a:r>
          </a:p>
        </p:txBody>
      </p:sp>
      <p:sp>
        <p:nvSpPr>
          <p:cNvPr id="100" name="CC0"/>
          <p:cNvSpPr/>
          <p:nvPr/>
        </p:nvSpPr>
        <p:spPr>
          <a:xfrm>
            <a:off x="355600" y="10414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CA0"/>
          <p:cNvSpPr/>
          <p:nvPr/>
        </p:nvSpPr>
        <p:spPr>
          <a:xfrm>
            <a:off x="355600" y="10414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CL0"/>
          <p:cNvSpPr/>
          <p:nvPr/>
        </p:nvSpPr>
        <p:spPr>
          <a:xfrm>
            <a:off x="533400" y="1193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EB1A63"/>
                </a:solidFill>
                <a:latin typeface="Calibri"/>
              </a:rPr>
              <a:t>DX GRAPH</a:t>
            </a:r>
          </a:p>
        </p:txBody>
      </p:sp>
      <p:sp>
        <p:nvSpPr>
          <p:cNvPr id="103" name="CT0"/>
          <p:cNvSpPr/>
          <p:nvPr/>
        </p:nvSpPr>
        <p:spPr>
          <a:xfrm>
            <a:off x="533400" y="1422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Governed Product Data Layer</a:t>
            </a:r>
          </a:p>
        </p:txBody>
      </p:sp>
      <p:sp>
        <p:nvSpPr>
          <p:cNvPr id="104" name="CTag0"/>
          <p:cNvSpPr/>
          <p:nvPr/>
        </p:nvSpPr>
        <p:spPr>
          <a:xfrm>
            <a:off x="533400" y="17399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9CA3AF"/>
                </a:solidFill>
                <a:latin typeface="Calibri"/>
              </a:rPr>
              <a:t>"What is true?"</a:t>
            </a:r>
          </a:p>
        </p:txBody>
      </p:sp>
      <p:sp>
        <p:nvSpPr>
          <p:cNvPr id="105" name="CD0"/>
          <p:cNvSpPr/>
          <p:nvPr/>
        </p:nvSpPr>
        <p:spPr>
          <a:xfrm>
            <a:off x="533400" y="2006600"/>
            <a:ext cx="368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CB0"/>
          <p:cNvSpPr/>
          <p:nvPr/>
        </p:nvSpPr>
        <p:spPr>
          <a:xfrm>
            <a:off x="533400" y="2108200"/>
            <a:ext cx="368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Unified SKU Collection — all brands, lines, and roles in one graph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Compatibility relationships: Cover → Insert (dynamic), Finished Good composition, Taxonomy mappings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Up to 3 parallel Taxonomy hierarchies for merchandising, navigation, and filtering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Governed, version-controlled data layer for AI-ready product data</a:t>
            </a:r>
          </a:p>
        </p:txBody>
      </p:sp>
      <p:sp>
        <p:nvSpPr>
          <p:cNvPr id="110" name="CC1"/>
          <p:cNvSpPr/>
          <p:nvPr/>
        </p:nvSpPr>
        <p:spPr>
          <a:xfrm>
            <a:off x="4699000" y="10414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CA1"/>
          <p:cNvSpPr/>
          <p:nvPr/>
        </p:nvSpPr>
        <p:spPr>
          <a:xfrm>
            <a:off x="4699000" y="1041400"/>
            <a:ext cx="4064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CL1"/>
          <p:cNvSpPr/>
          <p:nvPr/>
        </p:nvSpPr>
        <p:spPr>
          <a:xfrm>
            <a:off x="4876800" y="1193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spc="150" dirty="0">
                <a:solidFill>
                  <a:srgbClr val="07BCD6"/>
                </a:solidFill>
                <a:latin typeface="Calibri"/>
              </a:rPr>
              <a:t>DX ENGINE</a:t>
            </a:r>
          </a:p>
        </p:txBody>
      </p:sp>
      <p:sp>
        <p:nvSpPr>
          <p:cNvPr id="113" name="CT1"/>
          <p:cNvSpPr/>
          <p:nvPr/>
        </p:nvSpPr>
        <p:spPr>
          <a:xfrm>
            <a:off x="4876800" y="1422400"/>
            <a:ext cx="368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Real-Time Orchestration Layer</a:t>
            </a:r>
          </a:p>
        </p:txBody>
      </p:sp>
      <p:sp>
        <p:nvSpPr>
          <p:cNvPr id="114" name="CTag1"/>
          <p:cNvSpPr/>
          <p:nvPr/>
        </p:nvSpPr>
        <p:spPr>
          <a:xfrm>
            <a:off x="4876800" y="1739900"/>
            <a:ext cx="368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i="1" dirty="0">
                <a:solidFill>
                  <a:srgbClr val="9CA3AF"/>
                </a:solidFill>
                <a:latin typeface="Calibri"/>
              </a:rPr>
              <a:t>"What should happen?"</a:t>
            </a:r>
          </a:p>
        </p:txBody>
      </p:sp>
      <p:sp>
        <p:nvSpPr>
          <p:cNvPr id="115" name="CD1"/>
          <p:cNvSpPr/>
          <p:nvPr/>
        </p:nvSpPr>
        <p:spPr>
          <a:xfrm>
            <a:off x="4876800" y="2006600"/>
            <a:ext cx="368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CB1"/>
          <p:cNvSpPr/>
          <p:nvPr/>
        </p:nvSpPr>
        <p:spPr>
          <a:xfrm>
            <a:off x="4876800" y="2108200"/>
            <a:ext cx="368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validation: which components go together, in what quantity, at what price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Wizard-step orchestration: dynamic filtering of options based on prior selections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BOM explosion: breaking finished goods into shippable components in real-time</a:t>
            </a:r>
          </a:p>
          <a:p>
            <a:pPr marL="171450" indent="-171450">
              <a:lnSpc>
                <a:spcPts val="1300"/>
              </a:lnSpc>
              <a:spcBef>
                <a:spcPts val="2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One Experience API serving POS, web, agents, and feeds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1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End-to-End Architecture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ier0"/>
          <p:cNvSpPr/>
          <p:nvPr/>
        </p:nvSpPr>
        <p:spPr>
          <a:xfrm>
            <a:off x="381000" y="8382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A0"/>
          <p:cNvSpPr/>
          <p:nvPr/>
        </p:nvSpPr>
        <p:spPr>
          <a:xfrm>
            <a:off x="381000" y="8382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L0"/>
          <p:cNvSpPr/>
          <p:nvPr/>
        </p:nvSpPr>
        <p:spPr>
          <a:xfrm>
            <a:off x="584200" y="9144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9CA3AF"/>
                </a:solidFill>
                <a:latin typeface="Calibri"/>
              </a:rPr>
              <a:t>SOURCE BACKENDS</a:t>
            </a:r>
          </a:p>
        </p:txBody>
      </p:sp>
      <p:sp>
        <p:nvSpPr>
          <p:cNvPr id="103" name="TD0"/>
          <p:cNvSpPr/>
          <p:nvPr/>
        </p:nvSpPr>
        <p:spPr>
          <a:xfrm>
            <a:off x="584200" y="11430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Batch feeds · API pulls · File ingestion via Data Buckets — with transformation ${escapeXml('&amp;')} normalisation via Jobs</a:t>
            </a:r>
          </a:p>
        </p:txBody>
      </p:sp>
      <p:sp>
        <p:nvSpPr>
          <p:cNvPr id="104" name="Ar0"/>
          <p:cNvSpPr/>
          <p:nvPr/>
        </p:nvSpPr>
        <p:spPr>
          <a:xfrm>
            <a:off x="4508500" y="15621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ier1"/>
          <p:cNvSpPr/>
          <p:nvPr/>
        </p:nvSpPr>
        <p:spPr>
          <a:xfrm>
            <a:off x="381000" y="17907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TA1"/>
          <p:cNvSpPr/>
          <p:nvPr/>
        </p:nvSpPr>
        <p:spPr>
          <a:xfrm>
            <a:off x="381000" y="17907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L1"/>
          <p:cNvSpPr/>
          <p:nvPr/>
        </p:nvSpPr>
        <p:spPr>
          <a:xfrm>
            <a:off x="584200" y="18669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EB1A63"/>
                </a:solidFill>
                <a:latin typeface="Calibri"/>
              </a:rPr>
              <a:t>DX GRAPH — Semantic Data Layer</a:t>
            </a:r>
          </a:p>
        </p:txBody>
      </p:sp>
      <p:sp>
        <p:nvSpPr>
          <p:cNvPr id="108" name="TD1"/>
          <p:cNvSpPr/>
          <p:nvPr/>
        </p:nvSpPr>
        <p:spPr>
          <a:xfrm>
            <a:off x="584200" y="20955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Unified Product Graph · Compatibility Rules · Taxonomy Hierarchies · Governed Entities</a:t>
            </a:r>
          </a:p>
        </p:txBody>
      </p:sp>
      <p:sp>
        <p:nvSpPr>
          <p:cNvPr id="109" name="Ar1"/>
          <p:cNvSpPr/>
          <p:nvPr/>
        </p:nvSpPr>
        <p:spPr>
          <a:xfrm>
            <a:off x="4508500" y="25146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ier2"/>
          <p:cNvSpPr/>
          <p:nvPr/>
        </p:nvSpPr>
        <p:spPr>
          <a:xfrm>
            <a:off x="381000" y="27432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A2"/>
          <p:cNvSpPr/>
          <p:nvPr/>
        </p:nvSpPr>
        <p:spPr>
          <a:xfrm>
            <a:off x="381000" y="27432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L2"/>
          <p:cNvSpPr/>
          <p:nvPr/>
        </p:nvSpPr>
        <p:spPr>
          <a:xfrm>
            <a:off x="584200" y="28194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07BCD6"/>
                </a:solidFill>
                <a:latin typeface="Calibri"/>
              </a:rPr>
              <a:t>DX ENGINE — Orchestration Layer (Experience API)</a:t>
            </a:r>
          </a:p>
        </p:txBody>
      </p:sp>
      <p:sp>
        <p:nvSpPr>
          <p:cNvPr id="113" name="TD2"/>
          <p:cNvSpPr/>
          <p:nvPr/>
        </p:nvSpPr>
        <p:spPr>
          <a:xfrm>
            <a:off x="584200" y="30480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Validation · Wizard Step Options · Config ID Creation · BOM Explosion · Channel Feeds</a:t>
            </a:r>
          </a:p>
        </p:txBody>
      </p:sp>
      <p:sp>
        <p:nvSpPr>
          <p:cNvPr id="114" name="Ar2"/>
          <p:cNvSpPr/>
          <p:nvPr/>
        </p:nvSpPr>
        <p:spPr>
          <a:xfrm>
            <a:off x="4508500" y="3467100"/>
            <a:ext cx="203200" cy="203200"/>
          </a:xfrm>
          <a:prstGeom prst="downArrow">
            <a:avLst/>
          </a:prstGeom>
          <a:solidFill>
            <a:srgbClr val="D1D5D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ier3"/>
          <p:cNvSpPr/>
          <p:nvPr/>
        </p:nvSpPr>
        <p:spPr>
          <a:xfrm>
            <a:off x="381000" y="3695700"/>
            <a:ext cx="8382000" cy="69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TA3"/>
          <p:cNvSpPr/>
          <p:nvPr/>
        </p:nvSpPr>
        <p:spPr>
          <a:xfrm>
            <a:off x="381000" y="3695700"/>
            <a:ext cx="50800" cy="6985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L3"/>
          <p:cNvSpPr/>
          <p:nvPr/>
        </p:nvSpPr>
        <p:spPr>
          <a:xfrm>
            <a:off x="584200" y="3771900"/>
            <a:ext cx="800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00" dirty="0">
                <a:solidFill>
                  <a:srgbClr val="8AC542"/>
                </a:solidFill>
                <a:latin typeface="Calibri"/>
              </a:rPr>
              <a:t>CHANNELS</a:t>
            </a:r>
          </a:p>
        </p:txBody>
      </p:sp>
      <p:sp>
        <p:nvSpPr>
          <p:cNvPr id="118" name="TD3"/>
          <p:cNvSpPr/>
          <p:nvPr/>
        </p:nvSpPr>
        <p:spPr>
          <a:xfrm>
            <a:off x="584200" y="40005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POS Systems · Lovesac.com · On-site Shopping Agent · Google Shopping · ChatGPT / 3rd-Party AI Agents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99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"/>
          <p:cNvSpPr/>
          <p:nvPr/>
        </p:nvSpPr>
        <p:spPr>
          <a:xfrm>
            <a:off x="457200" y="2032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2" name="D"/>
          <p:cNvSpPr/>
          <p:nvPr/>
        </p:nvSpPr>
        <p:spPr>
          <a:xfrm>
            <a:off x="457200" y="6604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SC0"/>
          <p:cNvSpPr/>
          <p:nvPr/>
        </p:nvSpPr>
        <p:spPr>
          <a:xfrm>
            <a:off x="3302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SA0"/>
          <p:cNvSpPr/>
          <p:nvPr/>
        </p:nvSpPr>
        <p:spPr>
          <a:xfrm>
            <a:off x="3302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0"/>
          <p:cNvSpPr/>
          <p:nvPr/>
        </p:nvSpPr>
        <p:spPr>
          <a:xfrm>
            <a:off x="4826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EB1A63"/>
                </a:solidFill>
                <a:latin typeface="Calibri"/>
              </a:rPr>
              <a:t>DX GRAPH</a:t>
            </a:r>
          </a:p>
        </p:txBody>
      </p:sp>
      <p:sp>
        <p:nvSpPr>
          <p:cNvPr id="103" name="SD0"/>
          <p:cNvSpPr/>
          <p:nvPr/>
        </p:nvSpPr>
        <p:spPr>
          <a:xfrm>
            <a:off x="4826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B0"/>
          <p:cNvSpPr/>
          <p:nvPr/>
        </p:nvSpPr>
        <p:spPr>
          <a:xfrm>
            <a:off x="4826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DX Graph Application provisioning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SKU, Configuration ${escapeXml('&amp;')} Taxonomy Collections (up to 3 taxonomies)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COMPATIBLE_WITH, BUNDLES, CONTAINS, MAPS_TO relationships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Data ingest from up to 3 source backends via Jobs</a:t>
            </a:r>
          </a:p>
        </p:txBody>
      </p:sp>
      <p:sp>
        <p:nvSpPr>
          <p:cNvPr id="110" name="SC1"/>
          <p:cNvSpPr/>
          <p:nvPr/>
        </p:nvSpPr>
        <p:spPr>
          <a:xfrm>
            <a:off x="32131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A1"/>
          <p:cNvSpPr/>
          <p:nvPr/>
        </p:nvSpPr>
        <p:spPr>
          <a:xfrm>
            <a:off x="32131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1"/>
          <p:cNvSpPr/>
          <p:nvPr/>
        </p:nvSpPr>
        <p:spPr>
          <a:xfrm>
            <a:off x="33655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07BCD6"/>
                </a:solidFill>
                <a:latin typeface="Calibri"/>
              </a:rPr>
              <a:t>DX ENGINE POC</a:t>
            </a:r>
          </a:p>
        </p:txBody>
      </p:sp>
      <p:sp>
        <p:nvSpPr>
          <p:cNvPr id="113" name="SD1"/>
          <p:cNvSpPr/>
          <p:nvPr/>
        </p:nvSpPr>
        <p:spPr>
          <a:xfrm>
            <a:off x="33655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B1"/>
          <p:cNvSpPr/>
          <p:nvPr/>
        </p:nvSpPr>
        <p:spPr>
          <a:xfrm>
            <a:off x="33655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Configuration Validation orchestration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Visual Configurator wizard step options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ID Creation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Config ID → BOM Explosion flow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Experience Rules for series ${escapeXml('&amp;')} channel constraints</a:t>
            </a:r>
          </a:p>
        </p:txBody>
      </p:sp>
      <p:sp>
        <p:nvSpPr>
          <p:cNvPr id="120" name="SC2"/>
          <p:cNvSpPr/>
          <p:nvPr/>
        </p:nvSpPr>
        <p:spPr>
          <a:xfrm>
            <a:off x="6096000" y="838200"/>
            <a:ext cx="27305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A2"/>
          <p:cNvSpPr/>
          <p:nvPr/>
        </p:nvSpPr>
        <p:spPr>
          <a:xfrm>
            <a:off x="6096000" y="838200"/>
            <a:ext cx="2730500" cy="5080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T2"/>
          <p:cNvSpPr/>
          <p:nvPr/>
        </p:nvSpPr>
        <p:spPr>
          <a:xfrm>
            <a:off x="6248400" y="10160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900" b="1" spc="150" dirty="0">
                <a:solidFill>
                  <a:srgbClr val="9CA3AF"/>
                </a:solidFill>
                <a:latin typeface="Calibri"/>
              </a:rPr>
              <a:t>OUT OF SCOPE — PHASE 1</a:t>
            </a:r>
          </a:p>
        </p:txBody>
      </p:sp>
      <p:sp>
        <p:nvSpPr>
          <p:cNvPr id="123" name="SD2"/>
          <p:cNvSpPr/>
          <p:nvPr/>
        </p:nvSpPr>
        <p:spPr>
          <a:xfrm>
            <a:off x="6248400" y="1320800"/>
            <a:ext cx="2413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B2"/>
          <p:cNvSpPr/>
          <p:nvPr/>
        </p:nvSpPr>
        <p:spPr>
          <a:xfrm>
            <a:off x="6248400" y="1422400"/>
            <a:ext cx="241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Lovesac.com frontend integration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Real-time inventory availability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Full agentic channel (MCP) production deployment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Pricing engine integration</a:t>
            </a:r>
          </a:p>
          <a:p>
            <a:pPr marL="171450" indent="-171450">
              <a:lnSpc>
                <a:spcPts val="1300"/>
              </a:lnSpc>
              <a:spcBef>
                <a:spcPts val="300"/>
              </a:spcBef>
              <a:buFont typeface="Arial"/>
              <a:buChar char="•"/>
            </a:pPr>
            <a:r>
              <a:rPr lang="en-US" sz="850" dirty="0">
                <a:solidFill>
                  <a:srgbClr val="6B7280"/>
                </a:solidFill>
                <a:latin typeface="Calibri"/>
              </a:rPr>
              <a:t>OMS / fulfilment system integration</a:t>
            </a:r>
          </a:p>
        </p:txBody>
      </p:sp>
      <p:sp>
        <p:nvSpPr>
          <p:cNvPr id="200" name="F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B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Collections, Hierarchies, Taxonomies</a:t>
            </a:r>
          </a:p>
        </p:txBody>
      </p:sp>
      <p:sp>
        <p:nvSpPr>
          <p:cNvPr id="4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50" dirty="0">
                <a:solidFill>
                  <a:srgbClr val="6B7280"/>
                </a:solidFill>
              </a:rPr>
              <a:t>High-level explanation of DX Graph collection types and how they connect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1BG"/>
          <p:cNvSpPr/>
          <p:nvPr/>
        </p:nvSpPr>
        <p:spPr>
          <a:xfrm>
            <a:off x="254000" y="914400"/>
            <a:ext cx="4191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Accent"/>
          <p:cNvSpPr/>
          <p:nvPr/>
        </p:nvSpPr>
        <p:spPr>
          <a:xfrm>
            <a:off x="254000" y="914400"/>
            <a:ext cx="41910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Text"/>
          <p:cNvSpPr/>
          <p:nvPr/>
        </p:nvSpPr>
        <p:spPr>
          <a:xfrm>
            <a:off x="355600" y="1016000"/>
            <a:ext cx="3987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EB1A63"/>
                </a:solidFill>
              </a:rPr>
              <a:t>Collections  </a:t>
            </a:r>
            <a:r>
              <a:rPr lang="en-US" sz="1000" dirty="0">
                <a:solidFill>
                  <a:srgbClr val="374151"/>
                </a:solidFill>
              </a:rPr>
              <a:t>are the foundation and hold data based on the data model configured.</a:t>
            </a:r>
          </a:p>
          <a:p>
            <a:pPr>
              <a:buNone/>
            </a:pPr>
            <a:r>
              <a:rPr lang="en-US" sz="1100" b="1" dirty="0">
                <a:solidFill>
                  <a:srgbClr val="07BCD6"/>
                </a:solidFill>
              </a:rPr>
              <a:t>Relationships  </a:t>
            </a:r>
            <a:r>
              <a:rPr lang="en-US" sz="1000" dirty="0">
                <a:solidFill>
                  <a:srgbClr val="374151"/>
                </a:solidFill>
              </a:rPr>
              <a:t>connect collections together. A 1:1 lookup maps a single record to exactly one record elsewhere. A 1:Many lookup links one record to multiple targets. Dynamic relationships use expressions to create links between otherwise unrelated records.</a:t>
            </a:r>
          </a:p>
          <a:p>
            <a:pPr>
              <a:buNone/>
            </a:pPr>
            <a:r>
              <a:rPr lang="en-US" sz="1100" b="1" dirty="0">
                <a:solidFill>
                  <a:srgbClr val="8AC542"/>
                </a:solidFill>
              </a:rPr>
              <a:t>Hierarchies  </a:t>
            </a:r>
            <a:r>
              <a:rPr lang="en-US" sz="1000" dirty="0">
                <a:solidFill>
                  <a:srgbClr val="374151"/>
                </a:solidFill>
              </a:rPr>
              <a:t>are special collections where records can have a parent record, building a tree structure. Hierarchy paths recalculate automatically in real time whenever a record is moved.</a:t>
            </a:r>
          </a:p>
        </p:txBody>
      </p:sp>
      <p:sp>
        <p:nvSpPr>
          <p:cNvPr id="20" name="Card2BG"/>
          <p:cNvSpPr/>
          <p:nvPr/>
        </p:nvSpPr>
        <p:spPr>
          <a:xfrm>
            <a:off x="4572000" y="914400"/>
            <a:ext cx="431800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ard2Accent"/>
          <p:cNvSpPr/>
          <p:nvPr/>
        </p:nvSpPr>
        <p:spPr>
          <a:xfrm>
            <a:off x="4572000" y="914400"/>
            <a:ext cx="43180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Text"/>
          <p:cNvSpPr/>
          <p:nvPr/>
        </p:nvSpPr>
        <p:spPr>
          <a:xfrm>
            <a:off x="4673600" y="1016000"/>
            <a:ext cx="41148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100" b="1" dirty="0">
                <a:solidFill>
                  <a:srgbClr val="F8981D"/>
                </a:solidFill>
              </a:rPr>
              <a:t>Taxonomies  </a:t>
            </a:r>
            <a:r>
              <a:rPr lang="en-US" sz="1000" dirty="0">
                <a:solidFill>
                  <a:srgbClr val="374151"/>
                </a:solidFill>
              </a:rPr>
              <a:t>layer on top of collections to tag records dynamically. A standard Taxonomy collection holds labeling rules and applies them to a target collection.</a:t>
            </a:r>
          </a:p>
          <a:p>
            <a:pPr>
              <a:buNone/>
            </a:pPr>
            <a:r>
              <a:rPr lang="en-US" sz="1100" b="1" dirty="0">
                <a:solidFill>
                  <a:srgbClr val="458CCB"/>
                </a:solidFill>
              </a:rPr>
              <a:t>Hierarchical Taxonomy  </a:t>
            </a:r>
            <a:r>
              <a:rPr lang="en-US" sz="1000" dirty="0">
                <a:solidFill>
                  <a:srgbClr val="374151"/>
                </a:solidFill>
              </a:rPr>
              <a:t>takes this further: when a Hierarchy is also set as a Taxonomy, records get tagged with the full hierarchy path (e.g. A &gt; B &gt; C), enabling implicit relationships and path-aware querying.</a:t>
            </a:r>
          </a:p>
          <a:p>
            <a:pPr>
              <a:buNone/>
            </a:pPr>
            <a:r>
              <a:rPr lang="en-US" sz="950" i="1" dirty="0">
                <a:solidFill>
                  <a:srgbClr val="9CA3AF"/>
                </a:solidFill>
              </a:rPr>
              <a:t>Walkthrough of what has been implemented so far</a:t>
            </a:r>
          </a:p>
        </p:txBody>
      </p:sp>
      <p:sp>
        <p:nvSpPr>
          <p:cNvPr id="3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3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04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Implementation Timeline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Phase1BG"/>
          <p:cNvSpPr/>
          <p:nvPr/>
        </p:nvSpPr>
        <p:spPr>
          <a:xfrm>
            <a:off x="2540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Phase1Accent"/>
          <p:cNvSpPr/>
          <p:nvPr/>
        </p:nvSpPr>
        <p:spPr>
          <a:xfrm>
            <a:off x="2540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hase1Text"/>
          <p:cNvSpPr/>
          <p:nvPr/>
        </p:nvSpPr>
        <p:spPr>
          <a:xfrm>
            <a:off x="3556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EB1A63"/>
                </a:solidFill>
              </a:rPr>
              <a:t>PHASE 1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1–3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Foundation &amp; Data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Provision DX Graph environment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Model SKU &amp; Configuration Collections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Configure data ingest Jobs (3 backends)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COMPATIBLE_WITH Dynamic Relationship</a:t>
            </a:r>
          </a:p>
        </p:txBody>
      </p:sp>
      <p:sp>
        <p:nvSpPr>
          <p:cNvPr id="13" name="Phase2BG"/>
          <p:cNvSpPr/>
          <p:nvPr/>
        </p:nvSpPr>
        <p:spPr>
          <a:xfrm>
            <a:off x="23876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Phase2Accent"/>
          <p:cNvSpPr/>
          <p:nvPr/>
        </p:nvSpPr>
        <p:spPr>
          <a:xfrm>
            <a:off x="23876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hase2Text"/>
          <p:cNvSpPr/>
          <p:nvPr/>
        </p:nvSpPr>
        <p:spPr>
          <a:xfrm>
            <a:off x="24892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07BCD6"/>
                </a:solidFill>
              </a:rPr>
              <a:t>PHASE 2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4–6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Taxonomy &amp; Feeds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Model 3 Taxonomy Collections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Map all SKUs to taxonomies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Update 2 marketplace feeds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Validate data completeness</a:t>
            </a:r>
          </a:p>
        </p:txBody>
      </p:sp>
      <p:sp>
        <p:nvSpPr>
          <p:cNvPr id="16" name="Phase3BG"/>
          <p:cNvSpPr/>
          <p:nvPr/>
        </p:nvSpPr>
        <p:spPr>
          <a:xfrm>
            <a:off x="45212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Phase3Accent"/>
          <p:cNvSpPr/>
          <p:nvPr/>
        </p:nvSpPr>
        <p:spPr>
          <a:xfrm>
            <a:off x="45212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hase3Text"/>
          <p:cNvSpPr/>
          <p:nvPr/>
        </p:nvSpPr>
        <p:spPr>
          <a:xfrm>
            <a:off x="46228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8AC542"/>
                </a:solidFill>
              </a:rPr>
              <a:t>PHASE 3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7–10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DX Engine POC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Config Validation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Wizard Step Options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Config ID Creation flow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Build BOM Explosion flow</a:t>
            </a:r>
          </a:p>
        </p:txBody>
      </p:sp>
      <p:sp>
        <p:nvSpPr>
          <p:cNvPr id="19" name="Phase4BG"/>
          <p:cNvSpPr/>
          <p:nvPr/>
        </p:nvSpPr>
        <p:spPr>
          <a:xfrm>
            <a:off x="6654800" y="914400"/>
            <a:ext cx="20066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Phase4Accent"/>
          <p:cNvSpPr/>
          <p:nvPr/>
        </p:nvSpPr>
        <p:spPr>
          <a:xfrm>
            <a:off x="6654800" y="914400"/>
            <a:ext cx="2006600" cy="50800"/>
          </a:xfrm>
          <a:prstGeom prst="roundRect">
            <a:avLst>
              <a:gd name="adj" fmla="val 4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4Text"/>
          <p:cNvSpPr/>
          <p:nvPr/>
        </p:nvSpPr>
        <p:spPr>
          <a:xfrm>
            <a:off x="6756400" y="1016000"/>
            <a:ext cx="18034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b="1" dirty="0">
                <a:solidFill>
                  <a:srgbClr val="458CCB"/>
                </a:solidFill>
              </a:rPr>
              <a:t>PHASE 4</a:t>
            </a:r>
          </a:p>
          <a:p>
            <a:pPr>
              <a:buNone/>
            </a:pPr>
            <a:r>
              <a:rPr lang="en-US" sz="800" dirty="0">
                <a:solidFill>
                  <a:srgbClr val="9CA3AF"/>
                </a:solidFill>
              </a:rPr>
              <a:t>Weeks 11–12</a:t>
            </a:r>
          </a:p>
          <a:p>
            <a:pPr>
              <a:buNone/>
            </a:pPr>
            <a:r>
              <a:rPr lang="en-US" sz="1050" b="1" dirty="0">
                <a:solidFill>
                  <a:srgbClr val="111827"/>
                </a:solidFill>
              </a:rPr>
              <a:t>Testing &amp; Handoff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End-to-end integration testing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Channel-specific QA (POS, web)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Documentation &amp; runbooks</a:t>
            </a:r>
          </a:p>
          <a:p>
            <a:pPr marL="171450" indent="-171450">
              <a:buFont typeface="Arial"/>
              <a:buChar char="•"/>
            </a:pPr>
            <a:r>
              <a:rPr lang="en-US" sz="850" dirty="0">
                <a:solidFill>
                  <a:srgbClr val="374151"/>
                </a:solidFill>
              </a:rPr>
              <a:t>Knowledge transfer to Lovesac</a:t>
            </a:r>
          </a:p>
        </p:txBody>
      </p:sp>
      <p:sp>
        <p:nvSpPr>
          <p:cNvPr id="22" name="Note"/>
          <p:cNvSpPr/>
          <p:nvPr/>
        </p:nvSpPr>
        <p:spPr>
          <a:xfrm>
            <a:off x="254000" y="4267200"/>
            <a:ext cx="863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800" i="1" dirty="0">
                <a:solidFill>
                  <a:srgbClr val="9CA3AF"/>
                </a:solidFill>
              </a:rPr>
              <a:t>Note: Timeline is indicative. Final schedule to be agreed with Lovesac based on data readiness and open question resolution.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5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Team &amp; Governance</a:t>
            </a:r>
          </a:p>
        </p:txBody>
      </p:sp>
      <p:sp>
        <p:nvSpPr>
          <p:cNvPr id="4" name="Badge"/>
          <p:cNvSpPr/>
          <p:nvPr/>
        </p:nvSpPr>
        <p:spPr>
          <a:xfrm>
            <a:off x="8128000" y="762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amCardBG"/>
          <p:cNvSpPr/>
          <p:nvPr/>
        </p:nvSpPr>
        <p:spPr>
          <a:xfrm>
            <a:off x="254000" y="914400"/>
            <a:ext cx="5334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amAccent"/>
          <p:cNvSpPr/>
          <p:nvPr/>
        </p:nvSpPr>
        <p:spPr>
          <a:xfrm>
            <a:off x="254000" y="914400"/>
            <a:ext cx="5334000" cy="50800"/>
          </a:xfrm>
          <a:prstGeom prst="roundRect">
            <a:avLst>
              <a:gd name="adj" fmla="val 4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amLabel"/>
          <p:cNvSpPr/>
          <p:nvPr/>
        </p:nvSpPr>
        <p:spPr>
          <a:xfrm>
            <a:off x="355600" y="99060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b="1" dirty="0">
                <a:solidFill>
                  <a:srgbClr val="EB1A63"/>
                </a:solidFill>
              </a:rPr>
              <a:t>TEAM STRUCTURE</a:t>
            </a:r>
          </a:p>
        </p:txBody>
      </p:sp>
      <p:graphicFrame>
        <p:nvGraphicFramePr>
          <p:cNvPr id="9" name="TeamTable"/>
          <p:cNvGraphicFramePr>
            <a:graphicFrameLocks noGrp="1"/>
          </p:cNvGraphicFramePr>
          <p:nvPr/>
        </p:nvGraphicFramePr>
        <p:xfrm>
          <a:off x="355600" y="1219200"/>
          <a:ext cx="5029200" cy="21336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Conscia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Lovesac</a:t>
                      </a:r>
                    </a:p>
                  </a:txBody>
                  <a:tcPr>
                    <a:solidFill>
                      <a:srgbClr val="EB1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Executive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Amelia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Project Lead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Morgan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PM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Solution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David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Solution Engineer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Laurel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Data Owner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Platform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Harshil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Tech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QA / Testing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Laurel/Harshil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50" dirty="0">
                          <a:solidFill>
                            <a:srgbClr val="374151"/>
                          </a:solidFill>
                        </a:rPr>
                        <a:t>Lovesac QA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CadCardBG"/>
          <p:cNvSpPr/>
          <p:nvPr/>
        </p:nvSpPr>
        <p:spPr>
          <a:xfrm>
            <a:off x="5715000" y="914400"/>
            <a:ext cx="31750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CadAccent"/>
          <p:cNvSpPr/>
          <p:nvPr/>
        </p:nvSpPr>
        <p:spPr>
          <a:xfrm>
            <a:off x="5715000" y="914400"/>
            <a:ext cx="3175000" cy="50800"/>
          </a:xfrm>
          <a:prstGeom prst="roundRect">
            <a:avLst>
              <a:gd name="adj" fmla="val 4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adLabel"/>
          <p:cNvSpPr/>
          <p:nvPr/>
        </p:nvSpPr>
        <p:spPr>
          <a:xfrm>
            <a:off x="5816600" y="990600"/>
            <a:ext cx="200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b="1" dirty="0">
                <a:solidFill>
                  <a:srgbClr val="07BCD6"/>
                </a:solidFill>
              </a:rPr>
              <a:t>WORKING CADENCE</a:t>
            </a:r>
          </a:p>
        </p:txBody>
      </p:sp>
      <p:sp>
        <p:nvSpPr>
          <p:cNvPr id="50" name="Cad0BG"/>
          <p:cNvSpPr/>
          <p:nvPr/>
        </p:nvSpPr>
        <p:spPr>
          <a:xfrm>
            <a:off x="5715000" y="10414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Cad0Dot"/>
          <p:cNvSpPr/>
          <p:nvPr/>
        </p:nvSpPr>
        <p:spPr>
          <a:xfrm>
            <a:off x="5816600" y="1244600"/>
            <a:ext cx="101600" cy="101600"/>
          </a:xfrm>
          <a:prstGeom prst="ellipse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Cad0Text"/>
          <p:cNvSpPr/>
          <p:nvPr/>
        </p:nvSpPr>
        <p:spPr>
          <a:xfrm>
            <a:off x="5994400" y="10922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EB1A63"/>
                </a:solidFill>
              </a:rPr>
              <a:t>Weekly</a:t>
            </a:r>
            <a:r>
              <a:rPr lang="en-US" sz="900" b="1" dirty="0">
                <a:solidFill>
                  <a:srgbClr val="111827"/>
                </a:solidFill>
              </a:rPr>
              <a:t>  Project Standup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30 min · Both teams · Status, blockers, decisions</a:t>
            </a:r>
          </a:p>
        </p:txBody>
      </p:sp>
      <p:sp>
        <p:nvSpPr>
          <p:cNvPr id="53" name="Cad1BG"/>
          <p:cNvSpPr/>
          <p:nvPr/>
        </p:nvSpPr>
        <p:spPr>
          <a:xfrm>
            <a:off x="5715000" y="16256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Cad1Dot"/>
          <p:cNvSpPr/>
          <p:nvPr/>
        </p:nvSpPr>
        <p:spPr>
          <a:xfrm>
            <a:off x="5816600" y="1828800"/>
            <a:ext cx="101600" cy="101600"/>
          </a:xfrm>
          <a:prstGeom prst="ellipse">
            <a:avLst/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ad1Text"/>
          <p:cNvSpPr/>
          <p:nvPr/>
        </p:nvSpPr>
        <p:spPr>
          <a:xfrm>
            <a:off x="5994400" y="16764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07BCD6"/>
                </a:solidFill>
              </a:rPr>
              <a:t>Bi-weekly</a:t>
            </a:r>
            <a:r>
              <a:rPr lang="en-US" sz="900" b="1" dirty="0">
                <a:solidFill>
                  <a:srgbClr val="111827"/>
                </a:solidFill>
              </a:rPr>
              <a:t>  Steering Check-in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60 min · Leads only · Scope, risks, milestones</a:t>
            </a:r>
          </a:p>
        </p:txBody>
      </p:sp>
      <p:sp>
        <p:nvSpPr>
          <p:cNvPr id="56" name="Cad2BG"/>
          <p:cNvSpPr/>
          <p:nvPr/>
        </p:nvSpPr>
        <p:spPr>
          <a:xfrm>
            <a:off x="5715000" y="22098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Cad2Dot"/>
          <p:cNvSpPr/>
          <p:nvPr/>
        </p:nvSpPr>
        <p:spPr>
          <a:xfrm>
            <a:off x="5816600" y="2413000"/>
            <a:ext cx="101600" cy="101600"/>
          </a:xfrm>
          <a:prstGeom prst="ellipse">
            <a:avLst/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Cad2Text"/>
          <p:cNvSpPr/>
          <p:nvPr/>
        </p:nvSpPr>
        <p:spPr>
          <a:xfrm>
            <a:off x="5994400" y="22606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8AC542"/>
                </a:solidFill>
              </a:rPr>
              <a:t>As-needed</a:t>
            </a:r>
            <a:r>
              <a:rPr lang="en-US" sz="900" b="1" dirty="0">
                <a:solidFill>
                  <a:srgbClr val="111827"/>
                </a:solidFill>
              </a:rPr>
              <a:t>  Technical Review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Data model, API design, integration reviews</a:t>
            </a:r>
          </a:p>
        </p:txBody>
      </p:sp>
      <p:sp>
        <p:nvSpPr>
          <p:cNvPr id="59" name="Cad3BG"/>
          <p:cNvSpPr/>
          <p:nvPr/>
        </p:nvSpPr>
        <p:spPr>
          <a:xfrm>
            <a:off x="5715000" y="27940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Cad3Dot"/>
          <p:cNvSpPr/>
          <p:nvPr/>
        </p:nvSpPr>
        <p:spPr>
          <a:xfrm>
            <a:off x="5816600" y="2997200"/>
            <a:ext cx="101600" cy="101600"/>
          </a:xfrm>
          <a:prstGeom prst="ellipse">
            <a:avLst/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ad3Text"/>
          <p:cNvSpPr/>
          <p:nvPr/>
        </p:nvSpPr>
        <p:spPr>
          <a:xfrm>
            <a:off x="5994400" y="28448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458CCB"/>
                </a:solidFill>
              </a:rPr>
              <a:t>End of Phase</a:t>
            </a:r>
            <a:r>
              <a:rPr lang="en-US" sz="900" b="1" dirty="0">
                <a:solidFill>
                  <a:srgbClr val="111827"/>
                </a:solidFill>
              </a:rPr>
              <a:t>  Phase Gate Review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Demo, sign-off, and next phase kick-off</a:t>
            </a:r>
          </a:p>
        </p:txBody>
      </p:sp>
      <p:sp>
        <p:nvSpPr>
          <p:cNvPr id="62" name="Cad4BG"/>
          <p:cNvSpPr/>
          <p:nvPr/>
        </p:nvSpPr>
        <p:spPr>
          <a:xfrm>
            <a:off x="5715000" y="3378200"/>
            <a:ext cx="317500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Cad4Dot"/>
          <p:cNvSpPr/>
          <p:nvPr/>
        </p:nvSpPr>
        <p:spPr>
          <a:xfrm>
            <a:off x="5816600" y="3581400"/>
            <a:ext cx="101600" cy="101600"/>
          </a:xfrm>
          <a:prstGeom prst="ellipse">
            <a:avLst/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Cad4Text"/>
          <p:cNvSpPr/>
          <p:nvPr/>
        </p:nvSpPr>
        <p:spPr>
          <a:xfrm>
            <a:off x="5994400" y="3429000"/>
            <a:ext cx="279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750" b="1" dirty="0">
                <a:solidFill>
                  <a:srgbClr val="F8981D"/>
                </a:solidFill>
              </a:rPr>
              <a:t>Ongoing</a:t>
            </a:r>
            <a:r>
              <a:rPr lang="en-US" sz="900" b="1" dirty="0">
                <a:solidFill>
                  <a:srgbClr val="111827"/>
                </a:solidFill>
              </a:rPr>
              <a:t>  Slack / async comms</a:t>
            </a:r>
          </a:p>
          <a:p>
            <a:pPr>
              <a:buNone/>
            </a:pPr>
            <a:r>
              <a:rPr lang="en-US" sz="750" dirty="0">
                <a:solidFill>
                  <a:srgbClr val="6B7280"/>
                </a:solidFill>
              </a:rPr>
              <a:t>Shared channel for day-to-day coordination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9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Open Questions</a:t>
            </a:r>
          </a:p>
        </p:txBody>
      </p:sp>
      <p:sp>
        <p:nvSpPr>
          <p:cNvPr id="4" name="Badge"/>
          <p:cNvSpPr/>
          <p:nvPr/>
        </p:nvSpPr>
        <p:spPr>
          <a:xfrm>
            <a:off x="8128000" y="762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6B7280"/>
                </a:solidFill>
              </a:rPr>
              <a:t>These items require Lovesac input to unlock key workstreams — we'll aim to resolve them during kick-off.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1BG"/>
          <p:cNvSpPr/>
          <p:nvPr/>
        </p:nvSpPr>
        <p:spPr>
          <a:xfrm>
            <a:off x="254000" y="10668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Q1Bar"/>
          <p:cNvSpPr/>
          <p:nvPr/>
        </p:nvSpPr>
        <p:spPr>
          <a:xfrm>
            <a:off x="254000" y="106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Q1Badge"/>
          <p:cNvSpPr/>
          <p:nvPr/>
        </p:nvSpPr>
        <p:spPr>
          <a:xfrm>
            <a:off x="406400" y="11938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EB1A63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B1A63"/>
                </a:solidFill>
              </a:rPr>
              <a:t>Q1</a:t>
            </a:r>
          </a:p>
        </p:txBody>
      </p:sp>
      <p:sp>
        <p:nvSpPr>
          <p:cNvPr id="13" name="Q1Text"/>
          <p:cNvSpPr/>
          <p:nvPr/>
        </p:nvSpPr>
        <p:spPr>
          <a:xfrm>
            <a:off x="863600" y="1168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Which 3 source backends will be ingested?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Format (API vs. file) significantly affects implementation approach and timeline.</a:t>
            </a:r>
          </a:p>
        </p:txBody>
      </p:sp>
      <p:sp>
        <p:nvSpPr>
          <p:cNvPr id="14" name="Q2BG"/>
          <p:cNvSpPr/>
          <p:nvPr/>
        </p:nvSpPr>
        <p:spPr>
          <a:xfrm>
            <a:off x="4699000" y="10668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Q2Bar"/>
          <p:cNvSpPr/>
          <p:nvPr/>
        </p:nvSpPr>
        <p:spPr>
          <a:xfrm>
            <a:off x="4699000" y="106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Q2Badge"/>
          <p:cNvSpPr/>
          <p:nvPr/>
        </p:nvSpPr>
        <p:spPr>
          <a:xfrm>
            <a:off x="4851400" y="11938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7BCD6"/>
                </a:solidFill>
              </a:rPr>
              <a:t>Q2</a:t>
            </a:r>
          </a:p>
        </p:txBody>
      </p:sp>
      <p:sp>
        <p:nvSpPr>
          <p:cNvPr id="17" name="Q2Text"/>
          <p:cNvSpPr/>
          <p:nvPr/>
        </p:nvSpPr>
        <p:spPr>
          <a:xfrm>
            <a:off x="5308600" y="11684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are the 3 taxonomy versions required?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Internal taxonomy known. Marketplace schema (Google, ChatGPT) needs confirmation.</a:t>
            </a:r>
          </a:p>
        </p:txBody>
      </p:sp>
      <p:sp>
        <p:nvSpPr>
          <p:cNvPr id="18" name="Q3BG"/>
          <p:cNvSpPr/>
          <p:nvPr/>
        </p:nvSpPr>
        <p:spPr>
          <a:xfrm>
            <a:off x="254000" y="21336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Q3Bar"/>
          <p:cNvSpPr/>
          <p:nvPr/>
        </p:nvSpPr>
        <p:spPr>
          <a:xfrm>
            <a:off x="254000" y="21336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Q3Badge"/>
          <p:cNvSpPr/>
          <p:nvPr/>
        </p:nvSpPr>
        <p:spPr>
          <a:xfrm>
            <a:off x="406400" y="22606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8AC542"/>
                </a:solidFill>
              </a:rPr>
              <a:t>Q3</a:t>
            </a:r>
          </a:p>
        </p:txBody>
      </p:sp>
      <p:sp>
        <p:nvSpPr>
          <p:cNvPr id="21" name="Q3Text"/>
          <p:cNvSpPr/>
          <p:nvPr/>
        </p:nvSpPr>
        <p:spPr>
          <a:xfrm>
            <a:off x="863600" y="22352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Which 2 marketplace feeds will be updated?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Feed format, update frequency, and API vs. file determines the integration pattern.</a:t>
            </a:r>
          </a:p>
        </p:txBody>
      </p:sp>
      <p:sp>
        <p:nvSpPr>
          <p:cNvPr id="22" name="Q4BG"/>
          <p:cNvSpPr/>
          <p:nvPr/>
        </p:nvSpPr>
        <p:spPr>
          <a:xfrm>
            <a:off x="4699000" y="21336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Q4Bar"/>
          <p:cNvSpPr/>
          <p:nvPr/>
        </p:nvSpPr>
        <p:spPr>
          <a:xfrm>
            <a:off x="4699000" y="21336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Q4Badge"/>
          <p:cNvSpPr/>
          <p:nvPr/>
        </p:nvSpPr>
        <p:spPr>
          <a:xfrm>
            <a:off x="4851400" y="22606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458CCB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458CCB"/>
                </a:solidFill>
              </a:rPr>
              <a:t>Q4</a:t>
            </a:r>
          </a:p>
        </p:txBody>
      </p:sp>
      <p:sp>
        <p:nvSpPr>
          <p:cNvPr id="25" name="Q4Text"/>
          <p:cNvSpPr/>
          <p:nvPr/>
        </p:nvSpPr>
        <p:spPr>
          <a:xfrm>
            <a:off x="5308600" y="22352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is the Config ID format requirement?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Does Lovesac need a specific format, or integration with an existing OMS?</a:t>
            </a:r>
          </a:p>
        </p:txBody>
      </p:sp>
      <p:sp>
        <p:nvSpPr>
          <p:cNvPr id="26" name="Q5BG"/>
          <p:cNvSpPr/>
          <p:nvPr/>
        </p:nvSpPr>
        <p:spPr>
          <a:xfrm>
            <a:off x="254000" y="32004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Q5Bar"/>
          <p:cNvSpPr/>
          <p:nvPr/>
        </p:nvSpPr>
        <p:spPr>
          <a:xfrm>
            <a:off x="254000" y="32004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Q5Badge"/>
          <p:cNvSpPr/>
          <p:nvPr/>
        </p:nvSpPr>
        <p:spPr>
          <a:xfrm>
            <a:off x="406400" y="33274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8981D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8981D"/>
                </a:solidFill>
              </a:rPr>
              <a:t>Q5</a:t>
            </a:r>
          </a:p>
        </p:txBody>
      </p:sp>
      <p:sp>
        <p:nvSpPr>
          <p:cNvPr id="29" name="Q5Text"/>
          <p:cNvSpPr/>
          <p:nvPr/>
        </p:nvSpPr>
        <p:spPr>
          <a:xfrm>
            <a:off x="863600" y="3302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Is Quickship a product type flag or live inventory?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Currently modelled as classification. Live inventory requires a different integration.</a:t>
            </a:r>
          </a:p>
        </p:txBody>
      </p:sp>
      <p:sp>
        <p:nvSpPr>
          <p:cNvPr id="30" name="Q6BG"/>
          <p:cNvSpPr/>
          <p:nvPr/>
        </p:nvSpPr>
        <p:spPr>
          <a:xfrm>
            <a:off x="4699000" y="32004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Q6Bar"/>
          <p:cNvSpPr/>
          <p:nvPr/>
        </p:nvSpPr>
        <p:spPr>
          <a:xfrm>
            <a:off x="4699000" y="32004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Q6Badge"/>
          <p:cNvSpPr/>
          <p:nvPr/>
        </p:nvSpPr>
        <p:spPr>
          <a:xfrm>
            <a:off x="4851400" y="3327400"/>
            <a:ext cx="381000" cy="254000"/>
          </a:xfrm>
          <a:prstGeom prst="roundRect">
            <a:avLst>
              <a:gd name="adj" fmla="val 50000"/>
            </a:avLst>
          </a:prstGeom>
          <a:solidFill>
            <a:srgbClr val="FABF2D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ABF2D"/>
                </a:solidFill>
              </a:rPr>
              <a:t>Q6</a:t>
            </a:r>
          </a:p>
        </p:txBody>
      </p:sp>
      <p:sp>
        <p:nvSpPr>
          <p:cNvPr id="33" name="Q6Text"/>
          <p:cNvSpPr/>
          <p:nvPr/>
        </p:nvSpPr>
        <p:spPr>
          <a:xfrm>
            <a:off x="5308600" y="33020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1000" b="1" dirty="0">
                <a:solidFill>
                  <a:srgbClr val="111827"/>
                </a:solidFill>
              </a:rPr>
              <a:t>What are the Sactional component adjacency rules?</a:t>
            </a:r>
          </a:p>
          <a:p>
            <a:pPr>
              <a:buNone/>
            </a:pPr>
            <a:r>
              <a:rPr lang="en-US" sz="850" dirty="0">
                <a:solidFill>
                  <a:srgbClr val="6B7280"/>
                </a:solidFill>
              </a:rPr>
              <a:t>Which component types can sit next to each other? An adjacency matrix or free-connect confirmation.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11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F2F4"/>
            </a:gs>
            <a:gs pos="100000">
              <a:srgbClr val="F5ED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e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381000" y="762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>
              <a:buNone/>
            </a:pPr>
            <a:r>
              <a:rPr lang="en-US" sz="2000" b="1" dirty="0">
                <a:solidFill>
                  <a:srgbClr val="111827"/>
                </a:solidFill>
              </a:rPr>
              <a:t>Next Steps</a:t>
            </a:r>
          </a:p>
        </p:txBody>
      </p:sp>
      <p:sp>
        <p:nvSpPr>
          <p:cNvPr id="4" name="Badge"/>
          <p:cNvSpPr/>
          <p:nvPr/>
        </p:nvSpPr>
        <p:spPr>
          <a:xfrm>
            <a:off x="8128000" y="762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06</a:t>
            </a:r>
          </a:p>
        </p:txBody>
      </p:sp>
      <p:sp>
        <p:nvSpPr>
          <p:cNvPr id="7" name="Subtitle"/>
          <p:cNvSpPr/>
          <p:nvPr/>
        </p:nvSpPr>
        <p:spPr>
          <a:xfrm>
            <a:off x="381000" y="5334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000" dirty="0">
                <a:solidFill>
                  <a:srgbClr val="6B7280"/>
                </a:solidFill>
              </a:rPr>
              <a:t>Actions coming out of today's session — owners and target dates for both teams.</a:t>
            </a:r>
          </a:p>
        </p:txBody>
      </p:sp>
      <p:sp>
        <p:nvSpPr>
          <p:cNvPr id="5" name="Divider"/>
          <p:cNvSpPr/>
          <p:nvPr/>
        </p:nvSpPr>
        <p:spPr>
          <a:xfrm>
            <a:off x="254000" y="838200"/>
            <a:ext cx="863600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ow0BG"/>
          <p:cNvSpPr/>
          <p:nvPr/>
        </p:nvSpPr>
        <p:spPr>
          <a:xfrm>
            <a:off x="254000" y="10160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ow0Date"/>
          <p:cNvSpPr/>
          <p:nvPr/>
        </p:nvSpPr>
        <p:spPr>
          <a:xfrm>
            <a:off x="406400" y="1016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March 31</a:t>
            </a:r>
          </a:p>
        </p:txBody>
      </p:sp>
      <p:sp>
        <p:nvSpPr>
          <p:cNvPr id="12" name="Row0Owner"/>
          <p:cNvSpPr/>
          <p:nvPr/>
        </p:nvSpPr>
        <p:spPr>
          <a:xfrm>
            <a:off x="1625600" y="11303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8AC542"/>
                </a:solidFill>
              </a:rPr>
              <a:t>Both</a:t>
            </a:r>
          </a:p>
        </p:txBody>
      </p:sp>
      <p:sp>
        <p:nvSpPr>
          <p:cNvPr id="13" name="Row0Desc"/>
          <p:cNvSpPr/>
          <p:nvPr/>
        </p:nvSpPr>
        <p:spPr>
          <a:xfrm>
            <a:off x="2540000" y="10160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Confirm and distribute kick-off notes, decisions, and open question owners</a:t>
            </a:r>
          </a:p>
        </p:txBody>
      </p:sp>
      <p:sp>
        <p:nvSpPr>
          <p:cNvPr id="14" name="Row1BG"/>
          <p:cNvSpPr/>
          <p:nvPr/>
        </p:nvSpPr>
        <p:spPr>
          <a:xfrm>
            <a:off x="254000" y="15494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ow1Date"/>
          <p:cNvSpPr/>
          <p:nvPr/>
        </p:nvSpPr>
        <p:spPr>
          <a:xfrm>
            <a:off x="406400" y="15494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16" name="Row1Owner"/>
          <p:cNvSpPr/>
          <p:nvPr/>
        </p:nvSpPr>
        <p:spPr>
          <a:xfrm>
            <a:off x="1625600" y="16637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17" name="Row1Desc"/>
          <p:cNvSpPr/>
          <p:nvPr/>
        </p:nvSpPr>
        <p:spPr>
          <a:xfrm>
            <a:off x="2540000" y="15494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Provide list of 3 source backends (format, access method) and 2 marketplace feeds to be updated</a:t>
            </a:r>
          </a:p>
        </p:txBody>
      </p:sp>
      <p:sp>
        <p:nvSpPr>
          <p:cNvPr id="18" name="Row2BG"/>
          <p:cNvSpPr/>
          <p:nvPr/>
        </p:nvSpPr>
        <p:spPr>
          <a:xfrm>
            <a:off x="254000" y="20828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w2Date"/>
          <p:cNvSpPr/>
          <p:nvPr/>
        </p:nvSpPr>
        <p:spPr>
          <a:xfrm>
            <a:off x="406400" y="20828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20" name="Row2Owner"/>
          <p:cNvSpPr/>
          <p:nvPr/>
        </p:nvSpPr>
        <p:spPr>
          <a:xfrm>
            <a:off x="1625600" y="21971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21" name="Row2Desc"/>
          <p:cNvSpPr/>
          <p:nvPr/>
        </p:nvSpPr>
        <p:spPr>
          <a:xfrm>
            <a:off x="2540000" y="20828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Confirm 3 taxonomy versions required; share existing internal taxonomy documentation</a:t>
            </a:r>
          </a:p>
        </p:txBody>
      </p:sp>
      <p:sp>
        <p:nvSpPr>
          <p:cNvPr id="22" name="Row3BG"/>
          <p:cNvSpPr/>
          <p:nvPr/>
        </p:nvSpPr>
        <p:spPr>
          <a:xfrm>
            <a:off x="254000" y="26162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ow3Date"/>
          <p:cNvSpPr/>
          <p:nvPr/>
        </p:nvSpPr>
        <p:spPr>
          <a:xfrm>
            <a:off x="406400" y="26162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3</a:t>
            </a:r>
          </a:p>
        </p:txBody>
      </p:sp>
      <p:sp>
        <p:nvSpPr>
          <p:cNvPr id="24" name="Row3Owner"/>
          <p:cNvSpPr/>
          <p:nvPr/>
        </p:nvSpPr>
        <p:spPr>
          <a:xfrm>
            <a:off x="1625600" y="27305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07BCD6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7BCD6"/>
                </a:solidFill>
              </a:rPr>
              <a:t>Lovesac</a:t>
            </a:r>
          </a:p>
        </p:txBody>
      </p:sp>
      <p:sp>
        <p:nvSpPr>
          <p:cNvPr id="25" name="Row3Desc"/>
          <p:cNvSpPr/>
          <p:nvPr/>
        </p:nvSpPr>
        <p:spPr>
          <a:xfrm>
            <a:off x="2540000" y="26162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Provide component adjacency rules OR confirm within-series free-connect (resolves Open Question 6)</a:t>
            </a:r>
          </a:p>
        </p:txBody>
      </p:sp>
      <p:sp>
        <p:nvSpPr>
          <p:cNvPr id="26" name="Row4BG"/>
          <p:cNvSpPr/>
          <p:nvPr/>
        </p:nvSpPr>
        <p:spPr>
          <a:xfrm>
            <a:off x="254000" y="31496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4Date"/>
          <p:cNvSpPr/>
          <p:nvPr/>
        </p:nvSpPr>
        <p:spPr>
          <a:xfrm>
            <a:off x="406400" y="31496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By April 7</a:t>
            </a:r>
          </a:p>
        </p:txBody>
      </p:sp>
      <p:sp>
        <p:nvSpPr>
          <p:cNvPr id="28" name="Row4Owner"/>
          <p:cNvSpPr/>
          <p:nvPr/>
        </p:nvSpPr>
        <p:spPr>
          <a:xfrm>
            <a:off x="1625600" y="32639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B1A63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EB1A63"/>
                </a:solidFill>
              </a:rPr>
              <a:t>Conscia</a:t>
            </a:r>
          </a:p>
        </p:txBody>
      </p:sp>
      <p:sp>
        <p:nvSpPr>
          <p:cNvPr id="29" name="Row4Desc"/>
          <p:cNvSpPr/>
          <p:nvPr/>
        </p:nvSpPr>
        <p:spPr>
          <a:xfrm>
            <a:off x="2540000" y="31496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Provision DX Graph environment and share access credentials with Lovesac team</a:t>
            </a:r>
          </a:p>
        </p:txBody>
      </p:sp>
      <p:sp>
        <p:nvSpPr>
          <p:cNvPr id="30" name="Row5BG"/>
          <p:cNvSpPr/>
          <p:nvPr/>
        </p:nvSpPr>
        <p:spPr>
          <a:xfrm>
            <a:off x="254000" y="3683000"/>
            <a:ext cx="8636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ow5Date"/>
          <p:cNvSpPr/>
          <p:nvPr/>
        </p:nvSpPr>
        <p:spPr>
          <a:xfrm>
            <a:off x="406400" y="368300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850" b="1" dirty="0">
                <a:solidFill>
                  <a:srgbClr val="111827"/>
                </a:solidFill>
              </a:rPr>
              <a:t>April 7</a:t>
            </a:r>
          </a:p>
        </p:txBody>
      </p:sp>
      <p:sp>
        <p:nvSpPr>
          <p:cNvPr id="32" name="Row5Owner"/>
          <p:cNvSpPr/>
          <p:nvPr/>
        </p:nvSpPr>
        <p:spPr>
          <a:xfrm>
            <a:off x="1625600" y="37973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8AC542">
              <a:alpha val="15000"/>
            </a:srgb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8AC542"/>
                </a:solidFill>
              </a:rPr>
              <a:t>Both</a:t>
            </a:r>
          </a:p>
        </p:txBody>
      </p:sp>
      <p:sp>
        <p:nvSpPr>
          <p:cNvPr id="33" name="Row5Desc"/>
          <p:cNvSpPr/>
          <p:nvPr/>
        </p:nvSpPr>
        <p:spPr>
          <a:xfrm>
            <a:off x="2540000" y="3683000"/>
            <a:ext cx="619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buNone/>
            </a:pPr>
            <a:r>
              <a:rPr lang="en-US" sz="900" dirty="0">
                <a:solidFill>
                  <a:srgbClr val="374151"/>
                </a:solidFill>
              </a:rPr>
              <a:t>First weekly project standup — review data readiness and confirm Phase 1 sprint plan</a:t>
            </a:r>
          </a:p>
        </p:txBody>
      </p:sp>
      <p:sp>
        <p:nvSpPr>
          <p:cNvPr id="34" name="Closing"/>
          <p:cNvSpPr/>
          <p:nvPr/>
        </p:nvSpPr>
        <p:spPr>
          <a:xfrm>
            <a:off x="254000" y="4343400"/>
            <a:ext cx="863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i="1" dirty="0">
                <a:solidFill>
                  <a:srgbClr val="EB1A63"/>
                </a:solidFill>
              </a:rPr>
              <a:t>Let's build something great together.  Welcome to the project.</a:t>
            </a:r>
          </a:p>
        </p:txBody>
      </p:sp>
      <p:sp>
        <p:nvSpPr>
          <p:cNvPr id="90" name="Footer"/>
          <p:cNvSpPr/>
          <p:nvPr/>
        </p:nvSpPr>
        <p:spPr>
          <a:xfrm>
            <a:off x="0" y="487680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</a:rPr>
              <a:t>Lovesac × Conscia  ·  Project Kick-off  ·  March 30, 2026</a:t>
            </a:r>
          </a:p>
        </p:txBody>
      </p:sp>
      <p:sp>
        <p:nvSpPr>
          <p:cNvPr id="91" name="Rainbow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16000">
                <a:srgbClr val="F8981D"/>
              </a:gs>
              <a:gs pos="33000">
                <a:srgbClr val="FABF2D"/>
              </a:gs>
              <a:gs pos="50000">
                <a:srgbClr val="8AC542"/>
              </a:gs>
              <a:gs pos="67000">
                <a:srgbClr val="CDDC29"/>
              </a:gs>
              <a:gs pos="83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97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939A8-5FA8-71A7-2D4E-2622425F64E4}"/>
              </a:ext>
            </a:extLst>
          </p:cNvPr>
          <p:cNvSpPr txBox="1"/>
          <p:nvPr/>
        </p:nvSpPr>
        <p:spPr>
          <a:xfrm>
            <a:off x="1271954" y="1863969"/>
            <a:ext cx="64945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94753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  ///  LIGHT PREMIUM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29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OPTION B  ///  LIGHT PREMIUM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40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B1  ///  WARM SAND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34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B1 · WARM SAND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6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0F8"/>
              </a:gs>
              <a:gs pos="100000">
                <a:srgbClr val="EBE6F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B2  ///  SOFT LAVENDER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39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0F8"/>
              </a:gs>
              <a:gs pos="100000">
                <a:srgbClr val="EBE6F2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B2 · SOFT LAVENDER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83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E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B3  ///  SAGE MIST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24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B3 · SAGE MIST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3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EF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B4  ///  COOL SLATE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775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E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B4 · COOL SLATE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49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BF2F4"/>
              </a:gs>
              <a:gs pos="100000">
                <a:srgbClr val="F5EDF0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LeftBlock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bel"/>
          <p:cNvSpPr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900" spc="250" dirty="0">
                <a:solidFill>
                  <a:srgbClr val="EB1A63"/>
                </a:solidFill>
                <a:latin typeface="Calibri"/>
              </a:rPr>
              <a:t>OPTION B5  ///  BLUSH CLOUD</a:t>
            </a:r>
          </a:p>
        </p:txBody>
      </p:sp>
      <p:sp>
        <p:nvSpPr>
          <p:cNvPr id="60" name="Divider"/>
          <p:cNvSpPr/>
          <p:nvPr/>
        </p:nvSpPr>
        <p:spPr>
          <a:xfrm>
            <a:off x="457200" y="6096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Pill"/>
          <p:cNvSpPr/>
          <p:nvPr/>
        </p:nvSpPr>
        <p:spPr>
          <a:xfrm>
            <a:off x="457200" y="825500"/>
            <a:ext cx="3175000" cy="304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900" b="1" spc="200" dirty="0">
                <a:solidFill>
                  <a:srgbClr val="FFFFFF"/>
                </a:solidFill>
                <a:latin typeface="Calibri"/>
              </a:rPr>
              <a:t>PROJECT KICK-OFF  ·  MARCH 30, 2026</a:t>
            </a:r>
          </a:p>
        </p:txBody>
      </p:sp>
      <p:sp>
        <p:nvSpPr>
          <p:cNvPr id="62" name="Title"/>
          <p:cNvSpPr/>
          <p:nvPr/>
        </p:nvSpPr>
        <p:spPr>
          <a:xfrm>
            <a:off x="457200" y="1333500"/>
            <a:ext cx="698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Conscia: Beyond</a:t>
            </a:r>
          </a:p>
          <a:p>
            <a:pPr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Calibri"/>
              </a:rPr>
              <a:t>Traditional </a:t>
            </a:r>
            <a:r>
              <a:rPr lang="en-US" sz="4000" b="1" dirty="0">
                <a:solidFill>
                  <a:srgbClr val="EB1A63"/>
                </a:solidFill>
                <a:latin typeface="Calibri"/>
              </a:rPr>
              <a:t>PIM</a:t>
            </a:r>
          </a:p>
        </p:txBody>
      </p:sp>
      <p:sp>
        <p:nvSpPr>
          <p:cNvPr id="63" name="Subtitle"/>
          <p:cNvSpPr/>
          <p:nvPr/>
        </p:nvSpPr>
        <p:spPr>
          <a:xfrm>
            <a:off x="457200" y="2768600"/>
            <a:ext cx="558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A governed semantic foundation and real-time orchestration engine for complex, configurable commerce</a:t>
            </a:r>
          </a:p>
        </p:txBody>
      </p:sp>
      <p:sp>
        <p:nvSpPr>
          <p:cNvPr id="64" name="PoweredBy"/>
          <p:cNvSpPr/>
          <p:nvPr/>
        </p:nvSpPr>
        <p:spPr>
          <a:xfrm>
            <a:off x="457200" y="3619500"/>
            <a:ext cx="4445000" cy="304800"/>
          </a:xfrm>
          <a:prstGeom prst="roundRect">
            <a:avLst>
              <a:gd name="adj" fmla="val 30000"/>
            </a:avLst>
          </a:prstGeom>
          <a:solidFill>
            <a:srgbClr val="07BCD6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900" b="1" spc="150" dirty="0">
                <a:solidFill>
                  <a:srgbClr val="FFFFFF"/>
                </a:solidFill>
                <a:latin typeface="Calibri"/>
              </a:rPr>
              <a:t>POWERED BY:  DX GRAPH  +  DX ENGINE</a:t>
            </a:r>
          </a:p>
        </p:txBody>
      </p:sp>
      <p:sp>
        <p:nvSpPr>
          <p:cNvPr id="65" name="Kickoff"/>
          <p:cNvSpPr/>
          <p:nvPr/>
        </p:nvSpPr>
        <p:spPr>
          <a:xfrm>
            <a:off x="457200" y="41275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Calibri"/>
              </a:rPr>
              <a:t>Conscia × Lovesac Joint Kick-off</a:t>
            </a:r>
          </a:p>
        </p:txBody>
      </p:sp>
      <p:sp>
        <p:nvSpPr>
          <p:cNvPr id="66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5F44A-2E44-123C-0E33-2937DBB78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488" y="203693"/>
            <a:ext cx="1231499" cy="3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73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BF2F4"/>
              </a:gs>
              <a:gs pos="100000">
                <a:srgbClr val="F5EDF0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LeftBar"/>
          <p:cNvSpPr/>
          <p:nvPr/>
        </p:nvSpPr>
        <p:spPr>
          <a:xfrm>
            <a:off x="0" y="0"/>
            <a:ext cx="101600" cy="5143500"/>
          </a:xfrm>
          <a:prstGeom prst="rect">
            <a:avLst/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itle"/>
          <p:cNvSpPr/>
          <p:nvPr/>
        </p:nvSpPr>
        <p:spPr>
          <a:xfrm>
            <a:off x="457200" y="228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/>
              </a:rPr>
              <a:t>Today’s Agenda</a:t>
            </a:r>
          </a:p>
        </p:txBody>
      </p:sp>
      <p:sp>
        <p:nvSpPr>
          <p:cNvPr id="53" name="OptLabel"/>
          <p:cNvSpPr/>
          <p:nvPr/>
        </p:nvSpPr>
        <p:spPr>
          <a:xfrm>
            <a:off x="6350000" y="279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800" spc="250" dirty="0">
                <a:solidFill>
                  <a:srgbClr val="EB1A63"/>
                </a:solidFill>
                <a:latin typeface="Calibri"/>
              </a:rPr>
              <a:t>B5 · BLUSH CLOUD</a:t>
            </a:r>
          </a:p>
        </p:txBody>
      </p:sp>
      <p:sp>
        <p:nvSpPr>
          <p:cNvPr id="54" name="Div"/>
          <p:cNvSpPr/>
          <p:nvPr/>
        </p:nvSpPr>
        <p:spPr>
          <a:xfrm>
            <a:off x="457200" y="698500"/>
            <a:ext cx="8229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Card0"/>
          <p:cNvSpPr/>
          <p:nvPr/>
        </p:nvSpPr>
        <p:spPr>
          <a:xfrm>
            <a:off x="355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Acc0"/>
          <p:cNvSpPr/>
          <p:nvPr/>
        </p:nvSpPr>
        <p:spPr>
          <a:xfrm>
            <a:off x="355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EB1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um0"/>
          <p:cNvSpPr/>
          <p:nvPr/>
        </p:nvSpPr>
        <p:spPr>
          <a:xfrm>
            <a:off x="533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EB1A63"/>
                </a:solidFill>
                <a:latin typeface="Calibri"/>
              </a:rPr>
              <a:t>01</a:t>
            </a:r>
          </a:p>
        </p:txBody>
      </p:sp>
      <p:sp>
        <p:nvSpPr>
          <p:cNvPr id="103" name="CTitle0"/>
          <p:cNvSpPr/>
          <p:nvPr/>
        </p:nvSpPr>
        <p:spPr>
          <a:xfrm>
            <a:off x="533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Why We’re Here</a:t>
            </a:r>
          </a:p>
        </p:txBody>
      </p:sp>
      <p:sp>
        <p:nvSpPr>
          <p:cNvPr id="104" name="CDesc0"/>
          <p:cNvSpPr/>
          <p:nvPr/>
        </p:nvSpPr>
        <p:spPr>
          <a:xfrm>
            <a:off x="533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Business context, the SKU complexity challenge, and what success looks like</a:t>
            </a:r>
          </a:p>
        </p:txBody>
      </p:sp>
      <p:sp>
        <p:nvSpPr>
          <p:cNvPr id="105" name="Card1"/>
          <p:cNvSpPr/>
          <p:nvPr/>
        </p:nvSpPr>
        <p:spPr>
          <a:xfrm>
            <a:off x="32131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Acc1"/>
          <p:cNvSpPr/>
          <p:nvPr/>
        </p:nvSpPr>
        <p:spPr>
          <a:xfrm>
            <a:off x="32131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07BCD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Num1"/>
          <p:cNvSpPr/>
          <p:nvPr/>
        </p:nvSpPr>
        <p:spPr>
          <a:xfrm>
            <a:off x="33909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07BCD6"/>
                </a:solidFill>
                <a:latin typeface="Calibri"/>
              </a:rPr>
              <a:t>02</a:t>
            </a:r>
          </a:p>
        </p:txBody>
      </p:sp>
      <p:sp>
        <p:nvSpPr>
          <p:cNvPr id="108" name="CTitle1"/>
          <p:cNvSpPr/>
          <p:nvPr/>
        </p:nvSpPr>
        <p:spPr>
          <a:xfrm>
            <a:off x="33909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The Solution</a:t>
            </a:r>
          </a:p>
        </p:txBody>
      </p:sp>
      <p:sp>
        <p:nvSpPr>
          <p:cNvPr id="109" name="CDesc1"/>
          <p:cNvSpPr/>
          <p:nvPr/>
        </p:nvSpPr>
        <p:spPr>
          <a:xfrm>
            <a:off x="33909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DX Graph as product master + DX Engine as the real-time orchestration layer</a:t>
            </a:r>
          </a:p>
        </p:txBody>
      </p:sp>
      <p:sp>
        <p:nvSpPr>
          <p:cNvPr id="110" name="Card2"/>
          <p:cNvSpPr/>
          <p:nvPr/>
        </p:nvSpPr>
        <p:spPr>
          <a:xfrm>
            <a:off x="6070600" y="8890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Acc2"/>
          <p:cNvSpPr/>
          <p:nvPr/>
        </p:nvSpPr>
        <p:spPr>
          <a:xfrm>
            <a:off x="6070600" y="8890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8AC5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Num2"/>
          <p:cNvSpPr/>
          <p:nvPr/>
        </p:nvSpPr>
        <p:spPr>
          <a:xfrm>
            <a:off x="6248400" y="1041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8AC542"/>
                </a:solidFill>
                <a:latin typeface="Calibri"/>
              </a:rPr>
              <a:t>03</a:t>
            </a:r>
          </a:p>
        </p:txBody>
      </p:sp>
      <p:sp>
        <p:nvSpPr>
          <p:cNvPr id="113" name="CTitle2"/>
          <p:cNvSpPr/>
          <p:nvPr/>
        </p:nvSpPr>
        <p:spPr>
          <a:xfrm>
            <a:off x="6248400" y="13970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Project Scope</a:t>
            </a:r>
          </a:p>
        </p:txBody>
      </p:sp>
      <p:sp>
        <p:nvSpPr>
          <p:cNvPr id="114" name="CDesc2"/>
          <p:cNvSpPr/>
          <p:nvPr/>
        </p:nvSpPr>
        <p:spPr>
          <a:xfrm>
            <a:off x="6248400" y="17526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Deliverables, phasing, and what’s out of scope for Phase 1</a:t>
            </a:r>
          </a:p>
        </p:txBody>
      </p:sp>
      <p:sp>
        <p:nvSpPr>
          <p:cNvPr id="115" name="Card3"/>
          <p:cNvSpPr/>
          <p:nvPr/>
        </p:nvSpPr>
        <p:spPr>
          <a:xfrm>
            <a:off x="355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Acc3"/>
          <p:cNvSpPr/>
          <p:nvPr/>
        </p:nvSpPr>
        <p:spPr>
          <a:xfrm>
            <a:off x="355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458C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Num3"/>
          <p:cNvSpPr/>
          <p:nvPr/>
        </p:nvSpPr>
        <p:spPr>
          <a:xfrm>
            <a:off x="533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458CCB"/>
                </a:solidFill>
                <a:latin typeface="Calibri"/>
              </a:rPr>
              <a:t>04</a:t>
            </a:r>
          </a:p>
        </p:txBody>
      </p:sp>
      <p:sp>
        <p:nvSpPr>
          <p:cNvPr id="118" name="CTitle3"/>
          <p:cNvSpPr/>
          <p:nvPr/>
        </p:nvSpPr>
        <p:spPr>
          <a:xfrm>
            <a:off x="533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Team &amp; Governance</a:t>
            </a:r>
          </a:p>
        </p:txBody>
      </p:sp>
      <p:sp>
        <p:nvSpPr>
          <p:cNvPr id="119" name="CDesc3"/>
          <p:cNvSpPr/>
          <p:nvPr/>
        </p:nvSpPr>
        <p:spPr>
          <a:xfrm>
            <a:off x="533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Roles, responsibilities, working cadence, and escalation paths</a:t>
            </a:r>
          </a:p>
        </p:txBody>
      </p:sp>
      <p:sp>
        <p:nvSpPr>
          <p:cNvPr id="120" name="Card4"/>
          <p:cNvSpPr/>
          <p:nvPr/>
        </p:nvSpPr>
        <p:spPr>
          <a:xfrm>
            <a:off x="32131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Acc4"/>
          <p:cNvSpPr/>
          <p:nvPr/>
        </p:nvSpPr>
        <p:spPr>
          <a:xfrm>
            <a:off x="32131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Num4"/>
          <p:cNvSpPr/>
          <p:nvPr/>
        </p:nvSpPr>
        <p:spPr>
          <a:xfrm>
            <a:off x="33909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8981D"/>
                </a:solidFill>
                <a:latin typeface="Calibri"/>
              </a:rPr>
              <a:t>05</a:t>
            </a:r>
          </a:p>
        </p:txBody>
      </p:sp>
      <p:sp>
        <p:nvSpPr>
          <p:cNvPr id="123" name="CTitle4"/>
          <p:cNvSpPr/>
          <p:nvPr/>
        </p:nvSpPr>
        <p:spPr>
          <a:xfrm>
            <a:off x="33909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Open Questions</a:t>
            </a:r>
          </a:p>
        </p:txBody>
      </p:sp>
      <p:sp>
        <p:nvSpPr>
          <p:cNvPr id="124" name="CDesc4"/>
          <p:cNvSpPr/>
          <p:nvPr/>
        </p:nvSpPr>
        <p:spPr>
          <a:xfrm>
            <a:off x="33909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Items we need Lovesac to confirm to unlock key workstreams</a:t>
            </a:r>
          </a:p>
        </p:txBody>
      </p:sp>
      <p:sp>
        <p:nvSpPr>
          <p:cNvPr id="125" name="Card5"/>
          <p:cNvSpPr/>
          <p:nvPr/>
        </p:nvSpPr>
        <p:spPr>
          <a:xfrm>
            <a:off x="6070600" y="2730500"/>
            <a:ext cx="2667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>
            <a:outerShdw blurRad="50800" dist="12700" dir="5400000" algn="t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6" name="Acc5"/>
          <p:cNvSpPr/>
          <p:nvPr/>
        </p:nvSpPr>
        <p:spPr>
          <a:xfrm>
            <a:off x="6070600" y="2730500"/>
            <a:ext cx="2667000" cy="50800"/>
          </a:xfrm>
          <a:prstGeom prst="roundRect">
            <a:avLst>
              <a:gd name="adj" fmla="val 50000"/>
            </a:avLst>
          </a:prstGeom>
          <a:solidFill>
            <a:srgbClr val="FABF2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Num5"/>
          <p:cNvSpPr/>
          <p:nvPr/>
        </p:nvSpPr>
        <p:spPr>
          <a:xfrm>
            <a:off x="6248400" y="28829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FABF2D"/>
                </a:solidFill>
                <a:latin typeface="Calibri"/>
              </a:rPr>
              <a:t>06</a:t>
            </a:r>
          </a:p>
        </p:txBody>
      </p:sp>
      <p:sp>
        <p:nvSpPr>
          <p:cNvPr id="128" name="CTitle5"/>
          <p:cNvSpPr/>
          <p:nvPr/>
        </p:nvSpPr>
        <p:spPr>
          <a:xfrm>
            <a:off x="6248400" y="3238500"/>
            <a:ext cx="2311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11827"/>
                </a:solidFill>
                <a:latin typeface="Calibri"/>
              </a:rPr>
              <a:t>Next Steps</a:t>
            </a:r>
          </a:p>
        </p:txBody>
      </p:sp>
      <p:sp>
        <p:nvSpPr>
          <p:cNvPr id="129" name="CDesc5"/>
          <p:cNvSpPr/>
          <p:nvPr/>
        </p:nvSpPr>
        <p:spPr>
          <a:xfrm>
            <a:off x="6248400" y="3594100"/>
            <a:ext cx="2311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/>
              </a:rPr>
              <a:t>Actions, owners, and target dates coming out of today</a:t>
            </a:r>
          </a:p>
        </p:txBody>
      </p:sp>
      <p:sp>
        <p:nvSpPr>
          <p:cNvPr id="200" name="Footer"/>
          <p:cNvSpPr/>
          <p:nvPr/>
        </p:nvSpPr>
        <p:spPr>
          <a:xfrm>
            <a:off x="0" y="48387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0" rIns="182880" bIns="0" anchor="ctr"/>
          <a:lstStyle/>
          <a:p>
            <a:pPr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/>
              </a:rPr>
              <a:t>Lovesac × Conscia  ·  Project Kick-off  ·  March 30, 2026</a:t>
            </a:r>
          </a:p>
        </p:txBody>
      </p:sp>
      <p:sp>
        <p:nvSpPr>
          <p:cNvPr id="201" name="BottomBar"/>
          <p:cNvSpPr/>
          <p:nvPr/>
        </p:nvSpPr>
        <p:spPr>
          <a:xfrm>
            <a:off x="0" y="5092700"/>
            <a:ext cx="9144000" cy="50800"/>
          </a:xfrm>
          <a:prstGeom prst="rect">
            <a:avLst/>
          </a:prstGeom>
          <a:gradFill>
            <a:gsLst>
              <a:gs pos="0">
                <a:srgbClr val="EB1A63"/>
              </a:gs>
              <a:gs pos="20000">
                <a:srgbClr val="F8981D"/>
              </a:gs>
              <a:gs pos="40000">
                <a:srgbClr val="FABF2D"/>
              </a:gs>
              <a:gs pos="60000">
                <a:srgbClr val="8AC542"/>
              </a:gs>
              <a:gs pos="80000">
                <a:srgbClr val="07BCD6"/>
              </a:gs>
              <a:gs pos="100000">
                <a:srgbClr val="458CCB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77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74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63CBA7-DA38-4B63-A77E-B112D0F83CB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28162e83-ee21-4051-98bf-0d36cacca1c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2501</Words>
  <Application>Microsoft Office PowerPoint</Application>
  <PresentationFormat>On-screen Show (16:9)</PresentationFormat>
  <Paragraphs>445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Conscia</dc:creator>
  <cp:lastModifiedBy>David Uccelli</cp:lastModifiedBy>
  <cp:revision>2</cp:revision>
  <dcterms:created xsi:type="dcterms:W3CDTF">2026-03-28T20:38:14Z</dcterms:created>
  <dcterms:modified xsi:type="dcterms:W3CDTF">2026-04-07T09:30:55Z</dcterms:modified>
</cp:coreProperties>
</file>