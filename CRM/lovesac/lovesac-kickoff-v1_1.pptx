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305" r:id="rId2"/>
    <p:sldId id="325" r:id="rId3"/>
    <p:sldId id="309" r:id="rId4"/>
    <p:sldId id="322" r:id="rId5"/>
    <p:sldId id="308" r:id="rId6"/>
    <p:sldId id="323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00" r:id="rId16"/>
    <p:sldId id="278" r:id="rId17"/>
    <p:sldId id="281" r:id="rId18"/>
    <p:sldId id="294" r:id="rId19"/>
    <p:sldId id="297" r:id="rId20"/>
    <p:sldId id="290" r:id="rId21"/>
    <p:sldId id="291" r:id="rId22"/>
    <p:sldId id="295" r:id="rId23"/>
    <p:sldId id="298" r:id="rId24"/>
    <p:sldId id="296" r:id="rId25"/>
    <p:sldId id="299" r:id="rId26"/>
    <p:sldId id="292" r:id="rId27"/>
    <p:sldId id="293" r:id="rId2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HCJthnzYT8TGbZ49sVQp0B7AhE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Uccelli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4ba649c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d4ba649c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d4ba649cf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de2a3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d4de2a385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4de2a385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ll"/>
          <p:cNvSpPr/>
          <p:nvPr/>
        </p:nvSpPr>
        <p:spPr>
          <a:xfrm>
            <a:off x="457200" y="7620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12700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4200" b="1" dirty="0">
                <a:solidFill>
                  <a:srgbClr val="111827"/>
                </a:solidFill>
                <a:latin typeface="Calibri"/>
              </a:rPr>
              <a:t>Conscia: Beyond Traditional </a:t>
            </a:r>
            <a:r>
              <a:rPr lang="en-US" sz="42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2476500"/>
            <a:ext cx="558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15" name="PoweredBy"/>
          <p:cNvSpPr/>
          <p:nvPr/>
        </p:nvSpPr>
        <p:spPr>
          <a:xfrm>
            <a:off x="457200" y="3429000"/>
            <a:ext cx="3810000" cy="2794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POWERED BY: DX GRAPH + DX ENGINE</a:t>
            </a:r>
          </a:p>
        </p:txBody>
      </p:sp>
      <p:sp>
        <p:nvSpPr>
          <p:cNvPr id="16" name="Kickoff"/>
          <p:cNvSpPr/>
          <p:nvPr/>
        </p:nvSpPr>
        <p:spPr>
          <a:xfrm>
            <a:off x="457200" y="3937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17" name="Tagline"/>
          <p:cNvSpPr/>
          <p:nvPr/>
        </p:nvSpPr>
        <p:spPr>
          <a:xfrm>
            <a:off x="2540000" y="2286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00" dirty="0">
                <a:solidFill>
                  <a:srgbClr val="9CA3AF"/>
                </a:solidFill>
                <a:latin typeface="Calibri"/>
              </a:rPr>
              <a:t>The API and Data Foundation for Agentic Commerce</a:t>
            </a:r>
          </a:p>
        </p:txBody>
      </p:sp>
      <p:sp>
        <p:nvSpPr>
          <p:cNvPr id="18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3000" y="203200"/>
            <a:ext cx="1232572" cy="32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9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Today's Agenda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AccBar0"/>
          <p:cNvSpPr>
            <a:spLocks noGrp="1"/>
          </p:cNvSpPr>
          <p:nvPr/>
        </p:nvSpPr>
        <p:spPr>
          <a:xfrm>
            <a:off x="355600" y="8001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01" name="Div0"/>
          <p:cNvSpPr>
            <a:spLocks noGrp="1"/>
          </p:cNvSpPr>
          <p:nvPr/>
        </p:nvSpPr>
        <p:spPr>
          <a:xfrm>
            <a:off x="482600" y="1231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Num0"/>
          <p:cNvSpPr>
            <a:spLocks noGrp="1"/>
          </p:cNvSpPr>
          <p:nvPr/>
        </p:nvSpPr>
        <p:spPr>
          <a:xfrm>
            <a:off x="508000" y="825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303" name="Row0"/>
          <p:cNvSpPr>
            <a:spLocks noGrp="1"/>
          </p:cNvSpPr>
          <p:nvPr/>
        </p:nvSpPr>
        <p:spPr>
          <a:xfrm>
            <a:off x="889000" y="800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Problem Statement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Recap of the challenges we're here to solve</a:t>
            </a:r>
          </a:p>
        </p:txBody>
      </p:sp>
      <p:sp>
        <p:nvSpPr>
          <p:cNvPr id="310" name="AccBar1"/>
          <p:cNvSpPr>
            <a:spLocks noGrp="1"/>
          </p:cNvSpPr>
          <p:nvPr/>
        </p:nvSpPr>
        <p:spPr>
          <a:xfrm>
            <a:off x="355600" y="12319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11" name="Div1"/>
          <p:cNvSpPr>
            <a:spLocks noGrp="1"/>
          </p:cNvSpPr>
          <p:nvPr/>
        </p:nvSpPr>
        <p:spPr>
          <a:xfrm>
            <a:off x="482600" y="1663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Num1"/>
          <p:cNvSpPr>
            <a:spLocks noGrp="1"/>
          </p:cNvSpPr>
          <p:nvPr/>
        </p:nvSpPr>
        <p:spPr>
          <a:xfrm>
            <a:off x="508000" y="1257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313" name="Row1"/>
          <p:cNvSpPr>
            <a:spLocks noGrp="1"/>
          </p:cNvSpPr>
          <p:nvPr/>
        </p:nvSpPr>
        <p:spPr>
          <a:xfrm>
            <a:off x="889000" y="1231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Meet the Teams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Introductions and roles</a:t>
            </a:r>
          </a:p>
        </p:txBody>
      </p:sp>
      <p:sp>
        <p:nvSpPr>
          <p:cNvPr id="320" name="AccBar2"/>
          <p:cNvSpPr>
            <a:spLocks noGrp="1"/>
          </p:cNvSpPr>
          <p:nvPr/>
        </p:nvSpPr>
        <p:spPr>
          <a:xfrm>
            <a:off x="355600" y="16637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21" name="Div2"/>
          <p:cNvSpPr>
            <a:spLocks noGrp="1"/>
          </p:cNvSpPr>
          <p:nvPr/>
        </p:nvSpPr>
        <p:spPr>
          <a:xfrm>
            <a:off x="482600" y="2095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Num2"/>
          <p:cNvSpPr>
            <a:spLocks noGrp="1"/>
          </p:cNvSpPr>
          <p:nvPr/>
        </p:nvSpPr>
        <p:spPr>
          <a:xfrm>
            <a:off x="508000" y="1689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323" name="Row2"/>
          <p:cNvSpPr>
            <a:spLocks noGrp="1"/>
          </p:cNvSpPr>
          <p:nvPr/>
        </p:nvSpPr>
        <p:spPr>
          <a:xfrm>
            <a:off x="889000" y="1663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Conscia Platform Overview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How DX Graph and DX Engine address Lovesac's needs</a:t>
            </a:r>
          </a:p>
        </p:txBody>
      </p:sp>
      <p:sp>
        <p:nvSpPr>
          <p:cNvPr id="330" name="AccBar3"/>
          <p:cNvSpPr>
            <a:spLocks noGrp="1"/>
          </p:cNvSpPr>
          <p:nvPr/>
        </p:nvSpPr>
        <p:spPr>
          <a:xfrm>
            <a:off x="355600" y="2095500"/>
            <a:ext cx="50800" cy="4191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31" name="Div3"/>
          <p:cNvSpPr>
            <a:spLocks noGrp="1"/>
          </p:cNvSpPr>
          <p:nvPr/>
        </p:nvSpPr>
        <p:spPr>
          <a:xfrm>
            <a:off x="482600" y="25273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Num3"/>
          <p:cNvSpPr>
            <a:spLocks noGrp="1"/>
          </p:cNvSpPr>
          <p:nvPr/>
        </p:nvSpPr>
        <p:spPr>
          <a:xfrm>
            <a:off x="508000" y="2120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333" name="Row3"/>
          <p:cNvSpPr>
            <a:spLocks noGrp="1"/>
          </p:cNvSpPr>
          <p:nvPr/>
        </p:nvSpPr>
        <p:spPr>
          <a:xfrm>
            <a:off x="889000" y="2095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Proposed Architecture Fit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Where Conscia sits within your existing stack</a:t>
            </a:r>
          </a:p>
        </p:txBody>
      </p:sp>
      <p:sp>
        <p:nvSpPr>
          <p:cNvPr id="340" name="AccBar4"/>
          <p:cNvSpPr>
            <a:spLocks noGrp="1"/>
          </p:cNvSpPr>
          <p:nvPr/>
        </p:nvSpPr>
        <p:spPr>
          <a:xfrm>
            <a:off x="355600" y="2527300"/>
            <a:ext cx="50800" cy="4191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41" name="Div4"/>
          <p:cNvSpPr>
            <a:spLocks noGrp="1"/>
          </p:cNvSpPr>
          <p:nvPr/>
        </p:nvSpPr>
        <p:spPr>
          <a:xfrm>
            <a:off x="482600" y="29591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Num4"/>
          <p:cNvSpPr>
            <a:spLocks noGrp="1"/>
          </p:cNvSpPr>
          <p:nvPr/>
        </p:nvSpPr>
        <p:spPr>
          <a:xfrm>
            <a:off x="508000" y="25527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9500"/>
                </a:solidFill>
                <a:latin typeface="Calibri"/>
              </a:rPr>
              <a:t>05</a:t>
            </a:r>
          </a:p>
        </p:txBody>
      </p:sp>
      <p:sp>
        <p:nvSpPr>
          <p:cNvPr id="343" name="Row4"/>
          <p:cNvSpPr>
            <a:spLocks noGrp="1"/>
          </p:cNvSpPr>
          <p:nvPr/>
        </p:nvSpPr>
        <p:spPr>
          <a:xfrm>
            <a:off x="889000" y="25273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Success Metrics and KPIs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Defining what good looks like</a:t>
            </a:r>
          </a:p>
        </p:txBody>
      </p:sp>
      <p:sp>
        <p:nvSpPr>
          <p:cNvPr id="350" name="AccBar5"/>
          <p:cNvSpPr>
            <a:spLocks noGrp="1"/>
          </p:cNvSpPr>
          <p:nvPr/>
        </p:nvSpPr>
        <p:spPr>
          <a:xfrm>
            <a:off x="355600" y="2959100"/>
            <a:ext cx="50800" cy="4191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51" name="Div5"/>
          <p:cNvSpPr>
            <a:spLocks noGrp="1"/>
          </p:cNvSpPr>
          <p:nvPr/>
        </p:nvSpPr>
        <p:spPr>
          <a:xfrm>
            <a:off x="482600" y="3390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Num5"/>
          <p:cNvSpPr>
            <a:spLocks noGrp="1"/>
          </p:cNvSpPr>
          <p:nvPr/>
        </p:nvSpPr>
        <p:spPr>
          <a:xfrm>
            <a:off x="508000" y="2984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690A"/>
                </a:solidFill>
                <a:latin typeface="Calibri"/>
              </a:rPr>
              <a:t>06</a:t>
            </a:r>
          </a:p>
        </p:txBody>
      </p:sp>
      <p:sp>
        <p:nvSpPr>
          <p:cNvPr id="353" name="Row5"/>
          <p:cNvSpPr>
            <a:spLocks noGrp="1"/>
          </p:cNvSpPr>
          <p:nvPr/>
        </p:nvSpPr>
        <p:spPr>
          <a:xfrm>
            <a:off x="889000" y="2959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Early Findings from Your Data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Initial analysis and observations from pre-kickoff review</a:t>
            </a:r>
          </a:p>
        </p:txBody>
      </p:sp>
      <p:sp>
        <p:nvSpPr>
          <p:cNvPr id="360" name="AccBar6"/>
          <p:cNvSpPr>
            <a:spLocks noGrp="1"/>
          </p:cNvSpPr>
          <p:nvPr/>
        </p:nvSpPr>
        <p:spPr>
          <a:xfrm>
            <a:off x="355600" y="33909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61" name="Div6"/>
          <p:cNvSpPr>
            <a:spLocks noGrp="1"/>
          </p:cNvSpPr>
          <p:nvPr/>
        </p:nvSpPr>
        <p:spPr>
          <a:xfrm>
            <a:off x="482600" y="3822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2" name="Num6"/>
          <p:cNvSpPr>
            <a:spLocks noGrp="1"/>
          </p:cNvSpPr>
          <p:nvPr/>
        </p:nvSpPr>
        <p:spPr>
          <a:xfrm>
            <a:off x="508000" y="3416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07</a:t>
            </a:r>
          </a:p>
        </p:txBody>
      </p:sp>
      <p:sp>
        <p:nvSpPr>
          <p:cNvPr id="363" name="Row6"/>
          <p:cNvSpPr>
            <a:spLocks noGrp="1"/>
          </p:cNvSpPr>
          <p:nvPr/>
        </p:nvSpPr>
        <p:spPr>
          <a:xfrm>
            <a:off x="889000" y="3390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Ways of Working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Roles, responsibilities, working cadence, and escalation paths</a:t>
            </a:r>
          </a:p>
        </p:txBody>
      </p:sp>
      <p:sp>
        <p:nvSpPr>
          <p:cNvPr id="370" name="AccBar7"/>
          <p:cNvSpPr>
            <a:spLocks noGrp="1"/>
          </p:cNvSpPr>
          <p:nvPr/>
        </p:nvSpPr>
        <p:spPr>
          <a:xfrm>
            <a:off x="355600" y="38227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71" name="Div7"/>
          <p:cNvSpPr>
            <a:spLocks noGrp="1"/>
          </p:cNvSpPr>
          <p:nvPr/>
        </p:nvSpPr>
        <p:spPr>
          <a:xfrm>
            <a:off x="482600" y="4254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2" name="Num7"/>
          <p:cNvSpPr>
            <a:spLocks noGrp="1"/>
          </p:cNvSpPr>
          <p:nvPr/>
        </p:nvSpPr>
        <p:spPr>
          <a:xfrm>
            <a:off x="508000" y="3848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08</a:t>
            </a:r>
          </a:p>
        </p:txBody>
      </p:sp>
      <p:sp>
        <p:nvSpPr>
          <p:cNvPr id="373" name="Row7"/>
          <p:cNvSpPr>
            <a:spLocks noGrp="1"/>
          </p:cNvSpPr>
          <p:nvPr/>
        </p:nvSpPr>
        <p:spPr>
          <a:xfrm>
            <a:off x="889000" y="3822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Open Questions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Items for Lovesac to take away and address</a:t>
            </a:r>
          </a:p>
        </p:txBody>
      </p:sp>
      <p:sp>
        <p:nvSpPr>
          <p:cNvPr id="380" name="AccBar8"/>
          <p:cNvSpPr>
            <a:spLocks noGrp="1"/>
          </p:cNvSpPr>
          <p:nvPr/>
        </p:nvSpPr>
        <p:spPr>
          <a:xfrm>
            <a:off x="355600" y="42545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82" name="Num8"/>
          <p:cNvSpPr>
            <a:spLocks noGrp="1"/>
          </p:cNvSpPr>
          <p:nvPr/>
        </p:nvSpPr>
        <p:spPr>
          <a:xfrm>
            <a:off x="508000" y="4279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09</a:t>
            </a:r>
          </a:p>
        </p:txBody>
      </p:sp>
      <p:sp>
        <p:nvSpPr>
          <p:cNvPr id="383" name="Row8"/>
          <p:cNvSpPr>
            <a:spLocks noGrp="1"/>
          </p:cNvSpPr>
          <p:nvPr/>
        </p:nvSpPr>
        <p:spPr>
          <a:xfrm>
            <a:off x="889000" y="4254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Agreed Next Steps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Actions, owners, and target dates coming out of today</a:t>
            </a:r>
          </a:p>
        </p:txBody>
      </p:sp>
    </p:spTree>
    <p:extLst>
      <p:ext uri="{BB962C8B-B14F-4D97-AF65-F5344CB8AC3E}">
        <p14:creationId xmlns:p14="http://schemas.microsoft.com/office/powerpoint/2010/main" val="369621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tatCard"/>
          <p:cNvSpPr/>
          <p:nvPr/>
        </p:nvSpPr>
        <p:spPr>
          <a:xfrm>
            <a:off x="355600" y="838200"/>
            <a:ext cx="2159000" cy="386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tatAcc"/>
          <p:cNvSpPr/>
          <p:nvPr/>
        </p:nvSpPr>
        <p:spPr>
          <a:xfrm>
            <a:off x="355600" y="838200"/>
            <a:ext cx="2159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tatNum"/>
          <p:cNvSpPr/>
          <p:nvPr/>
        </p:nvSpPr>
        <p:spPr>
          <a:xfrm>
            <a:off x="508000" y="1219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4800" b="1" dirty="0">
                <a:solidFill>
                  <a:srgbClr val="EB1A63"/>
                </a:solidFill>
                <a:latin typeface="Calibri"/>
              </a:rPr>
              <a:t>13+</a:t>
            </a:r>
          </a:p>
        </p:txBody>
      </p:sp>
      <p:sp>
        <p:nvSpPr>
          <p:cNvPr id="23" name="StatDesc"/>
          <p:cNvSpPr/>
          <p:nvPr/>
        </p:nvSpPr>
        <p:spPr>
          <a:xfrm>
            <a:off x="508000" y="2108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Attribute Dimensions driving SKU explosion</a:t>
            </a:r>
          </a:p>
        </p:txBody>
      </p:sp>
      <p:sp>
        <p:nvSpPr>
          <p:cNvPr id="24" name="Challenge"/>
          <p:cNvSpPr/>
          <p:nvPr/>
        </p:nvSpPr>
        <p:spPr>
          <a:xfrm>
            <a:off x="508000" y="2997200"/>
            <a:ext cx="185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THE CORE CHALLENGE</a:t>
            </a:r>
          </a:p>
        </p:txBody>
      </p:sp>
      <p:sp>
        <p:nvSpPr>
          <p:cNvPr id="100" name="PC0"/>
          <p:cNvSpPr/>
          <p:nvPr/>
        </p:nvSpPr>
        <p:spPr>
          <a:xfrm>
            <a:off x="2692400" y="8382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PA0"/>
          <p:cNvSpPr/>
          <p:nvPr/>
        </p:nvSpPr>
        <p:spPr>
          <a:xfrm>
            <a:off x="2692400" y="8382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L0"/>
          <p:cNvSpPr/>
          <p:nvPr/>
        </p:nvSpPr>
        <p:spPr>
          <a:xfrm>
            <a:off x="2895600" y="965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DATA MODEL</a:t>
            </a:r>
          </a:p>
        </p:txBody>
      </p:sp>
      <p:sp>
        <p:nvSpPr>
          <p:cNvPr id="103" name="PT0"/>
          <p:cNvSpPr/>
          <p:nvPr/>
        </p:nvSpPr>
        <p:spPr>
          <a:xfrm>
            <a:off x="2895600" y="11684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No Compatibility Model</a:t>
            </a:r>
          </a:p>
        </p:txBody>
      </p:sp>
      <p:sp>
        <p:nvSpPr>
          <p:cNvPr id="104" name="PD0"/>
          <p:cNvSpPr/>
          <p:nvPr/>
        </p:nvSpPr>
        <p:spPr>
          <a:xfrm>
            <a:off x="2895600" y="14478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Rules governing which covers, inserts, and components work together are implicit — not encoded as data relationships</a:t>
            </a:r>
          </a:p>
        </p:txBody>
      </p:sp>
      <p:sp>
        <p:nvSpPr>
          <p:cNvPr id="110" name="PC1"/>
          <p:cNvSpPr/>
          <p:nvPr/>
        </p:nvSpPr>
        <p:spPr>
          <a:xfrm>
            <a:off x="2692400" y="21336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PA1"/>
          <p:cNvSpPr/>
          <p:nvPr/>
        </p:nvSpPr>
        <p:spPr>
          <a:xfrm>
            <a:off x="2692400" y="21336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PL1"/>
          <p:cNvSpPr/>
          <p:nvPr/>
        </p:nvSpPr>
        <p:spPr>
          <a:xfrm>
            <a:off x="2895600" y="2260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INFRASTRUCTURE</a:t>
            </a:r>
          </a:p>
        </p:txBody>
      </p:sp>
      <p:sp>
        <p:nvSpPr>
          <p:cNvPr id="113" name="PT1"/>
          <p:cNvSpPr/>
          <p:nvPr/>
        </p:nvSpPr>
        <p:spPr>
          <a:xfrm>
            <a:off x="2895600" y="24638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Fragmented Source Systems</a:t>
            </a:r>
          </a:p>
        </p:txBody>
      </p:sp>
      <p:sp>
        <p:nvSpPr>
          <p:cNvPr id="114" name="PD1"/>
          <p:cNvSpPr/>
          <p:nvPr/>
        </p:nvSpPr>
        <p:spPr>
          <a:xfrm>
            <a:off x="2895600" y="27432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Product data is distributed across up to 3 backends with no unified transformation pipeline, no canonical taxonomy</a:t>
            </a:r>
          </a:p>
        </p:txBody>
      </p:sp>
      <p:sp>
        <p:nvSpPr>
          <p:cNvPr id="120" name="PC2"/>
          <p:cNvSpPr/>
          <p:nvPr/>
        </p:nvSpPr>
        <p:spPr>
          <a:xfrm>
            <a:off x="2692400" y="34290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PA2"/>
          <p:cNvSpPr/>
          <p:nvPr/>
        </p:nvSpPr>
        <p:spPr>
          <a:xfrm>
            <a:off x="2692400" y="34290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PL2"/>
          <p:cNvSpPr/>
          <p:nvPr/>
        </p:nvSpPr>
        <p:spPr>
          <a:xfrm>
            <a:off x="2895600" y="35560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8AC542"/>
                </a:solidFill>
                <a:latin typeface="Calibri"/>
              </a:rPr>
              <a:t>CHANNELS</a:t>
            </a:r>
          </a:p>
        </p:txBody>
      </p:sp>
      <p:sp>
        <p:nvSpPr>
          <p:cNvPr id="123" name="PT2"/>
          <p:cNvSpPr/>
          <p:nvPr/>
        </p:nvSpPr>
        <p:spPr>
          <a:xfrm>
            <a:off x="2895600" y="37592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No Real-Time Orchestration</a:t>
            </a:r>
          </a:p>
        </p:txBody>
      </p:sp>
      <p:sp>
        <p:nvSpPr>
          <p:cNvPr id="124" name="PD2"/>
          <p:cNvSpPr/>
          <p:nvPr/>
        </p:nvSpPr>
        <p:spPr>
          <a:xfrm>
            <a:off x="2895600" y="40386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Config validation, BOM explosion, and wizard step logic have no API-first orchestration layer to serve channels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8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Meet the Teams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_Conscia"/>
          <p:cNvSpPr/>
          <p:nvPr/>
        </p:nvSpPr>
        <p:spPr>
          <a:xfrm>
            <a:off x="3556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_Conscia"/>
          <p:cNvSpPr/>
          <p:nvPr/>
        </p:nvSpPr>
        <p:spPr>
          <a:xfrm>
            <a:off x="3556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Name_Conscia"/>
          <p:cNvSpPr/>
          <p:nvPr/>
        </p:nvSpPr>
        <p:spPr>
          <a:xfrm>
            <a:off x="533400" y="965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EB1A63"/>
                </a:solidFill>
                <a:latin typeface="Calibri"/>
              </a:rPr>
              <a:t>Conscia</a:t>
            </a:r>
          </a:p>
        </p:txBody>
      </p:sp>
      <p:sp>
        <p:nvSpPr>
          <p:cNvPr id="103" name="Av_M"/>
          <p:cNvSpPr/>
          <p:nvPr/>
        </p:nvSpPr>
        <p:spPr>
          <a:xfrm>
            <a:off x="533400" y="13970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M</a:t>
            </a:r>
          </a:p>
        </p:txBody>
      </p:sp>
      <p:sp>
        <p:nvSpPr>
          <p:cNvPr id="104" name="Mem_M"/>
          <p:cNvSpPr/>
          <p:nvPr/>
        </p:nvSpPr>
        <p:spPr>
          <a:xfrm>
            <a:off x="914400" y="12954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Morgan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Project Manager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morgan@conscia.co</a:t>
            </a:r>
          </a:p>
        </p:txBody>
      </p:sp>
      <p:sp>
        <p:nvSpPr>
          <p:cNvPr id="105" name="Av_D"/>
          <p:cNvSpPr/>
          <p:nvPr/>
        </p:nvSpPr>
        <p:spPr>
          <a:xfrm>
            <a:off x="533400" y="31496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D</a:t>
            </a:r>
          </a:p>
        </p:txBody>
      </p:sp>
      <p:sp>
        <p:nvSpPr>
          <p:cNvPr id="106" name="Mem_D"/>
          <p:cNvSpPr/>
          <p:nvPr/>
        </p:nvSpPr>
        <p:spPr>
          <a:xfrm>
            <a:off x="914400" y="3048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David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Solution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david@conscia.co</a:t>
            </a:r>
          </a:p>
        </p:txBody>
      </p:sp>
      <p:sp>
        <p:nvSpPr>
          <p:cNvPr id="107" name="Av_L"/>
          <p:cNvSpPr/>
          <p:nvPr/>
        </p:nvSpPr>
        <p:spPr>
          <a:xfrm>
            <a:off x="533400" y="25654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L</a:t>
            </a:r>
          </a:p>
        </p:txBody>
      </p:sp>
      <p:sp>
        <p:nvSpPr>
          <p:cNvPr id="108" name="Mem_L"/>
          <p:cNvSpPr/>
          <p:nvPr/>
        </p:nvSpPr>
        <p:spPr>
          <a:xfrm>
            <a:off x="914400" y="24638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Laurel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Solution Engineer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laurel@conscia.ai</a:t>
            </a:r>
          </a:p>
        </p:txBody>
      </p:sp>
      <p:sp>
        <p:nvSpPr>
          <p:cNvPr id="109" name="Av_S"/>
          <p:cNvSpPr/>
          <p:nvPr/>
        </p:nvSpPr>
        <p:spPr>
          <a:xfrm>
            <a:off x="533400" y="19812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S</a:t>
            </a:r>
          </a:p>
        </p:txBody>
      </p:sp>
      <p:sp>
        <p:nvSpPr>
          <p:cNvPr id="110" name="Mem_S"/>
          <p:cNvSpPr/>
          <p:nvPr/>
        </p:nvSpPr>
        <p:spPr>
          <a:xfrm>
            <a:off x="914400" y="18796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Sana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Product Owner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sana@conscia.ai</a:t>
            </a:r>
          </a:p>
        </p:txBody>
      </p:sp>
      <p:sp>
        <p:nvSpPr>
          <p:cNvPr id="111" name="Card_Lovesac"/>
          <p:cNvSpPr/>
          <p:nvPr/>
        </p:nvSpPr>
        <p:spPr>
          <a:xfrm>
            <a:off x="46990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Acc_Lovesac"/>
          <p:cNvSpPr/>
          <p:nvPr/>
        </p:nvSpPr>
        <p:spPr>
          <a:xfrm>
            <a:off x="46990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Name_Lovesac"/>
          <p:cNvSpPr/>
          <p:nvPr/>
        </p:nvSpPr>
        <p:spPr>
          <a:xfrm>
            <a:off x="4876800" y="9652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07BCD6"/>
                </a:solidFill>
                <a:latin typeface="Calibri"/>
              </a:rPr>
              <a:t>Lovesac</a:t>
            </a:r>
          </a:p>
        </p:txBody>
      </p:sp>
      <p:sp>
        <p:nvSpPr>
          <p:cNvPr id="114" name="Av_A"/>
          <p:cNvSpPr/>
          <p:nvPr/>
        </p:nvSpPr>
        <p:spPr>
          <a:xfrm>
            <a:off x="4876800" y="17526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A</a:t>
            </a:r>
          </a:p>
        </p:txBody>
      </p:sp>
      <p:sp>
        <p:nvSpPr>
          <p:cNvPr id="115" name="Mem_A"/>
          <p:cNvSpPr/>
          <p:nvPr/>
        </p:nvSpPr>
        <p:spPr>
          <a:xfrm>
            <a:off x="5257800" y="1651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Amelia Jacobs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VP, Customer Experience &amp; IT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ameliajacobs@lovesac.com</a:t>
            </a:r>
          </a:p>
        </p:txBody>
      </p:sp>
      <p:sp>
        <p:nvSpPr>
          <p:cNvPr id="116" name="Av_T"/>
          <p:cNvSpPr/>
          <p:nvPr/>
        </p:nvSpPr>
        <p:spPr>
          <a:xfrm>
            <a:off x="4876800" y="23368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T</a:t>
            </a:r>
          </a:p>
        </p:txBody>
      </p:sp>
      <p:sp>
        <p:nvSpPr>
          <p:cNvPr id="117" name="Mem_T"/>
          <p:cNvSpPr/>
          <p:nvPr/>
        </p:nvSpPr>
        <p:spPr>
          <a:xfrm>
            <a:off x="5257800" y="22352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Tate Swanson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Domain Data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tateswanson@lovesac.com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0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GB" sz="2400" b="1" dirty="0" err="1">
                <a:solidFill>
                  <a:srgbClr val="111827"/>
                </a:solidFill>
                <a:latin typeface="Calibri"/>
              </a:rPr>
              <a:t>Conscia</a:t>
            </a:r>
            <a:r>
              <a:rPr lang="en-GB" sz="2400" b="1" dirty="0">
                <a:solidFill>
                  <a:srgbClr val="111827"/>
                </a:solidFill>
                <a:latin typeface="Calibri"/>
              </a:rPr>
              <a:t> Platform Overview</a:t>
            </a:r>
            <a:endParaRPr lang="en-US"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anner"/>
          <p:cNvSpPr/>
          <p:nvPr/>
        </p:nvSpPr>
        <p:spPr>
          <a:xfrm>
            <a:off x="355600" y="787400"/>
            <a:ext cx="84328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CONSCIA: BEYOND TRADITIONAL PIM  —  A GOVERNED SEMANTIC FOUNDATION FOR COMMERCE</a:t>
            </a:r>
          </a:p>
        </p:txBody>
      </p:sp>
      <p:sp>
        <p:nvSpPr>
          <p:cNvPr id="100" name="C0"/>
          <p:cNvSpPr/>
          <p:nvPr/>
        </p:nvSpPr>
        <p:spPr>
          <a:xfrm>
            <a:off x="355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0"/>
          <p:cNvSpPr/>
          <p:nvPr/>
        </p:nvSpPr>
        <p:spPr>
          <a:xfrm>
            <a:off x="355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0"/>
          <p:cNvSpPr/>
          <p:nvPr/>
        </p:nvSpPr>
        <p:spPr>
          <a:xfrm>
            <a:off x="508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01  SEMANTIC FOUNDATION</a:t>
            </a:r>
          </a:p>
        </p:txBody>
      </p:sp>
      <p:sp>
        <p:nvSpPr>
          <p:cNvPr id="103" name="CT0"/>
          <p:cNvSpPr/>
          <p:nvPr/>
        </p:nvSpPr>
        <p:spPr>
          <a:xfrm>
            <a:off x="508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Graph</a:t>
            </a:r>
          </a:p>
        </p:txBody>
      </p:sp>
      <p:sp>
        <p:nvSpPr>
          <p:cNvPr id="104" name="CD0"/>
          <p:cNvSpPr/>
          <p:nvPr/>
        </p:nvSpPr>
        <p:spPr>
          <a:xfrm>
            <a:off x="508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B0"/>
          <p:cNvSpPr/>
          <p:nvPr/>
        </p:nvSpPr>
        <p:spPr>
          <a:xfrm>
            <a:off x="508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Product master with unified schema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Semantic relationships between entities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Version-controlled, governed data layer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Foundation for AI-ready product data</a:t>
            </a:r>
          </a:p>
        </p:txBody>
      </p:sp>
      <p:sp>
        <p:nvSpPr>
          <p:cNvPr id="110" name="C1"/>
          <p:cNvSpPr/>
          <p:nvPr/>
        </p:nvSpPr>
        <p:spPr>
          <a:xfrm>
            <a:off x="32131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1"/>
          <p:cNvSpPr/>
          <p:nvPr/>
        </p:nvSpPr>
        <p:spPr>
          <a:xfrm>
            <a:off x="32131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1"/>
          <p:cNvSpPr/>
          <p:nvPr/>
        </p:nvSpPr>
        <p:spPr>
          <a:xfrm>
            <a:off x="33655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02  RULES ENGINE</a:t>
            </a:r>
          </a:p>
        </p:txBody>
      </p:sp>
      <p:sp>
        <p:nvSpPr>
          <p:cNvPr id="113" name="CT1"/>
          <p:cNvSpPr/>
          <p:nvPr/>
        </p:nvSpPr>
        <p:spPr>
          <a:xfrm>
            <a:off x="33655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Engine</a:t>
            </a:r>
          </a:p>
        </p:txBody>
      </p:sp>
      <p:sp>
        <p:nvSpPr>
          <p:cNvPr id="114" name="CD1"/>
          <p:cNvSpPr/>
          <p:nvPr/>
        </p:nvSpPr>
        <p:spPr>
          <a:xfrm>
            <a:off x="33655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B1"/>
          <p:cNvSpPr/>
          <p:nvPr/>
        </p:nvSpPr>
        <p:spPr>
          <a:xfrm>
            <a:off x="33655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Real-time orchestration of business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Zero-code configuration interface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Eligibility, pricing, and content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Deterministic + AI-powered decisioning</a:t>
            </a:r>
          </a:p>
        </p:txBody>
      </p:sp>
      <p:sp>
        <p:nvSpPr>
          <p:cNvPr id="120" name="C2"/>
          <p:cNvSpPr/>
          <p:nvPr/>
        </p:nvSpPr>
        <p:spPr>
          <a:xfrm>
            <a:off x="6070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2"/>
          <p:cNvSpPr/>
          <p:nvPr/>
        </p:nvSpPr>
        <p:spPr>
          <a:xfrm>
            <a:off x="6070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2"/>
          <p:cNvSpPr/>
          <p:nvPr/>
        </p:nvSpPr>
        <p:spPr>
          <a:xfrm>
            <a:off x="6223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8AC542"/>
                </a:solidFill>
                <a:latin typeface="Calibri"/>
              </a:rPr>
              <a:t>03  EXPERIENCE APIs</a:t>
            </a:r>
          </a:p>
        </p:txBody>
      </p:sp>
      <p:sp>
        <p:nvSpPr>
          <p:cNvPr id="123" name="CT2"/>
          <p:cNvSpPr/>
          <p:nvPr/>
        </p:nvSpPr>
        <p:spPr>
          <a:xfrm>
            <a:off x="6223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Real-Time APIs</a:t>
            </a:r>
          </a:p>
        </p:txBody>
      </p:sp>
      <p:sp>
        <p:nvSpPr>
          <p:cNvPr id="124" name="CD2"/>
          <p:cNvSpPr/>
          <p:nvPr/>
        </p:nvSpPr>
        <p:spPr>
          <a:xfrm>
            <a:off x="6223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B2"/>
          <p:cNvSpPr/>
          <p:nvPr/>
        </p:nvSpPr>
        <p:spPr>
          <a:xfrm>
            <a:off x="6223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One API for every channel and agent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Consistent responses across touchpoints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Sub-second response times at edge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No frontend glue code required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9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709576-DD4D-1AF2-981A-4FCB69D441E4}"/>
              </a:ext>
            </a:extLst>
          </p:cNvPr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53246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ub"/>
          <p:cNvSpPr/>
          <p:nvPr/>
        </p:nvSpPr>
        <p:spPr>
          <a:xfrm>
            <a:off x="355600" y="762000"/>
            <a:ext cx="8432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Two complementary platform capabilities that together make Conscia the governed product master for Lovesac.</a:t>
            </a:r>
          </a:p>
        </p:txBody>
      </p:sp>
      <p:sp>
        <p:nvSpPr>
          <p:cNvPr id="100" name="CC0"/>
          <p:cNvSpPr/>
          <p:nvPr/>
        </p:nvSpPr>
        <p:spPr>
          <a:xfrm>
            <a:off x="3556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CA0"/>
          <p:cNvSpPr/>
          <p:nvPr/>
        </p:nvSpPr>
        <p:spPr>
          <a:xfrm>
            <a:off x="3556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L0"/>
          <p:cNvSpPr/>
          <p:nvPr/>
        </p:nvSpPr>
        <p:spPr>
          <a:xfrm>
            <a:off x="5334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CT0"/>
          <p:cNvSpPr/>
          <p:nvPr/>
        </p:nvSpPr>
        <p:spPr>
          <a:xfrm>
            <a:off x="5334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Governed Product Data Layer</a:t>
            </a:r>
          </a:p>
        </p:txBody>
      </p:sp>
      <p:sp>
        <p:nvSpPr>
          <p:cNvPr id="104" name="CTag0"/>
          <p:cNvSpPr/>
          <p:nvPr/>
        </p:nvSpPr>
        <p:spPr>
          <a:xfrm>
            <a:off x="5334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is true?"</a:t>
            </a:r>
          </a:p>
        </p:txBody>
      </p:sp>
      <p:sp>
        <p:nvSpPr>
          <p:cNvPr id="105" name="CD0"/>
          <p:cNvSpPr/>
          <p:nvPr/>
        </p:nvSpPr>
        <p:spPr>
          <a:xfrm>
            <a:off x="5334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B0"/>
          <p:cNvSpPr/>
          <p:nvPr/>
        </p:nvSpPr>
        <p:spPr>
          <a:xfrm>
            <a:off x="5334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SKU Collection — all brands, lines, and roles in one graph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Compatibility relationships: Cover → Insert (dynamic), Finished Good composition, Taxonomy mappings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Up to 3 parallel Taxonomy hierarchies for merchandising, navigation, and filtering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Governed, version-controlled data layer for AI-ready product data</a:t>
            </a:r>
          </a:p>
        </p:txBody>
      </p:sp>
      <p:sp>
        <p:nvSpPr>
          <p:cNvPr id="110" name="CC1"/>
          <p:cNvSpPr/>
          <p:nvPr/>
        </p:nvSpPr>
        <p:spPr>
          <a:xfrm>
            <a:off x="46990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CA1"/>
          <p:cNvSpPr/>
          <p:nvPr/>
        </p:nvSpPr>
        <p:spPr>
          <a:xfrm>
            <a:off x="46990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L1"/>
          <p:cNvSpPr/>
          <p:nvPr/>
        </p:nvSpPr>
        <p:spPr>
          <a:xfrm>
            <a:off x="48768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DX ENGINE</a:t>
            </a:r>
          </a:p>
        </p:txBody>
      </p:sp>
      <p:sp>
        <p:nvSpPr>
          <p:cNvPr id="113" name="CT1"/>
          <p:cNvSpPr/>
          <p:nvPr/>
        </p:nvSpPr>
        <p:spPr>
          <a:xfrm>
            <a:off x="48768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Real-Time Orchestration Layer</a:t>
            </a:r>
          </a:p>
        </p:txBody>
      </p:sp>
      <p:sp>
        <p:nvSpPr>
          <p:cNvPr id="114" name="CTag1"/>
          <p:cNvSpPr/>
          <p:nvPr/>
        </p:nvSpPr>
        <p:spPr>
          <a:xfrm>
            <a:off x="48768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should happen?"</a:t>
            </a:r>
          </a:p>
        </p:txBody>
      </p:sp>
      <p:sp>
        <p:nvSpPr>
          <p:cNvPr id="115" name="CD1"/>
          <p:cNvSpPr/>
          <p:nvPr/>
        </p:nvSpPr>
        <p:spPr>
          <a:xfrm>
            <a:off x="48768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B1"/>
          <p:cNvSpPr/>
          <p:nvPr/>
        </p:nvSpPr>
        <p:spPr>
          <a:xfrm>
            <a:off x="48768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validation: which components go together, in what quantity, at what price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Wizard-step orchestration: dynamic filtering of options based on prior selections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BOM explosion: breaking finished goods into shippable components in real-time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One Experience API serving POS, web, agents, and feeds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End-to-End Architecture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ier0"/>
          <p:cNvSpPr/>
          <p:nvPr/>
        </p:nvSpPr>
        <p:spPr>
          <a:xfrm>
            <a:off x="381000" y="838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A0"/>
          <p:cNvSpPr/>
          <p:nvPr/>
        </p:nvSpPr>
        <p:spPr>
          <a:xfrm>
            <a:off x="381000" y="838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L0"/>
          <p:cNvSpPr/>
          <p:nvPr/>
        </p:nvSpPr>
        <p:spPr>
          <a:xfrm>
            <a:off x="584200" y="914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9CA3AF"/>
                </a:solidFill>
                <a:latin typeface="Calibri"/>
              </a:rPr>
              <a:t>SOURCE BACKENDS</a:t>
            </a:r>
          </a:p>
        </p:txBody>
      </p:sp>
      <p:sp>
        <p:nvSpPr>
          <p:cNvPr id="103" name="TD0"/>
          <p:cNvSpPr/>
          <p:nvPr/>
        </p:nvSpPr>
        <p:spPr>
          <a:xfrm>
            <a:off x="584200" y="1143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Batch feeds · API pulls · File ingestion via Data Buckets — with transformation ${escapeXml('&amp;')} normalisation via Jobs</a:t>
            </a:r>
          </a:p>
        </p:txBody>
      </p:sp>
      <p:sp>
        <p:nvSpPr>
          <p:cNvPr id="104" name="Ar0"/>
          <p:cNvSpPr/>
          <p:nvPr/>
        </p:nvSpPr>
        <p:spPr>
          <a:xfrm>
            <a:off x="4508500" y="1562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ier1"/>
          <p:cNvSpPr/>
          <p:nvPr/>
        </p:nvSpPr>
        <p:spPr>
          <a:xfrm>
            <a:off x="381000" y="1790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TA1"/>
          <p:cNvSpPr/>
          <p:nvPr/>
        </p:nvSpPr>
        <p:spPr>
          <a:xfrm>
            <a:off x="381000" y="1790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L1"/>
          <p:cNvSpPr/>
          <p:nvPr/>
        </p:nvSpPr>
        <p:spPr>
          <a:xfrm>
            <a:off x="584200" y="1866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EB1A63"/>
                </a:solidFill>
                <a:latin typeface="Calibri"/>
              </a:rPr>
              <a:t>DX GRAPH — Semantic Data Layer</a:t>
            </a:r>
          </a:p>
        </p:txBody>
      </p:sp>
      <p:sp>
        <p:nvSpPr>
          <p:cNvPr id="108" name="TD1"/>
          <p:cNvSpPr/>
          <p:nvPr/>
        </p:nvSpPr>
        <p:spPr>
          <a:xfrm>
            <a:off x="584200" y="2095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Product Graph · Compatibility Rules · Taxonomy Hierarchies · Governed Entities</a:t>
            </a:r>
          </a:p>
        </p:txBody>
      </p:sp>
      <p:sp>
        <p:nvSpPr>
          <p:cNvPr id="109" name="Ar1"/>
          <p:cNvSpPr/>
          <p:nvPr/>
        </p:nvSpPr>
        <p:spPr>
          <a:xfrm>
            <a:off x="4508500" y="25146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ier2"/>
          <p:cNvSpPr/>
          <p:nvPr/>
        </p:nvSpPr>
        <p:spPr>
          <a:xfrm>
            <a:off x="381000" y="2743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A2"/>
          <p:cNvSpPr/>
          <p:nvPr/>
        </p:nvSpPr>
        <p:spPr>
          <a:xfrm>
            <a:off x="381000" y="2743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L2"/>
          <p:cNvSpPr/>
          <p:nvPr/>
        </p:nvSpPr>
        <p:spPr>
          <a:xfrm>
            <a:off x="584200" y="2819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07BCD6"/>
                </a:solidFill>
                <a:latin typeface="Calibri"/>
              </a:rPr>
              <a:t>DX ENGINE — Orchestration Layer (Experience API)</a:t>
            </a:r>
          </a:p>
        </p:txBody>
      </p:sp>
      <p:sp>
        <p:nvSpPr>
          <p:cNvPr id="113" name="TD2"/>
          <p:cNvSpPr/>
          <p:nvPr/>
        </p:nvSpPr>
        <p:spPr>
          <a:xfrm>
            <a:off x="584200" y="3048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 · Wizard Step Options · Config ID Creation · BOM Explosion · Channel Feeds</a:t>
            </a:r>
          </a:p>
        </p:txBody>
      </p:sp>
      <p:sp>
        <p:nvSpPr>
          <p:cNvPr id="114" name="Ar2"/>
          <p:cNvSpPr/>
          <p:nvPr/>
        </p:nvSpPr>
        <p:spPr>
          <a:xfrm>
            <a:off x="4508500" y="3467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ier3"/>
          <p:cNvSpPr/>
          <p:nvPr/>
        </p:nvSpPr>
        <p:spPr>
          <a:xfrm>
            <a:off x="381000" y="3695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A3"/>
          <p:cNvSpPr/>
          <p:nvPr/>
        </p:nvSpPr>
        <p:spPr>
          <a:xfrm>
            <a:off x="381000" y="3695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L3"/>
          <p:cNvSpPr/>
          <p:nvPr/>
        </p:nvSpPr>
        <p:spPr>
          <a:xfrm>
            <a:off x="584200" y="3771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8AC542"/>
                </a:solidFill>
                <a:latin typeface="Calibri"/>
              </a:rPr>
              <a:t>CHANNELS</a:t>
            </a:r>
          </a:p>
        </p:txBody>
      </p:sp>
      <p:sp>
        <p:nvSpPr>
          <p:cNvPr id="118" name="TD3"/>
          <p:cNvSpPr/>
          <p:nvPr/>
        </p:nvSpPr>
        <p:spPr>
          <a:xfrm>
            <a:off x="584200" y="4000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POS Systems · Lovesac.com · On-site Shopping Agent · Google Shopping · ChatGPT / 3rd-Party AI Agents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C0"/>
          <p:cNvSpPr/>
          <p:nvPr/>
        </p:nvSpPr>
        <p:spPr>
          <a:xfrm>
            <a:off x="3302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A0"/>
          <p:cNvSpPr/>
          <p:nvPr/>
        </p:nvSpPr>
        <p:spPr>
          <a:xfrm>
            <a:off x="3302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0"/>
          <p:cNvSpPr/>
          <p:nvPr/>
        </p:nvSpPr>
        <p:spPr>
          <a:xfrm>
            <a:off x="4826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SD0"/>
          <p:cNvSpPr/>
          <p:nvPr/>
        </p:nvSpPr>
        <p:spPr>
          <a:xfrm>
            <a:off x="4826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B0"/>
          <p:cNvSpPr/>
          <p:nvPr/>
        </p:nvSpPr>
        <p:spPr>
          <a:xfrm>
            <a:off x="4826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DX Graph Application provisioning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SKU, Configuration ${escapeXml('&amp;')} Taxonomy Collections (up to 3 taxonomies)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COMPATIBLE_WITH, BUNDLES, CONTAINS, MAPS_TO relationships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Data ingest from up to 3 source backends via Jobs</a:t>
            </a:r>
          </a:p>
        </p:txBody>
      </p:sp>
      <p:sp>
        <p:nvSpPr>
          <p:cNvPr id="110" name="SC1"/>
          <p:cNvSpPr/>
          <p:nvPr/>
        </p:nvSpPr>
        <p:spPr>
          <a:xfrm>
            <a:off x="32131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A1"/>
          <p:cNvSpPr/>
          <p:nvPr/>
        </p:nvSpPr>
        <p:spPr>
          <a:xfrm>
            <a:off x="32131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1"/>
          <p:cNvSpPr/>
          <p:nvPr/>
        </p:nvSpPr>
        <p:spPr>
          <a:xfrm>
            <a:off x="33655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07BCD6"/>
                </a:solidFill>
                <a:latin typeface="Calibri"/>
              </a:rPr>
              <a:t>DX ENGINE POC</a:t>
            </a:r>
          </a:p>
        </p:txBody>
      </p:sp>
      <p:sp>
        <p:nvSpPr>
          <p:cNvPr id="113" name="SD1"/>
          <p:cNvSpPr/>
          <p:nvPr/>
        </p:nvSpPr>
        <p:spPr>
          <a:xfrm>
            <a:off x="33655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B1"/>
          <p:cNvSpPr/>
          <p:nvPr/>
        </p:nvSpPr>
        <p:spPr>
          <a:xfrm>
            <a:off x="33655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Configuration Validation orchestration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Visual Configurator wizard step options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Creation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→ BOM Explosion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Experience Rules for series ${escapeXml('&amp;')} channel constraints</a:t>
            </a:r>
          </a:p>
        </p:txBody>
      </p:sp>
      <p:sp>
        <p:nvSpPr>
          <p:cNvPr id="120" name="SC2"/>
          <p:cNvSpPr/>
          <p:nvPr/>
        </p:nvSpPr>
        <p:spPr>
          <a:xfrm>
            <a:off x="60960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A2"/>
          <p:cNvSpPr/>
          <p:nvPr/>
        </p:nvSpPr>
        <p:spPr>
          <a:xfrm>
            <a:off x="60960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2"/>
          <p:cNvSpPr/>
          <p:nvPr/>
        </p:nvSpPr>
        <p:spPr>
          <a:xfrm>
            <a:off x="62484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9CA3AF"/>
                </a:solidFill>
                <a:latin typeface="Calibri"/>
              </a:rPr>
              <a:t>OUT OF SCOPE — PHASE 1</a:t>
            </a:r>
          </a:p>
        </p:txBody>
      </p:sp>
      <p:sp>
        <p:nvSpPr>
          <p:cNvPr id="123" name="SD2"/>
          <p:cNvSpPr/>
          <p:nvPr/>
        </p:nvSpPr>
        <p:spPr>
          <a:xfrm>
            <a:off x="62484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B2"/>
          <p:cNvSpPr/>
          <p:nvPr/>
        </p:nvSpPr>
        <p:spPr>
          <a:xfrm>
            <a:off x="62484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Lovesac.com frontend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Real-time inventory availability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Full agentic channel (MCP) production deployment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Pricing engine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OMS / fulfilment system integration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Collections, Hierarchies, Taxonomies</a:t>
            </a:r>
          </a:p>
        </p:txBody>
      </p:sp>
      <p:sp>
        <p:nvSpPr>
          <p:cNvPr id="4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6B7280"/>
                </a:solidFill>
              </a:rPr>
              <a:t>High-level explanation of DX Graph collection types and how they connect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1BG"/>
          <p:cNvSpPr/>
          <p:nvPr/>
        </p:nvSpPr>
        <p:spPr>
          <a:xfrm>
            <a:off x="254000" y="914400"/>
            <a:ext cx="4191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Accent"/>
          <p:cNvSpPr/>
          <p:nvPr/>
        </p:nvSpPr>
        <p:spPr>
          <a:xfrm>
            <a:off x="254000" y="914400"/>
            <a:ext cx="4191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Text"/>
          <p:cNvSpPr/>
          <p:nvPr/>
        </p:nvSpPr>
        <p:spPr>
          <a:xfrm>
            <a:off x="355600" y="1016000"/>
            <a:ext cx="3987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</a:rPr>
              <a:t>Collections  </a:t>
            </a:r>
            <a:r>
              <a:rPr lang="en-US" sz="1000" dirty="0">
                <a:solidFill>
                  <a:srgbClr val="374151"/>
                </a:solidFill>
              </a:rPr>
              <a:t>are the foundation and hold data based on the data model configured.</a:t>
            </a:r>
          </a:p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</a:rPr>
              <a:t>Relationships  </a:t>
            </a:r>
            <a:r>
              <a:rPr lang="en-US" sz="1000" dirty="0">
                <a:solidFill>
                  <a:srgbClr val="374151"/>
                </a:solidFill>
              </a:rPr>
              <a:t>connect collections together. A 1:1 lookup maps a single record to exactly one record elsewhere. A 1:Many lookup links one record to multiple targets. Dynamic relationships use expressions to create links between otherwise unrelated records.</a:t>
            </a:r>
          </a:p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</a:rPr>
              <a:t>Hierarchies  </a:t>
            </a:r>
            <a:r>
              <a:rPr lang="en-US" sz="1000" dirty="0">
                <a:solidFill>
                  <a:srgbClr val="374151"/>
                </a:solidFill>
              </a:rPr>
              <a:t>are special collections where records can have a parent record, building a tree structure. Hierarchy paths recalculate automatically in real time whenever a record is moved.</a:t>
            </a:r>
          </a:p>
        </p:txBody>
      </p:sp>
      <p:sp>
        <p:nvSpPr>
          <p:cNvPr id="20" name="Card2BG"/>
          <p:cNvSpPr/>
          <p:nvPr/>
        </p:nvSpPr>
        <p:spPr>
          <a:xfrm>
            <a:off x="4572000" y="914400"/>
            <a:ext cx="4318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Accent"/>
          <p:cNvSpPr/>
          <p:nvPr/>
        </p:nvSpPr>
        <p:spPr>
          <a:xfrm>
            <a:off x="4572000" y="914400"/>
            <a:ext cx="4318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Text"/>
          <p:cNvSpPr/>
          <p:nvPr/>
        </p:nvSpPr>
        <p:spPr>
          <a:xfrm>
            <a:off x="4673600" y="1016000"/>
            <a:ext cx="4114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F8981D"/>
                </a:solidFill>
              </a:rPr>
              <a:t>Taxonomies  </a:t>
            </a:r>
            <a:r>
              <a:rPr lang="en-US" sz="1000" dirty="0">
                <a:solidFill>
                  <a:srgbClr val="374151"/>
                </a:solidFill>
              </a:rPr>
              <a:t>layer on top of collections to tag records dynamically. A standard Taxonomy collection holds labeling rules and applies them to a target collection.</a:t>
            </a:r>
          </a:p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</a:rPr>
              <a:t>Hierarchical Taxonomy  </a:t>
            </a:r>
            <a:r>
              <a:rPr lang="en-US" sz="1000" dirty="0">
                <a:solidFill>
                  <a:srgbClr val="374151"/>
                </a:solidFill>
              </a:rPr>
              <a:t>takes this further: when a Hierarchy is also set as a Taxonomy, records get tagged with the full hierarchy path (e.g. A &gt; B &gt; C), enabling implicit relationships and path-aware querying.</a:t>
            </a:r>
          </a:p>
          <a:p>
            <a:pPr>
              <a:buNone/>
            </a:pPr>
            <a:r>
              <a:rPr lang="en-US" sz="950" i="1" dirty="0">
                <a:solidFill>
                  <a:srgbClr val="9CA3AF"/>
                </a:solidFill>
              </a:rPr>
              <a:t>Walkthrough of what has been implemented so far</a:t>
            </a:r>
          </a:p>
        </p:txBody>
      </p:sp>
      <p:sp>
        <p:nvSpPr>
          <p:cNvPr id="3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3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4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Implementation Timeline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1BG"/>
          <p:cNvSpPr/>
          <p:nvPr/>
        </p:nvSpPr>
        <p:spPr>
          <a:xfrm>
            <a:off x="2540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Phase1Accent"/>
          <p:cNvSpPr/>
          <p:nvPr/>
        </p:nvSpPr>
        <p:spPr>
          <a:xfrm>
            <a:off x="2540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hase1Text"/>
          <p:cNvSpPr/>
          <p:nvPr/>
        </p:nvSpPr>
        <p:spPr>
          <a:xfrm>
            <a:off x="3556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B1A63"/>
                </a:solidFill>
              </a:rPr>
              <a:t>PHASE 1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1–3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Foundation &amp; Data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Provision DX Graph environment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SKU &amp; Configuration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Configure data ingest Jobs (3 backends)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COMPATIBLE_WITH Dynamic Relationship</a:t>
            </a:r>
          </a:p>
        </p:txBody>
      </p:sp>
      <p:sp>
        <p:nvSpPr>
          <p:cNvPr id="13" name="Phase2BG"/>
          <p:cNvSpPr/>
          <p:nvPr/>
        </p:nvSpPr>
        <p:spPr>
          <a:xfrm>
            <a:off x="23876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Phase2Accent"/>
          <p:cNvSpPr/>
          <p:nvPr/>
        </p:nvSpPr>
        <p:spPr>
          <a:xfrm>
            <a:off x="23876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hase2Text"/>
          <p:cNvSpPr/>
          <p:nvPr/>
        </p:nvSpPr>
        <p:spPr>
          <a:xfrm>
            <a:off x="24892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07BCD6"/>
                </a:solidFill>
              </a:rPr>
              <a:t>PHASE 2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4–6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Taxonomy &amp;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3 Taxonomy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Map all SKUs to taxonomies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Update 2 marketplace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Validate data completeness</a:t>
            </a:r>
          </a:p>
        </p:txBody>
      </p:sp>
      <p:sp>
        <p:nvSpPr>
          <p:cNvPr id="16" name="Phase3BG"/>
          <p:cNvSpPr/>
          <p:nvPr/>
        </p:nvSpPr>
        <p:spPr>
          <a:xfrm>
            <a:off x="45212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Phase3Accent"/>
          <p:cNvSpPr/>
          <p:nvPr/>
        </p:nvSpPr>
        <p:spPr>
          <a:xfrm>
            <a:off x="45212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hase3Text"/>
          <p:cNvSpPr/>
          <p:nvPr/>
        </p:nvSpPr>
        <p:spPr>
          <a:xfrm>
            <a:off x="46228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8AC542"/>
                </a:solidFill>
              </a:rPr>
              <a:t>PHASE 3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7–10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DX Engine POC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Validation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Wizard Step Options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ID Creation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BOM Explosion flow</a:t>
            </a:r>
          </a:p>
        </p:txBody>
      </p:sp>
      <p:sp>
        <p:nvSpPr>
          <p:cNvPr id="19" name="Phase4BG"/>
          <p:cNvSpPr/>
          <p:nvPr/>
        </p:nvSpPr>
        <p:spPr>
          <a:xfrm>
            <a:off x="66548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Phase4Accent"/>
          <p:cNvSpPr/>
          <p:nvPr/>
        </p:nvSpPr>
        <p:spPr>
          <a:xfrm>
            <a:off x="66548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4Text"/>
          <p:cNvSpPr/>
          <p:nvPr/>
        </p:nvSpPr>
        <p:spPr>
          <a:xfrm>
            <a:off x="67564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458CCB"/>
                </a:solidFill>
              </a:rPr>
              <a:t>PHASE 4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11–12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Testing &amp; Handoff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End-to-end integration testing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Channel-specific QA (POS, web)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Documentation &amp; runbooks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Knowledge transfer to Lovesac</a:t>
            </a:r>
          </a:p>
        </p:txBody>
      </p:sp>
      <p:sp>
        <p:nvSpPr>
          <p:cNvPr id="22" name="Note"/>
          <p:cNvSpPr/>
          <p:nvPr/>
        </p:nvSpPr>
        <p:spPr>
          <a:xfrm>
            <a:off x="254000" y="4267200"/>
            <a:ext cx="863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9CA3AF"/>
                </a:solidFill>
              </a:rPr>
              <a:t>Note: Timeline is indicative. Final schedule to be agreed with Lovesac based on data readiness and open question resolution.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Team &amp; Governance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amCardBG"/>
          <p:cNvSpPr/>
          <p:nvPr/>
        </p:nvSpPr>
        <p:spPr>
          <a:xfrm>
            <a:off x="254000" y="914400"/>
            <a:ext cx="5334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amAccent"/>
          <p:cNvSpPr/>
          <p:nvPr/>
        </p:nvSpPr>
        <p:spPr>
          <a:xfrm>
            <a:off x="254000" y="914400"/>
            <a:ext cx="5334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amLabel"/>
          <p:cNvSpPr/>
          <p:nvPr/>
        </p:nvSpPr>
        <p:spPr>
          <a:xfrm>
            <a:off x="355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EB1A63"/>
                </a:solidFill>
              </a:rPr>
              <a:t>TEAM STRUCTURE</a:t>
            </a:r>
          </a:p>
        </p:txBody>
      </p:sp>
      <p:graphicFrame>
        <p:nvGraphicFramePr>
          <p:cNvPr id="9" name="TeamTable"/>
          <p:cNvGraphicFramePr>
            <a:graphicFrameLocks noGrp="1"/>
          </p:cNvGraphicFramePr>
          <p:nvPr/>
        </p:nvGraphicFramePr>
        <p:xfrm>
          <a:off x="355600" y="1219200"/>
          <a:ext cx="5029200" cy="2133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Conscia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Lovesac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Executive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Amelia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Project Lead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Morgan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PM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Engineer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Data Owner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Platform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Harshil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Tech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QA / Testing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Laurel/Harshil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QA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CadCardBG"/>
          <p:cNvSpPr/>
          <p:nvPr/>
        </p:nvSpPr>
        <p:spPr>
          <a:xfrm>
            <a:off x="5715000" y="914400"/>
            <a:ext cx="3175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adAccent"/>
          <p:cNvSpPr/>
          <p:nvPr/>
        </p:nvSpPr>
        <p:spPr>
          <a:xfrm>
            <a:off x="5715000" y="914400"/>
            <a:ext cx="3175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dLabel"/>
          <p:cNvSpPr/>
          <p:nvPr/>
        </p:nvSpPr>
        <p:spPr>
          <a:xfrm>
            <a:off x="5816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07BCD6"/>
                </a:solidFill>
              </a:rPr>
              <a:t>WORKING CADENCE</a:t>
            </a:r>
          </a:p>
        </p:txBody>
      </p:sp>
      <p:sp>
        <p:nvSpPr>
          <p:cNvPr id="50" name="Cad0BG"/>
          <p:cNvSpPr/>
          <p:nvPr/>
        </p:nvSpPr>
        <p:spPr>
          <a:xfrm>
            <a:off x="5715000" y="10414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d0Dot"/>
          <p:cNvSpPr/>
          <p:nvPr/>
        </p:nvSpPr>
        <p:spPr>
          <a:xfrm>
            <a:off x="5816600" y="1244600"/>
            <a:ext cx="101600" cy="101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ad0Text"/>
          <p:cNvSpPr/>
          <p:nvPr/>
        </p:nvSpPr>
        <p:spPr>
          <a:xfrm>
            <a:off x="5994400" y="10922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EB1A63"/>
                </a:solidFill>
              </a:rPr>
              <a:t>Weekly</a:t>
            </a:r>
            <a:r>
              <a:rPr lang="en-US" sz="900" b="1" dirty="0">
                <a:solidFill>
                  <a:srgbClr val="111827"/>
                </a:solidFill>
              </a:rPr>
              <a:t>  Project Standup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30 min · Both teams · Status, blockers, decisions</a:t>
            </a:r>
          </a:p>
        </p:txBody>
      </p:sp>
      <p:sp>
        <p:nvSpPr>
          <p:cNvPr id="53" name="Cad1BG"/>
          <p:cNvSpPr/>
          <p:nvPr/>
        </p:nvSpPr>
        <p:spPr>
          <a:xfrm>
            <a:off x="5715000" y="16256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ad1Dot"/>
          <p:cNvSpPr/>
          <p:nvPr/>
        </p:nvSpPr>
        <p:spPr>
          <a:xfrm>
            <a:off x="5816600" y="1828800"/>
            <a:ext cx="101600" cy="101600"/>
          </a:xfrm>
          <a:prstGeom prst="ellipse">
            <a:avLst/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ad1Text"/>
          <p:cNvSpPr/>
          <p:nvPr/>
        </p:nvSpPr>
        <p:spPr>
          <a:xfrm>
            <a:off x="5994400" y="16764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07BCD6"/>
                </a:solidFill>
              </a:rPr>
              <a:t>Bi-weekly</a:t>
            </a:r>
            <a:r>
              <a:rPr lang="en-US" sz="900" b="1" dirty="0">
                <a:solidFill>
                  <a:srgbClr val="111827"/>
                </a:solidFill>
              </a:rPr>
              <a:t>  Steering Check-in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60 min · Leads only · Scope, risks, milestones</a:t>
            </a:r>
          </a:p>
        </p:txBody>
      </p:sp>
      <p:sp>
        <p:nvSpPr>
          <p:cNvPr id="56" name="Cad2BG"/>
          <p:cNvSpPr/>
          <p:nvPr/>
        </p:nvSpPr>
        <p:spPr>
          <a:xfrm>
            <a:off x="5715000" y="22098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ad2Dot"/>
          <p:cNvSpPr/>
          <p:nvPr/>
        </p:nvSpPr>
        <p:spPr>
          <a:xfrm>
            <a:off x="5816600" y="2413000"/>
            <a:ext cx="101600" cy="101600"/>
          </a:xfrm>
          <a:prstGeom prst="ellipse">
            <a:avLst/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Cad2Text"/>
          <p:cNvSpPr/>
          <p:nvPr/>
        </p:nvSpPr>
        <p:spPr>
          <a:xfrm>
            <a:off x="5994400" y="2260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8AC542"/>
                </a:solidFill>
              </a:rPr>
              <a:t>As-needed</a:t>
            </a:r>
            <a:r>
              <a:rPr lang="en-US" sz="900" b="1" dirty="0">
                <a:solidFill>
                  <a:srgbClr val="111827"/>
                </a:solidFill>
              </a:rPr>
              <a:t>  Technical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Data model, API design, integration reviews</a:t>
            </a:r>
          </a:p>
        </p:txBody>
      </p:sp>
      <p:sp>
        <p:nvSpPr>
          <p:cNvPr id="59" name="Cad3BG"/>
          <p:cNvSpPr/>
          <p:nvPr/>
        </p:nvSpPr>
        <p:spPr>
          <a:xfrm>
            <a:off x="5715000" y="27940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ad3Dot"/>
          <p:cNvSpPr/>
          <p:nvPr/>
        </p:nvSpPr>
        <p:spPr>
          <a:xfrm>
            <a:off x="5816600" y="2997200"/>
            <a:ext cx="101600" cy="101600"/>
          </a:xfrm>
          <a:prstGeom prst="ellipse">
            <a:avLst/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ad3Text"/>
          <p:cNvSpPr/>
          <p:nvPr/>
        </p:nvSpPr>
        <p:spPr>
          <a:xfrm>
            <a:off x="5994400" y="28448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458CCB"/>
                </a:solidFill>
              </a:rPr>
              <a:t>End of Phase</a:t>
            </a:r>
            <a:r>
              <a:rPr lang="en-US" sz="900" b="1" dirty="0">
                <a:solidFill>
                  <a:srgbClr val="111827"/>
                </a:solidFill>
              </a:rPr>
              <a:t>  Phase Gate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Demo, sign-off, and next phase kick-off</a:t>
            </a:r>
          </a:p>
        </p:txBody>
      </p:sp>
      <p:sp>
        <p:nvSpPr>
          <p:cNvPr id="62" name="Cad4BG"/>
          <p:cNvSpPr/>
          <p:nvPr/>
        </p:nvSpPr>
        <p:spPr>
          <a:xfrm>
            <a:off x="5715000" y="33782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Cad4Dot"/>
          <p:cNvSpPr/>
          <p:nvPr/>
        </p:nvSpPr>
        <p:spPr>
          <a:xfrm>
            <a:off x="5816600" y="3581400"/>
            <a:ext cx="101600" cy="101600"/>
          </a:xfrm>
          <a:prstGeom prst="ellipse">
            <a:avLst/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Cad4Text"/>
          <p:cNvSpPr/>
          <p:nvPr/>
        </p:nvSpPr>
        <p:spPr>
          <a:xfrm>
            <a:off x="5994400" y="34290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F8981D"/>
                </a:solidFill>
              </a:rPr>
              <a:t>Ongoing</a:t>
            </a:r>
            <a:r>
              <a:rPr lang="en-US" sz="900" b="1" dirty="0">
                <a:solidFill>
                  <a:srgbClr val="111827"/>
                </a:solidFill>
              </a:rPr>
              <a:t>  Slack / async comms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Shared channel for day-to-day coordination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9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Open Questions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These items require Lovesac input to unlock key workstreams — we'll aim to resolve them during kick-off.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1BG"/>
          <p:cNvSpPr/>
          <p:nvPr/>
        </p:nvSpPr>
        <p:spPr>
          <a:xfrm>
            <a:off x="254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Q1Bar"/>
          <p:cNvSpPr/>
          <p:nvPr/>
        </p:nvSpPr>
        <p:spPr>
          <a:xfrm>
            <a:off x="254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Q1Badge"/>
          <p:cNvSpPr/>
          <p:nvPr/>
        </p:nvSpPr>
        <p:spPr>
          <a:xfrm>
            <a:off x="406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</a:rPr>
              <a:t>Q1</a:t>
            </a:r>
          </a:p>
        </p:txBody>
      </p:sp>
      <p:sp>
        <p:nvSpPr>
          <p:cNvPr id="13" name="Q1Text"/>
          <p:cNvSpPr/>
          <p:nvPr/>
        </p:nvSpPr>
        <p:spPr>
          <a:xfrm>
            <a:off x="863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3 source backends will be ingested?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Format (API vs. file) significantly affects implementation approach and timeline.</a:t>
            </a:r>
          </a:p>
        </p:txBody>
      </p:sp>
      <p:sp>
        <p:nvSpPr>
          <p:cNvPr id="14" name="Q2BG"/>
          <p:cNvSpPr/>
          <p:nvPr/>
        </p:nvSpPr>
        <p:spPr>
          <a:xfrm>
            <a:off x="4699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Q2Bar"/>
          <p:cNvSpPr/>
          <p:nvPr/>
        </p:nvSpPr>
        <p:spPr>
          <a:xfrm>
            <a:off x="4699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Q2Badge"/>
          <p:cNvSpPr/>
          <p:nvPr/>
        </p:nvSpPr>
        <p:spPr>
          <a:xfrm>
            <a:off x="4851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</a:rPr>
              <a:t>Q2</a:t>
            </a:r>
          </a:p>
        </p:txBody>
      </p:sp>
      <p:sp>
        <p:nvSpPr>
          <p:cNvPr id="17" name="Q2Text"/>
          <p:cNvSpPr/>
          <p:nvPr/>
        </p:nvSpPr>
        <p:spPr>
          <a:xfrm>
            <a:off x="5308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3 taxonomy versions required?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Internal taxonomy known. Marketplace schema (Google, ChatGPT) needs confirmation.</a:t>
            </a:r>
          </a:p>
        </p:txBody>
      </p:sp>
      <p:sp>
        <p:nvSpPr>
          <p:cNvPr id="18" name="Q3BG"/>
          <p:cNvSpPr/>
          <p:nvPr/>
        </p:nvSpPr>
        <p:spPr>
          <a:xfrm>
            <a:off x="254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Q3Bar"/>
          <p:cNvSpPr/>
          <p:nvPr/>
        </p:nvSpPr>
        <p:spPr>
          <a:xfrm>
            <a:off x="254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Q3Badge"/>
          <p:cNvSpPr/>
          <p:nvPr/>
        </p:nvSpPr>
        <p:spPr>
          <a:xfrm>
            <a:off x="406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AC542"/>
                </a:solidFill>
              </a:rPr>
              <a:t>Q3</a:t>
            </a:r>
          </a:p>
        </p:txBody>
      </p:sp>
      <p:sp>
        <p:nvSpPr>
          <p:cNvPr id="21" name="Q3Text"/>
          <p:cNvSpPr/>
          <p:nvPr/>
        </p:nvSpPr>
        <p:spPr>
          <a:xfrm>
            <a:off x="863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2 marketplace feeds will be updated?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Feed format, update frequency, and API vs. file determines the integration pattern.</a:t>
            </a:r>
          </a:p>
        </p:txBody>
      </p:sp>
      <p:sp>
        <p:nvSpPr>
          <p:cNvPr id="22" name="Q4BG"/>
          <p:cNvSpPr/>
          <p:nvPr/>
        </p:nvSpPr>
        <p:spPr>
          <a:xfrm>
            <a:off x="4699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Q4Bar"/>
          <p:cNvSpPr/>
          <p:nvPr/>
        </p:nvSpPr>
        <p:spPr>
          <a:xfrm>
            <a:off x="4699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Q4Badge"/>
          <p:cNvSpPr/>
          <p:nvPr/>
        </p:nvSpPr>
        <p:spPr>
          <a:xfrm>
            <a:off x="4851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458CCB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458CCB"/>
                </a:solidFill>
              </a:rPr>
              <a:t>Q4</a:t>
            </a:r>
          </a:p>
        </p:txBody>
      </p:sp>
      <p:sp>
        <p:nvSpPr>
          <p:cNvPr id="25" name="Q4Text"/>
          <p:cNvSpPr/>
          <p:nvPr/>
        </p:nvSpPr>
        <p:spPr>
          <a:xfrm>
            <a:off x="5308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is the Config ID format requirement?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Does Lovesac need a specific format, or integration with an existing OMS?</a:t>
            </a:r>
          </a:p>
        </p:txBody>
      </p:sp>
      <p:sp>
        <p:nvSpPr>
          <p:cNvPr id="26" name="Q5BG"/>
          <p:cNvSpPr/>
          <p:nvPr/>
        </p:nvSpPr>
        <p:spPr>
          <a:xfrm>
            <a:off x="254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Q5Bar"/>
          <p:cNvSpPr/>
          <p:nvPr/>
        </p:nvSpPr>
        <p:spPr>
          <a:xfrm>
            <a:off x="254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Q5Badge"/>
          <p:cNvSpPr/>
          <p:nvPr/>
        </p:nvSpPr>
        <p:spPr>
          <a:xfrm>
            <a:off x="406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8981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8981D"/>
                </a:solidFill>
              </a:rPr>
              <a:t>Q5</a:t>
            </a:r>
          </a:p>
        </p:txBody>
      </p:sp>
      <p:sp>
        <p:nvSpPr>
          <p:cNvPr id="29" name="Q5Text"/>
          <p:cNvSpPr/>
          <p:nvPr/>
        </p:nvSpPr>
        <p:spPr>
          <a:xfrm>
            <a:off x="863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Is Quickship a product type flag or live inventory?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Currently modelled as classification. Live inventory requires a different integration.</a:t>
            </a:r>
          </a:p>
        </p:txBody>
      </p:sp>
      <p:sp>
        <p:nvSpPr>
          <p:cNvPr id="30" name="Q6BG"/>
          <p:cNvSpPr/>
          <p:nvPr/>
        </p:nvSpPr>
        <p:spPr>
          <a:xfrm>
            <a:off x="4699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Q6Bar"/>
          <p:cNvSpPr/>
          <p:nvPr/>
        </p:nvSpPr>
        <p:spPr>
          <a:xfrm>
            <a:off x="4699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Q6Badge"/>
          <p:cNvSpPr/>
          <p:nvPr/>
        </p:nvSpPr>
        <p:spPr>
          <a:xfrm>
            <a:off x="4851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ABF2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ABF2D"/>
                </a:solidFill>
              </a:rPr>
              <a:t>Q6</a:t>
            </a:r>
          </a:p>
        </p:txBody>
      </p:sp>
      <p:sp>
        <p:nvSpPr>
          <p:cNvPr id="33" name="Q6Text"/>
          <p:cNvSpPr/>
          <p:nvPr/>
        </p:nvSpPr>
        <p:spPr>
          <a:xfrm>
            <a:off x="5308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Sactional component adjacency rules?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Which component types can sit next to each other? An adjacency matrix or free-connect confirmation.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11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Next Steps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06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Actions coming out of today's session — owners and target dates for both teams.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w0BG"/>
          <p:cNvSpPr/>
          <p:nvPr/>
        </p:nvSpPr>
        <p:spPr>
          <a:xfrm>
            <a:off x="254000" y="1016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ow0Date"/>
          <p:cNvSpPr/>
          <p:nvPr/>
        </p:nvSpPr>
        <p:spPr>
          <a:xfrm>
            <a:off x="406400" y="1016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March 31</a:t>
            </a:r>
          </a:p>
        </p:txBody>
      </p:sp>
      <p:sp>
        <p:nvSpPr>
          <p:cNvPr id="12" name="Row0Owner"/>
          <p:cNvSpPr/>
          <p:nvPr/>
        </p:nvSpPr>
        <p:spPr>
          <a:xfrm>
            <a:off x="1625600" y="1130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13" name="Row0Desc"/>
          <p:cNvSpPr/>
          <p:nvPr/>
        </p:nvSpPr>
        <p:spPr>
          <a:xfrm>
            <a:off x="2540000" y="1016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and distribute kick-off notes, decisions, and open question owners</a:t>
            </a:r>
          </a:p>
        </p:txBody>
      </p:sp>
      <p:sp>
        <p:nvSpPr>
          <p:cNvPr id="14" name="Row1BG"/>
          <p:cNvSpPr/>
          <p:nvPr/>
        </p:nvSpPr>
        <p:spPr>
          <a:xfrm>
            <a:off x="254000" y="15494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w1Date"/>
          <p:cNvSpPr/>
          <p:nvPr/>
        </p:nvSpPr>
        <p:spPr>
          <a:xfrm>
            <a:off x="406400" y="15494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16" name="Row1Owner"/>
          <p:cNvSpPr/>
          <p:nvPr/>
        </p:nvSpPr>
        <p:spPr>
          <a:xfrm>
            <a:off x="1625600" y="16637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17" name="Row1Desc"/>
          <p:cNvSpPr/>
          <p:nvPr/>
        </p:nvSpPr>
        <p:spPr>
          <a:xfrm>
            <a:off x="2540000" y="15494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list of 3 source backends (format, access method) and 2 marketplace feeds to be updated</a:t>
            </a:r>
          </a:p>
        </p:txBody>
      </p:sp>
      <p:sp>
        <p:nvSpPr>
          <p:cNvPr id="18" name="Row2BG"/>
          <p:cNvSpPr/>
          <p:nvPr/>
        </p:nvSpPr>
        <p:spPr>
          <a:xfrm>
            <a:off x="254000" y="20828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w2Date"/>
          <p:cNvSpPr/>
          <p:nvPr/>
        </p:nvSpPr>
        <p:spPr>
          <a:xfrm>
            <a:off x="406400" y="20828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0" name="Row2Owner"/>
          <p:cNvSpPr/>
          <p:nvPr/>
        </p:nvSpPr>
        <p:spPr>
          <a:xfrm>
            <a:off x="1625600" y="21971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1" name="Row2Desc"/>
          <p:cNvSpPr/>
          <p:nvPr/>
        </p:nvSpPr>
        <p:spPr>
          <a:xfrm>
            <a:off x="2540000" y="20828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3 taxonomy versions required; share existing internal taxonomy documentation</a:t>
            </a:r>
          </a:p>
        </p:txBody>
      </p:sp>
      <p:sp>
        <p:nvSpPr>
          <p:cNvPr id="22" name="Row3BG"/>
          <p:cNvSpPr/>
          <p:nvPr/>
        </p:nvSpPr>
        <p:spPr>
          <a:xfrm>
            <a:off x="254000" y="26162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w3Date"/>
          <p:cNvSpPr/>
          <p:nvPr/>
        </p:nvSpPr>
        <p:spPr>
          <a:xfrm>
            <a:off x="406400" y="2616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4" name="Row3Owner"/>
          <p:cNvSpPr/>
          <p:nvPr/>
        </p:nvSpPr>
        <p:spPr>
          <a:xfrm>
            <a:off x="1625600" y="27305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5" name="Row3Desc"/>
          <p:cNvSpPr/>
          <p:nvPr/>
        </p:nvSpPr>
        <p:spPr>
          <a:xfrm>
            <a:off x="2540000" y="26162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component adjacency rules OR confirm within-series free-connect (resolves Open Question 6)</a:t>
            </a:r>
          </a:p>
        </p:txBody>
      </p:sp>
      <p:sp>
        <p:nvSpPr>
          <p:cNvPr id="26" name="Row4BG"/>
          <p:cNvSpPr/>
          <p:nvPr/>
        </p:nvSpPr>
        <p:spPr>
          <a:xfrm>
            <a:off x="254000" y="31496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4Date"/>
          <p:cNvSpPr/>
          <p:nvPr/>
        </p:nvSpPr>
        <p:spPr>
          <a:xfrm>
            <a:off x="406400" y="31496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7</a:t>
            </a:r>
          </a:p>
        </p:txBody>
      </p:sp>
      <p:sp>
        <p:nvSpPr>
          <p:cNvPr id="28" name="Row4Owner"/>
          <p:cNvSpPr/>
          <p:nvPr/>
        </p:nvSpPr>
        <p:spPr>
          <a:xfrm>
            <a:off x="1625600" y="32639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EB1A63"/>
                </a:solidFill>
              </a:rPr>
              <a:t>Conscia</a:t>
            </a:r>
          </a:p>
        </p:txBody>
      </p:sp>
      <p:sp>
        <p:nvSpPr>
          <p:cNvPr id="29" name="Row4Desc"/>
          <p:cNvSpPr/>
          <p:nvPr/>
        </p:nvSpPr>
        <p:spPr>
          <a:xfrm>
            <a:off x="2540000" y="31496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Provision DX Graph environment and share access credentials with Lovesac team</a:t>
            </a:r>
          </a:p>
        </p:txBody>
      </p:sp>
      <p:sp>
        <p:nvSpPr>
          <p:cNvPr id="30" name="Row5BG"/>
          <p:cNvSpPr/>
          <p:nvPr/>
        </p:nvSpPr>
        <p:spPr>
          <a:xfrm>
            <a:off x="254000" y="3683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w5Date"/>
          <p:cNvSpPr/>
          <p:nvPr/>
        </p:nvSpPr>
        <p:spPr>
          <a:xfrm>
            <a:off x="406400" y="3683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April 7</a:t>
            </a:r>
          </a:p>
        </p:txBody>
      </p:sp>
      <p:sp>
        <p:nvSpPr>
          <p:cNvPr id="32" name="Row5Owner"/>
          <p:cNvSpPr/>
          <p:nvPr/>
        </p:nvSpPr>
        <p:spPr>
          <a:xfrm>
            <a:off x="1625600" y="3797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33" name="Row5Desc"/>
          <p:cNvSpPr/>
          <p:nvPr/>
        </p:nvSpPr>
        <p:spPr>
          <a:xfrm>
            <a:off x="2540000" y="3683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First weekly project standup — review data readiness and confirm Phase 1 sprint plan</a:t>
            </a:r>
          </a:p>
        </p:txBody>
      </p:sp>
      <p:sp>
        <p:nvSpPr>
          <p:cNvPr id="34" name="Closing"/>
          <p:cNvSpPr/>
          <p:nvPr/>
        </p:nvSpPr>
        <p:spPr>
          <a:xfrm>
            <a:off x="254000" y="4343400"/>
            <a:ext cx="863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i="1" dirty="0">
                <a:solidFill>
                  <a:srgbClr val="EB1A63"/>
                </a:solidFill>
              </a:rPr>
              <a:t>Let's build something great together.  Welcome to the project.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9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939A8-5FA8-71A7-2D4E-2622425F64E4}"/>
              </a:ext>
            </a:extLst>
          </p:cNvPr>
          <p:cNvSpPr txBox="1"/>
          <p:nvPr/>
        </p:nvSpPr>
        <p:spPr>
          <a:xfrm>
            <a:off x="1271954" y="1863969"/>
            <a:ext cx="64945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753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  ///  LIGHT PREMIUM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OPTION B  ///  LIGHT PREMIUM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B1  ///  WARM SAND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34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B1 · WARM SAND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6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0F8"/>
              </a:gs>
              <a:gs pos="100000">
                <a:srgbClr val="EBE6F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B2  ///  SOFT LAVENDER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39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0F8"/>
              </a:gs>
              <a:gs pos="100000">
                <a:srgbClr val="EBE6F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B2 · SOFT LAVENDER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83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E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B3  ///  SAGE MIST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24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B3 · SAGE MIST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3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EF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B4  ///  COOL SLATE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75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E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B4 · COOL SLATE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49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B5  ///  BLUSH CLOUD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73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B5 · BLUSH CLOUD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7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4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63CBA7-DA38-4B63-A77E-B112D0F83CB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8162e83-ee21-4051-98bf-0d36cacca1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2501</Words>
  <Application>Microsoft Office PowerPoint</Application>
  <PresentationFormat>On-screen Show (16:9)</PresentationFormat>
  <Paragraphs>445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Conscia</dc:creator>
  <cp:lastModifiedBy>David Uccelli</cp:lastModifiedBy>
  <cp:revision>2</cp:revision>
  <dcterms:created xsi:type="dcterms:W3CDTF">2026-03-28T20:38:14Z</dcterms:created>
  <dcterms:modified xsi:type="dcterms:W3CDTF">2026-04-07T09:28:32Z</dcterms:modified>
</cp:coreProperties>
</file>