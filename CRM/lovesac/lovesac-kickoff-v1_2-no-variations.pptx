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305" r:id="rId2"/>
    <p:sldId id="325" r:id="rId3"/>
    <p:sldId id="346" r:id="rId4"/>
    <p:sldId id="349" r:id="rId5"/>
    <p:sldId id="334" r:id="rId6"/>
    <p:sldId id="322" r:id="rId7"/>
    <p:sldId id="308" r:id="rId8"/>
    <p:sldId id="326" r:id="rId9"/>
    <p:sldId id="332" r:id="rId10"/>
    <p:sldId id="331" r:id="rId11"/>
    <p:sldId id="327" r:id="rId12"/>
    <p:sldId id="316" r:id="rId13"/>
    <p:sldId id="317" r:id="rId14"/>
    <p:sldId id="311" r:id="rId15"/>
    <p:sldId id="312" r:id="rId16"/>
    <p:sldId id="313" r:id="rId17"/>
    <p:sldId id="314" r:id="rId18"/>
    <p:sldId id="300" r:id="rId19"/>
    <p:sldId id="356" r:id="rId20"/>
    <p:sldId id="359" r:id="rId2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HCJthnzYT8TGbZ49sVQp0B7AhE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Uccelli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8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6D50924-F21A-7AF3-93ED-D3B42653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>
            <a:extLst>
              <a:ext uri="{FF2B5EF4-FFF2-40B4-BE49-F238E27FC236}">
                <a16:creationId xmlns:a16="http://schemas.microsoft.com/office/drawing/2014/main" id="{7DCE2B22-5FAD-42D5-BFFA-E0324113C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:notes">
            <a:extLst>
              <a:ext uri="{FF2B5EF4-FFF2-40B4-BE49-F238E27FC236}">
                <a16:creationId xmlns:a16="http://schemas.microsoft.com/office/drawing/2014/main" id="{44710F32-8AAE-8827-70E1-E2EA3A87D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586CD7C2-9045-E23F-F49A-1D10E58F7C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7768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d4ba649c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d4ba649cf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3d4ba649cf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4de2a38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3d4de2a385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d4de2a385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685800" y="4525963"/>
            <a:ext cx="5486400" cy="3600963"/>
          </a:xfrm>
        </p:spPr>
        <p:txBody>
          <a:bodyPr/>
          <a:lstStyle/>
          <a:p>
            <a:r>
              <a:rPr lang="en-US" sz="1200" dirty="0"/>
              <a:t>SPEAKER NOTES — Threekit &amp; Conscia: Different Jobs, Different Tools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The goal is to reframe the conversation: Threekit is not being replaced — it is being enhanced. Conscia sits above it and reads from it.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Key points:</a:t>
            </a:r>
          </a:p>
          <a:p>
            <a:r>
              <a:rPr lang="en-US" sz="1200" dirty="0"/>
              <a:t>• Threekit was built to solve a hard visual problem. The constraint is a scoping decision, not a product flaw — Threekit is a renderer, not an integration layer.</a:t>
            </a:r>
          </a:p>
          <a:p>
            <a:r>
              <a:rPr lang="en-US" sz="1200" dirty="0"/>
              <a:t>• Conscia is the integration layer. The two products are designed for different layers of the stack and are genuinely complementary.</a:t>
            </a:r>
          </a:p>
          <a:p>
            <a:r>
              <a:rPr lang="en-US" sz="1200" dirty="0"/>
              <a:t>• Phase 1 preserves Threekit as the configurator. Conscia ingests from it — it does not replace it.</a:t>
            </a:r>
          </a:p>
          <a:p>
            <a:r>
              <a:rPr lang="en-US" sz="1200" dirty="0"/>
              <a:t>• Adding Conscia reduces integration burden: every new channel uses the same Experience API rather than building a new Threekit connector.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Do not use the word 'limitation' or 'weakness' when referring to Threekit. Frame all differences as design intent.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685800" y="4525963"/>
            <a:ext cx="5486400" cy="3600963"/>
          </a:xfrm>
        </p:spPr>
        <p:txBody>
          <a:bodyPr/>
          <a:lstStyle/>
          <a:p>
            <a:r>
              <a:rPr lang="en-US" sz="1200" dirty="0"/>
              <a:t>SPEAKER NOTES — How They Work Together: A Phased Approach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Walk through each phase clearly and confidently. Emphasise that every phase delivers something real — this is not a big-bang migration.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Phase 1 — Ingest &amp; Model (Weeks 1–6):</a:t>
            </a:r>
          </a:p>
          <a:p>
            <a:r>
              <a:rPr lang="en-US" sz="1200" dirty="0"/>
              <a:t>Foundation work. Connect NetSuite, Magento, and Threekit into DX Graph. Model Sactional SKUs as graph nodes with real parent-child links. No customer-facing change yet — the output is a queryable product API. The deliverable is a graph and a schema, validated by the Lovesac team.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Phase 2 — Orchestrate &amp; Serve (Weeks 7–12):</a:t>
            </a:r>
          </a:p>
          <a:p>
            <a:r>
              <a:rPr lang="en-US" sz="1200" dirty="0"/>
              <a:t>DX Engine rules go live: pricing eligibility, cover compatibility, inventory availability. Lovesac.com configurator is the first consumer of the new Experience API — first moment a customer benefits. Salesforce POS and Manhattan Active Omni are wired in so associates get consistent data. UAT is built into this phase; we iterate on rule logic before moving on.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Phase 3 — Expand &amp; Activate (Weeks 13–20):</a:t>
            </a:r>
          </a:p>
          <a:p>
            <a:r>
              <a:rPr lang="en-US" sz="1200" dirty="0"/>
              <a:t>The MCP endpoint makes Lovesac's product catalogue available to AI agents — AgentForce, ChatGPT, any future agent. Google Shopping is added as a channel using the same API, no rebuild. Configuration session analytics are enabled for the first time: Lovesac can see what customers are actually doing in the configurator. Any additional channel from this point plugs into the same governed API.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ill"/>
          <p:cNvSpPr/>
          <p:nvPr/>
        </p:nvSpPr>
        <p:spPr>
          <a:xfrm>
            <a:off x="457200" y="762000"/>
            <a:ext cx="3302000" cy="2794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GB" sz="900" b="1" spc="200">
                <a:solidFill>
                  <a:srgbClr val="FFFFFF"/>
                </a:solidFill>
                <a:latin typeface="Calibri"/>
              </a:rPr>
              <a:t>PROJECT KICK-OFF  ·  APRIL 8, 2026</a:t>
            </a:r>
            <a:endParaRPr lang="en-US" sz="900" b="1" spc="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itle"/>
          <p:cNvSpPr/>
          <p:nvPr/>
        </p:nvSpPr>
        <p:spPr>
          <a:xfrm>
            <a:off x="457200" y="1270000"/>
            <a:ext cx="822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4200" b="1" dirty="0">
                <a:solidFill>
                  <a:srgbClr val="111827"/>
                </a:solidFill>
                <a:latin typeface="Calibri"/>
              </a:rPr>
              <a:t>Conscia: Beyond Traditional </a:t>
            </a:r>
            <a:r>
              <a:rPr lang="en-US" sz="42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2476500"/>
            <a:ext cx="558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2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15" name="PoweredBy"/>
          <p:cNvSpPr/>
          <p:nvPr/>
        </p:nvSpPr>
        <p:spPr>
          <a:xfrm>
            <a:off x="457200" y="3429000"/>
            <a:ext cx="3810000" cy="2794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000" b="1" spc="150" dirty="0">
                <a:solidFill>
                  <a:srgbClr val="FFFFFF"/>
                </a:solidFill>
                <a:latin typeface="Calibri"/>
              </a:rPr>
              <a:t>POWERED BY: DX GRAPH + DX ENGINE</a:t>
            </a:r>
          </a:p>
        </p:txBody>
      </p:sp>
      <p:sp>
        <p:nvSpPr>
          <p:cNvPr id="16" name="Kickoff"/>
          <p:cNvSpPr/>
          <p:nvPr/>
        </p:nvSpPr>
        <p:spPr>
          <a:xfrm>
            <a:off x="457200" y="3937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17" name="Tagline"/>
          <p:cNvSpPr/>
          <p:nvPr/>
        </p:nvSpPr>
        <p:spPr>
          <a:xfrm>
            <a:off x="2540000" y="2286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900" dirty="0">
                <a:solidFill>
                  <a:srgbClr val="9CA3AF"/>
                </a:solidFill>
                <a:latin typeface="Calibri"/>
              </a:rPr>
              <a:t>The API and Data Foundation for Agentic Commerce</a:t>
            </a:r>
          </a:p>
        </p:txBody>
      </p:sp>
      <p:sp>
        <p:nvSpPr>
          <p:cNvPr id="18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6" name="Google Shape;4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3000" y="203200"/>
            <a:ext cx="1232572" cy="329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096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Today's Agenda</a:t>
            </a:r>
          </a:p>
        </p:txBody>
      </p:sp>
      <p:sp>
        <p:nvSpPr>
          <p:cNvPr id="12" name="Div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AccBar0"/>
          <p:cNvSpPr>
            <a:spLocks noGrp="1"/>
          </p:cNvSpPr>
          <p:nvPr/>
        </p:nvSpPr>
        <p:spPr>
          <a:xfrm>
            <a:off x="355600" y="800100"/>
            <a:ext cx="50800" cy="4191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01" name="Div0"/>
          <p:cNvSpPr>
            <a:spLocks noGrp="1"/>
          </p:cNvSpPr>
          <p:nvPr/>
        </p:nvSpPr>
        <p:spPr>
          <a:xfrm>
            <a:off x="482600" y="12319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Num0"/>
          <p:cNvSpPr>
            <a:spLocks noGrp="1"/>
          </p:cNvSpPr>
          <p:nvPr/>
        </p:nvSpPr>
        <p:spPr>
          <a:xfrm>
            <a:off x="508000" y="8255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303" name="Row0"/>
          <p:cNvSpPr>
            <a:spLocks noGrp="1"/>
          </p:cNvSpPr>
          <p:nvPr/>
        </p:nvSpPr>
        <p:spPr>
          <a:xfrm>
            <a:off x="889000" y="8001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Problem Statement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Recap of the challenges we're here to solve</a:t>
            </a:r>
          </a:p>
        </p:txBody>
      </p:sp>
      <p:sp>
        <p:nvSpPr>
          <p:cNvPr id="310" name="AccBar1"/>
          <p:cNvSpPr>
            <a:spLocks noGrp="1"/>
          </p:cNvSpPr>
          <p:nvPr/>
        </p:nvSpPr>
        <p:spPr>
          <a:xfrm>
            <a:off x="355600" y="1231900"/>
            <a:ext cx="50800" cy="4191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11" name="Div1"/>
          <p:cNvSpPr>
            <a:spLocks noGrp="1"/>
          </p:cNvSpPr>
          <p:nvPr/>
        </p:nvSpPr>
        <p:spPr>
          <a:xfrm>
            <a:off x="482600" y="16637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Num1"/>
          <p:cNvSpPr>
            <a:spLocks noGrp="1"/>
          </p:cNvSpPr>
          <p:nvPr/>
        </p:nvSpPr>
        <p:spPr>
          <a:xfrm>
            <a:off x="508000" y="12573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313" name="Row1"/>
          <p:cNvSpPr>
            <a:spLocks noGrp="1"/>
          </p:cNvSpPr>
          <p:nvPr/>
        </p:nvSpPr>
        <p:spPr>
          <a:xfrm>
            <a:off x="889000" y="12319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Meet the Teams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Introductions and roles</a:t>
            </a:r>
          </a:p>
        </p:txBody>
      </p:sp>
      <p:sp>
        <p:nvSpPr>
          <p:cNvPr id="320" name="AccBar2"/>
          <p:cNvSpPr>
            <a:spLocks noGrp="1"/>
          </p:cNvSpPr>
          <p:nvPr/>
        </p:nvSpPr>
        <p:spPr>
          <a:xfrm>
            <a:off x="355600" y="1663700"/>
            <a:ext cx="50800" cy="4191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21" name="Div2"/>
          <p:cNvSpPr>
            <a:spLocks noGrp="1"/>
          </p:cNvSpPr>
          <p:nvPr/>
        </p:nvSpPr>
        <p:spPr>
          <a:xfrm>
            <a:off x="482600" y="20955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Num2"/>
          <p:cNvSpPr>
            <a:spLocks noGrp="1"/>
          </p:cNvSpPr>
          <p:nvPr/>
        </p:nvSpPr>
        <p:spPr>
          <a:xfrm>
            <a:off x="508000" y="16891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323" name="Row2"/>
          <p:cNvSpPr>
            <a:spLocks noGrp="1"/>
          </p:cNvSpPr>
          <p:nvPr/>
        </p:nvSpPr>
        <p:spPr>
          <a:xfrm>
            <a:off x="889000" y="16637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Conscia Platform Overview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How DX Graph and DX Engine address Lovesac's needs</a:t>
            </a:r>
          </a:p>
        </p:txBody>
      </p:sp>
      <p:sp>
        <p:nvSpPr>
          <p:cNvPr id="330" name="AccBar3"/>
          <p:cNvSpPr>
            <a:spLocks noGrp="1"/>
          </p:cNvSpPr>
          <p:nvPr/>
        </p:nvSpPr>
        <p:spPr>
          <a:xfrm>
            <a:off x="355600" y="2095500"/>
            <a:ext cx="50800" cy="419100"/>
          </a:xfrm>
          <a:prstGeom prst="rect">
            <a:avLst/>
          </a:prstGeom>
          <a:solidFill>
            <a:srgbClr val="458CCB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31" name="Div3"/>
          <p:cNvSpPr>
            <a:spLocks noGrp="1"/>
          </p:cNvSpPr>
          <p:nvPr/>
        </p:nvSpPr>
        <p:spPr>
          <a:xfrm>
            <a:off x="482600" y="25273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Num3"/>
          <p:cNvSpPr>
            <a:spLocks noGrp="1"/>
          </p:cNvSpPr>
          <p:nvPr/>
        </p:nvSpPr>
        <p:spPr>
          <a:xfrm>
            <a:off x="508000" y="21209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333" name="Row3"/>
          <p:cNvSpPr>
            <a:spLocks noGrp="1"/>
          </p:cNvSpPr>
          <p:nvPr/>
        </p:nvSpPr>
        <p:spPr>
          <a:xfrm>
            <a:off x="889000" y="20955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Proposed Architecture Fit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Where Conscia sits within your existing stack</a:t>
            </a:r>
          </a:p>
        </p:txBody>
      </p:sp>
      <p:sp>
        <p:nvSpPr>
          <p:cNvPr id="340" name="AccBar4"/>
          <p:cNvSpPr>
            <a:spLocks noGrp="1"/>
          </p:cNvSpPr>
          <p:nvPr/>
        </p:nvSpPr>
        <p:spPr>
          <a:xfrm>
            <a:off x="355600" y="2527300"/>
            <a:ext cx="50800" cy="419100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41" name="Div4"/>
          <p:cNvSpPr>
            <a:spLocks noGrp="1"/>
          </p:cNvSpPr>
          <p:nvPr/>
        </p:nvSpPr>
        <p:spPr>
          <a:xfrm>
            <a:off x="482600" y="29591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2" name="Num4"/>
          <p:cNvSpPr>
            <a:spLocks noGrp="1"/>
          </p:cNvSpPr>
          <p:nvPr/>
        </p:nvSpPr>
        <p:spPr>
          <a:xfrm>
            <a:off x="508000" y="25527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C49500"/>
                </a:solidFill>
                <a:latin typeface="Calibri"/>
              </a:rPr>
              <a:t>05</a:t>
            </a:r>
          </a:p>
        </p:txBody>
      </p:sp>
      <p:sp>
        <p:nvSpPr>
          <p:cNvPr id="343" name="Row4"/>
          <p:cNvSpPr>
            <a:spLocks noGrp="1"/>
          </p:cNvSpPr>
          <p:nvPr/>
        </p:nvSpPr>
        <p:spPr>
          <a:xfrm>
            <a:off x="889000" y="25273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Success Metrics and KPIs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Defining what good looks like</a:t>
            </a:r>
          </a:p>
        </p:txBody>
      </p:sp>
      <p:sp>
        <p:nvSpPr>
          <p:cNvPr id="350" name="AccBar5"/>
          <p:cNvSpPr>
            <a:spLocks noGrp="1"/>
          </p:cNvSpPr>
          <p:nvPr/>
        </p:nvSpPr>
        <p:spPr>
          <a:xfrm>
            <a:off x="355600" y="2959100"/>
            <a:ext cx="50800" cy="419100"/>
          </a:xfrm>
          <a:prstGeom prst="rect">
            <a:avLst/>
          </a:prstGeom>
          <a:solidFill>
            <a:srgbClr val="FABF2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51" name="Div5"/>
          <p:cNvSpPr>
            <a:spLocks noGrp="1"/>
          </p:cNvSpPr>
          <p:nvPr/>
        </p:nvSpPr>
        <p:spPr>
          <a:xfrm>
            <a:off x="482600" y="33909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2" name="Num5"/>
          <p:cNvSpPr>
            <a:spLocks noGrp="1"/>
          </p:cNvSpPr>
          <p:nvPr/>
        </p:nvSpPr>
        <p:spPr>
          <a:xfrm>
            <a:off x="508000" y="29845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C4690A"/>
                </a:solidFill>
                <a:latin typeface="Calibri"/>
              </a:rPr>
              <a:t>06</a:t>
            </a:r>
          </a:p>
        </p:txBody>
      </p:sp>
      <p:sp>
        <p:nvSpPr>
          <p:cNvPr id="353" name="Row5"/>
          <p:cNvSpPr>
            <a:spLocks noGrp="1"/>
          </p:cNvSpPr>
          <p:nvPr/>
        </p:nvSpPr>
        <p:spPr>
          <a:xfrm>
            <a:off x="889000" y="29591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Early Findings from Your Data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Initial analysis and observations from pre-kickoff review</a:t>
            </a:r>
          </a:p>
        </p:txBody>
      </p:sp>
      <p:sp>
        <p:nvSpPr>
          <p:cNvPr id="360" name="AccBar6"/>
          <p:cNvSpPr>
            <a:spLocks noGrp="1"/>
          </p:cNvSpPr>
          <p:nvPr/>
        </p:nvSpPr>
        <p:spPr>
          <a:xfrm>
            <a:off x="355600" y="3390900"/>
            <a:ext cx="50800" cy="4191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61" name="Div6"/>
          <p:cNvSpPr>
            <a:spLocks noGrp="1"/>
          </p:cNvSpPr>
          <p:nvPr/>
        </p:nvSpPr>
        <p:spPr>
          <a:xfrm>
            <a:off x="482600" y="38227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2" name="Num6"/>
          <p:cNvSpPr>
            <a:spLocks noGrp="1"/>
          </p:cNvSpPr>
          <p:nvPr/>
        </p:nvSpPr>
        <p:spPr>
          <a:xfrm>
            <a:off x="508000" y="34163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EB1A63"/>
                </a:solidFill>
                <a:latin typeface="Calibri"/>
              </a:rPr>
              <a:t>07</a:t>
            </a:r>
          </a:p>
        </p:txBody>
      </p:sp>
      <p:sp>
        <p:nvSpPr>
          <p:cNvPr id="363" name="Row6"/>
          <p:cNvSpPr>
            <a:spLocks noGrp="1"/>
          </p:cNvSpPr>
          <p:nvPr/>
        </p:nvSpPr>
        <p:spPr>
          <a:xfrm>
            <a:off x="889000" y="33909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Ways of Working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Roles, responsibilities, working cadence, and escalation paths</a:t>
            </a:r>
          </a:p>
        </p:txBody>
      </p:sp>
      <p:sp>
        <p:nvSpPr>
          <p:cNvPr id="370" name="AccBar7"/>
          <p:cNvSpPr>
            <a:spLocks noGrp="1"/>
          </p:cNvSpPr>
          <p:nvPr/>
        </p:nvSpPr>
        <p:spPr>
          <a:xfrm>
            <a:off x="355600" y="3822700"/>
            <a:ext cx="50800" cy="4191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71" name="Div7"/>
          <p:cNvSpPr>
            <a:spLocks noGrp="1"/>
          </p:cNvSpPr>
          <p:nvPr/>
        </p:nvSpPr>
        <p:spPr>
          <a:xfrm>
            <a:off x="482600" y="42545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2" name="Num7"/>
          <p:cNvSpPr>
            <a:spLocks noGrp="1"/>
          </p:cNvSpPr>
          <p:nvPr/>
        </p:nvSpPr>
        <p:spPr>
          <a:xfrm>
            <a:off x="508000" y="38481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07BCD6"/>
                </a:solidFill>
                <a:latin typeface="Calibri"/>
              </a:rPr>
              <a:t>08</a:t>
            </a:r>
          </a:p>
        </p:txBody>
      </p:sp>
      <p:sp>
        <p:nvSpPr>
          <p:cNvPr id="373" name="Row7"/>
          <p:cNvSpPr>
            <a:spLocks noGrp="1"/>
          </p:cNvSpPr>
          <p:nvPr/>
        </p:nvSpPr>
        <p:spPr>
          <a:xfrm>
            <a:off x="889000" y="38227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Open Questions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Items for Lovesac to take away and address</a:t>
            </a:r>
          </a:p>
        </p:txBody>
      </p:sp>
      <p:sp>
        <p:nvSpPr>
          <p:cNvPr id="380" name="AccBar8"/>
          <p:cNvSpPr>
            <a:spLocks noGrp="1"/>
          </p:cNvSpPr>
          <p:nvPr/>
        </p:nvSpPr>
        <p:spPr>
          <a:xfrm>
            <a:off x="355600" y="4254500"/>
            <a:ext cx="50800" cy="4191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82" name="Num8"/>
          <p:cNvSpPr>
            <a:spLocks noGrp="1"/>
          </p:cNvSpPr>
          <p:nvPr/>
        </p:nvSpPr>
        <p:spPr>
          <a:xfrm>
            <a:off x="508000" y="42799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8AC542"/>
                </a:solidFill>
                <a:latin typeface="Calibri"/>
              </a:rPr>
              <a:t>09</a:t>
            </a:r>
          </a:p>
        </p:txBody>
      </p:sp>
      <p:sp>
        <p:nvSpPr>
          <p:cNvPr id="383" name="Row8"/>
          <p:cNvSpPr>
            <a:spLocks noGrp="1"/>
          </p:cNvSpPr>
          <p:nvPr/>
        </p:nvSpPr>
        <p:spPr>
          <a:xfrm>
            <a:off x="889000" y="42545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Agreed Next Steps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Actions, owners, and target dates coming out of today</a:t>
            </a:r>
          </a:p>
        </p:txBody>
      </p:sp>
    </p:spTree>
    <p:extLst>
      <p:ext uri="{BB962C8B-B14F-4D97-AF65-F5344CB8AC3E}">
        <p14:creationId xmlns:p14="http://schemas.microsoft.com/office/powerpoint/2010/main" val="369621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6746630" y="2366596"/>
            <a:ext cx="2221523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i="1" dirty="0">
                <a:solidFill>
                  <a:srgbClr val="111827"/>
                </a:solidFill>
                <a:latin typeface="Calibri"/>
              </a:rPr>
              <a:t>The Bottleneck</a:t>
            </a:r>
          </a:p>
          <a:p>
            <a:pPr>
              <a:buNone/>
            </a:pPr>
            <a:endParaRPr lang="en-US" sz="1800" i="1" dirty="0">
              <a:solidFill>
                <a:srgbClr val="111827"/>
              </a:solidFill>
              <a:latin typeface="Calibri"/>
            </a:endParaRPr>
          </a:p>
          <a:p>
            <a:pPr>
              <a:buNone/>
            </a:pPr>
            <a:r>
              <a:rPr lang="en-US" sz="1800" i="1" dirty="0">
                <a:solidFill>
                  <a:srgbClr val="111827"/>
                </a:solidFill>
                <a:latin typeface="Calibri"/>
              </a:rPr>
              <a:t>Compatibility intelligence is locked in one tool</a:t>
            </a:r>
          </a:p>
          <a:p>
            <a:pPr>
              <a:buNone/>
            </a:pPr>
            <a:endParaRPr lang="en-US" sz="1800" i="1" dirty="0">
              <a:solidFill>
                <a:srgbClr val="111827"/>
              </a:solidFill>
              <a:latin typeface="Calibri"/>
            </a:endParaRPr>
          </a:p>
          <a:p>
            <a:r>
              <a:rPr lang="en-US" i="1" dirty="0" err="1">
                <a:solidFill>
                  <a:srgbClr val="9CA3AF"/>
                </a:solidFill>
                <a:latin typeface="Calibri"/>
              </a:rPr>
              <a:t>Lovesac's</a:t>
            </a:r>
            <a:r>
              <a:rPr lang="en-US" i="1" dirty="0">
                <a:solidFill>
                  <a:srgbClr val="9CA3AF"/>
                </a:solidFill>
                <a:latin typeface="Calibri"/>
              </a:rPr>
              <a:t> product data lives in </a:t>
            </a:r>
            <a:r>
              <a:rPr lang="en-US" i="1" dirty="0" err="1">
                <a:solidFill>
                  <a:srgbClr val="9CA3AF"/>
                </a:solidFill>
                <a:latin typeface="Calibri"/>
              </a:rPr>
              <a:t>Threekit</a:t>
            </a:r>
            <a:r>
              <a:rPr lang="en-US" i="1" dirty="0">
                <a:solidFill>
                  <a:srgbClr val="9CA3AF"/>
                </a:solidFill>
                <a:latin typeface="Calibri"/>
              </a:rPr>
              <a:t> — but no downstream channel can query it directly.</a:t>
            </a:r>
            <a:br>
              <a:rPr lang="en-US" i="1" dirty="0">
                <a:solidFill>
                  <a:srgbClr val="9CA3AF"/>
                </a:solidFill>
                <a:latin typeface="Calibri"/>
              </a:rPr>
            </a:br>
            <a:endParaRPr lang="en-US" sz="1800" i="1" dirty="0">
              <a:solidFill>
                <a:srgbClr val="111827"/>
              </a:solidFill>
              <a:latin typeface="Calibri"/>
            </a:endParaRPr>
          </a:p>
          <a:p>
            <a:pPr>
              <a:buNone/>
            </a:pPr>
            <a:r>
              <a:rPr lang="en-US" sz="1100" i="1" dirty="0">
                <a:solidFill>
                  <a:srgbClr val="111827"/>
                </a:solidFill>
                <a:latin typeface="Calibri"/>
              </a:rPr>
              <a:t>(See Appendix for more detail)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LblSrc"/>
          <p:cNvSpPr>
            <a:spLocks noGrp="1"/>
          </p:cNvSpPr>
          <p:nvPr/>
        </p:nvSpPr>
        <p:spPr>
          <a:xfrm>
            <a:off x="228600" y="711200"/>
            <a:ext cx="149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700" b="1" dirty="0">
                <a:solidFill>
                  <a:srgbClr val="9CA3AF"/>
                </a:solidFill>
                <a:latin typeface="Calibri"/>
              </a:rPr>
              <a:t>DATA SOURCES</a:t>
            </a:r>
          </a:p>
        </p:txBody>
      </p:sp>
      <p:sp>
        <p:nvSpPr>
          <p:cNvPr id="301" name="LblCh"/>
          <p:cNvSpPr>
            <a:spLocks noGrp="1"/>
          </p:cNvSpPr>
          <p:nvPr/>
        </p:nvSpPr>
        <p:spPr>
          <a:xfrm>
            <a:off x="4089400" y="7112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700" b="1" dirty="0">
                <a:solidFill>
                  <a:srgbClr val="9CA3AF"/>
                </a:solidFill>
                <a:latin typeface="Calibri"/>
              </a:rPr>
              <a:t>CHANNELS</a:t>
            </a:r>
          </a:p>
        </p:txBody>
      </p:sp>
      <p:sp>
        <p:nvSpPr>
          <p:cNvPr id="310" name="LN0"/>
          <p:cNvSpPr>
            <a:spLocks noGrp="1"/>
          </p:cNvSpPr>
          <p:nvPr/>
        </p:nvSpPr>
        <p:spPr>
          <a:xfrm>
            <a:off x="228600" y="863600"/>
            <a:ext cx="1498600" cy="533400"/>
          </a:xfrm>
          <a:prstGeom prst="roundRect">
            <a:avLst>
              <a:gd name="adj" fmla="val 16667"/>
            </a:avLst>
          </a:prstGeom>
          <a:solidFill>
            <a:srgbClr val="EFF4FF"/>
          </a:solidFill>
          <a:ln w="9525">
            <a:solidFill>
              <a:srgbClr val="C7D2FE"/>
            </a:solidFill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/>
              </a:rPr>
              <a:t>NetSuite ERP</a:t>
            </a:r>
          </a:p>
          <a:p>
            <a:pPr algn="ctr">
              <a:buNone/>
            </a:pPr>
            <a:r>
              <a:rPr lang="en-US" sz="800" dirty="0">
                <a:solidFill>
                  <a:srgbClr val="EB1A63"/>
                </a:solidFill>
                <a:latin typeface="Calibri"/>
              </a:rPr>
              <a:t>inventory &amp; pricing</a:t>
            </a:r>
          </a:p>
        </p:txBody>
      </p:sp>
      <p:sp>
        <p:nvSpPr>
          <p:cNvPr id="311" name="LN1"/>
          <p:cNvSpPr>
            <a:spLocks noGrp="1"/>
          </p:cNvSpPr>
          <p:nvPr/>
        </p:nvSpPr>
        <p:spPr>
          <a:xfrm>
            <a:off x="228600" y="2336800"/>
            <a:ext cx="1498600" cy="533400"/>
          </a:xfrm>
          <a:prstGeom prst="roundRect">
            <a:avLst>
              <a:gd name="adj" fmla="val 16667"/>
            </a:avLst>
          </a:prstGeom>
          <a:solidFill>
            <a:srgbClr val="EFF4FF"/>
          </a:solidFill>
          <a:ln w="9525">
            <a:solidFill>
              <a:srgbClr val="C7D2FE"/>
            </a:solidFill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/>
              </a:rPr>
              <a:t>Magento</a:t>
            </a:r>
          </a:p>
          <a:p>
            <a:pPr algn="ctr">
              <a:buNone/>
            </a:pPr>
            <a:r>
              <a:rPr lang="en-US" sz="800" dirty="0">
                <a:solidFill>
                  <a:srgbClr val="EB1A63"/>
                </a:solidFill>
                <a:latin typeface="Calibri"/>
              </a:rPr>
              <a:t>product catalogue</a:t>
            </a:r>
          </a:p>
        </p:txBody>
      </p:sp>
      <p:sp>
        <p:nvSpPr>
          <p:cNvPr id="312" name="LN2"/>
          <p:cNvSpPr>
            <a:spLocks noGrp="1"/>
          </p:cNvSpPr>
          <p:nvPr/>
        </p:nvSpPr>
        <p:spPr>
          <a:xfrm>
            <a:off x="228600" y="3810000"/>
            <a:ext cx="1498600" cy="533400"/>
          </a:xfrm>
          <a:prstGeom prst="roundRect">
            <a:avLst>
              <a:gd name="adj" fmla="val 16667"/>
            </a:avLst>
          </a:prstGeom>
          <a:solidFill>
            <a:srgbClr val="EFF4FF"/>
          </a:solidFill>
          <a:ln w="9525">
            <a:solidFill>
              <a:srgbClr val="C7D2FE"/>
            </a:solidFill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/>
              </a:rPr>
              <a:t>Product Team</a:t>
            </a:r>
          </a:p>
          <a:p>
            <a:pPr algn="ctr">
              <a:buNone/>
            </a:pPr>
            <a:r>
              <a:rPr lang="en-US" sz="800" dirty="0">
                <a:solidFill>
                  <a:srgbClr val="EB1A63"/>
                </a:solidFill>
                <a:latin typeface="Calibri"/>
              </a:rPr>
              <a:t>manual updates</a:t>
            </a:r>
          </a:p>
        </p:txBody>
      </p:sp>
      <p:sp>
        <p:nvSpPr>
          <p:cNvPr id="320" name="Arr0"/>
          <p:cNvSpPr>
            <a:spLocks noGrp="1"/>
          </p:cNvSpPr>
          <p:nvPr/>
        </p:nvSpPr>
        <p:spPr>
          <a:xfrm>
            <a:off x="1752600" y="1028700"/>
            <a:ext cx="25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900" dirty="0">
                <a:solidFill>
                  <a:srgbClr val="EB1A63"/>
                </a:solidFill>
                <a:latin typeface="Calibri"/>
              </a:rPr>
              <a:t>▶</a:t>
            </a:r>
          </a:p>
        </p:txBody>
      </p:sp>
      <p:sp>
        <p:nvSpPr>
          <p:cNvPr id="321" name="Arr1"/>
          <p:cNvSpPr>
            <a:spLocks noGrp="1"/>
          </p:cNvSpPr>
          <p:nvPr/>
        </p:nvSpPr>
        <p:spPr>
          <a:xfrm>
            <a:off x="1752600" y="2501900"/>
            <a:ext cx="25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900" dirty="0">
                <a:solidFill>
                  <a:srgbClr val="EB1A63"/>
                </a:solidFill>
                <a:latin typeface="Calibri"/>
              </a:rPr>
              <a:t>▶</a:t>
            </a:r>
          </a:p>
        </p:txBody>
      </p:sp>
      <p:sp>
        <p:nvSpPr>
          <p:cNvPr id="322" name="Arr2"/>
          <p:cNvSpPr>
            <a:spLocks noGrp="1"/>
          </p:cNvSpPr>
          <p:nvPr/>
        </p:nvSpPr>
        <p:spPr>
          <a:xfrm>
            <a:off x="1752600" y="3975100"/>
            <a:ext cx="25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900" dirty="0">
                <a:solidFill>
                  <a:srgbClr val="EB1A63"/>
                </a:solidFill>
                <a:latin typeface="Calibri"/>
              </a:rPr>
              <a:t>▶</a:t>
            </a:r>
          </a:p>
        </p:txBody>
      </p:sp>
      <p:sp>
        <p:nvSpPr>
          <p:cNvPr id="330" name="TK"/>
          <p:cNvSpPr>
            <a:spLocks noGrp="1"/>
          </p:cNvSpPr>
          <p:nvPr/>
        </p:nvSpPr>
        <p:spPr>
          <a:xfrm>
            <a:off x="2032000" y="838200"/>
            <a:ext cx="1752600" cy="3530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Threekit</a:t>
            </a:r>
          </a:p>
          <a:p>
            <a:pPr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/>
              </a:rPr>
              <a:t>3D Configurator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800" dirty="0">
                <a:solidFill>
                  <a:srgbClr val="6B7280"/>
                </a:solidFill>
                <a:latin typeface="Calibri"/>
              </a:rPr>
              <a:t>Compatibility rules locked inside.</a:t>
            </a:r>
          </a:p>
          <a:p>
            <a:pPr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/>
              </a:rPr>
              <a:t>No external API.</a:t>
            </a:r>
          </a:p>
        </p:txBody>
      </p:sp>
      <p:sp>
        <p:nvSpPr>
          <p:cNvPr id="331" name="Barrier"/>
          <p:cNvSpPr>
            <a:spLocks noGrp="1"/>
          </p:cNvSpPr>
          <p:nvPr/>
        </p:nvSpPr>
        <p:spPr>
          <a:xfrm>
            <a:off x="3784600" y="838200"/>
            <a:ext cx="152400" cy="35306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40" name="Dash0"/>
          <p:cNvSpPr>
            <a:spLocks noGrp="1"/>
          </p:cNvSpPr>
          <p:nvPr/>
        </p:nvSpPr>
        <p:spPr>
          <a:xfrm>
            <a:off x="3937000" y="1117600"/>
            <a:ext cx="152400" cy="254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endParaRPr/>
          </a:p>
        </p:txBody>
      </p:sp>
      <p:sp>
        <p:nvSpPr>
          <p:cNvPr id="341" name="Dash1"/>
          <p:cNvSpPr>
            <a:spLocks noGrp="1"/>
          </p:cNvSpPr>
          <p:nvPr/>
        </p:nvSpPr>
        <p:spPr>
          <a:xfrm>
            <a:off x="3937000" y="1854200"/>
            <a:ext cx="152400" cy="254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endParaRPr/>
          </a:p>
        </p:txBody>
      </p:sp>
      <p:sp>
        <p:nvSpPr>
          <p:cNvPr id="342" name="Dash2"/>
          <p:cNvSpPr>
            <a:spLocks noGrp="1"/>
          </p:cNvSpPr>
          <p:nvPr/>
        </p:nvSpPr>
        <p:spPr>
          <a:xfrm>
            <a:off x="3937000" y="2590800"/>
            <a:ext cx="152400" cy="254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endParaRPr/>
          </a:p>
        </p:txBody>
      </p:sp>
      <p:sp>
        <p:nvSpPr>
          <p:cNvPr id="343" name="Dash3"/>
          <p:cNvSpPr>
            <a:spLocks noGrp="1"/>
          </p:cNvSpPr>
          <p:nvPr/>
        </p:nvSpPr>
        <p:spPr>
          <a:xfrm>
            <a:off x="3937000" y="3327400"/>
            <a:ext cx="152400" cy="254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endParaRPr/>
          </a:p>
        </p:txBody>
      </p:sp>
      <p:sp>
        <p:nvSpPr>
          <p:cNvPr id="344" name="Dash4"/>
          <p:cNvSpPr>
            <a:spLocks noGrp="1"/>
          </p:cNvSpPr>
          <p:nvPr/>
        </p:nvSpPr>
        <p:spPr>
          <a:xfrm>
            <a:off x="3937000" y="4064000"/>
            <a:ext cx="152400" cy="254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endParaRPr/>
          </a:p>
        </p:txBody>
      </p:sp>
      <p:sp>
        <p:nvSpPr>
          <p:cNvPr id="500" name="RN0"/>
          <p:cNvSpPr>
            <a:spLocks noGrp="1"/>
          </p:cNvSpPr>
          <p:nvPr/>
        </p:nvSpPr>
        <p:spPr>
          <a:xfrm>
            <a:off x="4089400" y="863600"/>
            <a:ext cx="2286000" cy="5334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/>
              </a:rPr>
              <a:t>Salesforce POS</a:t>
            </a:r>
          </a:p>
        </p:txBody>
      </p:sp>
      <p:sp>
        <p:nvSpPr>
          <p:cNvPr id="501" name="RN1"/>
          <p:cNvSpPr>
            <a:spLocks noGrp="1"/>
          </p:cNvSpPr>
          <p:nvPr/>
        </p:nvSpPr>
        <p:spPr>
          <a:xfrm>
            <a:off x="4089400" y="1600200"/>
            <a:ext cx="2286000" cy="5334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/>
              </a:rPr>
              <a:t>Manhattan Active Omni</a:t>
            </a:r>
          </a:p>
        </p:txBody>
      </p:sp>
      <p:sp>
        <p:nvSpPr>
          <p:cNvPr id="502" name="RN2"/>
          <p:cNvSpPr>
            <a:spLocks noGrp="1"/>
          </p:cNvSpPr>
          <p:nvPr/>
        </p:nvSpPr>
        <p:spPr>
          <a:xfrm>
            <a:off x="4089400" y="2336800"/>
            <a:ext cx="2286000" cy="5334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/>
              </a:rPr>
              <a:t>Lovesac.com</a:t>
            </a:r>
          </a:p>
        </p:txBody>
      </p:sp>
      <p:sp>
        <p:nvSpPr>
          <p:cNvPr id="503" name="RN3"/>
          <p:cNvSpPr>
            <a:spLocks noGrp="1"/>
          </p:cNvSpPr>
          <p:nvPr/>
        </p:nvSpPr>
        <p:spPr>
          <a:xfrm>
            <a:off x="4089400" y="3073400"/>
            <a:ext cx="2286000" cy="5334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/>
              </a:rPr>
              <a:t>Google Shopping</a:t>
            </a:r>
          </a:p>
        </p:txBody>
      </p:sp>
      <p:sp>
        <p:nvSpPr>
          <p:cNvPr id="504" name="RN4"/>
          <p:cNvSpPr>
            <a:spLocks noGrp="1"/>
          </p:cNvSpPr>
          <p:nvPr/>
        </p:nvSpPr>
        <p:spPr>
          <a:xfrm>
            <a:off x="4089400" y="3810000"/>
            <a:ext cx="2286000" cy="5334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/>
              </a:rPr>
              <a:t>AgentForce / ChatGPT</a:t>
            </a:r>
          </a:p>
        </p:txBody>
      </p:sp>
      <p:sp>
        <p:nvSpPr>
          <p:cNvPr id="350" name="Caption"/>
          <p:cNvSpPr>
            <a:spLocks noGrp="1"/>
          </p:cNvSpPr>
          <p:nvPr/>
        </p:nvSpPr>
        <p:spPr>
          <a:xfrm>
            <a:off x="228600" y="4445000"/>
            <a:ext cx="6146800" cy="254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endParaRPr lang="en-US" sz="900" i="1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00" name="Footer"/>
          <p:cNvSpPr>
            <a:spLocks noGrp="1"/>
          </p:cNvSpPr>
          <p:nvPr/>
        </p:nvSpPr>
        <p:spPr>
          <a:xfrm>
            <a:off x="101600" y="4762500"/>
            <a:ext cx="9042400" cy="279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lIns="50800" tIns="25400" rIns="50800" bIns="2540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</a:p>
        </p:txBody>
      </p:sp>
      <p:sp>
        <p:nvSpPr>
          <p:cNvPr id="710" name="Bar0"/>
          <p:cNvSpPr>
            <a:spLocks noGrp="1"/>
          </p:cNvSpPr>
          <p:nvPr/>
        </p:nvSpPr>
        <p:spPr>
          <a:xfrm>
            <a:off x="0" y="5092700"/>
            <a:ext cx="1524000" cy="508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711" name="Bar1"/>
          <p:cNvSpPr>
            <a:spLocks noGrp="1"/>
          </p:cNvSpPr>
          <p:nvPr/>
        </p:nvSpPr>
        <p:spPr>
          <a:xfrm>
            <a:off x="1524000" y="5092700"/>
            <a:ext cx="1524000" cy="50800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712" name="Bar2"/>
          <p:cNvSpPr>
            <a:spLocks noGrp="1"/>
          </p:cNvSpPr>
          <p:nvPr/>
        </p:nvSpPr>
        <p:spPr>
          <a:xfrm>
            <a:off x="3048000" y="5092700"/>
            <a:ext cx="1524000" cy="50800"/>
          </a:xfrm>
          <a:prstGeom prst="rect">
            <a:avLst/>
          </a:prstGeom>
          <a:solidFill>
            <a:srgbClr val="FABF2D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713" name="Bar3"/>
          <p:cNvSpPr>
            <a:spLocks noGrp="1"/>
          </p:cNvSpPr>
          <p:nvPr/>
        </p:nvSpPr>
        <p:spPr>
          <a:xfrm>
            <a:off x="4572000" y="5092700"/>
            <a:ext cx="1524000" cy="508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714" name="Bar4"/>
          <p:cNvSpPr>
            <a:spLocks noGrp="1"/>
          </p:cNvSpPr>
          <p:nvPr/>
        </p:nvSpPr>
        <p:spPr>
          <a:xfrm>
            <a:off x="6096000" y="5092700"/>
            <a:ext cx="1524000" cy="508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715" name="Bar5"/>
          <p:cNvSpPr>
            <a:spLocks noGrp="1"/>
          </p:cNvSpPr>
          <p:nvPr/>
        </p:nvSpPr>
        <p:spPr>
          <a:xfrm>
            <a:off x="7620000" y="5092700"/>
            <a:ext cx="1524000" cy="50800"/>
          </a:xfrm>
          <a:prstGeom prst="rect">
            <a:avLst/>
          </a:prstGeom>
          <a:solidFill>
            <a:srgbClr val="458CCB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B99FD45-DD7C-8BB2-24E2-0BF9532D6A88}"/>
              </a:ext>
            </a:extLst>
          </p:cNvPr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Problem Statement - </a:t>
            </a:r>
            <a:r>
              <a:rPr lang="en-GB" sz="2400" b="1" dirty="0">
                <a:solidFill>
                  <a:srgbClr val="111827"/>
                </a:solidFill>
                <a:latin typeface="Calibri"/>
              </a:rPr>
              <a:t>The Bottleneck</a:t>
            </a:r>
            <a:r>
              <a:rPr lang="en-US" sz="2400" b="1" dirty="0">
                <a:solidFill>
                  <a:srgbClr val="111827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477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1778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Problem Statement - What Lovesac Can’t Do Today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0" name="Bar0"/>
          <p:cNvSpPr>
            <a:spLocks noGrp="1"/>
          </p:cNvSpPr>
          <p:nvPr/>
        </p:nvSpPr>
        <p:spPr>
          <a:xfrm>
            <a:off x="0" y="5092700"/>
            <a:ext cx="1524000" cy="508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711" name="Bar1"/>
          <p:cNvSpPr>
            <a:spLocks noGrp="1"/>
          </p:cNvSpPr>
          <p:nvPr/>
        </p:nvSpPr>
        <p:spPr>
          <a:xfrm>
            <a:off x="1524000" y="5092700"/>
            <a:ext cx="1524000" cy="50800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712" name="Bar2"/>
          <p:cNvSpPr>
            <a:spLocks noGrp="1"/>
          </p:cNvSpPr>
          <p:nvPr/>
        </p:nvSpPr>
        <p:spPr>
          <a:xfrm>
            <a:off x="3048000" y="5092700"/>
            <a:ext cx="1524000" cy="50800"/>
          </a:xfrm>
          <a:prstGeom prst="rect">
            <a:avLst/>
          </a:prstGeom>
          <a:solidFill>
            <a:srgbClr val="FABF2D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713" name="Bar3"/>
          <p:cNvSpPr>
            <a:spLocks noGrp="1"/>
          </p:cNvSpPr>
          <p:nvPr/>
        </p:nvSpPr>
        <p:spPr>
          <a:xfrm>
            <a:off x="4572000" y="5092700"/>
            <a:ext cx="1524000" cy="508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714" name="Bar4"/>
          <p:cNvSpPr>
            <a:spLocks noGrp="1"/>
          </p:cNvSpPr>
          <p:nvPr/>
        </p:nvSpPr>
        <p:spPr>
          <a:xfrm>
            <a:off x="6096000" y="5092700"/>
            <a:ext cx="1524000" cy="508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715" name="Bar5"/>
          <p:cNvSpPr>
            <a:spLocks noGrp="1"/>
          </p:cNvSpPr>
          <p:nvPr/>
        </p:nvSpPr>
        <p:spPr>
          <a:xfrm>
            <a:off x="7620000" y="5092700"/>
            <a:ext cx="1524000" cy="50800"/>
          </a:xfrm>
          <a:prstGeom prst="rect">
            <a:avLst/>
          </a:prstGeom>
          <a:solidFill>
            <a:srgbClr val="458CCB"/>
          </a:solidFill>
          <a:ln>
            <a:noFill/>
          </a:ln>
        </p:spPr>
        <p:txBody>
          <a:bodyPr lIns="50800" tIns="25400" rIns="50800" bIns="25400" anchor="ctr"/>
          <a:lstStyle/>
          <a:p>
            <a:endParaRPr/>
          </a:p>
        </p:txBody>
      </p:sp>
      <p:sp>
        <p:nvSpPr>
          <p:cNvPr id="100" name="Acc0"/>
          <p:cNvSpPr>
            <a:spLocks noGrp="1"/>
          </p:cNvSpPr>
          <p:nvPr/>
        </p:nvSpPr>
        <p:spPr>
          <a:xfrm>
            <a:off x="254000" y="838200"/>
            <a:ext cx="50800" cy="6350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endParaRPr/>
          </a:p>
        </p:txBody>
      </p:sp>
      <p:sp>
        <p:nvSpPr>
          <p:cNvPr id="101" name="Num0"/>
          <p:cNvSpPr>
            <a:spLocks noGrp="1"/>
          </p:cNvSpPr>
          <p:nvPr/>
        </p:nvSpPr>
        <p:spPr>
          <a:xfrm>
            <a:off x="355600" y="10033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EB1A6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2" name="Title0"/>
          <p:cNvSpPr>
            <a:spLocks noGrp="1"/>
          </p:cNvSpPr>
          <p:nvPr/>
        </p:nvSpPr>
        <p:spPr>
          <a:xfrm>
            <a:off x="914400" y="889000"/>
            <a:ext cx="800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200" dirty="0">
                <a:solidFill>
                  <a:srgbClr val="9CA3AF"/>
                </a:solidFill>
                <a:latin typeface="Calibri"/>
              </a:rPr>
              <a:t>You can’t </a:t>
            </a:r>
            <a:r>
              <a:rPr lang="en-US" sz="1300" b="1" dirty="0">
                <a:solidFill>
                  <a:srgbClr val="111827"/>
                </a:solidFill>
                <a:latin typeface="Calibri"/>
              </a:rPr>
              <a:t>Ask “What goes with this Sactional cover?”</a:t>
            </a:r>
          </a:p>
        </p:txBody>
      </p:sp>
      <p:sp>
        <p:nvSpPr>
          <p:cNvPr id="103" name="Desc0"/>
          <p:cNvSpPr>
            <a:spLocks noGrp="1"/>
          </p:cNvSpPr>
          <p:nvPr/>
        </p:nvSpPr>
        <p:spPr>
          <a:xfrm>
            <a:off x="914400" y="1168400"/>
            <a:ext cx="800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lnSpc>
                <a:spcPts val="11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Compatibility rules live only inside Threekit. No system can query them programmatically — so every channel has to hard-code logic or send the customer back to the web configurator.</a:t>
            </a:r>
          </a:p>
        </p:txBody>
      </p:sp>
      <p:sp>
        <p:nvSpPr>
          <p:cNvPr id="104" name="Div0"/>
          <p:cNvSpPr>
            <a:spLocks noGrp="1"/>
          </p:cNvSpPr>
          <p:nvPr/>
        </p:nvSpPr>
        <p:spPr>
          <a:xfrm>
            <a:off x="914400" y="1511300"/>
            <a:ext cx="8001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endParaRPr/>
          </a:p>
        </p:txBody>
      </p:sp>
      <p:sp>
        <p:nvSpPr>
          <p:cNvPr id="110" name="Acc1"/>
          <p:cNvSpPr>
            <a:spLocks noGrp="1"/>
          </p:cNvSpPr>
          <p:nvPr/>
        </p:nvSpPr>
        <p:spPr>
          <a:xfrm>
            <a:off x="254000" y="1574800"/>
            <a:ext cx="50800" cy="635000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endParaRPr/>
          </a:p>
        </p:txBody>
      </p:sp>
      <p:sp>
        <p:nvSpPr>
          <p:cNvPr id="111" name="Num1"/>
          <p:cNvSpPr>
            <a:spLocks noGrp="1"/>
          </p:cNvSpPr>
          <p:nvPr/>
        </p:nvSpPr>
        <p:spPr>
          <a:xfrm>
            <a:off x="355600" y="17399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F8981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2" name="Title1"/>
          <p:cNvSpPr>
            <a:spLocks noGrp="1"/>
          </p:cNvSpPr>
          <p:nvPr/>
        </p:nvSpPr>
        <p:spPr>
          <a:xfrm>
            <a:off x="914400" y="1625600"/>
            <a:ext cx="800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200" dirty="0">
                <a:solidFill>
                  <a:srgbClr val="9CA3AF"/>
                </a:solidFill>
                <a:latin typeface="Calibri"/>
              </a:rPr>
              <a:t>You can’t </a:t>
            </a:r>
            <a:r>
              <a:rPr lang="en-US" sz="1300" b="1" dirty="0">
                <a:solidFill>
                  <a:srgbClr val="111827"/>
                </a:solidFill>
                <a:latin typeface="Calibri"/>
              </a:rPr>
              <a:t>Serve product data to AgentForce or ChatGPT</a:t>
            </a:r>
          </a:p>
        </p:txBody>
      </p:sp>
      <p:sp>
        <p:nvSpPr>
          <p:cNvPr id="113" name="Desc1"/>
          <p:cNvSpPr>
            <a:spLocks noGrp="1"/>
          </p:cNvSpPr>
          <p:nvPr/>
        </p:nvSpPr>
        <p:spPr>
          <a:xfrm>
            <a:off x="914400" y="1905000"/>
            <a:ext cx="800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lnSpc>
                <a:spcPts val="11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AI agents need a queryable API. Threekit has no MCP endpoint. Any agentic commerce experience requires custom middleware that duplicates and quickly drifts from the source of truth.</a:t>
            </a:r>
          </a:p>
        </p:txBody>
      </p:sp>
      <p:sp>
        <p:nvSpPr>
          <p:cNvPr id="114" name="Div1"/>
          <p:cNvSpPr>
            <a:spLocks noGrp="1"/>
          </p:cNvSpPr>
          <p:nvPr/>
        </p:nvSpPr>
        <p:spPr>
          <a:xfrm>
            <a:off x="914400" y="2247900"/>
            <a:ext cx="8001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endParaRPr/>
          </a:p>
        </p:txBody>
      </p:sp>
      <p:sp>
        <p:nvSpPr>
          <p:cNvPr id="120" name="Acc2"/>
          <p:cNvSpPr>
            <a:spLocks noGrp="1"/>
          </p:cNvSpPr>
          <p:nvPr/>
        </p:nvSpPr>
        <p:spPr>
          <a:xfrm>
            <a:off x="254000" y="2311400"/>
            <a:ext cx="50800" cy="635000"/>
          </a:xfrm>
          <a:prstGeom prst="rect">
            <a:avLst/>
          </a:prstGeom>
          <a:solidFill>
            <a:srgbClr val="FABF2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endParaRPr/>
          </a:p>
        </p:txBody>
      </p:sp>
      <p:sp>
        <p:nvSpPr>
          <p:cNvPr id="121" name="Num2"/>
          <p:cNvSpPr>
            <a:spLocks noGrp="1"/>
          </p:cNvSpPr>
          <p:nvPr/>
        </p:nvSpPr>
        <p:spPr>
          <a:xfrm>
            <a:off x="355600" y="24765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FABF2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2" name="Title2"/>
          <p:cNvSpPr>
            <a:spLocks noGrp="1"/>
          </p:cNvSpPr>
          <p:nvPr/>
        </p:nvSpPr>
        <p:spPr>
          <a:xfrm>
            <a:off x="914400" y="2362200"/>
            <a:ext cx="800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200" dirty="0">
                <a:solidFill>
                  <a:srgbClr val="9CA3AF"/>
                </a:solidFill>
                <a:latin typeface="Calibri"/>
              </a:rPr>
              <a:t>You can’t </a:t>
            </a:r>
            <a:r>
              <a:rPr lang="en-US" sz="1300" b="1" dirty="0">
                <a:solidFill>
                  <a:srgbClr val="111827"/>
                </a:solidFill>
                <a:latin typeface="Calibri"/>
              </a:rPr>
              <a:t>Keep pricing and inventory in sync across channels</a:t>
            </a:r>
          </a:p>
        </p:txBody>
      </p:sp>
      <p:sp>
        <p:nvSpPr>
          <p:cNvPr id="123" name="Desc2"/>
          <p:cNvSpPr>
            <a:spLocks noGrp="1"/>
          </p:cNvSpPr>
          <p:nvPr/>
        </p:nvSpPr>
        <p:spPr>
          <a:xfrm>
            <a:off x="914400" y="2641600"/>
            <a:ext cx="800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lnSpc>
                <a:spcPts val="11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NetSuite holds pricing, Magento holds inventory — but neither feeds the configurator in real time. Associates and customers frequently see conflicting data depending on which touchpoint they use.</a:t>
            </a:r>
          </a:p>
        </p:txBody>
      </p:sp>
      <p:sp>
        <p:nvSpPr>
          <p:cNvPr id="124" name="Div2"/>
          <p:cNvSpPr>
            <a:spLocks noGrp="1"/>
          </p:cNvSpPr>
          <p:nvPr/>
        </p:nvSpPr>
        <p:spPr>
          <a:xfrm>
            <a:off x="914400" y="2984500"/>
            <a:ext cx="8001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endParaRPr/>
          </a:p>
        </p:txBody>
      </p:sp>
      <p:sp>
        <p:nvSpPr>
          <p:cNvPr id="130" name="Acc3"/>
          <p:cNvSpPr>
            <a:spLocks noGrp="1"/>
          </p:cNvSpPr>
          <p:nvPr/>
        </p:nvSpPr>
        <p:spPr>
          <a:xfrm>
            <a:off x="254000" y="3048000"/>
            <a:ext cx="50800" cy="6350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endParaRPr/>
          </a:p>
        </p:txBody>
      </p:sp>
      <p:sp>
        <p:nvSpPr>
          <p:cNvPr id="131" name="Num3"/>
          <p:cNvSpPr>
            <a:spLocks noGrp="1"/>
          </p:cNvSpPr>
          <p:nvPr/>
        </p:nvSpPr>
        <p:spPr>
          <a:xfrm>
            <a:off x="355600" y="32131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8AC542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32" name="Title3"/>
          <p:cNvSpPr>
            <a:spLocks noGrp="1"/>
          </p:cNvSpPr>
          <p:nvPr/>
        </p:nvSpPr>
        <p:spPr>
          <a:xfrm>
            <a:off x="914400" y="3098800"/>
            <a:ext cx="800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200" dirty="0">
                <a:solidFill>
                  <a:srgbClr val="9CA3AF"/>
                </a:solidFill>
                <a:latin typeface="Calibri"/>
              </a:rPr>
              <a:t>You can’t </a:t>
            </a:r>
            <a:r>
              <a:rPr lang="en-US" sz="1300" b="1" dirty="0">
                <a:solidFill>
                  <a:srgbClr val="111827"/>
                </a:solidFill>
                <a:latin typeface="Calibri"/>
              </a:rPr>
              <a:t>Launch a new sales channel without rebuilding logic</a:t>
            </a:r>
          </a:p>
        </p:txBody>
      </p:sp>
      <p:sp>
        <p:nvSpPr>
          <p:cNvPr id="133" name="Desc3"/>
          <p:cNvSpPr>
            <a:spLocks noGrp="1"/>
          </p:cNvSpPr>
          <p:nvPr/>
        </p:nvSpPr>
        <p:spPr>
          <a:xfrm>
            <a:off x="914400" y="3378200"/>
            <a:ext cx="800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lnSpc>
                <a:spcPts val="11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Each new touchpoint (kiosk, app, Google Shopping) requires its own integration. There is no shared experience API — so every channel launch restarts the engineering effort from scratch.</a:t>
            </a:r>
          </a:p>
        </p:txBody>
      </p:sp>
      <p:sp>
        <p:nvSpPr>
          <p:cNvPr id="134" name="Div3"/>
          <p:cNvSpPr>
            <a:spLocks noGrp="1"/>
          </p:cNvSpPr>
          <p:nvPr/>
        </p:nvSpPr>
        <p:spPr>
          <a:xfrm>
            <a:off x="914400" y="3721100"/>
            <a:ext cx="8001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endParaRPr/>
          </a:p>
        </p:txBody>
      </p:sp>
      <p:sp>
        <p:nvSpPr>
          <p:cNvPr id="140" name="Acc4"/>
          <p:cNvSpPr>
            <a:spLocks noGrp="1"/>
          </p:cNvSpPr>
          <p:nvPr/>
        </p:nvSpPr>
        <p:spPr>
          <a:xfrm>
            <a:off x="254000" y="3784600"/>
            <a:ext cx="50800" cy="6350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endParaRPr/>
          </a:p>
        </p:txBody>
      </p:sp>
      <p:sp>
        <p:nvSpPr>
          <p:cNvPr id="141" name="Num4"/>
          <p:cNvSpPr>
            <a:spLocks noGrp="1"/>
          </p:cNvSpPr>
          <p:nvPr/>
        </p:nvSpPr>
        <p:spPr>
          <a:xfrm>
            <a:off x="355600" y="39497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42" name="Title4"/>
          <p:cNvSpPr>
            <a:spLocks noGrp="1"/>
          </p:cNvSpPr>
          <p:nvPr/>
        </p:nvSpPr>
        <p:spPr>
          <a:xfrm>
            <a:off x="914400" y="3835400"/>
            <a:ext cx="800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200" dirty="0">
                <a:solidFill>
                  <a:srgbClr val="9CA3AF"/>
                </a:solidFill>
                <a:latin typeface="Calibri"/>
              </a:rPr>
              <a:t>You can’t </a:t>
            </a:r>
            <a:r>
              <a:rPr lang="en-US" sz="1300" b="1" dirty="0">
                <a:solidFill>
                  <a:srgbClr val="111827"/>
                </a:solidFill>
                <a:latin typeface="Calibri"/>
              </a:rPr>
              <a:t>Understand how customers actually configure products</a:t>
            </a:r>
          </a:p>
        </p:txBody>
      </p:sp>
      <p:sp>
        <p:nvSpPr>
          <p:cNvPr id="143" name="Desc4"/>
          <p:cNvSpPr>
            <a:spLocks noGrp="1"/>
          </p:cNvSpPr>
          <p:nvPr/>
        </p:nvSpPr>
        <p:spPr>
          <a:xfrm>
            <a:off x="914400" y="4114800"/>
            <a:ext cx="800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lnSpc>
                <a:spcPts val="11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Configuration session data is trapped inside Threekit. There is no way to extract patterns — which cover combinations are popular, where customers drop off, what drives conversion.</a:t>
            </a:r>
          </a:p>
        </p:txBody>
      </p:sp>
      <p:sp>
        <p:nvSpPr>
          <p:cNvPr id="2" name="F">
            <a:extLst>
              <a:ext uri="{FF2B5EF4-FFF2-40B4-BE49-F238E27FC236}">
                <a16:creationId xmlns:a16="http://schemas.microsoft.com/office/drawing/2014/main" id="{0ECC077E-83A2-E661-A2AE-19180A14DF9A}"/>
              </a:ext>
            </a:extLst>
          </p:cNvPr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GB" sz="800" dirty="0" err="1">
                <a:solidFill>
                  <a:srgbClr val="9CA3AF"/>
                </a:solidFill>
                <a:latin typeface="Calibri"/>
              </a:rPr>
              <a:t>Lovesac</a:t>
            </a:r>
            <a:r>
              <a:rPr lang="en-GB" sz="800" dirty="0">
                <a:solidFill>
                  <a:srgbClr val="9CA3AF"/>
                </a:solidFill>
                <a:latin typeface="Calibri"/>
              </a:rPr>
              <a:t> × </a:t>
            </a:r>
            <a:r>
              <a:rPr lang="en-GB" sz="800" dirty="0" err="1">
                <a:solidFill>
                  <a:srgbClr val="9CA3AF"/>
                </a:solidFill>
                <a:latin typeface="Calibri"/>
              </a:rPr>
              <a:t>Conscia</a:t>
            </a:r>
            <a:r>
              <a:rPr lang="en-GB" sz="800" dirty="0">
                <a:solidFill>
                  <a:srgbClr val="9CA3AF"/>
                </a:solidFill>
                <a:latin typeface="Calibri"/>
              </a:rPr>
              <a:t>  ·  Project Kick-off  ·  April 8, 2026</a:t>
            </a:r>
            <a:endParaRPr lang="en-US" sz="800" dirty="0">
              <a:solidFill>
                <a:srgbClr val="9CA3A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9567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68">
          <a:extLst>
            <a:ext uri="{FF2B5EF4-FFF2-40B4-BE49-F238E27FC236}">
              <a16:creationId xmlns:a16="http://schemas.microsoft.com/office/drawing/2014/main" id="{19C5B6C3-EC5D-A024-67E4-C04F27B2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>
            <a:extLst>
              <a:ext uri="{FF2B5EF4-FFF2-40B4-BE49-F238E27FC236}">
                <a16:creationId xmlns:a16="http://schemas.microsoft.com/office/drawing/2014/main" id="{71357D2E-C310-02AA-F756-EFFFBB683F57}"/>
              </a:ext>
            </a:extLst>
          </p:cNvPr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DCB45578-10A7-5D66-0068-B929272BDD08}"/>
              </a:ext>
            </a:extLst>
          </p:cNvPr>
          <p:cNvSpPr/>
          <p:nvPr/>
        </p:nvSpPr>
        <p:spPr>
          <a:xfrm>
            <a:off x="457199" y="203200"/>
            <a:ext cx="817098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Problem Statement - </a:t>
            </a:r>
            <a:r>
              <a:rPr lang="en-GB" sz="2400" dirty="0"/>
              <a:t>"What </a:t>
            </a:r>
            <a:r>
              <a:rPr lang="en-GB" sz="2400" dirty="0" err="1"/>
              <a:t>Lovesac</a:t>
            </a:r>
            <a:r>
              <a:rPr lang="en-GB" sz="2400" dirty="0"/>
              <a:t> can't do today"</a:t>
            </a:r>
            <a:endParaRPr lang="en-US" sz="24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2" name="D">
            <a:extLst>
              <a:ext uri="{FF2B5EF4-FFF2-40B4-BE49-F238E27FC236}">
                <a16:creationId xmlns:a16="http://schemas.microsoft.com/office/drawing/2014/main" id="{85C418F3-05F5-EA69-8AA9-775B9708A7C1}"/>
              </a:ext>
            </a:extLst>
          </p:cNvPr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F">
            <a:extLst>
              <a:ext uri="{FF2B5EF4-FFF2-40B4-BE49-F238E27FC236}">
                <a16:creationId xmlns:a16="http://schemas.microsoft.com/office/drawing/2014/main" id="{C7A76223-BD67-C686-D960-7058CB450FFB}"/>
              </a:ext>
            </a:extLst>
          </p:cNvPr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GB" sz="800" dirty="0" err="1">
                <a:solidFill>
                  <a:srgbClr val="9CA3AF"/>
                </a:solidFill>
                <a:latin typeface="Calibri"/>
              </a:rPr>
              <a:t>Lovesac</a:t>
            </a:r>
            <a:r>
              <a:rPr lang="en-GB" sz="800" dirty="0">
                <a:solidFill>
                  <a:srgbClr val="9CA3AF"/>
                </a:solidFill>
                <a:latin typeface="Calibri"/>
              </a:rPr>
              <a:t> × </a:t>
            </a:r>
            <a:r>
              <a:rPr lang="en-GB" sz="800" dirty="0" err="1">
                <a:solidFill>
                  <a:srgbClr val="9CA3AF"/>
                </a:solidFill>
                <a:latin typeface="Calibri"/>
              </a:rPr>
              <a:t>Conscia</a:t>
            </a:r>
            <a:r>
              <a:rPr lang="en-GB" sz="800" dirty="0">
                <a:solidFill>
                  <a:srgbClr val="9CA3AF"/>
                </a:solidFill>
                <a:latin typeface="Calibri"/>
              </a:rPr>
              <a:t>  ·  Project Kick-off  ·  April 8, 2026</a:t>
            </a:r>
            <a:endParaRPr lang="en-US" sz="80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01" name="BB">
            <a:extLst>
              <a:ext uri="{FF2B5EF4-FFF2-40B4-BE49-F238E27FC236}">
                <a16:creationId xmlns:a16="http://schemas.microsoft.com/office/drawing/2014/main" id="{00A2DEF1-5A92-C9D7-55A3-7A62041C6DFE}"/>
              </a:ext>
            </a:extLst>
          </p:cNvPr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70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Meet the Teams</a:t>
            </a:r>
          </a:p>
        </p:txBody>
      </p:sp>
      <p:sp>
        <p:nvSpPr>
          <p:cNvPr id="12" name="Div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_Conscia"/>
          <p:cNvSpPr/>
          <p:nvPr/>
        </p:nvSpPr>
        <p:spPr>
          <a:xfrm>
            <a:off x="355600" y="838200"/>
            <a:ext cx="4064000" cy="279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_Conscia"/>
          <p:cNvSpPr/>
          <p:nvPr/>
        </p:nvSpPr>
        <p:spPr>
          <a:xfrm>
            <a:off x="355600" y="8382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Name_Conscia"/>
          <p:cNvSpPr/>
          <p:nvPr/>
        </p:nvSpPr>
        <p:spPr>
          <a:xfrm>
            <a:off x="533400" y="9652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dirty="0">
                <a:solidFill>
                  <a:srgbClr val="EB1A63"/>
                </a:solidFill>
                <a:latin typeface="Calibri"/>
              </a:rPr>
              <a:t>Conscia</a:t>
            </a:r>
          </a:p>
        </p:txBody>
      </p:sp>
      <p:sp>
        <p:nvSpPr>
          <p:cNvPr id="103" name="Av_M"/>
          <p:cNvSpPr/>
          <p:nvPr/>
        </p:nvSpPr>
        <p:spPr>
          <a:xfrm>
            <a:off x="533400" y="13970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M</a:t>
            </a:r>
          </a:p>
        </p:txBody>
      </p:sp>
      <p:sp>
        <p:nvSpPr>
          <p:cNvPr id="104" name="Mem_M"/>
          <p:cNvSpPr/>
          <p:nvPr/>
        </p:nvSpPr>
        <p:spPr>
          <a:xfrm>
            <a:off x="914400" y="12954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Morgan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Project Manager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morgan@conscia.co</a:t>
            </a:r>
          </a:p>
        </p:txBody>
      </p:sp>
      <p:sp>
        <p:nvSpPr>
          <p:cNvPr id="105" name="Av_D"/>
          <p:cNvSpPr/>
          <p:nvPr/>
        </p:nvSpPr>
        <p:spPr>
          <a:xfrm>
            <a:off x="533400" y="31496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D</a:t>
            </a:r>
          </a:p>
        </p:txBody>
      </p:sp>
      <p:sp>
        <p:nvSpPr>
          <p:cNvPr id="106" name="Mem_D"/>
          <p:cNvSpPr/>
          <p:nvPr/>
        </p:nvSpPr>
        <p:spPr>
          <a:xfrm>
            <a:off x="914400" y="30480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David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Solution Architect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david@conscia.co</a:t>
            </a:r>
          </a:p>
        </p:txBody>
      </p:sp>
      <p:sp>
        <p:nvSpPr>
          <p:cNvPr id="107" name="Av_L"/>
          <p:cNvSpPr/>
          <p:nvPr/>
        </p:nvSpPr>
        <p:spPr>
          <a:xfrm>
            <a:off x="533400" y="25654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L</a:t>
            </a:r>
          </a:p>
        </p:txBody>
      </p:sp>
      <p:sp>
        <p:nvSpPr>
          <p:cNvPr id="108" name="Mem_L"/>
          <p:cNvSpPr/>
          <p:nvPr/>
        </p:nvSpPr>
        <p:spPr>
          <a:xfrm>
            <a:off x="914400" y="24638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Laurel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Sr. Solution Engineer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laurel@conscia.ai</a:t>
            </a:r>
          </a:p>
        </p:txBody>
      </p:sp>
      <p:sp>
        <p:nvSpPr>
          <p:cNvPr id="109" name="Av_S"/>
          <p:cNvSpPr/>
          <p:nvPr/>
        </p:nvSpPr>
        <p:spPr>
          <a:xfrm>
            <a:off x="533400" y="19812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S</a:t>
            </a:r>
          </a:p>
        </p:txBody>
      </p:sp>
      <p:sp>
        <p:nvSpPr>
          <p:cNvPr id="110" name="Mem_S"/>
          <p:cNvSpPr/>
          <p:nvPr/>
        </p:nvSpPr>
        <p:spPr>
          <a:xfrm>
            <a:off x="914400" y="18796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Sana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Product Owner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sana@conscia.ai</a:t>
            </a:r>
          </a:p>
        </p:txBody>
      </p:sp>
      <p:sp>
        <p:nvSpPr>
          <p:cNvPr id="111" name="Card_Lovesac"/>
          <p:cNvSpPr/>
          <p:nvPr/>
        </p:nvSpPr>
        <p:spPr>
          <a:xfrm>
            <a:off x="4699000" y="838200"/>
            <a:ext cx="4064000" cy="279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Acc_Lovesac"/>
          <p:cNvSpPr/>
          <p:nvPr/>
        </p:nvSpPr>
        <p:spPr>
          <a:xfrm>
            <a:off x="4699000" y="8382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Name_Lovesac"/>
          <p:cNvSpPr/>
          <p:nvPr/>
        </p:nvSpPr>
        <p:spPr>
          <a:xfrm>
            <a:off x="4876800" y="9652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dirty="0">
                <a:solidFill>
                  <a:srgbClr val="07BCD6"/>
                </a:solidFill>
                <a:latin typeface="Calibri"/>
              </a:rPr>
              <a:t>Lovesac</a:t>
            </a:r>
          </a:p>
        </p:txBody>
      </p:sp>
      <p:sp>
        <p:nvSpPr>
          <p:cNvPr id="114" name="Av_A"/>
          <p:cNvSpPr/>
          <p:nvPr/>
        </p:nvSpPr>
        <p:spPr>
          <a:xfrm>
            <a:off x="4876800" y="1752600"/>
            <a:ext cx="304800" cy="304800"/>
          </a:xfrm>
          <a:prstGeom prst="ellipse">
            <a:avLst/>
          </a:prstGeom>
          <a:solidFill>
            <a:srgbClr val="07BCD6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7BCD6"/>
                </a:solidFill>
                <a:latin typeface="Calibri"/>
              </a:rPr>
              <a:t>A</a:t>
            </a:r>
          </a:p>
        </p:txBody>
      </p:sp>
      <p:sp>
        <p:nvSpPr>
          <p:cNvPr id="115" name="Mem_A"/>
          <p:cNvSpPr/>
          <p:nvPr/>
        </p:nvSpPr>
        <p:spPr>
          <a:xfrm>
            <a:off x="5257800" y="16510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Amelia Jacobs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VP, Customer Experience &amp; IT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ameliajacobs@lovesac.com</a:t>
            </a:r>
          </a:p>
        </p:txBody>
      </p:sp>
      <p:sp>
        <p:nvSpPr>
          <p:cNvPr id="116" name="Av_T"/>
          <p:cNvSpPr/>
          <p:nvPr/>
        </p:nvSpPr>
        <p:spPr>
          <a:xfrm>
            <a:off x="4876800" y="2336800"/>
            <a:ext cx="304800" cy="304800"/>
          </a:xfrm>
          <a:prstGeom prst="ellipse">
            <a:avLst/>
          </a:prstGeom>
          <a:solidFill>
            <a:srgbClr val="07BCD6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7BCD6"/>
                </a:solidFill>
                <a:latin typeface="Calibri"/>
              </a:rPr>
              <a:t>T</a:t>
            </a:r>
          </a:p>
        </p:txBody>
      </p:sp>
      <p:sp>
        <p:nvSpPr>
          <p:cNvPr id="117" name="Mem_T"/>
          <p:cNvSpPr/>
          <p:nvPr/>
        </p:nvSpPr>
        <p:spPr>
          <a:xfrm>
            <a:off x="5257800" y="22352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Tate Swanson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Sr. Domain Data Architect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tateswanson@lovesac.com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0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GB" sz="2400" b="1" dirty="0" err="1">
                <a:solidFill>
                  <a:srgbClr val="111827"/>
                </a:solidFill>
                <a:latin typeface="Calibri"/>
              </a:rPr>
              <a:t>Conscia</a:t>
            </a:r>
            <a:r>
              <a:rPr lang="en-GB" sz="2400" b="1" dirty="0">
                <a:solidFill>
                  <a:srgbClr val="111827"/>
                </a:solidFill>
                <a:latin typeface="Calibri"/>
              </a:rPr>
              <a:t> Platform Overview</a:t>
            </a:r>
            <a:endParaRPr lang="en-US" sz="24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Banner"/>
          <p:cNvSpPr/>
          <p:nvPr/>
        </p:nvSpPr>
        <p:spPr>
          <a:xfrm>
            <a:off x="355600" y="787400"/>
            <a:ext cx="84328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000" b="1" spc="150" dirty="0">
                <a:solidFill>
                  <a:srgbClr val="FFFFFF"/>
                </a:solidFill>
                <a:latin typeface="Calibri"/>
              </a:rPr>
              <a:t>CONSCIA: BEYOND TRADITIONAL PIM  —  A GOVERNED SEMANTIC FOUNDATION FOR COMMERCE</a:t>
            </a:r>
          </a:p>
        </p:txBody>
      </p:sp>
      <p:sp>
        <p:nvSpPr>
          <p:cNvPr id="100" name="C0"/>
          <p:cNvSpPr/>
          <p:nvPr/>
        </p:nvSpPr>
        <p:spPr>
          <a:xfrm>
            <a:off x="355600" y="1219200"/>
            <a:ext cx="2667000" cy="3479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0"/>
          <p:cNvSpPr/>
          <p:nvPr/>
        </p:nvSpPr>
        <p:spPr>
          <a:xfrm>
            <a:off x="355600" y="12192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0"/>
          <p:cNvSpPr/>
          <p:nvPr/>
        </p:nvSpPr>
        <p:spPr>
          <a:xfrm>
            <a:off x="508000" y="13970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EB1A63"/>
                </a:solidFill>
                <a:latin typeface="Calibri"/>
              </a:rPr>
              <a:t>01  SEMANTIC FOUNDATION</a:t>
            </a:r>
          </a:p>
        </p:txBody>
      </p:sp>
      <p:sp>
        <p:nvSpPr>
          <p:cNvPr id="103" name="CT0"/>
          <p:cNvSpPr/>
          <p:nvPr/>
        </p:nvSpPr>
        <p:spPr>
          <a:xfrm>
            <a:off x="508000" y="1676400"/>
            <a:ext cx="236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b="1" dirty="0">
                <a:solidFill>
                  <a:srgbClr val="111827"/>
                </a:solidFill>
                <a:latin typeface="Calibri"/>
              </a:rPr>
              <a:t>DX Graph</a:t>
            </a:r>
          </a:p>
        </p:txBody>
      </p:sp>
      <p:sp>
        <p:nvSpPr>
          <p:cNvPr id="104" name="CD0"/>
          <p:cNvSpPr/>
          <p:nvPr/>
        </p:nvSpPr>
        <p:spPr>
          <a:xfrm>
            <a:off x="508000" y="2032000"/>
            <a:ext cx="2362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CB0"/>
          <p:cNvSpPr/>
          <p:nvPr/>
        </p:nvSpPr>
        <p:spPr>
          <a:xfrm>
            <a:off x="508000" y="2133600"/>
            <a:ext cx="23622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Product master with unified schema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Semantic relationships between entities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Version-controlled, governed data layer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Foundation for AI-ready product data</a:t>
            </a:r>
          </a:p>
        </p:txBody>
      </p:sp>
      <p:sp>
        <p:nvSpPr>
          <p:cNvPr id="110" name="C1"/>
          <p:cNvSpPr/>
          <p:nvPr/>
        </p:nvSpPr>
        <p:spPr>
          <a:xfrm>
            <a:off x="3213100" y="1219200"/>
            <a:ext cx="2667000" cy="3479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1"/>
          <p:cNvSpPr/>
          <p:nvPr/>
        </p:nvSpPr>
        <p:spPr>
          <a:xfrm>
            <a:off x="3213100" y="12192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1"/>
          <p:cNvSpPr/>
          <p:nvPr/>
        </p:nvSpPr>
        <p:spPr>
          <a:xfrm>
            <a:off x="3365500" y="13970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07BCD6"/>
                </a:solidFill>
                <a:latin typeface="Calibri"/>
              </a:rPr>
              <a:t>02  RULES ENGINE</a:t>
            </a:r>
          </a:p>
        </p:txBody>
      </p:sp>
      <p:sp>
        <p:nvSpPr>
          <p:cNvPr id="113" name="CT1"/>
          <p:cNvSpPr/>
          <p:nvPr/>
        </p:nvSpPr>
        <p:spPr>
          <a:xfrm>
            <a:off x="3365500" y="1676400"/>
            <a:ext cx="236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b="1" dirty="0">
                <a:solidFill>
                  <a:srgbClr val="111827"/>
                </a:solidFill>
                <a:latin typeface="Calibri"/>
              </a:rPr>
              <a:t>DX Engine</a:t>
            </a:r>
          </a:p>
        </p:txBody>
      </p:sp>
      <p:sp>
        <p:nvSpPr>
          <p:cNvPr id="114" name="CD1"/>
          <p:cNvSpPr/>
          <p:nvPr/>
        </p:nvSpPr>
        <p:spPr>
          <a:xfrm>
            <a:off x="3365500" y="2032000"/>
            <a:ext cx="2362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CB1"/>
          <p:cNvSpPr/>
          <p:nvPr/>
        </p:nvSpPr>
        <p:spPr>
          <a:xfrm>
            <a:off x="3365500" y="2133600"/>
            <a:ext cx="23622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Real-time orchestration of business rules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Zero-code configuration interface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Eligibility, pricing, and content rules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Deterministic + AI-powered decisioning</a:t>
            </a:r>
          </a:p>
        </p:txBody>
      </p:sp>
      <p:sp>
        <p:nvSpPr>
          <p:cNvPr id="120" name="C2"/>
          <p:cNvSpPr/>
          <p:nvPr/>
        </p:nvSpPr>
        <p:spPr>
          <a:xfrm>
            <a:off x="6070600" y="1219200"/>
            <a:ext cx="2667000" cy="3479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2"/>
          <p:cNvSpPr/>
          <p:nvPr/>
        </p:nvSpPr>
        <p:spPr>
          <a:xfrm>
            <a:off x="6070600" y="12192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2"/>
          <p:cNvSpPr/>
          <p:nvPr/>
        </p:nvSpPr>
        <p:spPr>
          <a:xfrm>
            <a:off x="6223000" y="13970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8AC542"/>
                </a:solidFill>
                <a:latin typeface="Calibri"/>
              </a:rPr>
              <a:t>03  EXPERIENCE APIs</a:t>
            </a:r>
          </a:p>
        </p:txBody>
      </p:sp>
      <p:sp>
        <p:nvSpPr>
          <p:cNvPr id="123" name="CT2"/>
          <p:cNvSpPr/>
          <p:nvPr/>
        </p:nvSpPr>
        <p:spPr>
          <a:xfrm>
            <a:off x="6223000" y="1676400"/>
            <a:ext cx="236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b="1" dirty="0">
                <a:solidFill>
                  <a:srgbClr val="111827"/>
                </a:solidFill>
                <a:latin typeface="Calibri"/>
              </a:rPr>
              <a:t>Real-Time APIs</a:t>
            </a:r>
          </a:p>
        </p:txBody>
      </p:sp>
      <p:sp>
        <p:nvSpPr>
          <p:cNvPr id="124" name="CD2"/>
          <p:cNvSpPr/>
          <p:nvPr/>
        </p:nvSpPr>
        <p:spPr>
          <a:xfrm>
            <a:off x="6223000" y="2032000"/>
            <a:ext cx="2362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CB2"/>
          <p:cNvSpPr/>
          <p:nvPr/>
        </p:nvSpPr>
        <p:spPr>
          <a:xfrm>
            <a:off x="6223000" y="2133600"/>
            <a:ext cx="23622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One API for every channel and agent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Consistent responses across touchpoints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Sub-second response times at edge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No frontend glue code required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97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Proposed Architecture Fit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ub"/>
          <p:cNvSpPr/>
          <p:nvPr/>
        </p:nvSpPr>
        <p:spPr>
          <a:xfrm>
            <a:off x="355600" y="762000"/>
            <a:ext cx="8432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Two complementary platform capabilities that together make Conscia the governed product master for Lovesac.</a:t>
            </a:r>
          </a:p>
        </p:txBody>
      </p:sp>
      <p:sp>
        <p:nvSpPr>
          <p:cNvPr id="100" name="CC0"/>
          <p:cNvSpPr/>
          <p:nvPr/>
        </p:nvSpPr>
        <p:spPr>
          <a:xfrm>
            <a:off x="355600" y="1041400"/>
            <a:ext cx="4064000" cy="368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CA0"/>
          <p:cNvSpPr/>
          <p:nvPr/>
        </p:nvSpPr>
        <p:spPr>
          <a:xfrm>
            <a:off x="355600" y="10414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CL0"/>
          <p:cNvSpPr/>
          <p:nvPr/>
        </p:nvSpPr>
        <p:spPr>
          <a:xfrm>
            <a:off x="533400" y="11938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EB1A63"/>
                </a:solidFill>
                <a:latin typeface="Calibri"/>
              </a:rPr>
              <a:t>DX GRAPH</a:t>
            </a:r>
          </a:p>
        </p:txBody>
      </p:sp>
      <p:sp>
        <p:nvSpPr>
          <p:cNvPr id="103" name="CT0"/>
          <p:cNvSpPr/>
          <p:nvPr/>
        </p:nvSpPr>
        <p:spPr>
          <a:xfrm>
            <a:off x="533400" y="14224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Governed Product Data Layer</a:t>
            </a:r>
          </a:p>
        </p:txBody>
      </p:sp>
      <p:sp>
        <p:nvSpPr>
          <p:cNvPr id="104" name="CTag0"/>
          <p:cNvSpPr/>
          <p:nvPr/>
        </p:nvSpPr>
        <p:spPr>
          <a:xfrm>
            <a:off x="533400" y="17399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i="1" dirty="0">
                <a:solidFill>
                  <a:srgbClr val="9CA3AF"/>
                </a:solidFill>
                <a:latin typeface="Calibri"/>
              </a:rPr>
              <a:t>"What is true?"</a:t>
            </a:r>
          </a:p>
        </p:txBody>
      </p:sp>
      <p:sp>
        <p:nvSpPr>
          <p:cNvPr id="105" name="CD0"/>
          <p:cNvSpPr/>
          <p:nvPr/>
        </p:nvSpPr>
        <p:spPr>
          <a:xfrm>
            <a:off x="533400" y="2006600"/>
            <a:ext cx="368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CB0"/>
          <p:cNvSpPr/>
          <p:nvPr/>
        </p:nvSpPr>
        <p:spPr>
          <a:xfrm>
            <a:off x="533400" y="2108200"/>
            <a:ext cx="3683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Unified SKU Collection — all brands, lines, and roles in one graph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Compatibility relationships: Cover → Insert (dynamic), Finished Good composition, Taxonomy mappings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Up to 3 parallel Taxonomy hierarchies for merchandising, navigation, and filtering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Governed, version-controlled data layer for AI-ready product data</a:t>
            </a:r>
          </a:p>
        </p:txBody>
      </p:sp>
      <p:sp>
        <p:nvSpPr>
          <p:cNvPr id="110" name="CC1"/>
          <p:cNvSpPr/>
          <p:nvPr/>
        </p:nvSpPr>
        <p:spPr>
          <a:xfrm>
            <a:off x="4699000" y="1041400"/>
            <a:ext cx="4064000" cy="368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CA1"/>
          <p:cNvSpPr/>
          <p:nvPr/>
        </p:nvSpPr>
        <p:spPr>
          <a:xfrm>
            <a:off x="4699000" y="10414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L1"/>
          <p:cNvSpPr/>
          <p:nvPr/>
        </p:nvSpPr>
        <p:spPr>
          <a:xfrm>
            <a:off x="4876800" y="11938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07BCD6"/>
                </a:solidFill>
                <a:latin typeface="Calibri"/>
              </a:rPr>
              <a:t>DX ENGINE</a:t>
            </a:r>
          </a:p>
        </p:txBody>
      </p:sp>
      <p:sp>
        <p:nvSpPr>
          <p:cNvPr id="113" name="CT1"/>
          <p:cNvSpPr/>
          <p:nvPr/>
        </p:nvSpPr>
        <p:spPr>
          <a:xfrm>
            <a:off x="4876800" y="14224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Real-Time Orchestration Layer</a:t>
            </a:r>
          </a:p>
        </p:txBody>
      </p:sp>
      <p:sp>
        <p:nvSpPr>
          <p:cNvPr id="114" name="CTag1"/>
          <p:cNvSpPr/>
          <p:nvPr/>
        </p:nvSpPr>
        <p:spPr>
          <a:xfrm>
            <a:off x="4876800" y="17399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i="1" dirty="0">
                <a:solidFill>
                  <a:srgbClr val="9CA3AF"/>
                </a:solidFill>
                <a:latin typeface="Calibri"/>
              </a:rPr>
              <a:t>"What should happen?"</a:t>
            </a:r>
          </a:p>
        </p:txBody>
      </p:sp>
      <p:sp>
        <p:nvSpPr>
          <p:cNvPr id="115" name="CD1"/>
          <p:cNvSpPr/>
          <p:nvPr/>
        </p:nvSpPr>
        <p:spPr>
          <a:xfrm>
            <a:off x="4876800" y="2006600"/>
            <a:ext cx="368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CB1"/>
          <p:cNvSpPr/>
          <p:nvPr/>
        </p:nvSpPr>
        <p:spPr>
          <a:xfrm>
            <a:off x="4876800" y="2108200"/>
            <a:ext cx="3683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validation: which components go together, in what quantity, at what price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Wizard-step orchestration: dynamic filtering of options based on prior selections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BOM explosion: breaking finished goods into shippable components in real-time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One Experience API serving POS, web, agents, and feeds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25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Success Metrics &amp; KPIs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SC0"/>
          <p:cNvSpPr/>
          <p:nvPr/>
        </p:nvSpPr>
        <p:spPr>
          <a:xfrm>
            <a:off x="330200" y="838200"/>
            <a:ext cx="2730500" cy="391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SA0"/>
          <p:cNvSpPr/>
          <p:nvPr/>
        </p:nvSpPr>
        <p:spPr>
          <a:xfrm>
            <a:off x="3302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T0"/>
          <p:cNvSpPr/>
          <p:nvPr/>
        </p:nvSpPr>
        <p:spPr>
          <a:xfrm>
            <a:off x="482600" y="990600"/>
            <a:ext cx="24257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Phase 1 Goals</a:t>
            </a:r>
          </a:p>
        </p:txBody>
      </p:sp>
      <p:sp>
        <p:nvSpPr>
          <p:cNvPr id="103" name="SD0"/>
          <p:cNvSpPr/>
          <p:nvPr/>
        </p:nvSpPr>
        <p:spPr>
          <a:xfrm>
            <a:off x="482600" y="1295400"/>
            <a:ext cx="24257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B0"/>
          <p:cNvSpPr/>
          <p:nvPr/>
        </p:nvSpPr>
        <p:spPr>
          <a:xfrm>
            <a:off x="482600" y="1397000"/>
            <a:ext cx="2425700" cy="325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Product graph fully ingested into DX Graph</a:t>
            </a:r>
          </a:p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All Sactional SKU variants modelled as collections</a:t>
            </a:r>
          </a:p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API response time &lt; 200ms for configurator queries</a:t>
            </a:r>
          </a:p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Zero data sync failures across 30-day period</a:t>
            </a:r>
          </a:p>
        </p:txBody>
      </p:sp>
      <p:sp>
        <p:nvSpPr>
          <p:cNvPr id="110" name="SC1"/>
          <p:cNvSpPr/>
          <p:nvPr/>
        </p:nvSpPr>
        <p:spPr>
          <a:xfrm>
            <a:off x="3213100" y="838200"/>
            <a:ext cx="2730500" cy="391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SA1"/>
          <p:cNvSpPr/>
          <p:nvPr/>
        </p:nvSpPr>
        <p:spPr>
          <a:xfrm>
            <a:off x="32131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1"/>
          <p:cNvSpPr/>
          <p:nvPr/>
        </p:nvSpPr>
        <p:spPr>
          <a:xfrm>
            <a:off x="3365500" y="990600"/>
            <a:ext cx="24257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Business Outcomes</a:t>
            </a:r>
          </a:p>
        </p:txBody>
      </p:sp>
      <p:sp>
        <p:nvSpPr>
          <p:cNvPr id="113" name="SD1"/>
          <p:cNvSpPr/>
          <p:nvPr/>
        </p:nvSpPr>
        <p:spPr>
          <a:xfrm>
            <a:off x="3365500" y="1295400"/>
            <a:ext cx="24257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B1"/>
          <p:cNvSpPr/>
          <p:nvPr/>
        </p:nvSpPr>
        <p:spPr>
          <a:xfrm>
            <a:off x="3365500" y="1397000"/>
            <a:ext cx="2425700" cy="325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Configurator powered by live DX Graph data</a:t>
            </a:r>
          </a:p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Reduce manual product update effort by 60%+</a:t>
            </a:r>
          </a:p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Single source of truth for product relationships</a:t>
            </a:r>
          </a:p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Consistent pricing across web, in-store &amp; agents</a:t>
            </a:r>
          </a:p>
        </p:txBody>
      </p:sp>
      <p:sp>
        <p:nvSpPr>
          <p:cNvPr id="120" name="SC2"/>
          <p:cNvSpPr/>
          <p:nvPr/>
        </p:nvSpPr>
        <p:spPr>
          <a:xfrm>
            <a:off x="6096000" y="838200"/>
            <a:ext cx="2730500" cy="391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SA2"/>
          <p:cNvSpPr/>
          <p:nvPr/>
        </p:nvSpPr>
        <p:spPr>
          <a:xfrm>
            <a:off x="60960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T2"/>
          <p:cNvSpPr/>
          <p:nvPr/>
        </p:nvSpPr>
        <p:spPr>
          <a:xfrm>
            <a:off x="6248400" y="990600"/>
            <a:ext cx="24257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How We'll Measure</a:t>
            </a:r>
          </a:p>
        </p:txBody>
      </p:sp>
      <p:sp>
        <p:nvSpPr>
          <p:cNvPr id="123" name="SD2"/>
          <p:cNvSpPr/>
          <p:nvPr/>
        </p:nvSpPr>
        <p:spPr>
          <a:xfrm>
            <a:off x="6248400" y="1295400"/>
            <a:ext cx="24257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B2"/>
          <p:cNvSpPr/>
          <p:nvPr/>
        </p:nvSpPr>
        <p:spPr>
          <a:xfrm>
            <a:off x="6248400" y="1397000"/>
            <a:ext cx="2425700" cy="325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Weekly sync health dashboard reviewed in stand-up</a:t>
            </a:r>
          </a:p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API latency monitored via Conscia Observability</a:t>
            </a:r>
          </a:p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Lovesac team UAT sign-off per milestone</a:t>
            </a:r>
          </a:p>
          <a:p>
            <a:pPr marL="171450" indent="-171450">
              <a:buChar char="·"/>
            </a:pPr>
            <a:r>
              <a:rPr lang="en-US" sz="1100" dirty="0">
                <a:solidFill>
                  <a:srgbClr val="374151"/>
                </a:solidFill>
                <a:latin typeface="Calibri"/>
              </a:rPr>
              <a:t>Rollback criteria defined before each phase go-live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81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Early Findings from Your Data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StatCard"/>
          <p:cNvSpPr/>
          <p:nvPr/>
        </p:nvSpPr>
        <p:spPr>
          <a:xfrm>
            <a:off x="355600" y="838200"/>
            <a:ext cx="2159000" cy="3860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tatAcc"/>
          <p:cNvSpPr/>
          <p:nvPr/>
        </p:nvSpPr>
        <p:spPr>
          <a:xfrm>
            <a:off x="355600" y="838200"/>
            <a:ext cx="2159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StatNum"/>
          <p:cNvSpPr/>
          <p:nvPr/>
        </p:nvSpPr>
        <p:spPr>
          <a:xfrm>
            <a:off x="508000" y="12192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 dirty="0">
                <a:solidFill>
                  <a:srgbClr val="F8981D"/>
                </a:solidFill>
                <a:latin typeface="Calibri"/>
              </a:rPr>
              <a:t>2,400+</a:t>
            </a:r>
          </a:p>
        </p:txBody>
      </p:sp>
      <p:sp>
        <p:nvSpPr>
          <p:cNvPr id="23" name="StatDesc"/>
          <p:cNvSpPr/>
          <p:nvPr/>
        </p:nvSpPr>
        <p:spPr>
          <a:xfrm>
            <a:off x="508000" y="21082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/>
              </a:rPr>
              <a:t>Active SKUs identified across product catalog</a:t>
            </a:r>
          </a:p>
        </p:txBody>
      </p:sp>
      <p:sp>
        <p:nvSpPr>
          <p:cNvPr id="24" name="Challenge"/>
          <p:cNvSpPr/>
          <p:nvPr/>
        </p:nvSpPr>
        <p:spPr>
          <a:xfrm>
            <a:off x="508000" y="2997200"/>
            <a:ext cx="18542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dirty="0">
                <a:solidFill>
                  <a:srgbClr val="111827"/>
                </a:solidFill>
                <a:latin typeface="Calibri"/>
              </a:rPr>
              <a:t>Also observed:</a:t>
            </a:r>
          </a:p>
          <a:p>
            <a:pPr marL="114300" indent="-114300">
              <a:buChar char="·"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~18 attribute fields per SKU</a:t>
            </a:r>
          </a:p>
          <a:p>
            <a:pPr marL="114300" indent="-114300">
              <a:buChar char="·"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4 product families identified</a:t>
            </a:r>
          </a:p>
          <a:p>
            <a:pPr marL="114300" indent="-114300">
              <a:buChar char="·"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Multiple legacy naming conventions</a:t>
            </a:r>
          </a:p>
        </p:txBody>
      </p:sp>
      <p:sp>
        <p:nvSpPr>
          <p:cNvPr id="100" name="PC0"/>
          <p:cNvSpPr/>
          <p:nvPr/>
        </p:nvSpPr>
        <p:spPr>
          <a:xfrm>
            <a:off x="2692400" y="838200"/>
            <a:ext cx="619760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PA0"/>
          <p:cNvSpPr/>
          <p:nvPr/>
        </p:nvSpPr>
        <p:spPr>
          <a:xfrm>
            <a:off x="2692400" y="838200"/>
            <a:ext cx="50800" cy="11430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PL0"/>
          <p:cNvSpPr/>
          <p:nvPr/>
        </p:nvSpPr>
        <p:spPr>
          <a:xfrm>
            <a:off x="2895600" y="965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EB1A63"/>
                </a:solidFill>
                <a:latin typeface="Calibri"/>
              </a:rPr>
              <a:t>CATALOG STRUCTURE</a:t>
            </a:r>
          </a:p>
        </p:txBody>
      </p:sp>
      <p:sp>
        <p:nvSpPr>
          <p:cNvPr id="103" name="PT0"/>
          <p:cNvSpPr/>
          <p:nvPr/>
        </p:nvSpPr>
        <p:spPr>
          <a:xfrm>
            <a:off x="2895600" y="11684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Fragmented product hierarchy</a:t>
            </a:r>
          </a:p>
        </p:txBody>
      </p:sp>
      <p:sp>
        <p:nvSpPr>
          <p:cNvPr id="104" name="PD0"/>
          <p:cNvSpPr/>
          <p:nvPr/>
        </p:nvSpPr>
        <p:spPr>
          <a:xfrm>
            <a:off x="2895600" y="1422400"/>
            <a:ext cx="5842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Sactional components, covers, and accessories are stored in flat lists without parent-child relationships. DX Graph will model these as linked nodes — enabling collection-based queries for the first time.</a:t>
            </a:r>
          </a:p>
        </p:txBody>
      </p:sp>
      <p:sp>
        <p:nvSpPr>
          <p:cNvPr id="110" name="PC1"/>
          <p:cNvSpPr/>
          <p:nvPr/>
        </p:nvSpPr>
        <p:spPr>
          <a:xfrm>
            <a:off x="2692400" y="2133600"/>
            <a:ext cx="619760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PA1"/>
          <p:cNvSpPr/>
          <p:nvPr/>
        </p:nvSpPr>
        <p:spPr>
          <a:xfrm>
            <a:off x="2692400" y="2133600"/>
            <a:ext cx="50800" cy="11430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PL1"/>
          <p:cNvSpPr/>
          <p:nvPr/>
        </p:nvSpPr>
        <p:spPr>
          <a:xfrm>
            <a:off x="2895600" y="2260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07BCD6"/>
                </a:solidFill>
                <a:latin typeface="Calibri"/>
              </a:rPr>
              <a:t>DATA QUALITY</a:t>
            </a:r>
          </a:p>
        </p:txBody>
      </p:sp>
      <p:sp>
        <p:nvSpPr>
          <p:cNvPr id="113" name="PT1"/>
          <p:cNvSpPr/>
          <p:nvPr/>
        </p:nvSpPr>
        <p:spPr>
          <a:xfrm>
            <a:off x="2895600" y="24638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Inconsistent attribute naming</a:t>
            </a:r>
          </a:p>
        </p:txBody>
      </p:sp>
      <p:sp>
        <p:nvSpPr>
          <p:cNvPr id="114" name="PD1"/>
          <p:cNvSpPr/>
          <p:nvPr/>
        </p:nvSpPr>
        <p:spPr>
          <a:xfrm>
            <a:off x="2895600" y="2717800"/>
            <a:ext cx="5842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Color, fabric, and dimension attributes use different naming conventions across product families. We recommend a normalisation pass during ingest to establish canonical attribute keys in the graph.</a:t>
            </a:r>
          </a:p>
        </p:txBody>
      </p:sp>
      <p:sp>
        <p:nvSpPr>
          <p:cNvPr id="120" name="PC2"/>
          <p:cNvSpPr/>
          <p:nvPr/>
        </p:nvSpPr>
        <p:spPr>
          <a:xfrm>
            <a:off x="2692400" y="3429000"/>
            <a:ext cx="619760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PA2"/>
          <p:cNvSpPr/>
          <p:nvPr/>
        </p:nvSpPr>
        <p:spPr>
          <a:xfrm>
            <a:off x="2692400" y="3429000"/>
            <a:ext cx="50800" cy="11430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PL2"/>
          <p:cNvSpPr/>
          <p:nvPr/>
        </p:nvSpPr>
        <p:spPr>
          <a:xfrm>
            <a:off x="2895600" y="3556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8AC542"/>
                </a:solidFill>
                <a:latin typeface="Calibri"/>
              </a:rPr>
              <a:t>INTEGRATION READINESS</a:t>
            </a:r>
          </a:p>
        </p:txBody>
      </p:sp>
      <p:sp>
        <p:nvSpPr>
          <p:cNvPr id="123" name="PT2"/>
          <p:cNvSpPr/>
          <p:nvPr/>
        </p:nvSpPr>
        <p:spPr>
          <a:xfrm>
            <a:off x="2895600" y="37592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Commerce platform is API-ready</a:t>
            </a:r>
          </a:p>
        </p:txBody>
      </p:sp>
      <p:sp>
        <p:nvSpPr>
          <p:cNvPr id="124" name="PD2"/>
          <p:cNvSpPr/>
          <p:nvPr/>
        </p:nvSpPr>
        <p:spPr>
          <a:xfrm>
            <a:off x="2895600" y="4013200"/>
            <a:ext cx="5842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The existing commerce stack exposes REST endpoints compatible with DX Engine's Universal API Connector. No custom adapter development is anticipated for Phase 1 data ingestion.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9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Ways of Working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amCardBG"/>
          <p:cNvSpPr/>
          <p:nvPr/>
        </p:nvSpPr>
        <p:spPr>
          <a:xfrm>
            <a:off x="254000" y="914400"/>
            <a:ext cx="53340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amAccent"/>
          <p:cNvSpPr/>
          <p:nvPr/>
        </p:nvSpPr>
        <p:spPr>
          <a:xfrm>
            <a:off x="254000" y="914400"/>
            <a:ext cx="5334000" cy="50800"/>
          </a:xfrm>
          <a:prstGeom prst="roundRect">
            <a:avLst>
              <a:gd name="adj" fmla="val 4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amLabel"/>
          <p:cNvSpPr/>
          <p:nvPr/>
        </p:nvSpPr>
        <p:spPr>
          <a:xfrm>
            <a:off x="355600" y="990600"/>
            <a:ext cx="2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b="1" dirty="0">
                <a:solidFill>
                  <a:srgbClr val="EB1A63"/>
                </a:solidFill>
              </a:rPr>
              <a:t>TEAM STRUCTURE</a:t>
            </a:r>
          </a:p>
        </p:txBody>
      </p:sp>
      <p:graphicFrame>
        <p:nvGraphicFramePr>
          <p:cNvPr id="9" name="TeamTable"/>
          <p:cNvGraphicFramePr>
            <a:graphicFrameLocks noGrp="1"/>
          </p:cNvGraphicFramePr>
          <p:nvPr/>
        </p:nvGraphicFramePr>
        <p:xfrm>
          <a:off x="355600" y="1219200"/>
          <a:ext cx="5029200" cy="21336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EB1A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Conscia</a:t>
                      </a:r>
                    </a:p>
                  </a:txBody>
                  <a:tcPr>
                    <a:solidFill>
                      <a:srgbClr val="EB1A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Lovesac</a:t>
                      </a:r>
                    </a:p>
                  </a:txBody>
                  <a:tcPr>
                    <a:solidFill>
                      <a:srgbClr val="EB1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Executive Sponsor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Sana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Amelia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Project Lead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Morgan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PM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Solution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Solution Engineer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Laurel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Data Owner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Platform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Harshil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Tech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QA / Testing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Laurel/Harshil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QA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CadCardBG"/>
          <p:cNvSpPr/>
          <p:nvPr/>
        </p:nvSpPr>
        <p:spPr>
          <a:xfrm>
            <a:off x="5715000" y="914400"/>
            <a:ext cx="31750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CadAccent"/>
          <p:cNvSpPr/>
          <p:nvPr/>
        </p:nvSpPr>
        <p:spPr>
          <a:xfrm>
            <a:off x="5715000" y="914400"/>
            <a:ext cx="3175000" cy="50800"/>
          </a:xfrm>
          <a:prstGeom prst="roundRect">
            <a:avLst>
              <a:gd name="adj" fmla="val 4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CadLabel"/>
          <p:cNvSpPr/>
          <p:nvPr/>
        </p:nvSpPr>
        <p:spPr>
          <a:xfrm>
            <a:off x="5816600" y="990600"/>
            <a:ext cx="2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b="1" dirty="0">
                <a:solidFill>
                  <a:srgbClr val="07BCD6"/>
                </a:solidFill>
              </a:rPr>
              <a:t>WORKING CADENCE</a:t>
            </a:r>
          </a:p>
        </p:txBody>
      </p:sp>
      <p:sp>
        <p:nvSpPr>
          <p:cNvPr id="50" name="Cad0BG"/>
          <p:cNvSpPr/>
          <p:nvPr/>
        </p:nvSpPr>
        <p:spPr>
          <a:xfrm>
            <a:off x="5715000" y="10414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Cad0Dot"/>
          <p:cNvSpPr/>
          <p:nvPr/>
        </p:nvSpPr>
        <p:spPr>
          <a:xfrm>
            <a:off x="5816600" y="1244600"/>
            <a:ext cx="101600" cy="101600"/>
          </a:xfrm>
          <a:prstGeom prst="ellipse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Cad0Text"/>
          <p:cNvSpPr/>
          <p:nvPr/>
        </p:nvSpPr>
        <p:spPr>
          <a:xfrm>
            <a:off x="5994400" y="10922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EB1A63"/>
                </a:solidFill>
              </a:rPr>
              <a:t>Weekly</a:t>
            </a:r>
            <a:r>
              <a:rPr lang="en-US" sz="900" b="1" dirty="0">
                <a:solidFill>
                  <a:srgbClr val="111827"/>
                </a:solidFill>
              </a:rPr>
              <a:t>  Project Standup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30 min · Both teams · Status, blockers, decisions</a:t>
            </a:r>
          </a:p>
        </p:txBody>
      </p:sp>
      <p:sp>
        <p:nvSpPr>
          <p:cNvPr id="53" name="Cad1BG"/>
          <p:cNvSpPr/>
          <p:nvPr/>
        </p:nvSpPr>
        <p:spPr>
          <a:xfrm>
            <a:off x="5715000" y="16256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Cad1Dot"/>
          <p:cNvSpPr/>
          <p:nvPr/>
        </p:nvSpPr>
        <p:spPr>
          <a:xfrm>
            <a:off x="5816600" y="1828800"/>
            <a:ext cx="101600" cy="101600"/>
          </a:xfrm>
          <a:prstGeom prst="ellipse">
            <a:avLst/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Cad1Text"/>
          <p:cNvSpPr/>
          <p:nvPr/>
        </p:nvSpPr>
        <p:spPr>
          <a:xfrm>
            <a:off x="5994400" y="16764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07BCD6"/>
                </a:solidFill>
              </a:rPr>
              <a:t>Bi-weekly</a:t>
            </a:r>
            <a:r>
              <a:rPr lang="en-US" sz="900" b="1" dirty="0">
                <a:solidFill>
                  <a:srgbClr val="111827"/>
                </a:solidFill>
              </a:rPr>
              <a:t>  Steering Check-in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60 min · Leads only · Scope, risks, milestones</a:t>
            </a:r>
          </a:p>
        </p:txBody>
      </p:sp>
      <p:sp>
        <p:nvSpPr>
          <p:cNvPr id="56" name="Cad2BG"/>
          <p:cNvSpPr/>
          <p:nvPr/>
        </p:nvSpPr>
        <p:spPr>
          <a:xfrm>
            <a:off x="5715000" y="22098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Cad2Dot"/>
          <p:cNvSpPr/>
          <p:nvPr/>
        </p:nvSpPr>
        <p:spPr>
          <a:xfrm>
            <a:off x="5816600" y="2413000"/>
            <a:ext cx="101600" cy="101600"/>
          </a:xfrm>
          <a:prstGeom prst="ellipse">
            <a:avLst/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Cad2Text"/>
          <p:cNvSpPr/>
          <p:nvPr/>
        </p:nvSpPr>
        <p:spPr>
          <a:xfrm>
            <a:off x="5994400" y="2260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8AC542"/>
                </a:solidFill>
              </a:rPr>
              <a:t>As-needed</a:t>
            </a:r>
            <a:r>
              <a:rPr lang="en-US" sz="900" b="1" dirty="0">
                <a:solidFill>
                  <a:srgbClr val="111827"/>
                </a:solidFill>
              </a:rPr>
              <a:t>  Technical Review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Data model, API design, integration reviews</a:t>
            </a:r>
          </a:p>
        </p:txBody>
      </p:sp>
      <p:sp>
        <p:nvSpPr>
          <p:cNvPr id="59" name="Cad3BG"/>
          <p:cNvSpPr/>
          <p:nvPr/>
        </p:nvSpPr>
        <p:spPr>
          <a:xfrm>
            <a:off x="5715000" y="27940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Cad3Dot"/>
          <p:cNvSpPr/>
          <p:nvPr/>
        </p:nvSpPr>
        <p:spPr>
          <a:xfrm>
            <a:off x="5816600" y="2997200"/>
            <a:ext cx="101600" cy="101600"/>
          </a:xfrm>
          <a:prstGeom prst="ellipse">
            <a:avLst/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Cad3Text"/>
          <p:cNvSpPr/>
          <p:nvPr/>
        </p:nvSpPr>
        <p:spPr>
          <a:xfrm>
            <a:off x="5994400" y="28448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458CCB"/>
                </a:solidFill>
              </a:rPr>
              <a:t>End of Phase</a:t>
            </a:r>
            <a:r>
              <a:rPr lang="en-US" sz="900" b="1" dirty="0">
                <a:solidFill>
                  <a:srgbClr val="111827"/>
                </a:solidFill>
              </a:rPr>
              <a:t>  Phase Gate Review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Demo, sign-off, and next phase kick-off</a:t>
            </a:r>
          </a:p>
        </p:txBody>
      </p:sp>
      <p:sp>
        <p:nvSpPr>
          <p:cNvPr id="62" name="Cad4BG"/>
          <p:cNvSpPr/>
          <p:nvPr/>
        </p:nvSpPr>
        <p:spPr>
          <a:xfrm>
            <a:off x="5715000" y="33782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Cad4Dot"/>
          <p:cNvSpPr/>
          <p:nvPr/>
        </p:nvSpPr>
        <p:spPr>
          <a:xfrm>
            <a:off x="5816600" y="3581400"/>
            <a:ext cx="101600" cy="101600"/>
          </a:xfrm>
          <a:prstGeom prst="ellipse">
            <a:avLst/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Cad4Text"/>
          <p:cNvSpPr/>
          <p:nvPr/>
        </p:nvSpPr>
        <p:spPr>
          <a:xfrm>
            <a:off x="5994400" y="34290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F8981D"/>
                </a:solidFill>
              </a:rPr>
              <a:t>Ongoing</a:t>
            </a:r>
            <a:r>
              <a:rPr lang="en-US" sz="900" b="1" dirty="0">
                <a:solidFill>
                  <a:srgbClr val="111827"/>
                </a:solidFill>
              </a:rPr>
              <a:t>  Slack / async comms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Shared channel for day-to-day coordination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</a:endParaRP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30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Open Questions</a:t>
            </a:r>
          </a:p>
        </p:txBody>
      </p:sp>
      <p:sp>
        <p:nvSpPr>
          <p:cNvPr id="7" name="Subtitle"/>
          <p:cNvSpPr/>
          <p:nvPr/>
        </p:nvSpPr>
        <p:spPr>
          <a:xfrm>
            <a:off x="381000" y="533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6B7280"/>
                </a:solidFill>
              </a:rPr>
              <a:t>These items require Lovesac input to unlock key workstreams — we'll aim to resolve them during kick-off.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Q1BG"/>
          <p:cNvSpPr/>
          <p:nvPr/>
        </p:nvSpPr>
        <p:spPr>
          <a:xfrm>
            <a:off x="254000" y="10668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Q1Bar"/>
          <p:cNvSpPr/>
          <p:nvPr/>
        </p:nvSpPr>
        <p:spPr>
          <a:xfrm>
            <a:off x="254000" y="106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Q1Badge"/>
          <p:cNvSpPr/>
          <p:nvPr/>
        </p:nvSpPr>
        <p:spPr>
          <a:xfrm>
            <a:off x="406400" y="11938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EB1A63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</a:rPr>
              <a:t>Q1</a:t>
            </a:r>
          </a:p>
        </p:txBody>
      </p:sp>
      <p:sp>
        <p:nvSpPr>
          <p:cNvPr id="13" name="Q1Text"/>
          <p:cNvSpPr/>
          <p:nvPr/>
        </p:nvSpPr>
        <p:spPr>
          <a:xfrm>
            <a:off x="863600" y="11684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Which 3 source backends will be ingested?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Format (API vs. file) significantly affects implementation approach and timeline.</a:t>
            </a:r>
          </a:p>
        </p:txBody>
      </p:sp>
      <p:sp>
        <p:nvSpPr>
          <p:cNvPr id="14" name="Q2BG"/>
          <p:cNvSpPr/>
          <p:nvPr/>
        </p:nvSpPr>
        <p:spPr>
          <a:xfrm>
            <a:off x="4699000" y="10668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Q2Bar"/>
          <p:cNvSpPr/>
          <p:nvPr/>
        </p:nvSpPr>
        <p:spPr>
          <a:xfrm>
            <a:off x="4699000" y="106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Q2Badge"/>
          <p:cNvSpPr/>
          <p:nvPr/>
        </p:nvSpPr>
        <p:spPr>
          <a:xfrm>
            <a:off x="4851400" y="11938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7BCD6"/>
                </a:solidFill>
              </a:rPr>
              <a:t>Q2</a:t>
            </a:r>
          </a:p>
        </p:txBody>
      </p:sp>
      <p:sp>
        <p:nvSpPr>
          <p:cNvPr id="17" name="Q2Text"/>
          <p:cNvSpPr/>
          <p:nvPr/>
        </p:nvSpPr>
        <p:spPr>
          <a:xfrm>
            <a:off x="5308600" y="11684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What are the 3 taxonomy versions required?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Internal taxonomy known. Marketplace schema (Google, ChatGPT) needs confirmation.</a:t>
            </a:r>
          </a:p>
        </p:txBody>
      </p:sp>
      <p:sp>
        <p:nvSpPr>
          <p:cNvPr id="18" name="Q3BG"/>
          <p:cNvSpPr/>
          <p:nvPr/>
        </p:nvSpPr>
        <p:spPr>
          <a:xfrm>
            <a:off x="254000" y="21336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Q3Bar"/>
          <p:cNvSpPr/>
          <p:nvPr/>
        </p:nvSpPr>
        <p:spPr>
          <a:xfrm>
            <a:off x="254000" y="21336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Q3Badge"/>
          <p:cNvSpPr/>
          <p:nvPr/>
        </p:nvSpPr>
        <p:spPr>
          <a:xfrm>
            <a:off x="406400" y="22606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8AC542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AC542"/>
                </a:solidFill>
              </a:rPr>
              <a:t>Q3</a:t>
            </a:r>
          </a:p>
        </p:txBody>
      </p:sp>
      <p:sp>
        <p:nvSpPr>
          <p:cNvPr id="21" name="Q3Text"/>
          <p:cNvSpPr/>
          <p:nvPr/>
        </p:nvSpPr>
        <p:spPr>
          <a:xfrm>
            <a:off x="863600" y="22352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Which 2 marketplace feeds will be updated?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Feed format, update frequency, and API vs. file determines the integration pattern.</a:t>
            </a:r>
          </a:p>
        </p:txBody>
      </p:sp>
      <p:sp>
        <p:nvSpPr>
          <p:cNvPr id="22" name="Q4BG"/>
          <p:cNvSpPr/>
          <p:nvPr/>
        </p:nvSpPr>
        <p:spPr>
          <a:xfrm>
            <a:off x="4699000" y="21336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Q4Bar"/>
          <p:cNvSpPr/>
          <p:nvPr/>
        </p:nvSpPr>
        <p:spPr>
          <a:xfrm>
            <a:off x="4699000" y="21336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Q4Badge"/>
          <p:cNvSpPr/>
          <p:nvPr/>
        </p:nvSpPr>
        <p:spPr>
          <a:xfrm>
            <a:off x="4851400" y="22606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458CCB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458CCB"/>
                </a:solidFill>
              </a:rPr>
              <a:t>Q4</a:t>
            </a:r>
          </a:p>
        </p:txBody>
      </p:sp>
      <p:sp>
        <p:nvSpPr>
          <p:cNvPr id="25" name="Q4Text"/>
          <p:cNvSpPr/>
          <p:nvPr/>
        </p:nvSpPr>
        <p:spPr>
          <a:xfrm>
            <a:off x="5308600" y="22352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What is the Config ID format requirement?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Does Lovesac need a specific format, or integration with an existing OMS?</a:t>
            </a:r>
          </a:p>
        </p:txBody>
      </p:sp>
      <p:sp>
        <p:nvSpPr>
          <p:cNvPr id="26" name="Q5BG"/>
          <p:cNvSpPr/>
          <p:nvPr/>
        </p:nvSpPr>
        <p:spPr>
          <a:xfrm>
            <a:off x="254000" y="32004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Q5Bar"/>
          <p:cNvSpPr/>
          <p:nvPr/>
        </p:nvSpPr>
        <p:spPr>
          <a:xfrm>
            <a:off x="254000" y="32004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Q5Badge"/>
          <p:cNvSpPr/>
          <p:nvPr/>
        </p:nvSpPr>
        <p:spPr>
          <a:xfrm>
            <a:off x="406400" y="33274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F8981D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8981D"/>
                </a:solidFill>
              </a:rPr>
              <a:t>Q5</a:t>
            </a:r>
          </a:p>
        </p:txBody>
      </p:sp>
      <p:sp>
        <p:nvSpPr>
          <p:cNvPr id="29" name="Q5Text"/>
          <p:cNvSpPr/>
          <p:nvPr/>
        </p:nvSpPr>
        <p:spPr>
          <a:xfrm>
            <a:off x="863600" y="33020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Is Quickship a product type flag or live inventory?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Currently modelled as classification. Live inventory requires a different integration.</a:t>
            </a:r>
          </a:p>
        </p:txBody>
      </p:sp>
      <p:sp>
        <p:nvSpPr>
          <p:cNvPr id="30" name="Q6BG"/>
          <p:cNvSpPr/>
          <p:nvPr/>
        </p:nvSpPr>
        <p:spPr>
          <a:xfrm>
            <a:off x="4699000" y="32004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Q6Bar"/>
          <p:cNvSpPr/>
          <p:nvPr/>
        </p:nvSpPr>
        <p:spPr>
          <a:xfrm>
            <a:off x="4699000" y="32004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Q6Badge"/>
          <p:cNvSpPr/>
          <p:nvPr/>
        </p:nvSpPr>
        <p:spPr>
          <a:xfrm>
            <a:off x="4851400" y="33274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FABF2D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ABF2D"/>
                </a:solidFill>
              </a:rPr>
              <a:t>Q6</a:t>
            </a:r>
          </a:p>
        </p:txBody>
      </p:sp>
      <p:sp>
        <p:nvSpPr>
          <p:cNvPr id="33" name="Q6Text"/>
          <p:cNvSpPr/>
          <p:nvPr/>
        </p:nvSpPr>
        <p:spPr>
          <a:xfrm>
            <a:off x="5308600" y="33020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What are the Sactional component adjacency rules?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Which component types can sit next to each other? An adjacency matrix or free-connect confirmation.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</a:endParaRP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11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Next Steps</a:t>
            </a:r>
          </a:p>
        </p:txBody>
      </p:sp>
      <p:sp>
        <p:nvSpPr>
          <p:cNvPr id="7" name="Subtitle"/>
          <p:cNvSpPr/>
          <p:nvPr/>
        </p:nvSpPr>
        <p:spPr>
          <a:xfrm>
            <a:off x="381000" y="533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6B7280"/>
                </a:solidFill>
              </a:rPr>
              <a:t>Actions coming out of today's session — owners and target dates for both teams.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ow0BG"/>
          <p:cNvSpPr/>
          <p:nvPr/>
        </p:nvSpPr>
        <p:spPr>
          <a:xfrm>
            <a:off x="254000" y="10160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ow0Date"/>
          <p:cNvSpPr/>
          <p:nvPr/>
        </p:nvSpPr>
        <p:spPr>
          <a:xfrm>
            <a:off x="406400" y="10160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March 31</a:t>
            </a:r>
          </a:p>
        </p:txBody>
      </p:sp>
      <p:sp>
        <p:nvSpPr>
          <p:cNvPr id="12" name="Row0Owner"/>
          <p:cNvSpPr/>
          <p:nvPr/>
        </p:nvSpPr>
        <p:spPr>
          <a:xfrm>
            <a:off x="1625600" y="11303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8AC542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8AC542"/>
                </a:solidFill>
              </a:rPr>
              <a:t>Both</a:t>
            </a:r>
          </a:p>
        </p:txBody>
      </p:sp>
      <p:sp>
        <p:nvSpPr>
          <p:cNvPr id="13" name="Row0Desc"/>
          <p:cNvSpPr/>
          <p:nvPr/>
        </p:nvSpPr>
        <p:spPr>
          <a:xfrm>
            <a:off x="2540000" y="10160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Confirm and distribute kick-off notes, decisions, and open question owners</a:t>
            </a:r>
          </a:p>
        </p:txBody>
      </p:sp>
      <p:sp>
        <p:nvSpPr>
          <p:cNvPr id="14" name="Row1BG"/>
          <p:cNvSpPr/>
          <p:nvPr/>
        </p:nvSpPr>
        <p:spPr>
          <a:xfrm>
            <a:off x="254000" y="15494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ow1Date"/>
          <p:cNvSpPr/>
          <p:nvPr/>
        </p:nvSpPr>
        <p:spPr>
          <a:xfrm>
            <a:off x="406400" y="15494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3</a:t>
            </a:r>
          </a:p>
        </p:txBody>
      </p:sp>
      <p:sp>
        <p:nvSpPr>
          <p:cNvPr id="16" name="Row1Owner"/>
          <p:cNvSpPr/>
          <p:nvPr/>
        </p:nvSpPr>
        <p:spPr>
          <a:xfrm>
            <a:off x="1625600" y="16637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7BCD6"/>
                </a:solidFill>
              </a:rPr>
              <a:t>Lovesac</a:t>
            </a:r>
          </a:p>
        </p:txBody>
      </p:sp>
      <p:sp>
        <p:nvSpPr>
          <p:cNvPr id="17" name="Row1Desc"/>
          <p:cNvSpPr/>
          <p:nvPr/>
        </p:nvSpPr>
        <p:spPr>
          <a:xfrm>
            <a:off x="2540000" y="15494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Provide list of 3 source backends (format, access method) and 2 marketplace feeds to be updated</a:t>
            </a:r>
          </a:p>
        </p:txBody>
      </p:sp>
      <p:sp>
        <p:nvSpPr>
          <p:cNvPr id="18" name="Row2BG"/>
          <p:cNvSpPr/>
          <p:nvPr/>
        </p:nvSpPr>
        <p:spPr>
          <a:xfrm>
            <a:off x="254000" y="20828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ow2Date"/>
          <p:cNvSpPr/>
          <p:nvPr/>
        </p:nvSpPr>
        <p:spPr>
          <a:xfrm>
            <a:off x="406400" y="20828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3</a:t>
            </a:r>
          </a:p>
        </p:txBody>
      </p:sp>
      <p:sp>
        <p:nvSpPr>
          <p:cNvPr id="20" name="Row2Owner"/>
          <p:cNvSpPr/>
          <p:nvPr/>
        </p:nvSpPr>
        <p:spPr>
          <a:xfrm>
            <a:off x="1625600" y="21971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7BCD6"/>
                </a:solidFill>
              </a:rPr>
              <a:t>Lovesac</a:t>
            </a:r>
          </a:p>
        </p:txBody>
      </p:sp>
      <p:sp>
        <p:nvSpPr>
          <p:cNvPr id="21" name="Row2Desc"/>
          <p:cNvSpPr/>
          <p:nvPr/>
        </p:nvSpPr>
        <p:spPr>
          <a:xfrm>
            <a:off x="2540000" y="20828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Confirm 3 taxonomy versions required; share existing internal taxonomy documentation</a:t>
            </a:r>
          </a:p>
        </p:txBody>
      </p:sp>
      <p:sp>
        <p:nvSpPr>
          <p:cNvPr id="22" name="Row3BG"/>
          <p:cNvSpPr/>
          <p:nvPr/>
        </p:nvSpPr>
        <p:spPr>
          <a:xfrm>
            <a:off x="254000" y="26162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ow3Date"/>
          <p:cNvSpPr/>
          <p:nvPr/>
        </p:nvSpPr>
        <p:spPr>
          <a:xfrm>
            <a:off x="406400" y="2616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3</a:t>
            </a:r>
          </a:p>
        </p:txBody>
      </p:sp>
      <p:sp>
        <p:nvSpPr>
          <p:cNvPr id="24" name="Row3Owner"/>
          <p:cNvSpPr/>
          <p:nvPr/>
        </p:nvSpPr>
        <p:spPr>
          <a:xfrm>
            <a:off x="1625600" y="27305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7BCD6"/>
                </a:solidFill>
              </a:rPr>
              <a:t>Lovesac</a:t>
            </a:r>
          </a:p>
        </p:txBody>
      </p:sp>
      <p:sp>
        <p:nvSpPr>
          <p:cNvPr id="25" name="Row3Desc"/>
          <p:cNvSpPr/>
          <p:nvPr/>
        </p:nvSpPr>
        <p:spPr>
          <a:xfrm>
            <a:off x="2540000" y="26162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Provide component adjacency rules OR confirm within-series free-connect (resolves Open Question 6)</a:t>
            </a:r>
          </a:p>
        </p:txBody>
      </p:sp>
      <p:sp>
        <p:nvSpPr>
          <p:cNvPr id="26" name="Row4BG"/>
          <p:cNvSpPr/>
          <p:nvPr/>
        </p:nvSpPr>
        <p:spPr>
          <a:xfrm>
            <a:off x="254000" y="31496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ow4Date"/>
          <p:cNvSpPr/>
          <p:nvPr/>
        </p:nvSpPr>
        <p:spPr>
          <a:xfrm>
            <a:off x="406400" y="31496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7</a:t>
            </a:r>
          </a:p>
        </p:txBody>
      </p:sp>
      <p:sp>
        <p:nvSpPr>
          <p:cNvPr id="28" name="Row4Owner"/>
          <p:cNvSpPr/>
          <p:nvPr/>
        </p:nvSpPr>
        <p:spPr>
          <a:xfrm>
            <a:off x="1625600" y="32639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B1A63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EB1A63"/>
                </a:solidFill>
              </a:rPr>
              <a:t>Conscia</a:t>
            </a:r>
          </a:p>
        </p:txBody>
      </p:sp>
      <p:sp>
        <p:nvSpPr>
          <p:cNvPr id="29" name="Row4Desc"/>
          <p:cNvSpPr/>
          <p:nvPr/>
        </p:nvSpPr>
        <p:spPr>
          <a:xfrm>
            <a:off x="2540000" y="31496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Provision DX Graph environment and share access credentials with Lovesac team</a:t>
            </a:r>
          </a:p>
        </p:txBody>
      </p:sp>
      <p:sp>
        <p:nvSpPr>
          <p:cNvPr id="30" name="Row5BG"/>
          <p:cNvSpPr/>
          <p:nvPr/>
        </p:nvSpPr>
        <p:spPr>
          <a:xfrm>
            <a:off x="254000" y="36830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ow5Date"/>
          <p:cNvSpPr/>
          <p:nvPr/>
        </p:nvSpPr>
        <p:spPr>
          <a:xfrm>
            <a:off x="406400" y="36830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April 7</a:t>
            </a:r>
          </a:p>
        </p:txBody>
      </p:sp>
      <p:sp>
        <p:nvSpPr>
          <p:cNvPr id="32" name="Row5Owner"/>
          <p:cNvSpPr/>
          <p:nvPr/>
        </p:nvSpPr>
        <p:spPr>
          <a:xfrm>
            <a:off x="1625600" y="37973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8AC542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8AC542"/>
                </a:solidFill>
              </a:rPr>
              <a:t>Both</a:t>
            </a:r>
          </a:p>
        </p:txBody>
      </p:sp>
      <p:sp>
        <p:nvSpPr>
          <p:cNvPr id="33" name="Row5Desc"/>
          <p:cNvSpPr/>
          <p:nvPr/>
        </p:nvSpPr>
        <p:spPr>
          <a:xfrm>
            <a:off x="2540000" y="36830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First weekly project standup — review data readiness and confirm Phase 1 sprint plan</a:t>
            </a:r>
          </a:p>
        </p:txBody>
      </p:sp>
      <p:sp>
        <p:nvSpPr>
          <p:cNvPr id="34" name="Closing"/>
          <p:cNvSpPr/>
          <p:nvPr/>
        </p:nvSpPr>
        <p:spPr>
          <a:xfrm>
            <a:off x="254000" y="4343400"/>
            <a:ext cx="863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i="1" dirty="0">
                <a:solidFill>
                  <a:srgbClr val="EB1A63"/>
                </a:solidFill>
              </a:rPr>
              <a:t>Let's build something great together.  Welcome to the project.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</a:endParaRP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97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End-to-End Architecture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ier0"/>
          <p:cNvSpPr/>
          <p:nvPr/>
        </p:nvSpPr>
        <p:spPr>
          <a:xfrm>
            <a:off x="381000" y="8382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A0"/>
          <p:cNvSpPr/>
          <p:nvPr/>
        </p:nvSpPr>
        <p:spPr>
          <a:xfrm>
            <a:off x="381000" y="8382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L0"/>
          <p:cNvSpPr/>
          <p:nvPr/>
        </p:nvSpPr>
        <p:spPr>
          <a:xfrm>
            <a:off x="584200" y="9144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9CA3AF"/>
                </a:solidFill>
                <a:latin typeface="Calibri"/>
              </a:rPr>
              <a:t>SOURCE BACKENDS</a:t>
            </a:r>
          </a:p>
        </p:txBody>
      </p:sp>
      <p:sp>
        <p:nvSpPr>
          <p:cNvPr id="103" name="TD0"/>
          <p:cNvSpPr/>
          <p:nvPr/>
        </p:nvSpPr>
        <p:spPr>
          <a:xfrm>
            <a:off x="584200" y="11430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Batch feeds · API pulls · File ingestion via Data Buckets — with transformation ${escapeXml('&amp;')} normalisation via Jobs</a:t>
            </a:r>
          </a:p>
        </p:txBody>
      </p:sp>
      <p:sp>
        <p:nvSpPr>
          <p:cNvPr id="104" name="Ar0"/>
          <p:cNvSpPr/>
          <p:nvPr/>
        </p:nvSpPr>
        <p:spPr>
          <a:xfrm>
            <a:off x="4508500" y="1562100"/>
            <a:ext cx="203200" cy="20320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ier1"/>
          <p:cNvSpPr/>
          <p:nvPr/>
        </p:nvSpPr>
        <p:spPr>
          <a:xfrm>
            <a:off x="381000" y="17907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TA1"/>
          <p:cNvSpPr/>
          <p:nvPr/>
        </p:nvSpPr>
        <p:spPr>
          <a:xfrm>
            <a:off x="381000" y="17907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L1"/>
          <p:cNvSpPr/>
          <p:nvPr/>
        </p:nvSpPr>
        <p:spPr>
          <a:xfrm>
            <a:off x="584200" y="18669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EB1A63"/>
                </a:solidFill>
                <a:latin typeface="Calibri"/>
              </a:rPr>
              <a:t>DX GRAPH — Semantic Data Layer</a:t>
            </a:r>
          </a:p>
        </p:txBody>
      </p:sp>
      <p:sp>
        <p:nvSpPr>
          <p:cNvPr id="108" name="TD1"/>
          <p:cNvSpPr/>
          <p:nvPr/>
        </p:nvSpPr>
        <p:spPr>
          <a:xfrm>
            <a:off x="584200" y="20955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Unified Product Graph · Compatibility Rules · Taxonomy Hierarchies · Governed Entities</a:t>
            </a:r>
          </a:p>
        </p:txBody>
      </p:sp>
      <p:sp>
        <p:nvSpPr>
          <p:cNvPr id="109" name="Ar1"/>
          <p:cNvSpPr/>
          <p:nvPr/>
        </p:nvSpPr>
        <p:spPr>
          <a:xfrm>
            <a:off x="4508500" y="2514600"/>
            <a:ext cx="203200" cy="20320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ier2"/>
          <p:cNvSpPr/>
          <p:nvPr/>
        </p:nvSpPr>
        <p:spPr>
          <a:xfrm>
            <a:off x="381000" y="27432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TA2"/>
          <p:cNvSpPr/>
          <p:nvPr/>
        </p:nvSpPr>
        <p:spPr>
          <a:xfrm>
            <a:off x="381000" y="27432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L2"/>
          <p:cNvSpPr/>
          <p:nvPr/>
        </p:nvSpPr>
        <p:spPr>
          <a:xfrm>
            <a:off x="584200" y="28194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07BCD6"/>
                </a:solidFill>
                <a:latin typeface="Calibri"/>
              </a:rPr>
              <a:t>DX ENGINE — Orchestration Layer (Experience API)</a:t>
            </a:r>
          </a:p>
        </p:txBody>
      </p:sp>
      <p:sp>
        <p:nvSpPr>
          <p:cNvPr id="113" name="TD2"/>
          <p:cNvSpPr/>
          <p:nvPr/>
        </p:nvSpPr>
        <p:spPr>
          <a:xfrm>
            <a:off x="584200" y="30480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Validation · Wizard Step Options · Config ID Creation · BOM Explosion · Channel Feeds</a:t>
            </a:r>
          </a:p>
        </p:txBody>
      </p:sp>
      <p:sp>
        <p:nvSpPr>
          <p:cNvPr id="114" name="Ar2"/>
          <p:cNvSpPr/>
          <p:nvPr/>
        </p:nvSpPr>
        <p:spPr>
          <a:xfrm>
            <a:off x="4508500" y="3467100"/>
            <a:ext cx="203200" cy="20320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ier3"/>
          <p:cNvSpPr/>
          <p:nvPr/>
        </p:nvSpPr>
        <p:spPr>
          <a:xfrm>
            <a:off x="381000" y="36957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TA3"/>
          <p:cNvSpPr/>
          <p:nvPr/>
        </p:nvSpPr>
        <p:spPr>
          <a:xfrm>
            <a:off x="381000" y="36957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L3"/>
          <p:cNvSpPr/>
          <p:nvPr/>
        </p:nvSpPr>
        <p:spPr>
          <a:xfrm>
            <a:off x="584200" y="37719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8AC542"/>
                </a:solidFill>
                <a:latin typeface="Calibri"/>
              </a:rPr>
              <a:t>CHANNELS</a:t>
            </a:r>
          </a:p>
        </p:txBody>
      </p:sp>
      <p:sp>
        <p:nvSpPr>
          <p:cNvPr id="118" name="TD3"/>
          <p:cNvSpPr/>
          <p:nvPr/>
        </p:nvSpPr>
        <p:spPr>
          <a:xfrm>
            <a:off x="584200" y="40005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POS Systems · Lovesac.com · On-site Shopping Agent · Google Shopping · ChatGPT / 3rd-Party AI Agents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99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SC0"/>
          <p:cNvSpPr/>
          <p:nvPr/>
        </p:nvSpPr>
        <p:spPr>
          <a:xfrm>
            <a:off x="330200" y="838200"/>
            <a:ext cx="27305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SA0"/>
          <p:cNvSpPr/>
          <p:nvPr/>
        </p:nvSpPr>
        <p:spPr>
          <a:xfrm>
            <a:off x="3302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T0"/>
          <p:cNvSpPr/>
          <p:nvPr/>
        </p:nvSpPr>
        <p:spPr>
          <a:xfrm>
            <a:off x="482600" y="1016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50" dirty="0">
                <a:solidFill>
                  <a:srgbClr val="EB1A63"/>
                </a:solidFill>
                <a:latin typeface="Calibri"/>
              </a:rPr>
              <a:t>DX GRAPH</a:t>
            </a:r>
          </a:p>
        </p:txBody>
      </p:sp>
      <p:sp>
        <p:nvSpPr>
          <p:cNvPr id="103" name="SD0"/>
          <p:cNvSpPr/>
          <p:nvPr/>
        </p:nvSpPr>
        <p:spPr>
          <a:xfrm>
            <a:off x="482600" y="1320800"/>
            <a:ext cx="241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B0"/>
          <p:cNvSpPr/>
          <p:nvPr/>
        </p:nvSpPr>
        <p:spPr>
          <a:xfrm>
            <a:off x="482600" y="1422400"/>
            <a:ext cx="2413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DX Graph Application provisioning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SKU, Configuration ${escapeXml('&amp;')} Taxonomy Collections (up to 3 taxonomies)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COMPATIBLE_WITH, BUNDLES, CONTAINS, MAPS_TO relationships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Data ingest from up to 3 source backends via Jobs</a:t>
            </a:r>
          </a:p>
        </p:txBody>
      </p:sp>
      <p:sp>
        <p:nvSpPr>
          <p:cNvPr id="110" name="SC1"/>
          <p:cNvSpPr/>
          <p:nvPr/>
        </p:nvSpPr>
        <p:spPr>
          <a:xfrm>
            <a:off x="3213100" y="838200"/>
            <a:ext cx="27305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SA1"/>
          <p:cNvSpPr/>
          <p:nvPr/>
        </p:nvSpPr>
        <p:spPr>
          <a:xfrm>
            <a:off x="32131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1"/>
          <p:cNvSpPr/>
          <p:nvPr/>
        </p:nvSpPr>
        <p:spPr>
          <a:xfrm>
            <a:off x="3365500" y="1016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50" dirty="0">
                <a:solidFill>
                  <a:srgbClr val="07BCD6"/>
                </a:solidFill>
                <a:latin typeface="Calibri"/>
              </a:rPr>
              <a:t>DX ENGINE POC</a:t>
            </a:r>
          </a:p>
        </p:txBody>
      </p:sp>
      <p:sp>
        <p:nvSpPr>
          <p:cNvPr id="113" name="SD1"/>
          <p:cNvSpPr/>
          <p:nvPr/>
        </p:nvSpPr>
        <p:spPr>
          <a:xfrm>
            <a:off x="3365500" y="1320800"/>
            <a:ext cx="241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B1"/>
          <p:cNvSpPr/>
          <p:nvPr/>
        </p:nvSpPr>
        <p:spPr>
          <a:xfrm>
            <a:off x="3365500" y="1422400"/>
            <a:ext cx="2413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Configuration Validation orchestration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Visual Configurator wizard step options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ID Creation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ID → BOM Explosion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Experience Rules for series ${escapeXml('&amp;')} channel constraints</a:t>
            </a:r>
          </a:p>
        </p:txBody>
      </p:sp>
      <p:sp>
        <p:nvSpPr>
          <p:cNvPr id="120" name="SC2"/>
          <p:cNvSpPr/>
          <p:nvPr/>
        </p:nvSpPr>
        <p:spPr>
          <a:xfrm>
            <a:off x="6096000" y="838200"/>
            <a:ext cx="27305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SA2"/>
          <p:cNvSpPr/>
          <p:nvPr/>
        </p:nvSpPr>
        <p:spPr>
          <a:xfrm>
            <a:off x="60960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T2"/>
          <p:cNvSpPr/>
          <p:nvPr/>
        </p:nvSpPr>
        <p:spPr>
          <a:xfrm>
            <a:off x="6248400" y="1016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50" dirty="0">
                <a:solidFill>
                  <a:srgbClr val="9CA3AF"/>
                </a:solidFill>
                <a:latin typeface="Calibri"/>
              </a:rPr>
              <a:t>OUT OF SCOPE — PHASE 1</a:t>
            </a:r>
          </a:p>
        </p:txBody>
      </p:sp>
      <p:sp>
        <p:nvSpPr>
          <p:cNvPr id="123" name="SD2"/>
          <p:cNvSpPr/>
          <p:nvPr/>
        </p:nvSpPr>
        <p:spPr>
          <a:xfrm>
            <a:off x="6248400" y="1320800"/>
            <a:ext cx="241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B2"/>
          <p:cNvSpPr/>
          <p:nvPr/>
        </p:nvSpPr>
        <p:spPr>
          <a:xfrm>
            <a:off x="6248400" y="1422400"/>
            <a:ext cx="2413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Lovesac.com frontend integration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Real-time inventory availability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Full agentic channel (MCP) production deployment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Pricing engine integration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OMS / fulfilment system integration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7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Collections, Hierarchies, Taxonomies</a:t>
            </a:r>
          </a:p>
        </p:txBody>
      </p:sp>
      <p:sp>
        <p:nvSpPr>
          <p:cNvPr id="4" name="Subtitle"/>
          <p:cNvSpPr/>
          <p:nvPr/>
        </p:nvSpPr>
        <p:spPr>
          <a:xfrm>
            <a:off x="381000" y="533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6B7280"/>
                </a:solidFill>
              </a:rPr>
              <a:t>High-level explanation of DX Graph collection types and how they connect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1BG"/>
          <p:cNvSpPr/>
          <p:nvPr/>
        </p:nvSpPr>
        <p:spPr>
          <a:xfrm>
            <a:off x="254000" y="914400"/>
            <a:ext cx="4191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1Accent"/>
          <p:cNvSpPr/>
          <p:nvPr/>
        </p:nvSpPr>
        <p:spPr>
          <a:xfrm>
            <a:off x="254000" y="914400"/>
            <a:ext cx="4191000" cy="50800"/>
          </a:xfrm>
          <a:prstGeom prst="roundRect">
            <a:avLst>
              <a:gd name="adj" fmla="val 4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1Text"/>
          <p:cNvSpPr/>
          <p:nvPr/>
        </p:nvSpPr>
        <p:spPr>
          <a:xfrm>
            <a:off x="355600" y="1016000"/>
            <a:ext cx="39878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dirty="0">
                <a:solidFill>
                  <a:srgbClr val="EB1A63"/>
                </a:solidFill>
              </a:rPr>
              <a:t>Collections  </a:t>
            </a:r>
            <a:r>
              <a:rPr lang="en-US" sz="1000" dirty="0">
                <a:solidFill>
                  <a:srgbClr val="374151"/>
                </a:solidFill>
              </a:rPr>
              <a:t>are the foundation and hold data based on the data model configured.</a:t>
            </a:r>
          </a:p>
          <a:p>
            <a:pPr>
              <a:buNone/>
            </a:pPr>
            <a:r>
              <a:rPr lang="en-US" sz="1100" b="1" dirty="0">
                <a:solidFill>
                  <a:srgbClr val="07BCD6"/>
                </a:solidFill>
              </a:rPr>
              <a:t>Relationships  </a:t>
            </a:r>
            <a:r>
              <a:rPr lang="en-US" sz="1000" dirty="0">
                <a:solidFill>
                  <a:srgbClr val="374151"/>
                </a:solidFill>
              </a:rPr>
              <a:t>connect collections together. A 1:1 lookup maps a single record to exactly one record elsewhere. A 1:Many lookup links one record to multiple targets. Dynamic relationships use expressions to create links between otherwise unrelated records.</a:t>
            </a:r>
          </a:p>
          <a:p>
            <a:pPr>
              <a:buNone/>
            </a:pPr>
            <a:r>
              <a:rPr lang="en-US" sz="1100" b="1" dirty="0">
                <a:solidFill>
                  <a:srgbClr val="8AC542"/>
                </a:solidFill>
              </a:rPr>
              <a:t>Hierarchies  </a:t>
            </a:r>
            <a:r>
              <a:rPr lang="en-US" sz="1000" dirty="0">
                <a:solidFill>
                  <a:srgbClr val="374151"/>
                </a:solidFill>
              </a:rPr>
              <a:t>are special collections where records can have a parent record, building a tree structure. Hierarchy paths recalculate automatically in real time whenever a record is moved.</a:t>
            </a:r>
          </a:p>
        </p:txBody>
      </p:sp>
      <p:sp>
        <p:nvSpPr>
          <p:cNvPr id="20" name="Card2BG"/>
          <p:cNvSpPr/>
          <p:nvPr/>
        </p:nvSpPr>
        <p:spPr>
          <a:xfrm>
            <a:off x="4572000" y="914400"/>
            <a:ext cx="4318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ard2Accent"/>
          <p:cNvSpPr/>
          <p:nvPr/>
        </p:nvSpPr>
        <p:spPr>
          <a:xfrm>
            <a:off x="4572000" y="914400"/>
            <a:ext cx="4318000" cy="50800"/>
          </a:xfrm>
          <a:prstGeom prst="roundRect">
            <a:avLst>
              <a:gd name="adj" fmla="val 4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2Text"/>
          <p:cNvSpPr/>
          <p:nvPr/>
        </p:nvSpPr>
        <p:spPr>
          <a:xfrm>
            <a:off x="4673600" y="1016000"/>
            <a:ext cx="41148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dirty="0">
                <a:solidFill>
                  <a:srgbClr val="F8981D"/>
                </a:solidFill>
              </a:rPr>
              <a:t>Taxonomies  </a:t>
            </a:r>
            <a:r>
              <a:rPr lang="en-US" sz="1000" dirty="0">
                <a:solidFill>
                  <a:srgbClr val="374151"/>
                </a:solidFill>
              </a:rPr>
              <a:t>layer on top of collections to tag records dynamically. A standard Taxonomy collection holds labeling rules and applies them to a target collection.</a:t>
            </a:r>
          </a:p>
          <a:p>
            <a:pPr>
              <a:buNone/>
            </a:pPr>
            <a:r>
              <a:rPr lang="en-US" sz="1100" b="1" dirty="0">
                <a:solidFill>
                  <a:srgbClr val="458CCB"/>
                </a:solidFill>
              </a:rPr>
              <a:t>Hierarchical Taxonomy  </a:t>
            </a:r>
            <a:r>
              <a:rPr lang="en-US" sz="1000" dirty="0">
                <a:solidFill>
                  <a:srgbClr val="374151"/>
                </a:solidFill>
              </a:rPr>
              <a:t>takes this further: when a Hierarchy is also set as a Taxonomy, records get tagged with the full hierarchy path (e.g. A &gt; B &gt; C), enabling implicit relationships and path-aware querying.</a:t>
            </a:r>
          </a:p>
          <a:p>
            <a:pPr>
              <a:buNone/>
            </a:pPr>
            <a:r>
              <a:rPr lang="en-US" sz="950" i="1" dirty="0">
                <a:solidFill>
                  <a:srgbClr val="9CA3AF"/>
                </a:solidFill>
              </a:rPr>
              <a:t>Walkthrough of what has been implemented so far</a:t>
            </a:r>
          </a:p>
        </p:txBody>
      </p:sp>
      <p:sp>
        <p:nvSpPr>
          <p:cNvPr id="3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</a:endParaRPr>
          </a:p>
        </p:txBody>
      </p:sp>
      <p:sp>
        <p:nvSpPr>
          <p:cNvPr id="3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04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Implementation Timeline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Phase1BG"/>
          <p:cNvSpPr/>
          <p:nvPr/>
        </p:nvSpPr>
        <p:spPr>
          <a:xfrm>
            <a:off x="2540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Phase1Accent"/>
          <p:cNvSpPr/>
          <p:nvPr/>
        </p:nvSpPr>
        <p:spPr>
          <a:xfrm>
            <a:off x="2540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hase1Text"/>
          <p:cNvSpPr/>
          <p:nvPr/>
        </p:nvSpPr>
        <p:spPr>
          <a:xfrm>
            <a:off x="3556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EB1A63"/>
                </a:solidFill>
              </a:rPr>
              <a:t>PHASE 1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1–3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Foundation &amp; Data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Provision DX Graph environment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Model SKU &amp; Configuration Collections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Configure data ingest Jobs (3 backends)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COMPATIBLE_WITH Dynamic Relationship</a:t>
            </a:r>
          </a:p>
        </p:txBody>
      </p:sp>
      <p:sp>
        <p:nvSpPr>
          <p:cNvPr id="13" name="Phase2BG"/>
          <p:cNvSpPr/>
          <p:nvPr/>
        </p:nvSpPr>
        <p:spPr>
          <a:xfrm>
            <a:off x="23876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Phase2Accent"/>
          <p:cNvSpPr/>
          <p:nvPr/>
        </p:nvSpPr>
        <p:spPr>
          <a:xfrm>
            <a:off x="23876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hase2Text"/>
          <p:cNvSpPr/>
          <p:nvPr/>
        </p:nvSpPr>
        <p:spPr>
          <a:xfrm>
            <a:off x="24892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07BCD6"/>
                </a:solidFill>
              </a:rPr>
              <a:t>PHASE 2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4–6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Taxonomy &amp; Feeds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Model 3 Taxonomy Collections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Map all SKUs to taxonomies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Update 2 marketplace feeds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Validate data completeness</a:t>
            </a:r>
          </a:p>
        </p:txBody>
      </p:sp>
      <p:sp>
        <p:nvSpPr>
          <p:cNvPr id="16" name="Phase3BG"/>
          <p:cNvSpPr/>
          <p:nvPr/>
        </p:nvSpPr>
        <p:spPr>
          <a:xfrm>
            <a:off x="45212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Phase3Accent"/>
          <p:cNvSpPr/>
          <p:nvPr/>
        </p:nvSpPr>
        <p:spPr>
          <a:xfrm>
            <a:off x="45212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hase3Text"/>
          <p:cNvSpPr/>
          <p:nvPr/>
        </p:nvSpPr>
        <p:spPr>
          <a:xfrm>
            <a:off x="46228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8AC542"/>
                </a:solidFill>
              </a:rPr>
              <a:t>PHASE 3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7–10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DX Engine POC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Config Validation flow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Wizard Step Options flow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Config ID Creation flow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BOM Explosion flow</a:t>
            </a:r>
          </a:p>
        </p:txBody>
      </p:sp>
      <p:sp>
        <p:nvSpPr>
          <p:cNvPr id="19" name="Phase4BG"/>
          <p:cNvSpPr/>
          <p:nvPr/>
        </p:nvSpPr>
        <p:spPr>
          <a:xfrm>
            <a:off x="66548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Phase4Accent"/>
          <p:cNvSpPr/>
          <p:nvPr/>
        </p:nvSpPr>
        <p:spPr>
          <a:xfrm>
            <a:off x="66548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hase4Text"/>
          <p:cNvSpPr/>
          <p:nvPr/>
        </p:nvSpPr>
        <p:spPr>
          <a:xfrm>
            <a:off x="67564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458CCB"/>
                </a:solidFill>
              </a:rPr>
              <a:t>PHASE 4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11–12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Testing &amp; Handoff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End-to-end integration testing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Channel-specific QA (POS, web)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Documentation &amp; runbooks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Knowledge transfer to Lovesac</a:t>
            </a:r>
          </a:p>
        </p:txBody>
      </p:sp>
      <p:sp>
        <p:nvSpPr>
          <p:cNvPr id="22" name="Note"/>
          <p:cNvSpPr/>
          <p:nvPr/>
        </p:nvSpPr>
        <p:spPr>
          <a:xfrm>
            <a:off x="254000" y="4267200"/>
            <a:ext cx="863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i="1" dirty="0">
                <a:solidFill>
                  <a:srgbClr val="9CA3AF"/>
                </a:solidFill>
              </a:rPr>
              <a:t>Note: Timeline is indicative. Final schedule to be agreed with Lovesac based on data readiness and open question resolution.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800">
                <a:solidFill>
                  <a:srgbClr val="9CA3AF"/>
                </a:solidFill>
              </a:rPr>
              <a:t>Lovesac × Conscia  ·  Project Kick-off  ·  April 8, 2026</a:t>
            </a:r>
            <a:endParaRPr lang="en-US" sz="800" dirty="0">
              <a:solidFill>
                <a:srgbClr val="9CA3AF"/>
              </a:solidFill>
            </a:endParaRP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50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E939A8-5FA8-71A7-2D4E-2622425F64E4}"/>
              </a:ext>
            </a:extLst>
          </p:cNvPr>
          <p:cNvSpPr txBox="1"/>
          <p:nvPr/>
        </p:nvSpPr>
        <p:spPr>
          <a:xfrm>
            <a:off x="1271954" y="1863969"/>
            <a:ext cx="64945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94753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BF2F4"/>
              </a:gs>
              <a:gs pos="100000">
                <a:srgbClr val="F5EDF0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LeftBar"/>
          <p:cNvSpPr>
            <a:spLocks noGrp="1"/>
          </p:cNvSpPr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63500" tIns="25400" rIns="63500" bIns="25400" anchor="ctr"/>
          <a:lstStyle/>
          <a:p>
            <a:endParaRPr/>
          </a:p>
        </p:txBody>
      </p:sp>
      <p:sp>
        <p:nvSpPr>
          <p:cNvPr id="11" name="Header"/>
          <p:cNvSpPr>
            <a:spLocks noGrp="1"/>
          </p:cNvSpPr>
          <p:nvPr/>
        </p:nvSpPr>
        <p:spPr>
          <a:xfrm>
            <a:off x="101600" y="0"/>
            <a:ext cx="9042400" cy="71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3500" tIns="25400" rIns="63500" bIns="25400" anchor="ctr"/>
          <a:lstStyle/>
          <a:p>
            <a:endParaRPr/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254000" y="1524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2000" b="1" dirty="0">
                <a:solidFill>
                  <a:srgbClr val="111827"/>
                </a:solidFill>
                <a:latin typeface="Calibri"/>
              </a:rPr>
              <a:t>Threekit &amp; Conscia: Different Jobs, Different Tools</a:t>
            </a:r>
          </a:p>
        </p:txBody>
      </p:sp>
      <p:sp>
        <p:nvSpPr>
          <p:cNvPr id="13" name="AppTag"/>
          <p:cNvSpPr>
            <a:spLocks noGrp="1"/>
          </p:cNvSpPr>
          <p:nvPr/>
        </p:nvSpPr>
        <p:spPr>
          <a:xfrm>
            <a:off x="6731000" y="152400"/>
            <a:ext cx="2311400" cy="177800"/>
          </a:xfrm>
          <a:prstGeom prst="rect">
            <a:avLst/>
          </a:prstGeom>
          <a:noFill/>
          <a:ln>
            <a:noFill/>
          </a:ln>
        </p:spPr>
        <p:txBody>
          <a:bodyPr wrap="square" lIns="63500" tIns="25400" rIns="63500" bIns="25400" anchor="ctr"/>
          <a:lstStyle/>
          <a:p>
            <a:pPr algn="r">
              <a:buNone/>
            </a:pPr>
            <a:r>
              <a:rPr lang="en-US" sz="800" b="1" dirty="0">
                <a:solidFill>
                  <a:srgbClr val="9CA3AF"/>
                </a:solidFill>
                <a:latin typeface="Calibri"/>
              </a:rPr>
              <a:t>APPENDIX 1 OF 2</a:t>
            </a:r>
          </a:p>
        </p:txBody>
      </p:sp>
      <p:sp>
        <p:nvSpPr>
          <p:cNvPr id="14" name="Div"/>
          <p:cNvSpPr>
            <a:spLocks noGrp="1"/>
          </p:cNvSpPr>
          <p:nvPr/>
        </p:nvSpPr>
        <p:spPr>
          <a:xfrm>
            <a:off x="101600" y="711200"/>
            <a:ext cx="90424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lIns="63500" tIns="25400" rIns="63500" bIns="25400" anchor="ctr"/>
          <a:lstStyle/>
          <a:p>
            <a:endParaRPr/>
          </a:p>
        </p:txBody>
      </p:sp>
      <p:sp>
        <p:nvSpPr>
          <p:cNvPr id="700" name="Footer"/>
          <p:cNvSpPr>
            <a:spLocks noGrp="1"/>
          </p:cNvSpPr>
          <p:nvPr/>
        </p:nvSpPr>
        <p:spPr>
          <a:xfrm>
            <a:off x="0" y="4762500"/>
            <a:ext cx="9144000" cy="330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lIns="63500" tIns="25400" rIns="63500" bIns="2540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</a:p>
        </p:txBody>
      </p:sp>
      <p:sp>
        <p:nvSpPr>
          <p:cNvPr id="710" name="Bar0"/>
          <p:cNvSpPr>
            <a:spLocks noGrp="1"/>
          </p:cNvSpPr>
          <p:nvPr/>
        </p:nvSpPr>
        <p:spPr>
          <a:xfrm>
            <a:off x="0" y="5092700"/>
            <a:ext cx="1524000" cy="508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63500" tIns="25400" rIns="63500" bIns="25400" anchor="ctr"/>
          <a:lstStyle/>
          <a:p>
            <a:endParaRPr/>
          </a:p>
        </p:txBody>
      </p:sp>
      <p:sp>
        <p:nvSpPr>
          <p:cNvPr id="711" name="Bar1"/>
          <p:cNvSpPr>
            <a:spLocks noGrp="1"/>
          </p:cNvSpPr>
          <p:nvPr/>
        </p:nvSpPr>
        <p:spPr>
          <a:xfrm>
            <a:off x="1524000" y="5092700"/>
            <a:ext cx="1524000" cy="50800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txBody>
          <a:bodyPr wrap="square" lIns="63500" tIns="25400" rIns="63500" bIns="25400" anchor="ctr"/>
          <a:lstStyle/>
          <a:p>
            <a:endParaRPr/>
          </a:p>
        </p:txBody>
      </p:sp>
      <p:sp>
        <p:nvSpPr>
          <p:cNvPr id="712" name="Bar2"/>
          <p:cNvSpPr>
            <a:spLocks noGrp="1"/>
          </p:cNvSpPr>
          <p:nvPr/>
        </p:nvSpPr>
        <p:spPr>
          <a:xfrm>
            <a:off x="3048000" y="5092700"/>
            <a:ext cx="1524000" cy="50800"/>
          </a:xfrm>
          <a:prstGeom prst="rect">
            <a:avLst/>
          </a:prstGeom>
          <a:solidFill>
            <a:srgbClr val="FABF2D"/>
          </a:solidFill>
          <a:ln>
            <a:noFill/>
          </a:ln>
        </p:spPr>
        <p:txBody>
          <a:bodyPr wrap="square" lIns="63500" tIns="25400" rIns="63500" bIns="25400" anchor="ctr"/>
          <a:lstStyle/>
          <a:p>
            <a:endParaRPr/>
          </a:p>
        </p:txBody>
      </p:sp>
      <p:sp>
        <p:nvSpPr>
          <p:cNvPr id="713" name="Bar3"/>
          <p:cNvSpPr>
            <a:spLocks noGrp="1"/>
          </p:cNvSpPr>
          <p:nvPr/>
        </p:nvSpPr>
        <p:spPr>
          <a:xfrm>
            <a:off x="4572000" y="5092700"/>
            <a:ext cx="1524000" cy="508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wrap="square" lIns="63500" tIns="25400" rIns="63500" bIns="25400" anchor="ctr"/>
          <a:lstStyle/>
          <a:p>
            <a:endParaRPr/>
          </a:p>
        </p:txBody>
      </p:sp>
      <p:sp>
        <p:nvSpPr>
          <p:cNvPr id="714" name="Bar4"/>
          <p:cNvSpPr>
            <a:spLocks noGrp="1"/>
          </p:cNvSpPr>
          <p:nvPr/>
        </p:nvSpPr>
        <p:spPr>
          <a:xfrm>
            <a:off x="6096000" y="5092700"/>
            <a:ext cx="1524000" cy="508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wrap="square" lIns="63500" tIns="25400" rIns="63500" bIns="25400" anchor="ctr"/>
          <a:lstStyle/>
          <a:p>
            <a:endParaRPr/>
          </a:p>
        </p:txBody>
      </p:sp>
      <p:sp>
        <p:nvSpPr>
          <p:cNvPr id="715" name="Bar5"/>
          <p:cNvSpPr>
            <a:spLocks noGrp="1"/>
          </p:cNvSpPr>
          <p:nvPr/>
        </p:nvSpPr>
        <p:spPr>
          <a:xfrm>
            <a:off x="7620000" y="5092700"/>
            <a:ext cx="1524000" cy="50800"/>
          </a:xfrm>
          <a:prstGeom prst="rect">
            <a:avLst/>
          </a:prstGeom>
          <a:solidFill>
            <a:srgbClr val="458CCB"/>
          </a:solidFill>
          <a:ln>
            <a:noFill/>
          </a:ln>
        </p:spPr>
        <p:txBody>
          <a:bodyPr wrap="square" lIns="63500" tIns="25400" rIns="63500" bIns="25400" anchor="ctr"/>
          <a:lstStyle/>
          <a:p>
            <a:endParaRPr/>
          </a:p>
        </p:txBody>
      </p:sp>
      <p:sp>
        <p:nvSpPr>
          <p:cNvPr id="50" name="HdrDim"/>
          <p:cNvSpPr>
            <a:spLocks noGrp="1"/>
          </p:cNvSpPr>
          <p:nvPr/>
        </p:nvSpPr>
        <p:spPr>
          <a:xfrm>
            <a:off x="254000" y="825500"/>
            <a:ext cx="2349500" cy="2540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b="1" dirty="0">
                <a:solidFill>
                  <a:srgbClr val="6B7280"/>
                </a:solidFill>
                <a:latin typeface="Calibri"/>
              </a:rPr>
              <a:t>Dimension</a:t>
            </a:r>
          </a:p>
        </p:txBody>
      </p:sp>
      <p:sp>
        <p:nvSpPr>
          <p:cNvPr id="51" name="HdrTK"/>
          <p:cNvSpPr>
            <a:spLocks noGrp="1"/>
          </p:cNvSpPr>
          <p:nvPr/>
        </p:nvSpPr>
        <p:spPr>
          <a:xfrm>
            <a:off x="2667000" y="825500"/>
            <a:ext cx="3073400" cy="2540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74151"/>
                </a:solidFill>
                <a:latin typeface="Calibri"/>
              </a:rPr>
              <a:t>Threekit</a:t>
            </a:r>
          </a:p>
        </p:txBody>
      </p:sp>
      <p:sp>
        <p:nvSpPr>
          <p:cNvPr id="52" name="HdrCo"/>
          <p:cNvSpPr>
            <a:spLocks noGrp="1"/>
          </p:cNvSpPr>
          <p:nvPr/>
        </p:nvSpPr>
        <p:spPr>
          <a:xfrm>
            <a:off x="5842000" y="825500"/>
            <a:ext cx="3073400" cy="254000"/>
          </a:xfrm>
          <a:prstGeom prst="rect">
            <a:avLst/>
          </a:prstGeom>
          <a:solidFill>
            <a:srgbClr val="FDF2F5"/>
          </a:solidFill>
          <a:ln w="9525">
            <a:solidFill>
              <a:srgbClr val="EB1A63"/>
            </a:solidFill>
          </a:ln>
        </p:spPr>
        <p:txBody>
          <a:bodyPr wrap="square" lIns="63500" tIns="25400" rIns="63500" bIns="254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Conscia</a:t>
            </a:r>
          </a:p>
        </p:txBody>
      </p:sp>
      <p:sp>
        <p:nvSpPr>
          <p:cNvPr id="100" name="Dim0"/>
          <p:cNvSpPr>
            <a:spLocks noGrp="1"/>
          </p:cNvSpPr>
          <p:nvPr/>
        </p:nvSpPr>
        <p:spPr>
          <a:xfrm>
            <a:off x="254000" y="1079500"/>
            <a:ext cx="23495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/>
              </a:rPr>
              <a:t>Primary job</a:t>
            </a:r>
          </a:p>
        </p:txBody>
      </p:sp>
      <p:sp>
        <p:nvSpPr>
          <p:cNvPr id="101" name="TK0"/>
          <p:cNvSpPr>
            <a:spLocks noGrp="1"/>
          </p:cNvSpPr>
          <p:nvPr/>
        </p:nvSpPr>
        <p:spPr>
          <a:xfrm>
            <a:off x="2667000" y="1079500"/>
            <a:ext cx="30734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3D product visualisation &amp; configuration</a:t>
            </a:r>
          </a:p>
        </p:txBody>
      </p:sp>
      <p:sp>
        <p:nvSpPr>
          <p:cNvPr id="102" name="Co0"/>
          <p:cNvSpPr>
            <a:spLocks noGrp="1"/>
          </p:cNvSpPr>
          <p:nvPr/>
        </p:nvSpPr>
        <p:spPr>
          <a:xfrm>
            <a:off x="5842000" y="1079500"/>
            <a:ext cx="3073400" cy="508000"/>
          </a:xfrm>
          <a:prstGeom prst="rect">
            <a:avLst/>
          </a:prstGeom>
          <a:solidFill>
            <a:srgbClr val="FEF6F8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111827"/>
                </a:solidFill>
                <a:latin typeface="Calibri"/>
              </a:rPr>
              <a:t>API-layer orchestration across all systems</a:t>
            </a:r>
          </a:p>
        </p:txBody>
      </p:sp>
      <p:sp>
        <p:nvSpPr>
          <p:cNvPr id="103" name="Dim1"/>
          <p:cNvSpPr>
            <a:spLocks noGrp="1"/>
          </p:cNvSpPr>
          <p:nvPr/>
        </p:nvSpPr>
        <p:spPr>
          <a:xfrm>
            <a:off x="254000" y="1587500"/>
            <a:ext cx="2349500" cy="508000"/>
          </a:xfrm>
          <a:prstGeom prst="rect">
            <a:avLst/>
          </a:prstGeom>
          <a:solidFill>
            <a:srgbClr val="FAF9F9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/>
              </a:rPr>
              <a:t>Data stored</a:t>
            </a:r>
          </a:p>
        </p:txBody>
      </p:sp>
      <p:sp>
        <p:nvSpPr>
          <p:cNvPr id="104" name="TK1"/>
          <p:cNvSpPr>
            <a:spLocks noGrp="1"/>
          </p:cNvSpPr>
          <p:nvPr/>
        </p:nvSpPr>
        <p:spPr>
          <a:xfrm>
            <a:off x="2667000" y="1587500"/>
            <a:ext cx="3073400" cy="508000"/>
          </a:xfrm>
          <a:prstGeom prst="rect">
            <a:avLst/>
          </a:prstGeom>
          <a:solidFill>
            <a:srgbClr val="FAF9F9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Visual assets, component rules, constraints</a:t>
            </a:r>
          </a:p>
        </p:txBody>
      </p:sp>
      <p:sp>
        <p:nvSpPr>
          <p:cNvPr id="105" name="Co1"/>
          <p:cNvSpPr>
            <a:spLocks noGrp="1"/>
          </p:cNvSpPr>
          <p:nvPr/>
        </p:nvSpPr>
        <p:spPr>
          <a:xfrm>
            <a:off x="5842000" y="1587500"/>
            <a:ext cx="3073400" cy="508000"/>
          </a:xfrm>
          <a:prstGeom prst="rect">
            <a:avLst/>
          </a:prstGeom>
          <a:solidFill>
            <a:srgbClr val="FDF2F5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111827"/>
                </a:solidFill>
                <a:latin typeface="Calibri"/>
              </a:rPr>
              <a:t>Product graph, business logic, channel rules</a:t>
            </a:r>
          </a:p>
        </p:txBody>
      </p:sp>
      <p:sp>
        <p:nvSpPr>
          <p:cNvPr id="106" name="Dim2"/>
          <p:cNvSpPr>
            <a:spLocks noGrp="1"/>
          </p:cNvSpPr>
          <p:nvPr/>
        </p:nvSpPr>
        <p:spPr>
          <a:xfrm>
            <a:off x="254000" y="2095500"/>
            <a:ext cx="23495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/>
              </a:rPr>
              <a:t>Who queries it</a:t>
            </a:r>
          </a:p>
        </p:txBody>
      </p:sp>
      <p:sp>
        <p:nvSpPr>
          <p:cNvPr id="107" name="TK2"/>
          <p:cNvSpPr>
            <a:spLocks noGrp="1"/>
          </p:cNvSpPr>
          <p:nvPr/>
        </p:nvSpPr>
        <p:spPr>
          <a:xfrm>
            <a:off x="2667000" y="2095500"/>
            <a:ext cx="30734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Lovesac.com configurator only</a:t>
            </a:r>
          </a:p>
        </p:txBody>
      </p:sp>
      <p:sp>
        <p:nvSpPr>
          <p:cNvPr id="108" name="Co2"/>
          <p:cNvSpPr>
            <a:spLocks noGrp="1"/>
          </p:cNvSpPr>
          <p:nvPr/>
        </p:nvSpPr>
        <p:spPr>
          <a:xfrm>
            <a:off x="5842000" y="2095500"/>
            <a:ext cx="3073400" cy="508000"/>
          </a:xfrm>
          <a:prstGeom prst="rect">
            <a:avLst/>
          </a:prstGeom>
          <a:solidFill>
            <a:srgbClr val="FEF6F8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111827"/>
                </a:solidFill>
                <a:latin typeface="Calibri"/>
              </a:rPr>
              <a:t>Any channel — web, app, kiosk, AI agent</a:t>
            </a:r>
          </a:p>
        </p:txBody>
      </p:sp>
      <p:sp>
        <p:nvSpPr>
          <p:cNvPr id="109" name="Dim3"/>
          <p:cNvSpPr>
            <a:spLocks noGrp="1"/>
          </p:cNvSpPr>
          <p:nvPr/>
        </p:nvSpPr>
        <p:spPr>
          <a:xfrm>
            <a:off x="254000" y="2603500"/>
            <a:ext cx="2349500" cy="508000"/>
          </a:xfrm>
          <a:prstGeom prst="rect">
            <a:avLst/>
          </a:prstGeom>
          <a:solidFill>
            <a:srgbClr val="FAF9F9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/>
              </a:rPr>
              <a:t>How data flows</a:t>
            </a:r>
          </a:p>
        </p:txBody>
      </p:sp>
      <p:sp>
        <p:nvSpPr>
          <p:cNvPr id="110" name="TK3"/>
          <p:cNvSpPr>
            <a:spLocks noGrp="1"/>
          </p:cNvSpPr>
          <p:nvPr/>
        </p:nvSpPr>
        <p:spPr>
          <a:xfrm>
            <a:off x="2667000" y="2603500"/>
            <a:ext cx="3073400" cy="508000"/>
          </a:xfrm>
          <a:prstGeom prst="rect">
            <a:avLst/>
          </a:prstGeom>
          <a:solidFill>
            <a:srgbClr val="FAF9F9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Push: Lovesac team uploads updates manually</a:t>
            </a:r>
          </a:p>
        </p:txBody>
      </p:sp>
      <p:sp>
        <p:nvSpPr>
          <p:cNvPr id="111" name="Co3"/>
          <p:cNvSpPr>
            <a:spLocks noGrp="1"/>
          </p:cNvSpPr>
          <p:nvPr/>
        </p:nvSpPr>
        <p:spPr>
          <a:xfrm>
            <a:off x="5842000" y="2603500"/>
            <a:ext cx="3073400" cy="508000"/>
          </a:xfrm>
          <a:prstGeom prst="rect">
            <a:avLst/>
          </a:prstGeom>
          <a:solidFill>
            <a:srgbClr val="FDF2F5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111827"/>
                </a:solidFill>
                <a:latin typeface="Calibri"/>
              </a:rPr>
              <a:t>Pull: real-time API calls, live sync</a:t>
            </a:r>
          </a:p>
        </p:txBody>
      </p:sp>
      <p:sp>
        <p:nvSpPr>
          <p:cNvPr id="112" name="Dim4"/>
          <p:cNvSpPr>
            <a:spLocks noGrp="1"/>
          </p:cNvSpPr>
          <p:nvPr/>
        </p:nvSpPr>
        <p:spPr>
          <a:xfrm>
            <a:off x="254000" y="3111500"/>
            <a:ext cx="23495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/>
              </a:rPr>
              <a:t>AI / agent access</a:t>
            </a:r>
          </a:p>
        </p:txBody>
      </p:sp>
      <p:sp>
        <p:nvSpPr>
          <p:cNvPr id="113" name="TK4"/>
          <p:cNvSpPr>
            <a:spLocks noGrp="1"/>
          </p:cNvSpPr>
          <p:nvPr/>
        </p:nvSpPr>
        <p:spPr>
          <a:xfrm>
            <a:off x="2667000" y="3111500"/>
            <a:ext cx="30734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Not designed for programmatic access</a:t>
            </a:r>
          </a:p>
        </p:txBody>
      </p:sp>
      <p:sp>
        <p:nvSpPr>
          <p:cNvPr id="114" name="Co4"/>
          <p:cNvSpPr>
            <a:spLocks noGrp="1"/>
          </p:cNvSpPr>
          <p:nvPr/>
        </p:nvSpPr>
        <p:spPr>
          <a:xfrm>
            <a:off x="5842000" y="3111500"/>
            <a:ext cx="3073400" cy="508000"/>
          </a:xfrm>
          <a:prstGeom prst="rect">
            <a:avLst/>
          </a:prstGeom>
          <a:solidFill>
            <a:srgbClr val="FEF6F8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111827"/>
                </a:solidFill>
                <a:latin typeface="Calibri"/>
              </a:rPr>
              <a:t>Native MCP endpoint; agent-ready by design</a:t>
            </a:r>
          </a:p>
        </p:txBody>
      </p:sp>
      <p:sp>
        <p:nvSpPr>
          <p:cNvPr id="115" name="Dim5"/>
          <p:cNvSpPr>
            <a:spLocks noGrp="1"/>
          </p:cNvSpPr>
          <p:nvPr/>
        </p:nvSpPr>
        <p:spPr>
          <a:xfrm>
            <a:off x="254000" y="3619500"/>
            <a:ext cx="2349500" cy="508000"/>
          </a:xfrm>
          <a:prstGeom prst="rect">
            <a:avLst/>
          </a:prstGeom>
          <a:solidFill>
            <a:srgbClr val="FAF9F9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/>
              </a:rPr>
              <a:t>Where it lives</a:t>
            </a:r>
          </a:p>
        </p:txBody>
      </p:sp>
      <p:sp>
        <p:nvSpPr>
          <p:cNvPr id="116" name="TK5"/>
          <p:cNvSpPr>
            <a:spLocks noGrp="1"/>
          </p:cNvSpPr>
          <p:nvPr/>
        </p:nvSpPr>
        <p:spPr>
          <a:xfrm>
            <a:off x="2667000" y="3619500"/>
            <a:ext cx="3073400" cy="508000"/>
          </a:xfrm>
          <a:prstGeom prst="rect">
            <a:avLst/>
          </a:prstGeom>
          <a:solidFill>
            <a:srgbClr val="FAF9F9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SaaS, Threekit-hosted</a:t>
            </a:r>
          </a:p>
        </p:txBody>
      </p:sp>
      <p:sp>
        <p:nvSpPr>
          <p:cNvPr id="117" name="Co5"/>
          <p:cNvSpPr>
            <a:spLocks noGrp="1"/>
          </p:cNvSpPr>
          <p:nvPr/>
        </p:nvSpPr>
        <p:spPr>
          <a:xfrm>
            <a:off x="5842000" y="3619500"/>
            <a:ext cx="3073400" cy="508000"/>
          </a:xfrm>
          <a:prstGeom prst="rect">
            <a:avLst/>
          </a:prstGeom>
          <a:solidFill>
            <a:srgbClr val="FDF2F5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111827"/>
                </a:solidFill>
                <a:latin typeface="Calibri"/>
              </a:rPr>
              <a:t>Orchestration layer above your existing stack</a:t>
            </a:r>
          </a:p>
        </p:txBody>
      </p:sp>
      <p:sp>
        <p:nvSpPr>
          <p:cNvPr id="118" name="Dim6"/>
          <p:cNvSpPr>
            <a:spLocks noGrp="1"/>
          </p:cNvSpPr>
          <p:nvPr/>
        </p:nvSpPr>
        <p:spPr>
          <a:xfrm>
            <a:off x="254000" y="4127500"/>
            <a:ext cx="23495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/>
              </a:rPr>
              <a:t>Phase 1 role</a:t>
            </a:r>
          </a:p>
        </p:txBody>
      </p:sp>
      <p:sp>
        <p:nvSpPr>
          <p:cNvPr id="119" name="TK6"/>
          <p:cNvSpPr>
            <a:spLocks noGrp="1"/>
          </p:cNvSpPr>
          <p:nvPr/>
        </p:nvSpPr>
        <p:spPr>
          <a:xfrm>
            <a:off x="2667000" y="4127500"/>
            <a:ext cx="30734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Continues as the rendering engine</a:t>
            </a:r>
          </a:p>
        </p:txBody>
      </p:sp>
      <p:sp>
        <p:nvSpPr>
          <p:cNvPr id="120" name="Co6"/>
          <p:cNvSpPr>
            <a:spLocks noGrp="1"/>
          </p:cNvSpPr>
          <p:nvPr/>
        </p:nvSpPr>
        <p:spPr>
          <a:xfrm>
            <a:off x="5842000" y="4127500"/>
            <a:ext cx="3073400" cy="508000"/>
          </a:xfrm>
          <a:prstGeom prst="rect">
            <a:avLst/>
          </a:prstGeom>
          <a:solidFill>
            <a:srgbClr val="FEF6F8"/>
          </a:solidFill>
          <a:ln w="6350">
            <a:solidFill>
              <a:srgbClr val="E5E7EB"/>
            </a:solidFill>
          </a:ln>
        </p:spPr>
        <p:txBody>
          <a:bodyPr wrap="square" lIns="63500" tIns="25400" rIns="63500" bIns="25400" anchor="ctr"/>
          <a:lstStyle/>
          <a:p>
            <a:pPr algn="l">
              <a:buNone/>
            </a:pPr>
            <a:r>
              <a:rPr lang="en-US" sz="900" dirty="0">
                <a:solidFill>
                  <a:srgbClr val="111827"/>
                </a:solidFill>
                <a:latin typeface="Calibri"/>
              </a:rPr>
              <a:t>Reads from Threekit, exposes data everywhere</a:t>
            </a:r>
          </a:p>
        </p:txBody>
      </p:sp>
    </p:spTree>
    <p:extLst>
      <p:ext uri="{BB962C8B-B14F-4D97-AF65-F5344CB8AC3E}">
        <p14:creationId xmlns:p14="http://schemas.microsoft.com/office/powerpoint/2010/main" val="204803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BF2F4"/>
              </a:gs>
              <a:gs pos="100000">
                <a:srgbClr val="F5EDF0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LeftBar"/>
          <p:cNvSpPr>
            <a:spLocks noGrp="1"/>
          </p:cNvSpPr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11" name="Header"/>
          <p:cNvSpPr>
            <a:spLocks noGrp="1"/>
          </p:cNvSpPr>
          <p:nvPr/>
        </p:nvSpPr>
        <p:spPr>
          <a:xfrm>
            <a:off x="101600" y="0"/>
            <a:ext cx="9042400" cy="71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254000" y="152400"/>
            <a:ext cx="8714154" cy="4064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r>
              <a:rPr lang="en-US" sz="2000" b="1" dirty="0" err="1">
                <a:solidFill>
                  <a:srgbClr val="111827"/>
                </a:solidFill>
                <a:latin typeface="Calibri"/>
              </a:rPr>
              <a:t>Threekit</a:t>
            </a:r>
            <a:r>
              <a:rPr lang="en-US" sz="2000" b="1" dirty="0">
                <a:solidFill>
                  <a:srgbClr val="111827"/>
                </a:solidFill>
                <a:latin typeface="Calibri"/>
              </a:rPr>
              <a:t> &amp; </a:t>
            </a:r>
            <a:r>
              <a:rPr lang="en-US" sz="2000" b="1" dirty="0" err="1">
                <a:solidFill>
                  <a:srgbClr val="111827"/>
                </a:solidFill>
                <a:latin typeface="Calibri"/>
              </a:rPr>
              <a:t>Conscia</a:t>
            </a:r>
            <a:r>
              <a:rPr lang="en-US" sz="2000" b="1" dirty="0">
                <a:solidFill>
                  <a:srgbClr val="111827"/>
                </a:solidFill>
                <a:latin typeface="Calibri"/>
              </a:rPr>
              <a:t>: How They Work Together: A Phased Approach</a:t>
            </a:r>
          </a:p>
        </p:txBody>
      </p:sp>
      <p:sp>
        <p:nvSpPr>
          <p:cNvPr id="13" name="AppTag"/>
          <p:cNvSpPr>
            <a:spLocks noGrp="1"/>
          </p:cNvSpPr>
          <p:nvPr/>
        </p:nvSpPr>
        <p:spPr>
          <a:xfrm>
            <a:off x="6604000" y="152400"/>
            <a:ext cx="2438400" cy="1778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 algn="r">
              <a:buNone/>
            </a:pPr>
            <a:r>
              <a:rPr lang="en-US" sz="800" b="1" dirty="0">
                <a:solidFill>
                  <a:srgbClr val="9CA3AF"/>
                </a:solidFill>
                <a:latin typeface="Calibri"/>
              </a:rPr>
              <a:t>APPENDIX 2 OF 2</a:t>
            </a:r>
          </a:p>
        </p:txBody>
      </p:sp>
      <p:sp>
        <p:nvSpPr>
          <p:cNvPr id="14" name="Div"/>
          <p:cNvSpPr>
            <a:spLocks noGrp="1"/>
          </p:cNvSpPr>
          <p:nvPr/>
        </p:nvSpPr>
        <p:spPr>
          <a:xfrm>
            <a:off x="101600" y="711200"/>
            <a:ext cx="90424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700" name="Footer"/>
          <p:cNvSpPr>
            <a:spLocks noGrp="1"/>
          </p:cNvSpPr>
          <p:nvPr/>
        </p:nvSpPr>
        <p:spPr>
          <a:xfrm>
            <a:off x="0" y="4762500"/>
            <a:ext cx="9144000" cy="330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April 8, 2026</a:t>
            </a:r>
          </a:p>
        </p:txBody>
      </p:sp>
      <p:sp>
        <p:nvSpPr>
          <p:cNvPr id="710" name="Bar0"/>
          <p:cNvSpPr>
            <a:spLocks noGrp="1"/>
          </p:cNvSpPr>
          <p:nvPr/>
        </p:nvSpPr>
        <p:spPr>
          <a:xfrm>
            <a:off x="0" y="5092700"/>
            <a:ext cx="1524000" cy="508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711" name="Bar1"/>
          <p:cNvSpPr>
            <a:spLocks noGrp="1"/>
          </p:cNvSpPr>
          <p:nvPr/>
        </p:nvSpPr>
        <p:spPr>
          <a:xfrm>
            <a:off x="1524000" y="5092700"/>
            <a:ext cx="1524000" cy="50800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712" name="Bar2"/>
          <p:cNvSpPr>
            <a:spLocks noGrp="1"/>
          </p:cNvSpPr>
          <p:nvPr/>
        </p:nvSpPr>
        <p:spPr>
          <a:xfrm>
            <a:off x="3048000" y="5092700"/>
            <a:ext cx="1524000" cy="50800"/>
          </a:xfrm>
          <a:prstGeom prst="rect">
            <a:avLst/>
          </a:prstGeom>
          <a:solidFill>
            <a:srgbClr val="FABF2D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713" name="Bar3"/>
          <p:cNvSpPr>
            <a:spLocks noGrp="1"/>
          </p:cNvSpPr>
          <p:nvPr/>
        </p:nvSpPr>
        <p:spPr>
          <a:xfrm>
            <a:off x="4572000" y="5092700"/>
            <a:ext cx="1524000" cy="508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714" name="Bar4"/>
          <p:cNvSpPr>
            <a:spLocks noGrp="1"/>
          </p:cNvSpPr>
          <p:nvPr/>
        </p:nvSpPr>
        <p:spPr>
          <a:xfrm>
            <a:off x="6096000" y="5092700"/>
            <a:ext cx="1524000" cy="508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715" name="Bar5"/>
          <p:cNvSpPr>
            <a:spLocks noGrp="1"/>
          </p:cNvSpPr>
          <p:nvPr/>
        </p:nvSpPr>
        <p:spPr>
          <a:xfrm>
            <a:off x="7620000" y="5092700"/>
            <a:ext cx="1524000" cy="50800"/>
          </a:xfrm>
          <a:prstGeom prst="rect">
            <a:avLst/>
          </a:prstGeom>
          <a:solidFill>
            <a:srgbClr val="458CCB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200" name="Card0"/>
          <p:cNvSpPr>
            <a:spLocks noGrp="1"/>
          </p:cNvSpPr>
          <p:nvPr/>
        </p:nvSpPr>
        <p:spPr>
          <a:xfrm>
            <a:off x="228600" y="863600"/>
            <a:ext cx="2489200" cy="381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201" name="Acc0"/>
          <p:cNvSpPr>
            <a:spLocks noGrp="1"/>
          </p:cNvSpPr>
          <p:nvPr/>
        </p:nvSpPr>
        <p:spPr>
          <a:xfrm>
            <a:off x="457200" y="858520"/>
            <a:ext cx="2010508" cy="50799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202" name="PLabel0"/>
          <p:cNvSpPr>
            <a:spLocks noGrp="1"/>
          </p:cNvSpPr>
          <p:nvPr/>
        </p:nvSpPr>
        <p:spPr>
          <a:xfrm>
            <a:off x="330200" y="9652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 algn="l">
              <a:buNone/>
            </a:pPr>
            <a:r>
              <a:rPr lang="en-US" sz="750" b="1" dirty="0">
                <a:solidFill>
                  <a:srgbClr val="9CA3AF"/>
                </a:solidFill>
                <a:latin typeface="Calibri"/>
              </a:rPr>
              <a:t>PHASE 1  ·  WEEKS 1–6</a:t>
            </a:r>
          </a:p>
        </p:txBody>
      </p:sp>
      <p:sp>
        <p:nvSpPr>
          <p:cNvPr id="203" name="PTitle0"/>
          <p:cNvSpPr>
            <a:spLocks noGrp="1"/>
          </p:cNvSpPr>
          <p:nvPr/>
        </p:nvSpPr>
        <p:spPr>
          <a:xfrm>
            <a:off x="330200" y="11938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 algn="l">
              <a:buNone/>
            </a:pPr>
            <a:r>
              <a:rPr lang="en-US" sz="1400" b="1" dirty="0">
                <a:solidFill>
                  <a:srgbClr val="374151"/>
                </a:solidFill>
                <a:latin typeface="Calibri"/>
              </a:rPr>
              <a:t>Ingest &amp; Model</a:t>
            </a:r>
          </a:p>
        </p:txBody>
      </p:sp>
      <p:sp>
        <p:nvSpPr>
          <p:cNvPr id="204" name="PDivider0"/>
          <p:cNvSpPr>
            <a:spLocks noGrp="1"/>
          </p:cNvSpPr>
          <p:nvPr/>
        </p:nvSpPr>
        <p:spPr>
          <a:xfrm>
            <a:off x="330200" y="1574800"/>
            <a:ext cx="2286000" cy="127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205" name="PBullets0"/>
          <p:cNvSpPr>
            <a:spLocks noGrp="1"/>
          </p:cNvSpPr>
          <p:nvPr/>
        </p:nvSpPr>
        <p:spPr>
          <a:xfrm>
            <a:off x="330200" y="1625600"/>
            <a:ext cx="2286000" cy="26924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>
              <a:buNone/>
            </a:pPr>
            <a:endParaRPr/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Connect NetSuite, Magento &amp; Threekit to DX Graph</a:t>
            </a:r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Model Sactional SKUs as collection nodes</a:t>
            </a:r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Define canonical attribute schema</a:t>
            </a:r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Validate data quality with Lovesac team</a:t>
            </a:r>
          </a:p>
        </p:txBody>
      </p:sp>
      <p:sp>
        <p:nvSpPr>
          <p:cNvPr id="206" name="POut0"/>
          <p:cNvSpPr>
            <a:spLocks noGrp="1"/>
          </p:cNvSpPr>
          <p:nvPr/>
        </p:nvSpPr>
        <p:spPr>
          <a:xfrm>
            <a:off x="228600" y="4292600"/>
            <a:ext cx="2489200" cy="381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01600" tIns="127000" rIns="101600" bIns="76200" anchor="t"/>
          <a:lstStyle/>
          <a:p>
            <a:pPr algn="ctr">
              <a:buNone/>
            </a:pPr>
            <a:r>
              <a:rPr lang="en-US" sz="850" b="1" i="1" dirty="0">
                <a:solidFill>
                  <a:srgbClr val="9CA3AF"/>
                </a:solidFill>
                <a:latin typeface="Calibri"/>
              </a:rPr>
              <a:t>Single source of truth — queryable via API</a:t>
            </a:r>
          </a:p>
        </p:txBody>
      </p:sp>
      <p:sp>
        <p:nvSpPr>
          <p:cNvPr id="220" name="Card1"/>
          <p:cNvSpPr>
            <a:spLocks noGrp="1"/>
          </p:cNvSpPr>
          <p:nvPr/>
        </p:nvSpPr>
        <p:spPr>
          <a:xfrm>
            <a:off x="2946400" y="863600"/>
            <a:ext cx="2616200" cy="3810000"/>
          </a:xfrm>
          <a:prstGeom prst="roundRect">
            <a:avLst>
              <a:gd name="adj" fmla="val 15000"/>
            </a:avLst>
          </a:prstGeom>
          <a:solidFill>
            <a:srgbClr val="F8FBFF"/>
          </a:solidFill>
          <a:ln w="9525">
            <a:solidFill>
              <a:srgbClr val="C7D2FE"/>
            </a:solidFill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221" name="Acc1"/>
          <p:cNvSpPr>
            <a:spLocks noGrp="1"/>
          </p:cNvSpPr>
          <p:nvPr/>
        </p:nvSpPr>
        <p:spPr>
          <a:xfrm>
            <a:off x="2946400" y="863600"/>
            <a:ext cx="2616200" cy="50800"/>
          </a:xfrm>
          <a:prstGeom prst="rect">
            <a:avLst/>
          </a:prstGeom>
          <a:solidFill>
            <a:srgbClr val="458CCB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222" name="PLabel1"/>
          <p:cNvSpPr>
            <a:spLocks noGrp="1"/>
          </p:cNvSpPr>
          <p:nvPr/>
        </p:nvSpPr>
        <p:spPr>
          <a:xfrm>
            <a:off x="3048000" y="965200"/>
            <a:ext cx="241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 algn="l">
              <a:buNone/>
            </a:pPr>
            <a:r>
              <a:rPr lang="en-US" sz="750" b="1" dirty="0">
                <a:solidFill>
                  <a:srgbClr val="458CCB"/>
                </a:solidFill>
                <a:latin typeface="Calibri"/>
              </a:rPr>
              <a:t>PHASE 2  ·  WEEKS 7–12</a:t>
            </a:r>
          </a:p>
        </p:txBody>
      </p:sp>
      <p:sp>
        <p:nvSpPr>
          <p:cNvPr id="223" name="PTitle1"/>
          <p:cNvSpPr>
            <a:spLocks noGrp="1"/>
          </p:cNvSpPr>
          <p:nvPr/>
        </p:nvSpPr>
        <p:spPr>
          <a:xfrm>
            <a:off x="3048000" y="11938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  <a:latin typeface="Calibri"/>
              </a:rPr>
              <a:t>Orchestrate &amp; Serve</a:t>
            </a:r>
          </a:p>
        </p:txBody>
      </p:sp>
      <p:sp>
        <p:nvSpPr>
          <p:cNvPr id="224" name="PDivider1"/>
          <p:cNvSpPr>
            <a:spLocks noGrp="1"/>
          </p:cNvSpPr>
          <p:nvPr/>
        </p:nvSpPr>
        <p:spPr>
          <a:xfrm>
            <a:off x="3048000" y="1574800"/>
            <a:ext cx="2413000" cy="1270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225" name="PBullets1"/>
          <p:cNvSpPr>
            <a:spLocks noGrp="1"/>
          </p:cNvSpPr>
          <p:nvPr/>
        </p:nvSpPr>
        <p:spPr>
          <a:xfrm>
            <a:off x="3048000" y="1625600"/>
            <a:ext cx="2413000" cy="26924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>
              <a:buNone/>
            </a:pPr>
            <a:endParaRPr/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Wire DX Engine rules for pricing &amp; eligibility</a:t>
            </a:r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Launch Experience API for Lovesac.com configurator</a:t>
            </a:r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Serve Salesforce POS &amp; Manhattan Active Omni</a:t>
            </a:r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UAT with Lovesac team, iterate on rule logic</a:t>
            </a:r>
          </a:p>
        </p:txBody>
      </p:sp>
      <p:sp>
        <p:nvSpPr>
          <p:cNvPr id="226" name="POut1"/>
          <p:cNvSpPr>
            <a:spLocks noGrp="1"/>
          </p:cNvSpPr>
          <p:nvPr/>
        </p:nvSpPr>
        <p:spPr>
          <a:xfrm>
            <a:off x="2946400" y="4292600"/>
            <a:ext cx="2616200" cy="38100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txBody>
          <a:bodyPr wrap="square" lIns="101600" tIns="127000" rIns="101600" bIns="76200" anchor="t"/>
          <a:lstStyle/>
          <a:p>
            <a:pPr algn="ctr">
              <a:buNone/>
            </a:pPr>
            <a:r>
              <a:rPr lang="en-US" sz="850" b="1" i="1" dirty="0">
                <a:solidFill>
                  <a:srgbClr val="458CCB"/>
                </a:solidFill>
                <a:latin typeface="Calibri"/>
              </a:rPr>
              <a:t>Consistent product data across 3 touchpoints</a:t>
            </a:r>
          </a:p>
        </p:txBody>
      </p:sp>
      <p:sp>
        <p:nvSpPr>
          <p:cNvPr id="240" name="Card2"/>
          <p:cNvSpPr>
            <a:spLocks noGrp="1"/>
          </p:cNvSpPr>
          <p:nvPr/>
        </p:nvSpPr>
        <p:spPr>
          <a:xfrm>
            <a:off x="5778500" y="863600"/>
            <a:ext cx="2692400" cy="3810000"/>
          </a:xfrm>
          <a:prstGeom prst="roundRect">
            <a:avLst>
              <a:gd name="adj" fmla="val 15000"/>
            </a:avLst>
          </a:prstGeom>
          <a:solidFill>
            <a:srgbClr val="FEF6F8"/>
          </a:solidFill>
          <a:ln w="9525">
            <a:solidFill>
              <a:srgbClr val="EB1A63"/>
            </a:solidFill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241" name="Acc2"/>
          <p:cNvSpPr>
            <a:spLocks noGrp="1"/>
          </p:cNvSpPr>
          <p:nvPr/>
        </p:nvSpPr>
        <p:spPr>
          <a:xfrm>
            <a:off x="5778500" y="863600"/>
            <a:ext cx="2692400" cy="508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242" name="PLabel2"/>
          <p:cNvSpPr>
            <a:spLocks noGrp="1"/>
          </p:cNvSpPr>
          <p:nvPr/>
        </p:nvSpPr>
        <p:spPr>
          <a:xfrm>
            <a:off x="5880100" y="965200"/>
            <a:ext cx="248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 algn="l">
              <a:buNone/>
            </a:pPr>
            <a:r>
              <a:rPr lang="en-US" sz="750" b="1" dirty="0">
                <a:solidFill>
                  <a:srgbClr val="EB1A63"/>
                </a:solidFill>
                <a:latin typeface="Calibri"/>
              </a:rPr>
              <a:t>PHASE 3  ·  WEEKS 13–20</a:t>
            </a:r>
          </a:p>
        </p:txBody>
      </p:sp>
      <p:sp>
        <p:nvSpPr>
          <p:cNvPr id="243" name="PTitle2"/>
          <p:cNvSpPr>
            <a:spLocks noGrp="1"/>
          </p:cNvSpPr>
          <p:nvPr/>
        </p:nvSpPr>
        <p:spPr>
          <a:xfrm>
            <a:off x="5880100" y="1193800"/>
            <a:ext cx="2489200" cy="3302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 algn="l">
              <a:buNone/>
            </a:pPr>
            <a:r>
              <a:rPr lang="en-US" sz="1400" b="1" dirty="0">
                <a:solidFill>
                  <a:srgbClr val="9B0038"/>
                </a:solidFill>
                <a:latin typeface="Calibri"/>
              </a:rPr>
              <a:t>Expand &amp; Activate</a:t>
            </a:r>
          </a:p>
        </p:txBody>
      </p:sp>
      <p:sp>
        <p:nvSpPr>
          <p:cNvPr id="244" name="PDivider2"/>
          <p:cNvSpPr>
            <a:spLocks noGrp="1"/>
          </p:cNvSpPr>
          <p:nvPr/>
        </p:nvSpPr>
        <p:spPr>
          <a:xfrm>
            <a:off x="5880100" y="1574800"/>
            <a:ext cx="2489200" cy="127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101600" tIns="76200" rIns="101600" bIns="76200" anchor="t"/>
          <a:lstStyle/>
          <a:p>
            <a:endParaRPr/>
          </a:p>
        </p:txBody>
      </p:sp>
      <p:sp>
        <p:nvSpPr>
          <p:cNvPr id="245" name="PBullets2"/>
          <p:cNvSpPr>
            <a:spLocks noGrp="1"/>
          </p:cNvSpPr>
          <p:nvPr/>
        </p:nvSpPr>
        <p:spPr>
          <a:xfrm>
            <a:off x="5880100" y="1625600"/>
            <a:ext cx="2489200" cy="26924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>
              <a:buNone/>
            </a:pPr>
            <a:endParaRPr/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Expose MCP endpoint for AgentForce &amp; ChatGPT</a:t>
            </a:r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Add Google Shopping feed via DX Engine</a:t>
            </a:r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Enable real-time configuration session analytics</a:t>
            </a:r>
          </a:p>
          <a:p>
            <a:pPr marL="114300" indent="-114300">
              <a:buChar char="•"/>
            </a:pPr>
            <a:r>
              <a:rPr lang="en-US" sz="880" dirty="0">
                <a:solidFill>
                  <a:srgbClr val="374151"/>
                </a:solidFill>
                <a:latin typeface="Calibri"/>
              </a:rPr>
              <a:t>Expand to additional channels on single API</a:t>
            </a:r>
          </a:p>
        </p:txBody>
      </p:sp>
      <p:sp>
        <p:nvSpPr>
          <p:cNvPr id="246" name="POut2"/>
          <p:cNvSpPr>
            <a:spLocks noGrp="1"/>
          </p:cNvSpPr>
          <p:nvPr/>
        </p:nvSpPr>
        <p:spPr>
          <a:xfrm>
            <a:off x="5778500" y="4292600"/>
            <a:ext cx="2692400" cy="381000"/>
          </a:xfrm>
          <a:prstGeom prst="rect">
            <a:avLst/>
          </a:prstGeom>
          <a:solidFill>
            <a:srgbClr val="FDF2F5"/>
          </a:solidFill>
          <a:ln>
            <a:noFill/>
          </a:ln>
        </p:spPr>
        <p:txBody>
          <a:bodyPr wrap="square" lIns="101600" tIns="127000" rIns="101600" bIns="76200" anchor="t"/>
          <a:lstStyle/>
          <a:p>
            <a:pPr algn="ctr">
              <a:buNone/>
            </a:pPr>
            <a:r>
              <a:rPr lang="en-US" sz="850" b="1" i="1" dirty="0">
                <a:solidFill>
                  <a:srgbClr val="EB1A63"/>
                </a:solidFill>
                <a:latin typeface="Calibri"/>
              </a:rPr>
              <a:t>Every channel, every agent — one governed API</a:t>
            </a:r>
          </a:p>
        </p:txBody>
      </p:sp>
      <p:sp>
        <p:nvSpPr>
          <p:cNvPr id="290" name="Arr0"/>
          <p:cNvSpPr>
            <a:spLocks noGrp="1"/>
          </p:cNvSpPr>
          <p:nvPr/>
        </p:nvSpPr>
        <p:spPr>
          <a:xfrm>
            <a:off x="2768600" y="2641600"/>
            <a:ext cx="20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 algn="ctr">
              <a:buNone/>
            </a:pPr>
            <a:r>
              <a:rPr lang="en-US" sz="1400" dirty="0">
                <a:solidFill>
                  <a:srgbClr val="D1D5DB"/>
                </a:solidFill>
                <a:latin typeface="Calibri"/>
              </a:rPr>
              <a:t>▶</a:t>
            </a:r>
          </a:p>
        </p:txBody>
      </p:sp>
      <p:sp>
        <p:nvSpPr>
          <p:cNvPr id="291" name="Arr1"/>
          <p:cNvSpPr>
            <a:spLocks noGrp="1"/>
          </p:cNvSpPr>
          <p:nvPr/>
        </p:nvSpPr>
        <p:spPr>
          <a:xfrm>
            <a:off x="5511800" y="2641600"/>
            <a:ext cx="20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t"/>
          <a:lstStyle/>
          <a:p>
            <a:pPr algn="ctr">
              <a:buNone/>
            </a:pPr>
            <a:r>
              <a:rPr lang="en-US" sz="1400" dirty="0">
                <a:solidFill>
                  <a:srgbClr val="D1D5DB"/>
                </a:solidFill>
                <a:latin typeface="Calibri"/>
              </a:rPr>
              <a:t>▶</a:t>
            </a:r>
          </a:p>
        </p:txBody>
      </p:sp>
    </p:spTree>
    <p:extLst>
      <p:ext uri="{BB962C8B-B14F-4D97-AF65-F5344CB8AC3E}">
        <p14:creationId xmlns:p14="http://schemas.microsoft.com/office/powerpoint/2010/main" val="246595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74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63CBA7-DA38-4B63-A77E-B112D0F83CBE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28162e83-ee21-4051-98bf-0d36cacca1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2822</Words>
  <Application>Microsoft Office PowerPoint</Application>
  <PresentationFormat>On-screen Show (16:9)</PresentationFormat>
  <Paragraphs>412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Conscia</dc:creator>
  <cp:lastModifiedBy>David Uccelli</cp:lastModifiedBy>
  <cp:revision>4</cp:revision>
  <dcterms:created xsi:type="dcterms:W3CDTF">2026-03-28T20:38:14Z</dcterms:created>
  <dcterms:modified xsi:type="dcterms:W3CDTF">2026-04-07T11:53:29Z</dcterms:modified>
</cp:coreProperties>
</file>