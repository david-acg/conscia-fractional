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305" r:id="rId2"/>
    <p:sldId id="325" r:id="rId3"/>
    <p:sldId id="346" r:id="rId4"/>
    <p:sldId id="400" r:id="rId5"/>
    <p:sldId id="401" r:id="rId6"/>
    <p:sldId id="402" r:id="rId7"/>
    <p:sldId id="403" r:id="rId8"/>
    <p:sldId id="404" r:id="rId9"/>
    <p:sldId id="405" r:id="rId10"/>
    <p:sldId id="406" r:id="rId11"/>
    <p:sldId id="408" r:id="rId12"/>
    <p:sldId id="409" r:id="rId13"/>
    <p:sldId id="426" r:id="rId14"/>
    <p:sldId id="417" r:id="rId15"/>
    <p:sldId id="438" r:id="rId16"/>
    <p:sldId id="441" r:id="rId17"/>
    <p:sldId id="314" r:id="rId18"/>
    <p:sldId id="300" r:id="rId19"/>
    <p:sldId id="356" r:id="rId20"/>
    <p:sldId id="380" r:id="rId21"/>
    <p:sldId id="434" r:id="rId22"/>
    <p:sldId id="435" r:id="rId2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437" autoAdjust="0"/>
  </p:normalViewPr>
  <p:slideViewPr>
    <p:cSldViewPr snapToGrid="0">
      <p:cViewPr varScale="1">
        <p:scale>
          <a:sx n="144" d="100"/>
          <a:sy n="144" d="100"/>
        </p:scale>
        <p:origin x="30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How They Work Together: A Phased Approach</a:t>
            </a:r>
          </a:p>
          <a:p>
            <a:r>
              <a:rPr lang="en-US" sz="1200" dirty="0"/>
              <a:t> </a:t>
            </a:r>
          </a:p>
          <a:p>
            <a:r>
              <a:rPr lang="en-US" sz="1200" dirty="0"/>
              <a:t>Walk through each phase clearly and confidently. Emphasise that every phase delivers something real — this is not a big-bang migration.</a:t>
            </a:r>
          </a:p>
          <a:p>
            <a:r>
              <a:rPr lang="en-US" sz="1200" dirty="0"/>
              <a:t> </a:t>
            </a:r>
          </a:p>
          <a:p>
            <a:r>
              <a:rPr lang="en-US" sz="1200" dirty="0"/>
              <a:t>Phase 1 — Ingest &amp; Model (Weeks 1–6):</a:t>
            </a:r>
          </a:p>
          <a:p>
            <a:r>
              <a:rPr lang="en-US" sz="1200" dirty="0"/>
              <a:t>Foundation work. Connect NetSuite, Magento, and Threekit into DX Graph. Model Sactional SKUs as graph nodes with real parent-child links. No customer-facing change yet — the output is a queryable product API. The deliverable is a graph and a schema, validated by the Lovesac team.</a:t>
            </a:r>
          </a:p>
          <a:p>
            <a:r>
              <a:rPr lang="en-US" sz="1200" dirty="0"/>
              <a:t> </a:t>
            </a:r>
          </a:p>
          <a:p>
            <a:r>
              <a:rPr lang="en-US" sz="1200" dirty="0"/>
              <a:t>Phase 2 — Orchestrate &amp; Serve (Weeks 7–12):</a:t>
            </a:r>
          </a:p>
          <a:p>
            <a:r>
              <a:rPr lang="en-US" sz="1200" dirty="0"/>
              <a:t>DX Engine rules go live: pricing eligibility, cover compatibility, inventory availability. Lovesac.com configurator is the first consumer of the new Experience API — first moment a customer benefits. Salesforce POS and Manhattan Active Omni are wired in so associates get consistent data. UAT is built into this phase; we iterate on rule logic before moving on.</a:t>
            </a:r>
          </a:p>
          <a:p>
            <a:r>
              <a:rPr lang="en-US" sz="1200" dirty="0"/>
              <a:t> </a:t>
            </a:r>
          </a:p>
          <a:p>
            <a:r>
              <a:rPr lang="en-US" sz="1200" dirty="0"/>
              <a:t>Phase 3 — Expand &amp; Activate (Weeks 13–20):</a:t>
            </a:r>
          </a:p>
          <a:p>
            <a:r>
              <a:rPr lang="en-US" sz="1200" dirty="0"/>
              <a:t>The MCP endpoint makes Lovesac's product catalogue available to AI agents — AgentForce, ChatGPT, any future agent. Google Shopping is added as a channel using the same API, no rebuild. Configuration session analytics are enabled for the first time: Lovesac can see what customers are actually doing in the configurator. Any additional channel from this point plugs into the same governed API.</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pPr>
              <a:buNone/>
            </a:pPr>
            <a:r>
              <a:rPr lang="en-US" sz="1800" b="1" i="1" dirty="0">
                <a:solidFill>
                  <a:srgbClr val="111827"/>
                </a:solidFill>
                <a:latin typeface="Calibri"/>
              </a:rPr>
              <a:t>The Bottleneck</a:t>
            </a:r>
          </a:p>
          <a:p>
            <a:pPr>
              <a:buNone/>
            </a:pPr>
            <a:endParaRPr lang="en-US" sz="1800" i="1" dirty="0">
              <a:solidFill>
                <a:srgbClr val="111827"/>
              </a:solidFill>
              <a:latin typeface="Calibri"/>
            </a:endParaRPr>
          </a:p>
          <a:p>
            <a:pPr>
              <a:buNone/>
            </a:pPr>
            <a:r>
              <a:rPr lang="en-US" sz="1800" i="1" dirty="0">
                <a:solidFill>
                  <a:srgbClr val="111827"/>
                </a:solidFill>
                <a:latin typeface="Calibri"/>
              </a:rPr>
              <a:t>Compatibility intelligence is locked in one tool</a:t>
            </a:r>
          </a:p>
          <a:p>
            <a:pPr>
              <a:buNone/>
            </a:pPr>
            <a:endParaRPr lang="en-US" sz="1800" i="1" dirty="0">
              <a:solidFill>
                <a:srgbClr val="111827"/>
              </a:solidFill>
              <a:latin typeface="Calibri"/>
            </a:endParaRPr>
          </a:p>
          <a:p>
            <a:r>
              <a:rPr lang="en-US" i="1" dirty="0" err="1">
                <a:solidFill>
                  <a:srgbClr val="9CA3AF"/>
                </a:solidFill>
                <a:latin typeface="Calibri"/>
              </a:rPr>
              <a:t>Lovesac's</a:t>
            </a:r>
            <a:r>
              <a:rPr lang="en-US" i="1" dirty="0">
                <a:solidFill>
                  <a:srgbClr val="9CA3AF"/>
                </a:solidFill>
                <a:latin typeface="Calibri"/>
              </a:rPr>
              <a:t> product data lives in </a:t>
            </a:r>
            <a:r>
              <a:rPr lang="en-US" i="1" dirty="0" err="1">
                <a:solidFill>
                  <a:srgbClr val="9CA3AF"/>
                </a:solidFill>
                <a:latin typeface="Calibri"/>
              </a:rPr>
              <a:t>Threekit</a:t>
            </a:r>
            <a:r>
              <a:rPr lang="en-US" i="1" dirty="0">
                <a:solidFill>
                  <a:srgbClr val="9CA3AF"/>
                </a:solidFill>
                <a:latin typeface="Calibri"/>
              </a:rPr>
              <a:t> — but no downstream channel can query it directly.</a:t>
            </a:r>
            <a:br>
              <a:rPr lang="en-US" i="1" dirty="0">
                <a:solidFill>
                  <a:srgbClr val="9CA3AF"/>
                </a:solidFill>
                <a:latin typeface="Calibri"/>
              </a:rPr>
            </a:br>
            <a:endParaRPr lang="en-US" sz="1800" i="1" dirty="0">
              <a:solidFill>
                <a:srgbClr val="111827"/>
              </a:solidFill>
              <a:latin typeface="Calibri"/>
            </a:endParaRPr>
          </a:p>
          <a:p>
            <a:pPr>
              <a:buNone/>
            </a:pPr>
            <a:r>
              <a:rPr lang="en-US" sz="1100" i="1" dirty="0">
                <a:solidFill>
                  <a:srgbClr val="111827"/>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
        <p:nvSpPr>
          <p:cNvPr id="3" name="Num0">
            <a:extLst>
              <a:ext uri="{FF2B5EF4-FFF2-40B4-BE49-F238E27FC236}">
                <a16:creationId xmlns:a16="http://schemas.microsoft.com/office/drawing/2014/main" id="{4F9E9360-89F5-94AE-E3D0-FE000CC41CE2}"/>
              </a:ext>
            </a:extLst>
          </p:cNvPr>
          <p:cNvSpPr>
            <a:spLocks noGrp="1"/>
          </p:cNvSpPr>
          <p:nvPr/>
        </p:nvSpPr>
        <p:spPr>
          <a:xfrm>
            <a:off x="8686800" y="1397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4" name="AccBar0">
            <a:extLst>
              <a:ext uri="{FF2B5EF4-FFF2-40B4-BE49-F238E27FC236}">
                <a16:creationId xmlns:a16="http://schemas.microsoft.com/office/drawing/2014/main" id="{6D938D5F-0CB0-B381-2991-FA448E934025}"/>
              </a:ext>
            </a:extLst>
          </p:cNvPr>
          <p:cNvSpPr>
            <a:spLocks noGrp="1"/>
          </p:cNvSpPr>
          <p:nvPr/>
        </p:nvSpPr>
        <p:spPr>
          <a:xfrm>
            <a:off x="8636000" y="114300"/>
            <a:ext cx="50800" cy="419100"/>
          </a:xfrm>
          <a:prstGeom prst="rect">
            <a:avLst/>
          </a:prstGeom>
          <a:solidFill>
            <a:srgbClr val="EB1A63"/>
          </a:solidFill>
          <a:ln>
            <a:noFill/>
          </a:ln>
        </p:spPr>
        <p:txBody>
          <a:bodyPr wrap="square" lIns="50800" tIns="25400" rIns="50800" bIns="25400" anchor="ctr"/>
          <a:lstStyle/>
          <a:p>
            <a:pPr>
              <a:buNone/>
            </a:pPr>
            <a:endParaRPr/>
          </a:p>
        </p:txBody>
      </p:sp>
    </p:spTree>
    <p:extLst>
      <p:ext uri="{BB962C8B-B14F-4D97-AF65-F5344CB8AC3E}">
        <p14:creationId xmlns:p14="http://schemas.microsoft.com/office/powerpoint/2010/main" val="1474777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holds pricing, Magento holds inventory — but neither feeds the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
        <p:nvSpPr>
          <p:cNvPr id="4" name="Num0">
            <a:extLst>
              <a:ext uri="{FF2B5EF4-FFF2-40B4-BE49-F238E27FC236}">
                <a16:creationId xmlns:a16="http://schemas.microsoft.com/office/drawing/2014/main" id="{2D82260F-CC40-CD4D-8299-776D44E96864}"/>
              </a:ext>
            </a:extLst>
          </p:cNvPr>
          <p:cNvSpPr>
            <a:spLocks noGrp="1"/>
          </p:cNvSpPr>
          <p:nvPr/>
        </p:nvSpPr>
        <p:spPr>
          <a:xfrm>
            <a:off x="8686800" y="1397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02</a:t>
            </a:r>
          </a:p>
        </p:txBody>
      </p:sp>
      <p:sp>
        <p:nvSpPr>
          <p:cNvPr id="5" name="AccBar0">
            <a:extLst>
              <a:ext uri="{FF2B5EF4-FFF2-40B4-BE49-F238E27FC236}">
                <a16:creationId xmlns:a16="http://schemas.microsoft.com/office/drawing/2014/main" id="{880B0DC4-89D6-EDF4-E3EE-DBC61B1519D8}"/>
              </a:ext>
            </a:extLst>
          </p:cNvPr>
          <p:cNvSpPr>
            <a:spLocks noGrp="1"/>
          </p:cNvSpPr>
          <p:nvPr/>
        </p:nvSpPr>
        <p:spPr>
          <a:xfrm>
            <a:off x="8636000" y="114300"/>
            <a:ext cx="50800" cy="419100"/>
          </a:xfrm>
          <a:prstGeom prst="rect">
            <a:avLst/>
          </a:prstGeom>
          <a:solidFill>
            <a:srgbClr val="EB1A63"/>
          </a:solidFill>
          <a:ln>
            <a:noFill/>
          </a:ln>
        </p:spPr>
        <p:txBody>
          <a:bodyPr wrap="square" lIns="50800" tIns="25400" rIns="50800" bIns="25400" anchor="ctr"/>
          <a:lstStyle/>
          <a:p>
            <a:pPr>
              <a:buNone/>
            </a:pPr>
            <a:endParaRPr/>
          </a:p>
        </p:txBody>
      </p:sp>
    </p:spTree>
    <p:extLst>
      <p:ext uri="{BB962C8B-B14F-4D97-AF65-F5344CB8AC3E}">
        <p14:creationId xmlns:p14="http://schemas.microsoft.com/office/powerpoint/2010/main" val="330447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2954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morgan@conscia.co</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0480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a:solidFill>
                  <a:srgbClr val="9CA3AF"/>
                </a:solidFill>
                <a:latin typeface="Calibri"/>
              </a:rPr>
              <a:t>david@conscia.co</a:t>
            </a: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4638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laurel@conscia.ai</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8796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sana@conscia.ai</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6510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235200"/>
            <a:ext cx="3352800" cy="5842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2" name="Num1">
            <a:extLst>
              <a:ext uri="{FF2B5EF4-FFF2-40B4-BE49-F238E27FC236}">
                <a16:creationId xmlns:a16="http://schemas.microsoft.com/office/drawing/2014/main" id="{A651A188-FE44-C7AE-9271-AD354F648E13}"/>
              </a:ext>
            </a:extLst>
          </p:cNvPr>
          <p:cNvSpPr>
            <a:spLocks noGrp="1"/>
          </p:cNvSpPr>
          <p:nvPr/>
        </p:nvSpPr>
        <p:spPr>
          <a:xfrm>
            <a:off x="8597900" y="1778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03</a:t>
            </a:r>
          </a:p>
        </p:txBody>
      </p:sp>
      <p:sp>
        <p:nvSpPr>
          <p:cNvPr id="3" name="AccBar1">
            <a:extLst>
              <a:ext uri="{FF2B5EF4-FFF2-40B4-BE49-F238E27FC236}">
                <a16:creationId xmlns:a16="http://schemas.microsoft.com/office/drawing/2014/main" id="{156D4884-9131-E37C-73B2-3682FF0181FD}"/>
              </a:ext>
            </a:extLst>
          </p:cNvPr>
          <p:cNvSpPr>
            <a:spLocks noGrp="1"/>
          </p:cNvSpPr>
          <p:nvPr/>
        </p:nvSpPr>
        <p:spPr>
          <a:xfrm>
            <a:off x="8545512" y="152400"/>
            <a:ext cx="50800" cy="419100"/>
          </a:xfrm>
          <a:prstGeom prst="rect">
            <a:avLst/>
          </a:prstGeom>
          <a:solidFill>
            <a:srgbClr val="07BCD6"/>
          </a:solidFill>
          <a:ln>
            <a:noFill/>
          </a:ln>
        </p:spPr>
        <p:txBody>
          <a:bodyPr wrap="square" lIns="50800" tIns="25400" rIns="50800" bIns="25400" anchor="ctr"/>
          <a:lstStyle/>
          <a:p>
            <a:pPr>
              <a:buNone/>
            </a:pPr>
            <a:endParaRPr/>
          </a:p>
        </p:txBody>
      </p:sp>
    </p:spTree>
    <p:extLst>
      <p:ext uri="{BB962C8B-B14F-4D97-AF65-F5344CB8AC3E}">
        <p14:creationId xmlns:p14="http://schemas.microsoft.com/office/powerpoint/2010/main" val="410732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Banner"/>
          <p:cNvSpPr/>
          <p:nvPr/>
        </p:nvSpPr>
        <p:spPr>
          <a:xfrm>
            <a:off x="355600" y="787400"/>
            <a:ext cx="8432800" cy="304800"/>
          </a:xfrm>
          <a:prstGeom prst="roundRect">
            <a:avLst>
              <a:gd name="adj" fmla="val 50000"/>
            </a:avLst>
          </a:prstGeom>
          <a:solidFill>
            <a:srgbClr val="EB1A63"/>
          </a:solidFill>
          <a:ln>
            <a:noFill/>
          </a:ln>
        </p:spPr>
        <p:txBody>
          <a:bodyPr wrap="square" lIns="91440" tIns="0" rIns="91440" bIns="0" anchor="ctr"/>
          <a:lstStyle/>
          <a:p>
            <a:pPr algn="ctr">
              <a:buNone/>
            </a:pPr>
            <a:r>
              <a:rPr lang="en-US" sz="1000" b="1" spc="150" dirty="0">
                <a:solidFill>
                  <a:srgbClr val="FFFFFF"/>
                </a:solidFill>
                <a:latin typeface="Calibri"/>
              </a:rPr>
              <a:t>CONSCIA: BEYOND TRADITIONAL PIM  —  A GOVERNED SEMANTIC FOUNDATION FOR COMMERCE</a:t>
            </a:r>
          </a:p>
        </p:txBody>
      </p:sp>
      <p:sp>
        <p:nvSpPr>
          <p:cNvPr id="100" name="C0"/>
          <p:cNvSpPr/>
          <p:nvPr/>
        </p:nvSpPr>
        <p:spPr>
          <a:xfrm>
            <a:off x="355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55600" y="121920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08000" y="139700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08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08000" y="2032000"/>
            <a:ext cx="2362200" cy="12700"/>
          </a:xfrm>
          <a:prstGeom prst="rect">
            <a:avLst/>
          </a:prstGeom>
          <a:solidFill>
            <a:srgbClr val="E5E7EB"/>
          </a:solidFill>
          <a:ln>
            <a:noFill/>
          </a:ln>
        </p:spPr>
        <p:txBody>
          <a:bodyPr/>
          <a:lstStyle/>
          <a:p>
            <a:endParaRPr lang="en-US"/>
          </a:p>
        </p:txBody>
      </p:sp>
      <p:sp>
        <p:nvSpPr>
          <p:cNvPr id="105" name="CB0"/>
          <p:cNvSpPr/>
          <p:nvPr/>
        </p:nvSpPr>
        <p:spPr>
          <a:xfrm>
            <a:off x="508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90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90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900" dirty="0">
                <a:solidFill>
                  <a:srgbClr val="374151"/>
                </a:solidFill>
                <a:latin typeface="Calibri"/>
              </a:rPr>
              <a:t>Version-controlled, governed product data</a:t>
            </a:r>
          </a:p>
        </p:txBody>
      </p:sp>
      <p:sp>
        <p:nvSpPr>
          <p:cNvPr id="110" name="C1"/>
          <p:cNvSpPr/>
          <p:nvPr/>
        </p:nvSpPr>
        <p:spPr>
          <a:xfrm>
            <a:off x="32131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13100" y="121920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65500" y="139700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655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65500" y="2032000"/>
            <a:ext cx="2362200" cy="12700"/>
          </a:xfrm>
          <a:prstGeom prst="rect">
            <a:avLst/>
          </a:prstGeom>
          <a:solidFill>
            <a:srgbClr val="E5E7EB"/>
          </a:solidFill>
          <a:ln>
            <a:noFill/>
          </a:ln>
        </p:spPr>
        <p:txBody>
          <a:bodyPr/>
          <a:lstStyle/>
          <a:p>
            <a:endParaRPr lang="en-US"/>
          </a:p>
        </p:txBody>
      </p:sp>
      <p:sp>
        <p:nvSpPr>
          <p:cNvPr id="115" name="CB1"/>
          <p:cNvSpPr/>
          <p:nvPr/>
        </p:nvSpPr>
        <p:spPr>
          <a:xfrm>
            <a:off x="33655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Real-time orchestration of business rules across channels</a:t>
            </a:r>
          </a:p>
          <a:p>
            <a:pPr marL="171450" indent="-171450">
              <a:lnSpc>
                <a:spcPts val="1500"/>
              </a:lnSpc>
              <a:spcBef>
                <a:spcPts val="200"/>
              </a:spcBef>
              <a:buFont typeface="Arial"/>
              <a:buChar char="•"/>
            </a:pPr>
            <a:r>
              <a:rPr lang="en-US" sz="900" dirty="0">
                <a:solidFill>
                  <a:srgbClr val="374151"/>
                </a:solidFill>
                <a:latin typeface="Calibri"/>
              </a:rPr>
              <a:t>Channel-aware Experience Rules (e.g. Outdoor restrictions, Quickship eligibility)</a:t>
            </a:r>
          </a:p>
          <a:p>
            <a:pPr marL="171450" indent="-171450">
              <a:lnSpc>
                <a:spcPts val="1500"/>
              </a:lnSpc>
              <a:spcBef>
                <a:spcPts val="200"/>
              </a:spcBef>
              <a:buFont typeface="Arial"/>
              <a:buChar char="•"/>
            </a:pPr>
            <a:r>
              <a:rPr lang="en-US" sz="900" dirty="0">
                <a:solidFill>
                  <a:srgbClr val="374151"/>
                </a:solidFill>
                <a:latin typeface="Calibri"/>
              </a:rPr>
              <a:t>Deterministic logic + AI-assisted decisioning where it adds value</a:t>
            </a:r>
          </a:p>
          <a:p>
            <a:pPr marL="171450" indent="-171450">
              <a:lnSpc>
                <a:spcPts val="1500"/>
              </a:lnSpc>
              <a:spcBef>
                <a:spcPts val="200"/>
              </a:spcBef>
              <a:buFont typeface="Arial"/>
              <a:buChar char="•"/>
            </a:pPr>
            <a:r>
              <a:rPr lang="en-US" sz="900" dirty="0">
                <a:solidFill>
                  <a:srgbClr val="374151"/>
                </a:solidFill>
                <a:latin typeface="Calibri"/>
              </a:rPr>
              <a:t>Zero-code configuration through Conscia UI</a:t>
            </a:r>
          </a:p>
        </p:txBody>
      </p:sp>
      <p:sp>
        <p:nvSpPr>
          <p:cNvPr id="120" name="C2"/>
          <p:cNvSpPr/>
          <p:nvPr/>
        </p:nvSpPr>
        <p:spPr>
          <a:xfrm>
            <a:off x="6070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70600" y="121920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23000" y="139700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23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23000" y="2032000"/>
            <a:ext cx="2362200" cy="12700"/>
          </a:xfrm>
          <a:prstGeom prst="rect">
            <a:avLst/>
          </a:prstGeom>
          <a:solidFill>
            <a:srgbClr val="E5E7EB"/>
          </a:solidFill>
          <a:ln>
            <a:noFill/>
          </a:ln>
        </p:spPr>
        <p:txBody>
          <a:bodyPr/>
          <a:lstStyle/>
          <a:p>
            <a:endParaRPr lang="en-US"/>
          </a:p>
        </p:txBody>
      </p:sp>
      <p:sp>
        <p:nvSpPr>
          <p:cNvPr id="125" name="CB2"/>
          <p:cNvSpPr/>
          <p:nvPr/>
        </p:nvSpPr>
        <p:spPr>
          <a:xfrm>
            <a:off x="6223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One Experience API serving POS, web, mobile, agents, and feeds</a:t>
            </a:r>
          </a:p>
          <a:p>
            <a:pPr marL="171450" indent="-171450">
              <a:lnSpc>
                <a:spcPts val="1500"/>
              </a:lnSpc>
              <a:spcBef>
                <a:spcPts val="200"/>
              </a:spcBef>
              <a:buFont typeface="Arial"/>
              <a:buChar char="•"/>
            </a:pPr>
            <a:r>
              <a:rPr lang="en-US" sz="900" dirty="0">
                <a:solidFill>
                  <a:srgbClr val="374151"/>
                </a:solidFill>
                <a:latin typeface="Calibri"/>
              </a:rPr>
              <a:t>Sub-second responses at the edge</a:t>
            </a:r>
          </a:p>
          <a:p>
            <a:pPr marL="171450" indent="-171450">
              <a:lnSpc>
                <a:spcPts val="1500"/>
              </a:lnSpc>
              <a:spcBef>
                <a:spcPts val="200"/>
              </a:spcBef>
              <a:buFont typeface="Arial"/>
              <a:buChar char="•"/>
            </a:pPr>
            <a:r>
              <a:rPr lang="en-US" sz="900" dirty="0">
                <a:solidFill>
                  <a:srgbClr val="374151"/>
                </a:solidFill>
                <a:latin typeface="Calibri"/>
              </a:rPr>
              <a:t>Native MCP endpoint — agent-ready by design</a:t>
            </a:r>
          </a:p>
          <a:p>
            <a:pPr marL="171450" indent="-171450">
              <a:lnSpc>
                <a:spcPts val="1500"/>
              </a:lnSpc>
              <a:spcBef>
                <a:spcPts val="200"/>
              </a:spcBef>
              <a:buFont typeface="Arial"/>
              <a:buChar char="•"/>
            </a:pPr>
            <a:r>
              <a:rPr lang="en-US" sz="90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55600" y="419100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13100" y="419100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70600" y="419100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
        <p:nvSpPr>
          <p:cNvPr id="303" name="AccBadgeBar"/>
          <p:cNvSpPr/>
          <p:nvPr/>
        </p:nvSpPr>
        <p:spPr>
          <a:xfrm>
            <a:off x="8636000" y="114300"/>
            <a:ext cx="50800" cy="419100"/>
          </a:xfrm>
          <a:prstGeom prst="rect">
            <a:avLst/>
          </a:prstGeom>
          <a:solidFill>
            <a:srgbClr val="EB1A63"/>
          </a:solidFill>
          <a:ln>
            <a:noFill/>
          </a:ln>
        </p:spPr>
        <p:txBody>
          <a:bodyPr wrap="square" lIns="0" tIns="0" rIns="0" bIns="0" anchor="ctr"/>
          <a:lstStyle/>
          <a:p>
            <a:pPr algn="ctr">
              <a:buNone/>
            </a:pPr>
            <a:endParaRPr lang="en-US"/>
          </a:p>
        </p:txBody>
      </p:sp>
      <p:sp>
        <p:nvSpPr>
          <p:cNvPr id="304"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04</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28,089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15,506 Covers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202"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203"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05</a:t>
            </a:r>
          </a:p>
        </p:txBody>
      </p:sp>
    </p:spTree>
    <p:extLst>
      <p:ext uri="{BB962C8B-B14F-4D97-AF65-F5344CB8AC3E}">
        <p14:creationId xmlns:p14="http://schemas.microsoft.com/office/powerpoint/2010/main" val="132740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28,089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15,506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
        <p:nvSpPr>
          <p:cNvPr id="501"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502"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06</a:t>
            </a:r>
          </a:p>
        </p:txBody>
      </p:sp>
    </p:spTree>
    <p:extLst>
      <p:ext uri="{BB962C8B-B14F-4D97-AF65-F5344CB8AC3E}">
        <p14:creationId xmlns:p14="http://schemas.microsoft.com/office/powerpoint/2010/main" val="56231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6600" b="1" dirty="0">
                <a:solidFill>
                  <a:srgbClr val="EB1A63"/>
                </a:solidFill>
                <a:latin typeface="Calibri"/>
              </a:rPr>
              <a:t>28,089</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15,906</a:t>
            </a:r>
            <a:r>
              <a:rPr lang="en-US" sz="950" dirty="0">
                <a:solidFill>
                  <a:srgbClr val="6B7280"/>
                </a:solidFill>
                <a:latin typeface="Calibri"/>
              </a:rPr>
              <a:t>  Sactional</a:t>
            </a:r>
          </a:p>
          <a:p>
            <a:pPr>
              <a:lnSpc>
                <a:spcPts val="1100"/>
              </a:lnSpc>
              <a:spcBef>
                <a:spcPts val="0"/>
              </a:spcBef>
              <a:buNone/>
            </a:pPr>
            <a:r>
              <a:rPr lang="en-US" sz="850" dirty="0">
                <a:solidFill>
                  <a:srgbClr val="6B7280"/>
                </a:solidFill>
                <a:latin typeface="Calibri"/>
              </a:rPr>
              <a:t>15,506 Covers  ·  151 Inserts  ·  249 other</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Across all 15,506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Color, fabric, and dimension fields use different naming conventions across Sactional, Sac, and Snugg. Recommend a normalisation pass during ingest to establish canonical attribute keys. Also observed: ~18 attribute fields per SKU; multiple legacy naming conventions; some product-line ambiguity (e.g. Squattoman: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202"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203"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07</a:t>
            </a:r>
          </a:p>
        </p:txBody>
      </p:sp>
    </p:spTree>
    <p:extLst>
      <p:ext uri="{BB962C8B-B14F-4D97-AF65-F5344CB8AC3E}">
        <p14:creationId xmlns:p14="http://schemas.microsoft.com/office/powerpoint/2010/main" val="2191922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Emilia</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92"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93"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08</a:t>
            </a:r>
          </a:p>
        </p:txBody>
      </p:sp>
    </p:spTree>
    <p:extLst>
      <p:ext uri="{BB962C8B-B14F-4D97-AF65-F5344CB8AC3E}">
        <p14:creationId xmlns:p14="http://schemas.microsoft.com/office/powerpoint/2010/main" val="2896476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Where did each product file come from, and which is authoritative?</a:t>
            </a:r>
          </a:p>
          <a:p>
            <a:pPr>
              <a:lnSpc>
                <a:spcPts val="1300"/>
              </a:lnSpc>
              <a:spcBef>
                <a:spcPts val="300"/>
              </a:spcBef>
              <a:buNone/>
            </a:pPr>
            <a:r>
              <a:rPr lang="en-US" sz="100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PLM (TBD) vs DX Graph — who is the product master?</a:t>
            </a:r>
          </a:p>
          <a:p>
            <a:pPr>
              <a:lnSpc>
                <a:spcPts val="1300"/>
              </a:lnSpc>
              <a:spcBef>
                <a:spcPts val="300"/>
              </a:spcBef>
              <a:buNone/>
            </a:pPr>
            <a:r>
              <a:rPr lang="en-US" sz="100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Quickship — product type or live inventory?</a:t>
            </a:r>
          </a:p>
          <a:p>
            <a:pPr>
              <a:lnSpc>
                <a:spcPts val="1300"/>
              </a:lnSpc>
              <a:spcBef>
                <a:spcPts val="300"/>
              </a:spcBef>
              <a:buNone/>
            </a:pPr>
            <a:r>
              <a:rPr lang="en-US" sz="100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What does the in-store POS configuration workflow look like today?</a:t>
            </a:r>
          </a:p>
          <a:p>
            <a:pPr>
              <a:lnSpc>
                <a:spcPts val="1300"/>
              </a:lnSpc>
              <a:spcBef>
                <a:spcPts val="300"/>
              </a:spcBef>
              <a:buNone/>
            </a:pPr>
            <a:r>
              <a:rPr lang="en-US" sz="100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Who is the named Lovesac PM?</a:t>
            </a:r>
          </a:p>
          <a:p>
            <a:pPr>
              <a:lnSpc>
                <a:spcPts val="1300"/>
              </a:lnSpc>
              <a:spcBef>
                <a:spcPts val="300"/>
              </a:spcBef>
              <a:buNone/>
            </a:pPr>
            <a:r>
              <a:rPr lang="en-US" sz="100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
        <p:nvSpPr>
          <p:cNvPr id="743"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744"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08</a:t>
            </a:r>
          </a:p>
        </p:txBody>
      </p:sp>
    </p:spTree>
    <p:extLst>
      <p:ext uri="{BB962C8B-B14F-4D97-AF65-F5344CB8AC3E}">
        <p14:creationId xmlns:p14="http://schemas.microsoft.com/office/powerpoint/2010/main" val="4206672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
        <p:nvSpPr>
          <p:cNvPr id="108" name="AccBadgeBar"/>
          <p:cNvSpPr/>
          <p:nvPr/>
        </p:nvSpPr>
        <p:spPr>
          <a:xfrm>
            <a:off x="8636000" y="114300"/>
            <a:ext cx="50800" cy="419100"/>
          </a:xfrm>
          <a:prstGeom prst="rect">
            <a:avLst/>
          </a:prstGeom>
          <a:solidFill>
            <a:srgbClr val="EB1A63"/>
          </a:solidFill>
          <a:ln>
            <a:noFill/>
          </a:ln>
        </p:spPr>
        <p:txBody>
          <a:bodyPr wrap="square" lIns="0" tIns="0" rIns="0" bIns="0" anchor="ctr"/>
          <a:lstStyle/>
          <a:p>
            <a:endParaRPr lang="en-US"/>
          </a:p>
        </p:txBody>
      </p:sp>
      <p:sp>
        <p:nvSpPr>
          <p:cNvPr id="109" name="NumBadge"/>
          <p:cNvSpPr/>
          <p:nvPr/>
        </p:nvSpPr>
        <p:spPr>
          <a:xfrm>
            <a:off x="8686800" y="139700"/>
            <a:ext cx="330200" cy="368300"/>
          </a:xfrm>
          <a:prstGeom prst="rect">
            <a:avLst/>
          </a:prstGeom>
          <a:noFill/>
          <a:ln>
            <a:noFill/>
          </a:ln>
        </p:spPr>
        <p:txBody>
          <a:bodyPr wrap="square" lIns="0" tIns="0" rIns="0" bIns="0" anchor="ctr"/>
          <a:lstStyle/>
          <a:p>
            <a:pPr>
              <a:buNone/>
            </a:pPr>
            <a:r>
              <a:rPr lang="en-US" sz="1100" b="1" dirty="0">
                <a:solidFill>
                  <a:srgbClr val="EB1A63"/>
                </a:solidFill>
                <a:latin typeface="Calibri"/>
              </a:rPr>
              <a:t>09</a:t>
            </a:r>
          </a:p>
        </p:txBody>
      </p:sp>
    </p:spTree>
    <p:extLst>
      <p:ext uri="{BB962C8B-B14F-4D97-AF65-F5344CB8AC3E}">
        <p14:creationId xmlns:p14="http://schemas.microsoft.com/office/powerpoint/2010/main" val="223441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a:p>
            <a:pPr>
              <a:spcBef>
                <a:spcPts val="30"/>
              </a:spcBef>
              <a:buNone/>
            </a:pPr>
            <a:r>
              <a:rPr lang="en-US" sz="575" b="1" spc="75" dirty="0">
                <a:solidFill>
                  <a:srgbClr val="6B7280"/>
                </a:solidFill>
                <a:latin typeface="Calibri"/>
              </a:rPr>
              <a:t>STEALTHTECH V2.0</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401724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28,089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(likely via Celigo)</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146639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28,089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03" name="CollFlds"/>
          <p:cNvSpPr>
            <a:spLocks noGrp="1"/>
          </p:cNvSpPr>
          <p:nvPr/>
        </p:nvSpPr>
        <p:spPr>
          <a:xfrm>
            <a:off x="1168400" y="1333500"/>
            <a:ext cx="2616200" cy="152400"/>
          </a:xfrm>
          <a:prstGeom prst="rect">
            <a:avLst/>
          </a:prstGeom>
          <a:solidFill>
            <a:srgbClr val="FFEDF5"/>
          </a:solidFill>
          <a:ln>
            <a:noFill/>
          </a:ln>
        </p:spPr>
        <p:txBody>
          <a:bodyPr wrap="square" lIns="63500" tIns="25400" rIns="63500" bIns="25400" anchor="ctr"/>
          <a:lstStyle/>
          <a:p>
            <a:pPr>
              <a:lnSpc>
                <a:spcPts val="1050"/>
              </a:lnSpc>
              <a:buNone/>
            </a:pPr>
            <a:r>
              <a:rPr lang="en-US" sz="570" dirty="0">
                <a:solidFill>
                  <a:srgbClr val="6B7280"/>
                </a:solidFill>
                <a:latin typeface="Calibri"/>
              </a:rPr>
              <a:t>SKU ID  ·  Line  ·  Product  ·  Size  ·  Color</a:t>
            </a:r>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Fin.Good</a:t>
            </a:r>
          </a:p>
        </p:txBody>
      </p:sp>
      <p:sp>
        <p:nvSpPr>
          <p:cNvPr id="234" name="TD3C2"/>
          <p:cNvSpPr>
            <a:spLocks noGrp="1"/>
          </p:cNvSpPr>
          <p:nvPr/>
        </p:nvSpPr>
        <p:spPr>
          <a:xfrm>
            <a:off x="2438400" y="20955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Covered</a:t>
            </a:r>
          </a:p>
        </p:txBody>
      </p:sp>
      <p:sp>
        <p:nvSpPr>
          <p:cNvPr id="235" name="TD3C3"/>
          <p:cNvSpPr>
            <a:spLocks noGrp="1"/>
          </p:cNvSpPr>
          <p:nvPr/>
        </p:nvSpPr>
        <p:spPr>
          <a:xfrm>
            <a:off x="2997200" y="20955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50" name="CollCap"/>
          <p:cNvSpPr>
            <a:spLocks noGrp="1"/>
          </p:cNvSpPr>
          <p:nvPr/>
        </p:nvSpPr>
        <p:spPr>
          <a:xfrm>
            <a:off x="1168400" y="2273300"/>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self-ref</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Finished Good → component Covers + Inserts</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2475856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90" name="Footer"/>
          <p:cNvSpPr>
            <a:spLocks noGrp="1"/>
          </p:cNvSpPr>
          <p:nvPr/>
        </p:nvSpPr>
        <p:spPr>
          <a:xfrm>
            <a:off x="0" y="4876800"/>
            <a:ext cx="9144000" cy="266700"/>
          </a:xfrm>
          <a:prstGeom prst="rect">
            <a:avLst/>
          </a:prstGeom>
          <a:solidFill>
            <a:srgbClr val="F8FAFC"/>
          </a:solidFill>
          <a:ln>
            <a:noFill/>
          </a:ln>
        </p:spPr>
        <p:txBody>
          <a:bodyPr wrap="square" lIns="50800" tIns="50800" rIns="50800" bIns="50800" anchor="ctr"/>
          <a:lstStyle/>
          <a:p>
            <a:pPr algn="ctr">
              <a:buNone/>
            </a:pPr>
            <a:r>
              <a:rPr lang="en-US" sz="800" dirty="0">
                <a:solidFill>
                  <a:srgbClr val="9CA3AF"/>
                </a:solidFill>
                <a:latin typeface="Calibri"/>
              </a:rPr>
              <a:t>Lovesac × Conscia  ·  Project Kick-off  ·  April 8, 2026</a:t>
            </a:r>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93" name="AccBadgeBar"/>
          <p:cNvSpPr>
            <a:spLocks noGrp="1"/>
          </p:cNvSpPr>
          <p:nvPr/>
        </p:nvSpPr>
        <p:spPr>
          <a:xfrm>
            <a:off x="8636000" y="114300"/>
            <a:ext cx="50800" cy="419100"/>
          </a:xfrm>
          <a:prstGeom prst="rect">
            <a:avLst/>
          </a:prstGeom>
          <a:solidFill>
            <a:srgbClr val="EB1A63"/>
          </a:solidFill>
          <a:ln>
            <a:noFill/>
          </a:ln>
        </p:spPr>
        <p:txBody>
          <a:bodyPr/>
          <a:lstStyle/>
          <a:p>
            <a:endParaRPr lang="en-GB"/>
          </a:p>
        </p:txBody>
      </p:sp>
      <p:sp>
        <p:nvSpPr>
          <p:cNvPr id="94" name="NumBadge"/>
          <p:cNvSpPr>
            <a:spLocks noGrp="1"/>
          </p:cNvSpPr>
          <p:nvPr/>
        </p:nvSpPr>
        <p:spPr>
          <a:xfrm>
            <a:off x="8686800" y="139700"/>
            <a:ext cx="330200" cy="368300"/>
          </a:xfrm>
          <a:prstGeom prst="rect">
            <a:avLst/>
          </a:prstGeom>
          <a:noFill/>
          <a:ln>
            <a:noFill/>
          </a:ln>
        </p:spPr>
        <p:txBody>
          <a:bodyPr wrap="square" lIns="25400" tIns="25400" rIns="25400" bIns="25400" anchor="ctr"/>
          <a:lstStyle/>
          <a:p>
            <a:pPr algn="ctr">
              <a:buNone/>
            </a:pPr>
            <a:r>
              <a:rPr lang="en-US" sz="1100" b="1" dirty="0">
                <a:solidFill>
                  <a:srgbClr val="EB1A63"/>
                </a:solidFill>
                <a:latin typeface="Calibri"/>
              </a:rPr>
              <a:t>16</a:t>
            </a:r>
          </a:p>
        </p:txBody>
      </p:sp>
      <p:sp>
        <p:nvSpPr>
          <p:cNvPr id="100" name="C0BG"/>
          <p:cNvSpPr>
            <a:spLocks noGrp="1"/>
          </p:cNvSpPr>
          <p:nvPr/>
        </p:nvSpPr>
        <p:spPr>
          <a:xfrm>
            <a:off x="254000" y="914400"/>
            <a:ext cx="2806700" cy="175260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3500" cy="175260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6B7280"/>
                </a:solidFill>
                <a:latin typeface="Calibri"/>
              </a:rPr>
              <a:t>· SKU Collection: 28,089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110" name="C1BG"/>
          <p:cNvSpPr>
            <a:spLocks noGrp="1"/>
          </p:cNvSpPr>
          <p:nvPr/>
        </p:nvSpPr>
        <p:spPr>
          <a:xfrm>
            <a:off x="3162300" y="914400"/>
            <a:ext cx="2806700" cy="1752600"/>
          </a:xfrm>
          <a:prstGeom prst="rect">
            <a:avLst/>
          </a:prstGeom>
          <a:solidFill>
            <a:srgbClr val="FFFFFF"/>
          </a:solidFill>
          <a:ln w="9525">
            <a:solidFill>
              <a:srgbClr val="E5E7EB"/>
            </a:solidFill>
          </a:ln>
        </p:spPr>
        <p:txBody>
          <a:bodyPr/>
          <a:lstStyle/>
          <a:p>
            <a:endParaRPr lang="en-GB"/>
          </a:p>
        </p:txBody>
      </p:sp>
      <p:sp>
        <p:nvSpPr>
          <p:cNvPr id="111" name="C1Bar"/>
          <p:cNvSpPr>
            <a:spLocks noGrp="1"/>
          </p:cNvSpPr>
          <p:nvPr/>
        </p:nvSpPr>
        <p:spPr>
          <a:xfrm>
            <a:off x="3162300" y="914400"/>
            <a:ext cx="63500" cy="1752600"/>
          </a:xfrm>
          <a:prstGeom prst="rect">
            <a:avLst/>
          </a:prstGeom>
          <a:solidFill>
            <a:srgbClr val="07BCD6"/>
          </a:solidFill>
          <a:ln>
            <a:noFill/>
          </a:ln>
        </p:spPr>
        <p:txBody>
          <a:bodyPr/>
          <a:lstStyle/>
          <a:p>
            <a:endParaRPr lang="en-GB"/>
          </a:p>
        </p:txBody>
      </p:sp>
      <p:sp>
        <p:nvSpPr>
          <p:cNvPr id="112" name="C1Badge"/>
          <p:cNvSpPr>
            <a:spLocks noGrp="1"/>
          </p:cNvSpPr>
          <p:nvPr/>
        </p:nvSpPr>
        <p:spPr>
          <a:xfrm>
            <a:off x="3340100" y="1066800"/>
            <a:ext cx="584200" cy="228600"/>
          </a:xfrm>
          <a:prstGeom prst="roundRect">
            <a:avLst>
              <a:gd name="adj" fmla="val 2500"/>
            </a:avLst>
          </a:prstGeom>
          <a:solidFill>
            <a:srgbClr val="0891B2"/>
          </a:solidFill>
          <a:ln>
            <a:noFill/>
          </a:ln>
        </p:spPr>
        <p:txBody>
          <a:bodyPr wrap="square" lIns="25400" tIns="25400" rIns="25400" bIns="25400" anchor="ctr"/>
          <a:lstStyle/>
          <a:p>
            <a:pPr algn="ctr">
              <a:buNone/>
            </a:pPr>
            <a:r>
              <a:rPr lang="en-US" sz="700" b="1" dirty="0">
                <a:solidFill>
                  <a:srgbClr val="FFFFFF"/>
                </a:solidFill>
                <a:latin typeface="Calibri"/>
              </a:rPr>
              <a:t>RULES</a:t>
            </a:r>
          </a:p>
        </p:txBody>
      </p:sp>
      <p:sp>
        <p:nvSpPr>
          <p:cNvPr id="113" name="C1Label"/>
          <p:cNvSpPr>
            <a:spLocks noGrp="1"/>
          </p:cNvSpPr>
          <p:nvPr/>
        </p:nvSpPr>
        <p:spPr>
          <a:xfrm>
            <a:off x="40005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Experience Rules Engine</a:t>
            </a:r>
          </a:p>
        </p:txBody>
      </p:sp>
      <p:sp>
        <p:nvSpPr>
          <p:cNvPr id="114" name="C1Div"/>
          <p:cNvSpPr>
            <a:spLocks noGrp="1"/>
          </p:cNvSpPr>
          <p:nvPr/>
        </p:nvSpPr>
        <p:spPr>
          <a:xfrm>
            <a:off x="3340100" y="1371600"/>
            <a:ext cx="2527300" cy="1270"/>
          </a:xfrm>
          <a:prstGeom prst="line">
            <a:avLst/>
          </a:prstGeom>
          <a:noFill/>
          <a:ln w="6350">
            <a:solidFill>
              <a:srgbClr val="E5E7EB"/>
            </a:solidFill>
          </a:ln>
        </p:spPr>
        <p:txBody>
          <a:bodyPr/>
          <a:lstStyle/>
          <a:p>
            <a:endParaRPr lang="en-GB"/>
          </a:p>
        </p:txBody>
      </p:sp>
      <p:sp>
        <p:nvSpPr>
          <p:cNvPr id="115" name="C1Text"/>
          <p:cNvSpPr>
            <a:spLocks noGrp="1"/>
          </p:cNvSpPr>
          <p:nvPr/>
        </p:nvSpPr>
        <p:spPr>
          <a:xfrm>
            <a:off x="33401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6B7280"/>
                </a:solidFill>
                <a:latin typeface="Calibri"/>
              </a:rPr>
              <a:t>· Business rules evaluated at query time, not import time</a:t>
            </a:r>
          </a:p>
          <a:p>
            <a:pPr>
              <a:lnSpc>
                <a:spcPts val="1250"/>
              </a:lnSpc>
              <a:spcBef>
                <a:spcPts val="200"/>
              </a:spcBef>
              <a:buNone/>
            </a:pPr>
            <a:r>
              <a:rPr lang="en-US" sz="900" i="1" dirty="0">
                <a:solidFill>
                  <a:srgbClr val="6B7280"/>
                </a:solidFill>
                <a:latin typeface="Calibri"/>
              </a:rPr>
              <a:t>· Priority stacks: channel &gt; segment &gt; default</a:t>
            </a:r>
          </a:p>
          <a:p>
            <a:pPr>
              <a:lnSpc>
                <a:spcPts val="1250"/>
              </a:lnSpc>
              <a:spcBef>
                <a:spcPts val="200"/>
              </a:spcBef>
              <a:buNone/>
            </a:pPr>
            <a:r>
              <a:rPr lang="en-US" sz="900" i="1" dirty="0">
                <a:solidFill>
                  <a:srgbClr val="6B7280"/>
                </a:solidFill>
                <a:latin typeface="Calibri"/>
              </a:rPr>
              <a:t>· A/B variant slots for rule experimentation</a:t>
            </a:r>
          </a:p>
          <a:p>
            <a:pPr>
              <a:lnSpc>
                <a:spcPts val="1250"/>
              </a:lnSpc>
              <a:spcBef>
                <a:spcPts val="200"/>
              </a:spcBef>
              <a:buNone/>
            </a:pPr>
            <a:r>
              <a:rPr lang="en-US" sz="900" i="1" dirty="0">
                <a:solidFill>
                  <a:srgbClr val="6B7280"/>
                </a:solidFill>
                <a:latin typeface="Calibri"/>
              </a:rPr>
              <a:t>· Rules configurable by merchandising team, no code deploy</a:t>
            </a:r>
          </a:p>
        </p:txBody>
      </p:sp>
      <p:sp>
        <p:nvSpPr>
          <p:cNvPr id="120" name="C2BG"/>
          <p:cNvSpPr>
            <a:spLocks noGrp="1"/>
          </p:cNvSpPr>
          <p:nvPr/>
        </p:nvSpPr>
        <p:spPr>
          <a:xfrm>
            <a:off x="6070600" y="914400"/>
            <a:ext cx="2806700" cy="1752600"/>
          </a:xfrm>
          <a:prstGeom prst="rect">
            <a:avLst/>
          </a:prstGeom>
          <a:solidFill>
            <a:srgbClr val="FFFFFF"/>
          </a:solidFill>
          <a:ln w="9525">
            <a:solidFill>
              <a:srgbClr val="E5E7EB"/>
            </a:solidFill>
          </a:ln>
        </p:spPr>
        <p:txBody>
          <a:bodyPr/>
          <a:lstStyle/>
          <a:p>
            <a:endParaRPr lang="en-GB"/>
          </a:p>
        </p:txBody>
      </p:sp>
      <p:sp>
        <p:nvSpPr>
          <p:cNvPr id="121" name="C2Bar"/>
          <p:cNvSpPr>
            <a:spLocks noGrp="1"/>
          </p:cNvSpPr>
          <p:nvPr/>
        </p:nvSpPr>
        <p:spPr>
          <a:xfrm>
            <a:off x="6070600" y="914400"/>
            <a:ext cx="63500" cy="1752600"/>
          </a:xfrm>
          <a:prstGeom prst="rect">
            <a:avLst/>
          </a:prstGeom>
          <a:solidFill>
            <a:srgbClr val="8AC542"/>
          </a:solidFill>
          <a:ln>
            <a:noFill/>
          </a:ln>
        </p:spPr>
        <p:txBody>
          <a:bodyPr/>
          <a:lstStyle/>
          <a:p>
            <a:endParaRPr lang="en-GB"/>
          </a:p>
        </p:txBody>
      </p:sp>
      <p:sp>
        <p:nvSpPr>
          <p:cNvPr id="122" name="C2Badge"/>
          <p:cNvSpPr>
            <a:spLocks noGrp="1"/>
          </p:cNvSpPr>
          <p:nvPr/>
        </p:nvSpPr>
        <p:spPr>
          <a:xfrm>
            <a:off x="6248400" y="1066800"/>
            <a:ext cx="584200" cy="228600"/>
          </a:xfrm>
          <a:prstGeom prst="roundRect">
            <a:avLst>
              <a:gd name="adj" fmla="val 2500"/>
            </a:avLst>
          </a:prstGeom>
          <a:solidFill>
            <a:srgbClr val="65A30D"/>
          </a:solidFill>
          <a:ln>
            <a:noFill/>
          </a:ln>
        </p:spPr>
        <p:txBody>
          <a:bodyPr wrap="square" lIns="25400" tIns="25400" rIns="25400" bIns="25400" anchor="ctr"/>
          <a:lstStyle/>
          <a:p>
            <a:pPr algn="ctr">
              <a:buNone/>
            </a:pPr>
            <a:r>
              <a:rPr lang="en-US" sz="700" b="1" dirty="0">
                <a:solidFill>
                  <a:srgbClr val="FFFFFF"/>
                </a:solidFill>
                <a:latin typeface="Calibri"/>
              </a:rPr>
              <a:t>API</a:t>
            </a:r>
          </a:p>
        </p:txBody>
      </p:sp>
      <p:sp>
        <p:nvSpPr>
          <p:cNvPr id="123" name="C2Label"/>
          <p:cNvSpPr>
            <a:spLocks noGrp="1"/>
          </p:cNvSpPr>
          <p:nvPr/>
        </p:nvSpPr>
        <p:spPr>
          <a:xfrm>
            <a:off x="69088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Experience API — Live Demo</a:t>
            </a:r>
          </a:p>
        </p:txBody>
      </p:sp>
      <p:sp>
        <p:nvSpPr>
          <p:cNvPr id="124" name="C2Div"/>
          <p:cNvSpPr>
            <a:spLocks noGrp="1"/>
          </p:cNvSpPr>
          <p:nvPr/>
        </p:nvSpPr>
        <p:spPr>
          <a:xfrm>
            <a:off x="6248400" y="1371600"/>
            <a:ext cx="2527300" cy="1270"/>
          </a:xfrm>
          <a:prstGeom prst="line">
            <a:avLst/>
          </a:prstGeom>
          <a:noFill/>
          <a:ln w="6350">
            <a:solidFill>
              <a:srgbClr val="E5E7EB"/>
            </a:solidFill>
          </a:ln>
        </p:spPr>
        <p:txBody>
          <a:bodyPr/>
          <a:lstStyle/>
          <a:p>
            <a:endParaRPr lang="en-GB"/>
          </a:p>
        </p:txBody>
      </p:sp>
      <p:sp>
        <p:nvSpPr>
          <p:cNvPr id="125" name="C2Text"/>
          <p:cNvSpPr>
            <a:spLocks noGrp="1"/>
          </p:cNvSpPr>
          <p:nvPr/>
        </p:nvSpPr>
        <p:spPr>
          <a:xfrm>
            <a:off x="62484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6B7280"/>
                </a:solidFill>
                <a:latin typeface="Calibri"/>
              </a:rPr>
              <a:t>· Single endpoint returns channel-shaped JSON in &lt; 100 ms</a:t>
            </a:r>
          </a:p>
          <a:p>
            <a:pPr>
              <a:lnSpc>
                <a:spcPts val="1250"/>
              </a:lnSpc>
              <a:spcBef>
                <a:spcPts val="200"/>
              </a:spcBef>
              <a:buNone/>
            </a:pPr>
            <a:r>
              <a:rPr lang="en-US" sz="900" i="1" dirty="0">
                <a:solidFill>
                  <a:srgbClr val="6B7280"/>
                </a:solidFill>
                <a:latin typeface="Calibri"/>
              </a:rPr>
              <a:t>· POS payload: Config ID → BOM exploded on the fly</a:t>
            </a:r>
          </a:p>
          <a:p>
            <a:pPr>
              <a:lnSpc>
                <a:spcPts val="1250"/>
              </a:lnSpc>
              <a:spcBef>
                <a:spcPts val="200"/>
              </a:spcBef>
              <a:buNone/>
            </a:pPr>
            <a:r>
              <a:rPr lang="en-US" sz="900" i="1" dirty="0">
                <a:solidFill>
                  <a:srgbClr val="6B7280"/>
                </a:solidFill>
                <a:latin typeface="Calibri"/>
              </a:rPr>
              <a:t>· Wizard step: valid next-step options filtered by rules</a:t>
            </a:r>
          </a:p>
          <a:p>
            <a:pPr>
              <a:lnSpc>
                <a:spcPts val="1250"/>
              </a:lnSpc>
              <a:spcBef>
                <a:spcPts val="200"/>
              </a:spcBef>
              <a:buNone/>
            </a:pPr>
            <a:r>
              <a:rPr lang="en-US" sz="900" i="1" dirty="0">
                <a:solidFill>
                  <a:srgbClr val="6B7280"/>
                </a:solidFill>
                <a:latin typeface="Calibri"/>
              </a:rPr>
              <a:t>· Agentic: MCP server surfaces the same governed data</a:t>
            </a:r>
          </a:p>
        </p:txBody>
      </p:sp>
      <p:sp>
        <p:nvSpPr>
          <p:cNvPr id="140" name="C3BG"/>
          <p:cNvSpPr>
            <a:spLocks noGrp="1"/>
          </p:cNvSpPr>
          <p:nvPr/>
        </p:nvSpPr>
        <p:spPr>
          <a:xfrm>
            <a:off x="254000" y="2768600"/>
            <a:ext cx="4267200" cy="1828800"/>
          </a:xfrm>
          <a:prstGeom prst="rect">
            <a:avLst/>
          </a:prstGeom>
          <a:solidFill>
            <a:srgbClr val="FFFFFF"/>
          </a:solidFill>
          <a:ln w="9525">
            <a:solidFill>
              <a:srgbClr val="E5E7EB"/>
            </a:solidFill>
          </a:ln>
        </p:spPr>
        <p:txBody>
          <a:bodyPr/>
          <a:lstStyle/>
          <a:p>
            <a:endParaRPr lang="en-GB"/>
          </a:p>
        </p:txBody>
      </p:sp>
      <p:sp>
        <p:nvSpPr>
          <p:cNvPr id="141" name="C3Bar"/>
          <p:cNvSpPr>
            <a:spLocks noGrp="1"/>
          </p:cNvSpPr>
          <p:nvPr/>
        </p:nvSpPr>
        <p:spPr>
          <a:xfrm>
            <a:off x="254000" y="2768600"/>
            <a:ext cx="63500" cy="1828800"/>
          </a:xfrm>
          <a:prstGeom prst="rect">
            <a:avLst/>
          </a:prstGeom>
          <a:solidFill>
            <a:srgbClr val="F8981D"/>
          </a:solidFill>
          <a:ln>
            <a:noFill/>
          </a:ln>
        </p:spPr>
        <p:txBody>
          <a:bodyPr/>
          <a:lstStyle/>
          <a:p>
            <a:endParaRPr lang="en-GB"/>
          </a:p>
        </p:txBody>
      </p:sp>
      <p:sp>
        <p:nvSpPr>
          <p:cNvPr id="142" name="C3Badge"/>
          <p:cNvSpPr>
            <a:spLocks noGrp="1"/>
          </p:cNvSpPr>
          <p:nvPr/>
        </p:nvSpPr>
        <p:spPr>
          <a:xfrm>
            <a:off x="431800" y="2921000"/>
            <a:ext cx="736600" cy="228600"/>
          </a:xfrm>
          <a:prstGeom prst="roundRect">
            <a:avLst>
              <a:gd name="adj" fmla="val 2500"/>
            </a:avLst>
          </a:prstGeom>
          <a:solidFill>
            <a:srgbClr val="D97706"/>
          </a:solidFill>
          <a:ln>
            <a:noFill/>
          </a:ln>
        </p:spPr>
        <p:txBody>
          <a:bodyPr wrap="square" lIns="25400" tIns="25400" rIns="25400" bIns="25400" anchor="ctr"/>
          <a:lstStyle/>
          <a:p>
            <a:pPr algn="ctr">
              <a:buNone/>
            </a:pPr>
            <a:r>
              <a:rPr lang="en-US" sz="700" b="1" dirty="0">
                <a:solidFill>
                  <a:srgbClr val="FFFFFF"/>
                </a:solidFill>
                <a:latin typeface="Calibri"/>
              </a:rPr>
              <a:t>TAXONOMY</a:t>
            </a:r>
          </a:p>
        </p:txBody>
      </p:sp>
      <p:sp>
        <p:nvSpPr>
          <p:cNvPr id="143" name="C3Label"/>
          <p:cNvSpPr>
            <a:spLocks noGrp="1"/>
          </p:cNvSpPr>
          <p:nvPr/>
        </p:nvSpPr>
        <p:spPr>
          <a:xfrm>
            <a:off x="1244600" y="2921000"/>
            <a:ext cx="28448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Hierarchy + Taxonomy Structure</a:t>
            </a:r>
          </a:p>
        </p:txBody>
      </p:sp>
      <p:sp>
        <p:nvSpPr>
          <p:cNvPr id="144" name="C3Div"/>
          <p:cNvSpPr>
            <a:spLocks noGrp="1"/>
          </p:cNvSpPr>
          <p:nvPr/>
        </p:nvSpPr>
        <p:spPr>
          <a:xfrm>
            <a:off x="431800" y="3225800"/>
            <a:ext cx="3987800" cy="1270"/>
          </a:xfrm>
          <a:prstGeom prst="line">
            <a:avLst/>
          </a:prstGeom>
          <a:noFill/>
          <a:ln w="6350">
            <a:solidFill>
              <a:srgbClr val="E5E7EB"/>
            </a:solidFill>
          </a:ln>
        </p:spPr>
        <p:txBody>
          <a:bodyPr/>
          <a:lstStyle/>
          <a:p>
            <a:endParaRPr lang="en-GB"/>
          </a:p>
        </p:txBody>
      </p:sp>
      <p:sp>
        <p:nvSpPr>
          <p:cNvPr id="145" name="C3Text"/>
          <p:cNvSpPr>
            <a:spLocks noGrp="1"/>
          </p:cNvSpPr>
          <p:nvPr/>
        </p:nvSpPr>
        <p:spPr>
          <a:xfrm>
            <a:off x="431800" y="3276600"/>
            <a:ext cx="3987800" cy="12446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374151"/>
                </a:solidFill>
                <a:latin typeface="Calibri"/>
              </a:rPr>
              <a:t>· Sactional → Seat → Variant tree navigated live in the graph</a:t>
            </a:r>
          </a:p>
          <a:p>
            <a:pPr>
              <a:lnSpc>
                <a:spcPts val="1250"/>
              </a:lnSpc>
              <a:spcBef>
                <a:spcPts val="200"/>
              </a:spcBef>
              <a:buNone/>
            </a:pPr>
            <a:r>
              <a:rPr lang="en-US" sz="900" i="1" dirty="0">
                <a:solidFill>
                  <a:srgbClr val="374151"/>
                </a:solidFill>
                <a:latin typeface="Calibri"/>
              </a:rPr>
              <a:t>· Root node: "Sactional Standard Base" (28 colour variants)</a:t>
            </a:r>
          </a:p>
          <a:p>
            <a:pPr>
              <a:lnSpc>
                <a:spcPts val="1250"/>
              </a:lnSpc>
              <a:spcBef>
                <a:spcPts val="200"/>
              </a:spcBef>
              <a:buNone/>
            </a:pPr>
            <a:r>
              <a:rPr lang="en-US" sz="900" i="1" dirty="0">
                <a:solidFill>
                  <a:srgbClr val="374151"/>
                </a:solidFill>
                <a:latin typeface="Calibri"/>
              </a:rPr>
              <a:t>· COMPATIBLE_WITH edges filter add-on options per seat type</a:t>
            </a:r>
          </a:p>
          <a:p>
            <a:pPr>
              <a:lnSpc>
                <a:spcPts val="1250"/>
              </a:lnSpc>
              <a:spcBef>
                <a:spcPts val="200"/>
              </a:spcBef>
              <a:buNone/>
            </a:pPr>
            <a:r>
              <a:rPr lang="en-US" sz="900" i="1" dirty="0">
                <a:solidFill>
                  <a:srgbClr val="374151"/>
                </a:solidFill>
                <a:latin typeface="Calibri"/>
              </a:rPr>
              <a:t>· CONTAINS edges resolve full BOM from a single Config ID</a:t>
            </a:r>
          </a:p>
          <a:p>
            <a:pPr>
              <a:lnSpc>
                <a:spcPts val="1250"/>
              </a:lnSpc>
              <a:spcBef>
                <a:spcPts val="200"/>
              </a:spcBef>
              <a:buNone/>
            </a:pPr>
            <a:r>
              <a:rPr lang="en-US" sz="900" i="1" dirty="0">
                <a:solidFill>
                  <a:srgbClr val="374151"/>
                </a:solidFill>
                <a:latin typeface="Calibri"/>
              </a:rPr>
              <a:t>· Taxonomy facets: Style, Cover, Function (queryable by POS + web)</a:t>
            </a:r>
          </a:p>
        </p:txBody>
      </p:sp>
      <p:sp>
        <p:nvSpPr>
          <p:cNvPr id="150" name="C4BG"/>
          <p:cNvSpPr>
            <a:spLocks noGrp="1"/>
          </p:cNvSpPr>
          <p:nvPr/>
        </p:nvSpPr>
        <p:spPr>
          <a:xfrm>
            <a:off x="4622800" y="2768600"/>
            <a:ext cx="4267200" cy="1828800"/>
          </a:xfrm>
          <a:prstGeom prst="rect">
            <a:avLst/>
          </a:prstGeom>
          <a:solidFill>
            <a:srgbClr val="FFFFFF"/>
          </a:solidFill>
          <a:ln w="9525">
            <a:solidFill>
              <a:srgbClr val="E5E7EB"/>
            </a:solidFill>
          </a:ln>
        </p:spPr>
        <p:txBody>
          <a:bodyPr/>
          <a:lstStyle/>
          <a:p>
            <a:endParaRPr lang="en-GB"/>
          </a:p>
        </p:txBody>
      </p:sp>
      <p:sp>
        <p:nvSpPr>
          <p:cNvPr id="151" name="C4Bar"/>
          <p:cNvSpPr>
            <a:spLocks noGrp="1"/>
          </p:cNvSpPr>
          <p:nvPr/>
        </p:nvSpPr>
        <p:spPr>
          <a:xfrm>
            <a:off x="4622800" y="2768600"/>
            <a:ext cx="63500" cy="1828800"/>
          </a:xfrm>
          <a:prstGeom prst="rect">
            <a:avLst/>
          </a:prstGeom>
          <a:solidFill>
            <a:srgbClr val="6366F1"/>
          </a:solidFill>
          <a:ln>
            <a:noFill/>
          </a:ln>
        </p:spPr>
        <p:txBody>
          <a:bodyPr/>
          <a:lstStyle/>
          <a:p>
            <a:endParaRPr lang="en-GB"/>
          </a:p>
        </p:txBody>
      </p:sp>
      <p:sp>
        <p:nvSpPr>
          <p:cNvPr id="152" name="C4Badge"/>
          <p:cNvSpPr>
            <a:spLocks noGrp="1"/>
          </p:cNvSpPr>
          <p:nvPr/>
        </p:nvSpPr>
        <p:spPr>
          <a:xfrm>
            <a:off x="4800600" y="2921000"/>
            <a:ext cx="736600" cy="228600"/>
          </a:xfrm>
          <a:prstGeom prst="roundRect">
            <a:avLst>
              <a:gd name="adj" fmla="val 2500"/>
            </a:avLst>
          </a:prstGeom>
          <a:solidFill>
            <a:srgbClr val="4F46E5"/>
          </a:solidFill>
          <a:ln>
            <a:noFill/>
          </a:ln>
        </p:spPr>
        <p:txBody>
          <a:bodyPr wrap="square" lIns="25400" tIns="25400" rIns="25400" bIns="25400" anchor="ctr"/>
          <a:lstStyle/>
          <a:p>
            <a:pPr algn="ctr">
              <a:buNone/>
            </a:pPr>
            <a:r>
              <a:rPr lang="en-US" sz="700" b="1" dirty="0">
                <a:solidFill>
                  <a:srgbClr val="FFFFFF"/>
                </a:solidFill>
                <a:latin typeface="Calibri"/>
              </a:rPr>
              <a:t>AGENDA</a:t>
            </a:r>
          </a:p>
        </p:txBody>
      </p:sp>
      <p:sp>
        <p:nvSpPr>
          <p:cNvPr id="153" name="C4Label"/>
          <p:cNvSpPr>
            <a:spLocks noGrp="1"/>
          </p:cNvSpPr>
          <p:nvPr/>
        </p:nvSpPr>
        <p:spPr>
          <a:xfrm>
            <a:off x="5613400" y="2921000"/>
            <a:ext cx="30988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What the demo will walk through</a:t>
            </a:r>
          </a:p>
        </p:txBody>
      </p:sp>
      <p:sp>
        <p:nvSpPr>
          <p:cNvPr id="154" name="C4Div"/>
          <p:cNvSpPr>
            <a:spLocks noGrp="1"/>
          </p:cNvSpPr>
          <p:nvPr/>
        </p:nvSpPr>
        <p:spPr>
          <a:xfrm>
            <a:off x="4800600" y="3225800"/>
            <a:ext cx="3987800" cy="1270"/>
          </a:xfrm>
          <a:prstGeom prst="line">
            <a:avLst/>
          </a:prstGeom>
          <a:noFill/>
          <a:ln w="6350">
            <a:solidFill>
              <a:srgbClr val="E5E7EB"/>
            </a:solidFill>
          </a:ln>
        </p:spPr>
        <p:txBody>
          <a:bodyPr/>
          <a:lstStyle/>
          <a:p>
            <a:endParaRPr lang="en-GB"/>
          </a:p>
        </p:txBody>
      </p:sp>
      <p:sp>
        <p:nvSpPr>
          <p:cNvPr id="155" name="C4Text"/>
          <p:cNvSpPr>
            <a:spLocks noGrp="1"/>
          </p:cNvSpPr>
          <p:nvPr/>
        </p:nvSpPr>
        <p:spPr>
          <a:xfrm>
            <a:off x="4800600" y="3276600"/>
            <a:ext cx="3987800" cy="12446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374151"/>
                </a:solidFill>
                <a:latin typeface="Calibri"/>
              </a:rPr>
              <a:t>① Ingest: How NetSuite item data lands in DX Graph</a:t>
            </a:r>
          </a:p>
          <a:p>
            <a:pPr>
              <a:lnSpc>
                <a:spcPts val="1250"/>
              </a:lnSpc>
              <a:spcBef>
                <a:spcPts val="200"/>
              </a:spcBef>
              <a:buNone/>
            </a:pPr>
            <a:r>
              <a:rPr lang="en-US" sz="900" i="1" dirty="0">
                <a:solidFill>
                  <a:srgbClr val="374151"/>
                </a:solidFill>
                <a:latin typeface="Calibri"/>
              </a:rPr>
              <a:t>② Browse: Navigate Sactional hierarchy in the graph UI</a:t>
            </a:r>
          </a:p>
          <a:p>
            <a:pPr>
              <a:lnSpc>
                <a:spcPts val="1250"/>
              </a:lnSpc>
              <a:spcBef>
                <a:spcPts val="200"/>
              </a:spcBef>
              <a:buNone/>
            </a:pPr>
            <a:r>
              <a:rPr lang="en-US" sz="900" i="1" dirty="0">
                <a:solidFill>
                  <a:srgbClr val="374151"/>
                </a:solidFill>
                <a:latin typeface="Calibri"/>
              </a:rPr>
              <a:t>③ Rules: Toggle an Experience Rule → watch API response change</a:t>
            </a:r>
          </a:p>
          <a:p>
            <a:pPr>
              <a:lnSpc>
                <a:spcPts val="1250"/>
              </a:lnSpc>
              <a:spcBef>
                <a:spcPts val="200"/>
              </a:spcBef>
              <a:buNone/>
            </a:pPr>
            <a:r>
              <a:rPr lang="en-US" sz="900" i="1" dirty="0">
                <a:solidFill>
                  <a:srgbClr val="374151"/>
                </a:solidFill>
                <a:latin typeface="Calibri"/>
              </a:rPr>
              <a:t>④ POS call: Simulate Salesforce Retail Cloud checkout validation</a:t>
            </a:r>
          </a:p>
          <a:p>
            <a:pPr>
              <a:lnSpc>
                <a:spcPts val="1250"/>
              </a:lnSpc>
              <a:spcBef>
                <a:spcPts val="200"/>
              </a:spcBef>
              <a:buNone/>
            </a:pPr>
            <a:r>
              <a:rPr lang="en-US" sz="900" i="1" dirty="0">
                <a:solidFill>
                  <a:srgbClr val="374151"/>
                </a:solidFill>
                <a:latin typeface="Calibri"/>
              </a:rPr>
              <a:t>⑤ MCP: Ask Conscia agent "what covers fit a standard base?"</a:t>
            </a:r>
          </a:p>
        </p:txBody>
      </p:sp>
      <p:sp>
        <p:nvSpPr>
          <p:cNvPr id="300" name="RefLine"/>
          <p:cNvSpPr>
            <a:spLocks noGrp="1"/>
          </p:cNvSpPr>
          <p:nvPr/>
        </p:nvSpPr>
        <p:spPr>
          <a:xfrm>
            <a:off x="254000" y="4660900"/>
            <a:ext cx="8636000" cy="152400"/>
          </a:xfrm>
          <a:prstGeom prst="rect">
            <a:avLst/>
          </a:prstGeom>
          <a:noFill/>
          <a:ln>
            <a:noFill/>
          </a:ln>
        </p:spPr>
        <p:txBody>
          <a:bodyPr wrap="square" lIns="25400" tIns="25400" rIns="25400" bIns="25400" anchor="t"/>
          <a:lstStyle/>
          <a:p>
            <a:pPr>
              <a:buNone/>
            </a:pPr>
            <a:r>
              <a:rPr lang="en-US" sz="775" i="1" dirty="0">
                <a:solidFill>
                  <a:srgbClr val="9CA3AF"/>
                </a:solidFill>
                <a:latin typeface="Calibri"/>
              </a:rPr>
              <a:t>Data shown is a representative sample from the Lovesac NetSuite environment used for POC scoping. Record counts and field names subject to confirmation.</a:t>
            </a:r>
          </a:p>
        </p:txBody>
      </p:sp>
    </p:spTree>
    <p:extLst>
      <p:ext uri="{BB962C8B-B14F-4D97-AF65-F5344CB8AC3E}">
        <p14:creationId xmlns:p14="http://schemas.microsoft.com/office/powerpoint/2010/main" val="3458257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Phase1BG"/>
          <p:cNvSpPr/>
          <p:nvPr/>
        </p:nvSpPr>
        <p:spPr>
          <a:xfrm>
            <a:off x="254000" y="914400"/>
            <a:ext cx="20066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11" name="Phase1Accent"/>
          <p:cNvSpPr/>
          <p:nvPr/>
        </p:nvSpPr>
        <p:spPr>
          <a:xfrm>
            <a:off x="254000" y="914400"/>
            <a:ext cx="2006600" cy="50800"/>
          </a:xfrm>
          <a:prstGeom prst="roundRect">
            <a:avLst>
              <a:gd name="adj" fmla="val 4000"/>
            </a:avLst>
          </a:prstGeom>
          <a:solidFill>
            <a:srgbClr val="EB1A63"/>
          </a:solidFill>
          <a:ln>
            <a:noFill/>
          </a:ln>
        </p:spPr>
        <p:txBody>
          <a:bodyPr/>
          <a:lstStyle/>
          <a:p>
            <a:endParaRPr lang="en-US"/>
          </a:p>
        </p:txBody>
      </p:sp>
      <p:sp>
        <p:nvSpPr>
          <p:cNvPr id="12" name="Phase1Text"/>
          <p:cNvSpPr/>
          <p:nvPr/>
        </p:nvSpPr>
        <p:spPr>
          <a:xfrm>
            <a:off x="355600" y="1016000"/>
            <a:ext cx="1803400" cy="3048000"/>
          </a:xfrm>
          <a:prstGeom prst="rect">
            <a:avLst/>
          </a:prstGeom>
          <a:noFill/>
          <a:ln>
            <a:noFill/>
          </a:ln>
        </p:spPr>
        <p:txBody>
          <a:bodyPr wrap="square" lIns="0" tIns="0" rIns="0" bIns="0" anchor="t"/>
          <a:lstStyle/>
          <a:p>
            <a:pPr>
              <a:buNone/>
            </a:pPr>
            <a:r>
              <a:rPr lang="en-US" sz="800" b="1" dirty="0">
                <a:solidFill>
                  <a:srgbClr val="EB1A63"/>
                </a:solidFill>
              </a:rPr>
              <a:t>PHASE 1</a:t>
            </a:r>
          </a:p>
          <a:p>
            <a:pPr>
              <a:buNone/>
            </a:pPr>
            <a:r>
              <a:rPr lang="en-US" sz="800" dirty="0">
                <a:solidFill>
                  <a:srgbClr val="9CA3AF"/>
                </a:solidFill>
              </a:rPr>
              <a:t>Weeks 1–3</a:t>
            </a:r>
          </a:p>
          <a:p>
            <a:pPr>
              <a:buNone/>
            </a:pPr>
            <a:r>
              <a:rPr lang="en-US" sz="1050" b="1" dirty="0">
                <a:solidFill>
                  <a:srgbClr val="111827"/>
                </a:solidFill>
              </a:rPr>
              <a:t>Foundation &amp; Data</a:t>
            </a:r>
          </a:p>
          <a:p>
            <a:pPr marL="171450" indent="-171450">
              <a:buFont typeface="Arial"/>
              <a:buChar char="•"/>
            </a:pPr>
            <a:r>
              <a:rPr lang="en-US" sz="850" dirty="0">
                <a:solidFill>
                  <a:srgbClr val="374151"/>
                </a:solidFill>
              </a:rPr>
              <a:t>Provision DX Graph environment</a:t>
            </a:r>
          </a:p>
          <a:p>
            <a:pPr marL="171450" indent="-171450">
              <a:buFont typeface="Arial"/>
              <a:buChar char="•"/>
            </a:pPr>
            <a:r>
              <a:rPr lang="en-US" sz="850" dirty="0">
                <a:solidFill>
                  <a:srgbClr val="374151"/>
                </a:solidFill>
              </a:rPr>
              <a:t>Model SKU &amp; Configuration Collections</a:t>
            </a:r>
          </a:p>
          <a:p>
            <a:pPr marL="171450" indent="-171450">
              <a:buFont typeface="Arial"/>
              <a:buChar char="•"/>
            </a:pPr>
            <a:r>
              <a:rPr lang="en-US" sz="850" dirty="0">
                <a:solidFill>
                  <a:srgbClr val="374151"/>
                </a:solidFill>
              </a:rPr>
              <a:t>Configure data ingest Jobs (3 backends)</a:t>
            </a:r>
          </a:p>
          <a:p>
            <a:pPr marL="171450" indent="-171450">
              <a:buFont typeface="Arial"/>
              <a:buChar char="•"/>
            </a:pPr>
            <a:r>
              <a:rPr lang="en-US" sz="850" dirty="0">
                <a:solidFill>
                  <a:srgbClr val="374151"/>
                </a:solidFill>
              </a:rPr>
              <a:t>Build COMPATIBLE_WITH Dynamic Relationship</a:t>
            </a:r>
          </a:p>
        </p:txBody>
      </p:sp>
      <p:sp>
        <p:nvSpPr>
          <p:cNvPr id="13" name="Phase2BG"/>
          <p:cNvSpPr/>
          <p:nvPr/>
        </p:nvSpPr>
        <p:spPr>
          <a:xfrm>
            <a:off x="2387600" y="914400"/>
            <a:ext cx="20066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14" name="Phase2Accent"/>
          <p:cNvSpPr/>
          <p:nvPr/>
        </p:nvSpPr>
        <p:spPr>
          <a:xfrm>
            <a:off x="2387600" y="914400"/>
            <a:ext cx="2006600" cy="50800"/>
          </a:xfrm>
          <a:prstGeom prst="roundRect">
            <a:avLst>
              <a:gd name="adj" fmla="val 4000"/>
            </a:avLst>
          </a:prstGeom>
          <a:solidFill>
            <a:srgbClr val="07BCD6"/>
          </a:solidFill>
          <a:ln>
            <a:noFill/>
          </a:ln>
        </p:spPr>
        <p:txBody>
          <a:bodyPr/>
          <a:lstStyle/>
          <a:p>
            <a:endParaRPr lang="en-US"/>
          </a:p>
        </p:txBody>
      </p:sp>
      <p:sp>
        <p:nvSpPr>
          <p:cNvPr id="15" name="Phase2Text"/>
          <p:cNvSpPr/>
          <p:nvPr/>
        </p:nvSpPr>
        <p:spPr>
          <a:xfrm>
            <a:off x="2489200" y="1016000"/>
            <a:ext cx="1803400" cy="3048000"/>
          </a:xfrm>
          <a:prstGeom prst="rect">
            <a:avLst/>
          </a:prstGeom>
          <a:noFill/>
          <a:ln>
            <a:noFill/>
          </a:ln>
        </p:spPr>
        <p:txBody>
          <a:bodyPr wrap="square" lIns="0" tIns="0" rIns="0" bIns="0" anchor="t"/>
          <a:lstStyle/>
          <a:p>
            <a:pPr>
              <a:buNone/>
            </a:pPr>
            <a:r>
              <a:rPr lang="en-US" sz="800" b="1" dirty="0">
                <a:solidFill>
                  <a:srgbClr val="07BCD6"/>
                </a:solidFill>
              </a:rPr>
              <a:t>PHASE 2</a:t>
            </a:r>
          </a:p>
          <a:p>
            <a:pPr>
              <a:buNone/>
            </a:pPr>
            <a:r>
              <a:rPr lang="en-US" sz="800" dirty="0">
                <a:solidFill>
                  <a:srgbClr val="9CA3AF"/>
                </a:solidFill>
              </a:rPr>
              <a:t>Weeks 4–6</a:t>
            </a:r>
          </a:p>
          <a:p>
            <a:pPr>
              <a:buNone/>
            </a:pPr>
            <a:r>
              <a:rPr lang="en-US" sz="1050" b="1" dirty="0">
                <a:solidFill>
                  <a:srgbClr val="111827"/>
                </a:solidFill>
              </a:rPr>
              <a:t>Taxonomy &amp; Feeds</a:t>
            </a:r>
          </a:p>
          <a:p>
            <a:pPr marL="171450" indent="-171450">
              <a:buFont typeface="Arial"/>
              <a:buChar char="•"/>
            </a:pPr>
            <a:r>
              <a:rPr lang="en-US" sz="850" dirty="0">
                <a:solidFill>
                  <a:srgbClr val="374151"/>
                </a:solidFill>
              </a:rPr>
              <a:t>Model 3 Taxonomy Collections</a:t>
            </a:r>
          </a:p>
          <a:p>
            <a:pPr marL="171450" indent="-171450">
              <a:buFont typeface="Arial"/>
              <a:buChar char="•"/>
            </a:pPr>
            <a:r>
              <a:rPr lang="en-US" sz="850" dirty="0">
                <a:solidFill>
                  <a:srgbClr val="374151"/>
                </a:solidFill>
              </a:rPr>
              <a:t>Map all SKUs to taxonomies</a:t>
            </a:r>
          </a:p>
          <a:p>
            <a:pPr marL="171450" indent="-171450">
              <a:buFont typeface="Arial"/>
              <a:buChar char="•"/>
            </a:pPr>
            <a:r>
              <a:rPr lang="en-US" sz="850" dirty="0">
                <a:solidFill>
                  <a:srgbClr val="374151"/>
                </a:solidFill>
              </a:rPr>
              <a:t>Update 2 marketplace feeds</a:t>
            </a:r>
          </a:p>
          <a:p>
            <a:pPr marL="171450" indent="-171450">
              <a:buFont typeface="Arial"/>
              <a:buChar char="•"/>
            </a:pPr>
            <a:r>
              <a:rPr lang="en-US" sz="850" dirty="0">
                <a:solidFill>
                  <a:srgbClr val="374151"/>
                </a:solidFill>
              </a:rPr>
              <a:t>Validate data completeness</a:t>
            </a:r>
          </a:p>
        </p:txBody>
      </p:sp>
      <p:sp>
        <p:nvSpPr>
          <p:cNvPr id="16" name="Phase3BG"/>
          <p:cNvSpPr/>
          <p:nvPr/>
        </p:nvSpPr>
        <p:spPr>
          <a:xfrm>
            <a:off x="4521200" y="914400"/>
            <a:ext cx="20066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17" name="Phase3Accent"/>
          <p:cNvSpPr/>
          <p:nvPr/>
        </p:nvSpPr>
        <p:spPr>
          <a:xfrm>
            <a:off x="4521200" y="914400"/>
            <a:ext cx="2006600" cy="50800"/>
          </a:xfrm>
          <a:prstGeom prst="roundRect">
            <a:avLst>
              <a:gd name="adj" fmla="val 4000"/>
            </a:avLst>
          </a:prstGeom>
          <a:solidFill>
            <a:srgbClr val="8AC542"/>
          </a:solidFill>
          <a:ln>
            <a:noFill/>
          </a:ln>
        </p:spPr>
        <p:txBody>
          <a:bodyPr/>
          <a:lstStyle/>
          <a:p>
            <a:endParaRPr lang="en-US"/>
          </a:p>
        </p:txBody>
      </p:sp>
      <p:sp>
        <p:nvSpPr>
          <p:cNvPr id="18" name="Phase3Text"/>
          <p:cNvSpPr/>
          <p:nvPr/>
        </p:nvSpPr>
        <p:spPr>
          <a:xfrm>
            <a:off x="4622800" y="1016000"/>
            <a:ext cx="1803400" cy="3048000"/>
          </a:xfrm>
          <a:prstGeom prst="rect">
            <a:avLst/>
          </a:prstGeom>
          <a:noFill/>
          <a:ln>
            <a:noFill/>
          </a:ln>
        </p:spPr>
        <p:txBody>
          <a:bodyPr wrap="square" lIns="0" tIns="0" rIns="0" bIns="0" anchor="t"/>
          <a:lstStyle/>
          <a:p>
            <a:pPr>
              <a:buNone/>
            </a:pPr>
            <a:r>
              <a:rPr lang="en-US" sz="800" b="1" dirty="0">
                <a:solidFill>
                  <a:srgbClr val="8AC542"/>
                </a:solidFill>
              </a:rPr>
              <a:t>PHASE 3</a:t>
            </a:r>
          </a:p>
          <a:p>
            <a:pPr>
              <a:buNone/>
            </a:pPr>
            <a:r>
              <a:rPr lang="en-US" sz="800" dirty="0">
                <a:solidFill>
                  <a:srgbClr val="9CA3AF"/>
                </a:solidFill>
              </a:rPr>
              <a:t>Weeks 7–10</a:t>
            </a:r>
          </a:p>
          <a:p>
            <a:pPr>
              <a:buNone/>
            </a:pPr>
            <a:r>
              <a:rPr lang="en-US" sz="1050" b="1" dirty="0">
                <a:solidFill>
                  <a:srgbClr val="111827"/>
                </a:solidFill>
              </a:rPr>
              <a:t>DX Engine POC</a:t>
            </a:r>
          </a:p>
          <a:p>
            <a:pPr marL="171450" indent="-171450">
              <a:buFont typeface="Arial"/>
              <a:buChar char="•"/>
            </a:pPr>
            <a:r>
              <a:rPr lang="en-US" sz="850" dirty="0">
                <a:solidFill>
                  <a:srgbClr val="374151"/>
                </a:solidFill>
              </a:rPr>
              <a:t>Build Config Validation flow</a:t>
            </a:r>
          </a:p>
          <a:p>
            <a:pPr marL="171450" indent="-171450">
              <a:buFont typeface="Arial"/>
              <a:buChar char="•"/>
            </a:pPr>
            <a:r>
              <a:rPr lang="en-US" sz="850" dirty="0">
                <a:solidFill>
                  <a:srgbClr val="374151"/>
                </a:solidFill>
              </a:rPr>
              <a:t>Build Wizard Step Options flow</a:t>
            </a:r>
          </a:p>
          <a:p>
            <a:pPr marL="171450" indent="-171450">
              <a:buFont typeface="Arial"/>
              <a:buChar char="•"/>
            </a:pPr>
            <a:r>
              <a:rPr lang="en-US" sz="850" dirty="0">
                <a:solidFill>
                  <a:srgbClr val="374151"/>
                </a:solidFill>
              </a:rPr>
              <a:t>Build Config ID Creation flow</a:t>
            </a:r>
          </a:p>
          <a:p>
            <a:pPr marL="171450" indent="-171450">
              <a:buFont typeface="Arial"/>
              <a:buChar char="•"/>
            </a:pPr>
            <a:r>
              <a:rPr lang="en-US" sz="850" dirty="0">
                <a:solidFill>
                  <a:srgbClr val="374151"/>
                </a:solidFill>
              </a:rPr>
              <a:t>Build BOM Explosion flow</a:t>
            </a:r>
          </a:p>
        </p:txBody>
      </p:sp>
      <p:sp>
        <p:nvSpPr>
          <p:cNvPr id="19" name="Phase4BG"/>
          <p:cNvSpPr/>
          <p:nvPr/>
        </p:nvSpPr>
        <p:spPr>
          <a:xfrm>
            <a:off x="6654800" y="914400"/>
            <a:ext cx="20066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20" name="Phase4Accent"/>
          <p:cNvSpPr/>
          <p:nvPr/>
        </p:nvSpPr>
        <p:spPr>
          <a:xfrm>
            <a:off x="6654800" y="914400"/>
            <a:ext cx="2006600" cy="50800"/>
          </a:xfrm>
          <a:prstGeom prst="roundRect">
            <a:avLst>
              <a:gd name="adj" fmla="val 4000"/>
            </a:avLst>
          </a:prstGeom>
          <a:solidFill>
            <a:srgbClr val="458CCB"/>
          </a:solidFill>
          <a:ln>
            <a:noFill/>
          </a:ln>
        </p:spPr>
        <p:txBody>
          <a:bodyPr/>
          <a:lstStyle/>
          <a:p>
            <a:endParaRPr lang="en-US"/>
          </a:p>
        </p:txBody>
      </p:sp>
      <p:sp>
        <p:nvSpPr>
          <p:cNvPr id="21" name="Phase4Text"/>
          <p:cNvSpPr/>
          <p:nvPr/>
        </p:nvSpPr>
        <p:spPr>
          <a:xfrm>
            <a:off x="6756400" y="1016000"/>
            <a:ext cx="1803400" cy="3048000"/>
          </a:xfrm>
          <a:prstGeom prst="rect">
            <a:avLst/>
          </a:prstGeom>
          <a:noFill/>
          <a:ln>
            <a:noFill/>
          </a:ln>
        </p:spPr>
        <p:txBody>
          <a:bodyPr wrap="square" lIns="0" tIns="0" rIns="0" bIns="0" anchor="t"/>
          <a:lstStyle/>
          <a:p>
            <a:pPr>
              <a:buNone/>
            </a:pPr>
            <a:r>
              <a:rPr lang="en-US" sz="800" b="1" dirty="0">
                <a:solidFill>
                  <a:srgbClr val="458CCB"/>
                </a:solidFill>
              </a:rPr>
              <a:t>PHASE 4</a:t>
            </a:r>
          </a:p>
          <a:p>
            <a:pPr>
              <a:buNone/>
            </a:pPr>
            <a:r>
              <a:rPr lang="en-US" sz="800" dirty="0">
                <a:solidFill>
                  <a:srgbClr val="9CA3AF"/>
                </a:solidFill>
              </a:rPr>
              <a:t>Weeks 11–12</a:t>
            </a:r>
          </a:p>
          <a:p>
            <a:pPr>
              <a:buNone/>
            </a:pPr>
            <a:r>
              <a:rPr lang="en-US" sz="1050" b="1" dirty="0">
                <a:solidFill>
                  <a:srgbClr val="111827"/>
                </a:solidFill>
              </a:rPr>
              <a:t>Testing &amp; Handoff</a:t>
            </a:r>
          </a:p>
          <a:p>
            <a:pPr marL="171450" indent="-171450">
              <a:buFont typeface="Arial"/>
              <a:buChar char="•"/>
            </a:pPr>
            <a:r>
              <a:rPr lang="en-US" sz="850" dirty="0">
                <a:solidFill>
                  <a:srgbClr val="374151"/>
                </a:solidFill>
              </a:rPr>
              <a:t>End-to-end integration testing</a:t>
            </a:r>
          </a:p>
          <a:p>
            <a:pPr marL="171450" indent="-171450">
              <a:buFont typeface="Arial"/>
              <a:buChar char="•"/>
            </a:pPr>
            <a:r>
              <a:rPr lang="en-US" sz="850" dirty="0">
                <a:solidFill>
                  <a:srgbClr val="374151"/>
                </a:solidFill>
              </a:rPr>
              <a:t>Channel-specific QA (POS, web)</a:t>
            </a:r>
          </a:p>
          <a:p>
            <a:pPr marL="171450" indent="-171450">
              <a:buFont typeface="Arial"/>
              <a:buChar char="•"/>
            </a:pPr>
            <a:r>
              <a:rPr lang="en-US" sz="850" dirty="0">
                <a:solidFill>
                  <a:srgbClr val="374151"/>
                </a:solidFill>
              </a:rPr>
              <a:t>Documentation &amp; runbooks</a:t>
            </a:r>
          </a:p>
          <a:p>
            <a:pPr marL="171450" indent="-171450">
              <a:buFont typeface="Arial"/>
              <a:buChar char="•"/>
            </a:pPr>
            <a:r>
              <a:rPr lang="en-US" sz="850" dirty="0">
                <a:solidFill>
                  <a:srgbClr val="374151"/>
                </a:solidFill>
              </a:rPr>
              <a:t>Knowledge transfer to Lovesac</a:t>
            </a:r>
          </a:p>
        </p:txBody>
      </p:sp>
      <p:sp>
        <p:nvSpPr>
          <p:cNvPr id="22" name="Note"/>
          <p:cNvSpPr/>
          <p:nvPr/>
        </p:nvSpPr>
        <p:spPr>
          <a:xfrm>
            <a:off x="254000" y="4267200"/>
            <a:ext cx="8636000" cy="228600"/>
          </a:xfrm>
          <a:prstGeom prst="rect">
            <a:avLst/>
          </a:prstGeom>
          <a:noFill/>
          <a:ln>
            <a:noFill/>
          </a:ln>
        </p:spPr>
        <p:txBody>
          <a:bodyPr wrap="square" lIns="0" tIns="0" rIns="0" bIns="0" anchor="t"/>
          <a:lstStyle/>
          <a:p>
            <a:pPr>
              <a:buNone/>
            </a:pPr>
            <a:r>
              <a:rPr lang="en-US" sz="800" i="1" dirty="0">
                <a:solidFill>
                  <a:srgbClr val="9CA3AF"/>
                </a:solidFill>
              </a:rPr>
              <a:t>Note: Timeline is indicative. Final schedule to be agreed with Lovesac based on data readiness and open question resolution.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582050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E939A8-5FA8-71A7-2D4E-2622425F64E4}"/>
              </a:ext>
            </a:extLst>
          </p:cNvPr>
          <p:cNvSpPr txBox="1"/>
          <p:nvPr/>
        </p:nvSpPr>
        <p:spPr>
          <a:xfrm>
            <a:off x="1271954" y="1863969"/>
            <a:ext cx="6494584" cy="1107996"/>
          </a:xfrm>
          <a:prstGeom prst="rect">
            <a:avLst/>
          </a:prstGeom>
          <a:noFill/>
        </p:spPr>
        <p:txBody>
          <a:bodyPr wrap="square" rtlCol="0">
            <a:spAutoFit/>
          </a:bodyPr>
          <a:lstStyle/>
          <a:p>
            <a:r>
              <a:rPr lang="en-GB" sz="6600" dirty="0"/>
              <a:t>APPENDIX</a:t>
            </a:r>
          </a:p>
        </p:txBody>
      </p:sp>
    </p:spTree>
    <p:extLst>
      <p:ext uri="{BB962C8B-B14F-4D97-AF65-F5344CB8AC3E}">
        <p14:creationId xmlns:p14="http://schemas.microsoft.com/office/powerpoint/2010/main" val="194753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710" name="Bar0"/>
          <p:cNvSpPr>
            <a:spLocks noGrp="1"/>
          </p:cNvSpPr>
          <p:nvPr/>
        </p:nvSpPr>
        <p:spPr>
          <a:xfrm>
            <a:off x="0" y="5092700"/>
            <a:ext cx="1524000" cy="50800"/>
          </a:xfrm>
          <a:prstGeom prst="rect">
            <a:avLst/>
          </a:prstGeom>
          <a:solidFill>
            <a:srgbClr val="EB1A63"/>
          </a:solidFill>
          <a:ln>
            <a:noFill/>
          </a:ln>
        </p:spPr>
        <p:txBody>
          <a:bodyPr wrap="square" lIns="63500" tIns="25400" rIns="635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wrap="square" lIns="63500" tIns="25400" rIns="635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wrap="square" lIns="63500" tIns="25400" rIns="635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wrap="square" lIns="63500" tIns="25400" rIns="635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wrap="square" lIns="63500" tIns="25400" rIns="635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20480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7112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A Phased Approach</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SC0"/>
          <p:cNvSpPr/>
          <p:nvPr/>
        </p:nvSpPr>
        <p:spPr>
          <a:xfrm>
            <a:off x="3302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01" name="SA0"/>
          <p:cNvSpPr/>
          <p:nvPr/>
        </p:nvSpPr>
        <p:spPr>
          <a:xfrm>
            <a:off x="330200" y="787400"/>
            <a:ext cx="2730500" cy="50800"/>
          </a:xfrm>
          <a:prstGeom prst="roundRect">
            <a:avLst>
              <a:gd name="adj" fmla="val 3000"/>
            </a:avLst>
          </a:prstGeom>
          <a:solidFill>
            <a:srgbClr val="EB1A63"/>
          </a:solidFill>
          <a:ln>
            <a:noFill/>
          </a:ln>
        </p:spPr>
        <p:txBody>
          <a:bodyPr/>
          <a:lstStyle/>
          <a:p>
            <a:endParaRPr lang="en-US"/>
          </a:p>
        </p:txBody>
      </p:sp>
      <p:sp>
        <p:nvSpPr>
          <p:cNvPr id="202" name="SL0"/>
          <p:cNvSpPr/>
          <p:nvPr/>
        </p:nvSpPr>
        <p:spPr>
          <a:xfrm>
            <a:off x="482600" y="914400"/>
            <a:ext cx="2400300" cy="177800"/>
          </a:xfrm>
          <a:prstGeom prst="rect">
            <a:avLst/>
          </a:prstGeom>
          <a:noFill/>
          <a:ln>
            <a:noFill/>
          </a:ln>
        </p:spPr>
        <p:txBody>
          <a:bodyPr wrap="square" lIns="0" tIns="0" rIns="0" bIns="0" anchor="t"/>
          <a:lstStyle/>
          <a:p>
            <a:pPr>
              <a:buNone/>
            </a:pPr>
            <a:r>
              <a:rPr lang="en-US" sz="750" b="1" dirty="0">
                <a:solidFill>
                  <a:srgbClr val="EB1A63"/>
                </a:solidFill>
                <a:latin typeface="Calibri"/>
              </a:rPr>
              <a:t>PHASE 1  ·  WEEKS 1–6</a:t>
            </a:r>
          </a:p>
        </p:txBody>
      </p:sp>
      <p:sp>
        <p:nvSpPr>
          <p:cNvPr id="203" name="ST0"/>
          <p:cNvSpPr/>
          <p:nvPr/>
        </p:nvSpPr>
        <p:spPr>
          <a:xfrm>
            <a:off x="4826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Ingest &amp; Model</a:t>
            </a:r>
          </a:p>
        </p:txBody>
      </p:sp>
      <p:sp>
        <p:nvSpPr>
          <p:cNvPr id="204" name="SD0"/>
          <p:cNvSpPr/>
          <p:nvPr/>
        </p:nvSpPr>
        <p:spPr>
          <a:xfrm>
            <a:off x="482600" y="1447800"/>
            <a:ext cx="2400300" cy="12700"/>
          </a:xfrm>
          <a:prstGeom prst="rect">
            <a:avLst/>
          </a:prstGeom>
          <a:solidFill>
            <a:srgbClr val="E5E7EB"/>
          </a:solidFill>
          <a:ln>
            <a:noFill/>
          </a:ln>
        </p:spPr>
        <p:txBody>
          <a:bodyPr/>
          <a:lstStyle/>
          <a:p>
            <a:endParaRPr lang="en-US"/>
          </a:p>
        </p:txBody>
      </p:sp>
      <p:sp>
        <p:nvSpPr>
          <p:cNvPr id="205" name="SB0"/>
          <p:cNvSpPr/>
          <p:nvPr/>
        </p:nvSpPr>
        <p:spPr>
          <a:xfrm>
            <a:off x="4826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Connect NetSuite, Magento &amp; Threekit to DX Graph</a:t>
            </a:r>
          </a:p>
          <a:p>
            <a:pPr marL="171450" indent="-171450">
              <a:buChar char="·"/>
            </a:pPr>
            <a:r>
              <a:rPr lang="en-US" sz="1100" dirty="0">
                <a:solidFill>
                  <a:srgbClr val="374151"/>
                </a:solidFill>
                <a:latin typeface="Calibri"/>
              </a:rPr>
              <a:t>Model Sactional SKUs as collection nodes</a:t>
            </a:r>
          </a:p>
          <a:p>
            <a:pPr marL="171450" indent="-171450">
              <a:buChar char="·"/>
            </a:pPr>
            <a:r>
              <a:rPr lang="en-US" sz="1100" dirty="0">
                <a:solidFill>
                  <a:srgbClr val="374151"/>
                </a:solidFill>
                <a:latin typeface="Calibri"/>
              </a:rPr>
              <a:t>Define canonical attribute schema</a:t>
            </a:r>
          </a:p>
          <a:p>
            <a:pPr marL="171450" indent="-171450">
              <a:buChar char="·"/>
            </a:pPr>
            <a:r>
              <a:rPr lang="en-US" sz="1100" dirty="0">
                <a:solidFill>
                  <a:srgbClr val="374151"/>
                </a:solidFill>
                <a:latin typeface="Calibri"/>
              </a:rPr>
              <a:t>Validate data quality with Lovesac team</a:t>
            </a:r>
          </a:p>
        </p:txBody>
      </p:sp>
      <p:sp>
        <p:nvSpPr>
          <p:cNvPr id="206" name="SO0"/>
          <p:cNvSpPr/>
          <p:nvPr/>
        </p:nvSpPr>
        <p:spPr>
          <a:xfrm>
            <a:off x="3302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Single source of truth — queryable via API</a:t>
            </a:r>
          </a:p>
        </p:txBody>
      </p:sp>
      <p:sp>
        <p:nvSpPr>
          <p:cNvPr id="210" name="SC1"/>
          <p:cNvSpPr/>
          <p:nvPr/>
        </p:nvSpPr>
        <p:spPr>
          <a:xfrm>
            <a:off x="32131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1" name="SA1"/>
          <p:cNvSpPr/>
          <p:nvPr/>
        </p:nvSpPr>
        <p:spPr>
          <a:xfrm>
            <a:off x="3213100" y="787400"/>
            <a:ext cx="2730500" cy="50800"/>
          </a:xfrm>
          <a:prstGeom prst="roundRect">
            <a:avLst>
              <a:gd name="adj" fmla="val 3000"/>
            </a:avLst>
          </a:prstGeom>
          <a:solidFill>
            <a:srgbClr val="458CCB"/>
          </a:solidFill>
          <a:ln>
            <a:noFill/>
          </a:ln>
        </p:spPr>
        <p:txBody>
          <a:bodyPr/>
          <a:lstStyle/>
          <a:p>
            <a:endParaRPr lang="en-US"/>
          </a:p>
        </p:txBody>
      </p:sp>
      <p:sp>
        <p:nvSpPr>
          <p:cNvPr id="212" name="SL1"/>
          <p:cNvSpPr/>
          <p:nvPr/>
        </p:nvSpPr>
        <p:spPr>
          <a:xfrm>
            <a:off x="3365500" y="914400"/>
            <a:ext cx="2400300" cy="177800"/>
          </a:xfrm>
          <a:prstGeom prst="rect">
            <a:avLst/>
          </a:prstGeom>
          <a:noFill/>
          <a:ln>
            <a:noFill/>
          </a:ln>
        </p:spPr>
        <p:txBody>
          <a:bodyPr wrap="square" lIns="0" tIns="0" rIns="0" bIns="0" anchor="t"/>
          <a:lstStyle/>
          <a:p>
            <a:pPr>
              <a:buNone/>
            </a:pPr>
            <a:r>
              <a:rPr lang="en-US" sz="750" b="1" dirty="0">
                <a:solidFill>
                  <a:srgbClr val="458CCB"/>
                </a:solidFill>
                <a:latin typeface="Calibri"/>
              </a:rPr>
              <a:t>PHASE 2  ·  WEEKS 7–12</a:t>
            </a:r>
          </a:p>
        </p:txBody>
      </p:sp>
      <p:sp>
        <p:nvSpPr>
          <p:cNvPr id="213" name="ST1"/>
          <p:cNvSpPr/>
          <p:nvPr/>
        </p:nvSpPr>
        <p:spPr>
          <a:xfrm>
            <a:off x="33655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Orchestrate &amp; Serve</a:t>
            </a:r>
          </a:p>
        </p:txBody>
      </p:sp>
      <p:sp>
        <p:nvSpPr>
          <p:cNvPr id="214" name="SD1"/>
          <p:cNvSpPr/>
          <p:nvPr/>
        </p:nvSpPr>
        <p:spPr>
          <a:xfrm>
            <a:off x="3365500" y="1447800"/>
            <a:ext cx="2400300" cy="12700"/>
          </a:xfrm>
          <a:prstGeom prst="rect">
            <a:avLst/>
          </a:prstGeom>
          <a:solidFill>
            <a:srgbClr val="E5E7EB"/>
          </a:solidFill>
          <a:ln>
            <a:noFill/>
          </a:ln>
        </p:spPr>
        <p:txBody>
          <a:bodyPr/>
          <a:lstStyle/>
          <a:p>
            <a:endParaRPr lang="en-US"/>
          </a:p>
        </p:txBody>
      </p:sp>
      <p:sp>
        <p:nvSpPr>
          <p:cNvPr id="215" name="SB1"/>
          <p:cNvSpPr/>
          <p:nvPr/>
        </p:nvSpPr>
        <p:spPr>
          <a:xfrm>
            <a:off x="33655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Wire DX Engine rules for pricing &amp; eligibility</a:t>
            </a:r>
          </a:p>
          <a:p>
            <a:pPr marL="171450" indent="-171450">
              <a:buChar char="·"/>
            </a:pPr>
            <a:r>
              <a:rPr lang="en-US" sz="1100" dirty="0">
                <a:solidFill>
                  <a:srgbClr val="374151"/>
                </a:solidFill>
                <a:latin typeface="Calibri"/>
              </a:rPr>
              <a:t>Launch Experience API for Lovesac.com configurator</a:t>
            </a:r>
          </a:p>
          <a:p>
            <a:pPr marL="171450" indent="-171450">
              <a:buChar char="·"/>
            </a:pPr>
            <a:r>
              <a:rPr lang="en-US" sz="1100" dirty="0">
                <a:solidFill>
                  <a:srgbClr val="374151"/>
                </a:solidFill>
                <a:latin typeface="Calibri"/>
              </a:rPr>
              <a:t>Serve Salesforce POS &amp; Manhattan Active Omni</a:t>
            </a:r>
          </a:p>
          <a:p>
            <a:pPr marL="171450" indent="-171450">
              <a:buChar char="·"/>
            </a:pPr>
            <a:r>
              <a:rPr lang="en-US" sz="1100" dirty="0">
                <a:solidFill>
                  <a:srgbClr val="374151"/>
                </a:solidFill>
                <a:latin typeface="Calibri"/>
              </a:rPr>
              <a:t>UAT with Lovesac team, iterate on rule logic</a:t>
            </a:r>
          </a:p>
        </p:txBody>
      </p:sp>
      <p:sp>
        <p:nvSpPr>
          <p:cNvPr id="216" name="SO1"/>
          <p:cNvSpPr/>
          <p:nvPr/>
        </p:nvSpPr>
        <p:spPr>
          <a:xfrm>
            <a:off x="32131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Consistent product data across 3 touchpoints</a:t>
            </a:r>
          </a:p>
        </p:txBody>
      </p:sp>
      <p:sp>
        <p:nvSpPr>
          <p:cNvPr id="220" name="SC2"/>
          <p:cNvSpPr/>
          <p:nvPr/>
        </p:nvSpPr>
        <p:spPr>
          <a:xfrm>
            <a:off x="60960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21" name="SA2"/>
          <p:cNvSpPr/>
          <p:nvPr/>
        </p:nvSpPr>
        <p:spPr>
          <a:xfrm>
            <a:off x="6096000" y="787400"/>
            <a:ext cx="2730500" cy="50800"/>
          </a:xfrm>
          <a:prstGeom prst="roundRect">
            <a:avLst>
              <a:gd name="adj" fmla="val 3000"/>
            </a:avLst>
          </a:prstGeom>
          <a:solidFill>
            <a:srgbClr val="8AC542"/>
          </a:solidFill>
          <a:ln>
            <a:noFill/>
          </a:ln>
        </p:spPr>
        <p:txBody>
          <a:bodyPr/>
          <a:lstStyle/>
          <a:p>
            <a:endParaRPr lang="en-US"/>
          </a:p>
        </p:txBody>
      </p:sp>
      <p:sp>
        <p:nvSpPr>
          <p:cNvPr id="222" name="SL2"/>
          <p:cNvSpPr/>
          <p:nvPr/>
        </p:nvSpPr>
        <p:spPr>
          <a:xfrm>
            <a:off x="6248400" y="914400"/>
            <a:ext cx="2400300" cy="177800"/>
          </a:xfrm>
          <a:prstGeom prst="rect">
            <a:avLst/>
          </a:prstGeom>
          <a:noFill/>
          <a:ln>
            <a:noFill/>
          </a:ln>
        </p:spPr>
        <p:txBody>
          <a:bodyPr wrap="square" lIns="0" tIns="0" rIns="0" bIns="0" anchor="t"/>
          <a:lstStyle/>
          <a:p>
            <a:pPr>
              <a:buNone/>
            </a:pPr>
            <a:r>
              <a:rPr lang="en-US" sz="750" b="1" dirty="0">
                <a:solidFill>
                  <a:srgbClr val="8AC542"/>
                </a:solidFill>
                <a:latin typeface="Calibri"/>
              </a:rPr>
              <a:t>PHASE 3  ·  WEEKS 13–20</a:t>
            </a:r>
          </a:p>
        </p:txBody>
      </p:sp>
      <p:sp>
        <p:nvSpPr>
          <p:cNvPr id="223" name="ST2"/>
          <p:cNvSpPr/>
          <p:nvPr/>
        </p:nvSpPr>
        <p:spPr>
          <a:xfrm>
            <a:off x="62484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Expand &amp; Activate</a:t>
            </a:r>
          </a:p>
        </p:txBody>
      </p:sp>
      <p:sp>
        <p:nvSpPr>
          <p:cNvPr id="224" name="SD2"/>
          <p:cNvSpPr/>
          <p:nvPr/>
        </p:nvSpPr>
        <p:spPr>
          <a:xfrm>
            <a:off x="6248400" y="1447800"/>
            <a:ext cx="2400300" cy="12700"/>
          </a:xfrm>
          <a:prstGeom prst="rect">
            <a:avLst/>
          </a:prstGeom>
          <a:solidFill>
            <a:srgbClr val="E5E7EB"/>
          </a:solidFill>
          <a:ln>
            <a:noFill/>
          </a:ln>
        </p:spPr>
        <p:txBody>
          <a:bodyPr/>
          <a:lstStyle/>
          <a:p>
            <a:endParaRPr lang="en-US"/>
          </a:p>
        </p:txBody>
      </p:sp>
      <p:sp>
        <p:nvSpPr>
          <p:cNvPr id="225" name="SB2"/>
          <p:cNvSpPr/>
          <p:nvPr/>
        </p:nvSpPr>
        <p:spPr>
          <a:xfrm>
            <a:off x="62484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Expose MCP endpoint for Agentforce &amp; ChatGPT</a:t>
            </a:r>
          </a:p>
          <a:p>
            <a:pPr marL="171450" indent="-171450">
              <a:buChar char="·"/>
            </a:pPr>
            <a:r>
              <a:rPr lang="en-US" sz="1100" dirty="0">
                <a:solidFill>
                  <a:srgbClr val="374151"/>
                </a:solidFill>
                <a:latin typeface="Calibri"/>
              </a:rPr>
              <a:t>Add Google Shopping feed via DX Engine</a:t>
            </a:r>
          </a:p>
          <a:p>
            <a:pPr marL="171450" indent="-171450">
              <a:buChar char="·"/>
            </a:pPr>
            <a:r>
              <a:rPr lang="en-US" sz="1100" dirty="0">
                <a:solidFill>
                  <a:srgbClr val="374151"/>
                </a:solidFill>
                <a:latin typeface="Calibri"/>
              </a:rPr>
              <a:t>Enable real-time configuration session analytics</a:t>
            </a:r>
          </a:p>
          <a:p>
            <a:pPr marL="171450" indent="-171450">
              <a:buChar char="·"/>
            </a:pPr>
            <a:r>
              <a:rPr lang="en-US" sz="1100" dirty="0">
                <a:solidFill>
                  <a:srgbClr val="374151"/>
                </a:solidFill>
                <a:latin typeface="Calibri"/>
              </a:rPr>
              <a:t>Expand to additional channels on single API</a:t>
            </a:r>
          </a:p>
        </p:txBody>
      </p:sp>
      <p:sp>
        <p:nvSpPr>
          <p:cNvPr id="226" name="SO2"/>
          <p:cNvSpPr/>
          <p:nvPr/>
        </p:nvSpPr>
        <p:spPr>
          <a:xfrm>
            <a:off x="60960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Every channel, every agent — one governed API</a:t>
            </a:r>
          </a:p>
        </p:txBody>
      </p:sp>
      <p:sp>
        <p:nvSpPr>
          <p:cNvPr id="2"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p>
        </p:txBody>
      </p:sp>
      <p:sp>
        <p:nvSpPr>
          <p:cNvPr id="3"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lstStyle/>
          <a:p>
            <a:endParaRPr lang="en-US"/>
          </a:p>
        </p:txBody>
      </p:sp>
      <p:sp>
        <p:nvSpPr>
          <p:cNvPr id="4" name="AppxTag">
            <a:extLst>
              <a:ext uri="{FF2B5EF4-FFF2-40B4-BE49-F238E27FC236}">
                <a16:creationId xmlns:a16="http://schemas.microsoft.com/office/drawing/2014/main" id="{74AFD3D5-7526-A4BB-9667-AFD1D650F612}"/>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6818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D1D5DB"/>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A.  INGEST</a:t>
            </a:r>
          </a:p>
        </p:txBody>
      </p:sp>
      <p:sp>
        <p:nvSpPr>
          <p:cNvPr id="103" name="CA_T"/>
          <p:cNvSpPr>
            <a:spLocks noGrp="1"/>
          </p:cNvSpPr>
          <p:nvPr/>
        </p:nvSpPr>
        <p:spPr>
          <a:xfrm>
            <a:off x="266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buNone/>
            </a:pPr>
            <a:r>
              <a:rPr lang="en-US" sz="600" b="1" dirty="0">
                <a:solidFill>
                  <a:srgbClr val="134E4A"/>
                </a:solidFill>
                <a:latin typeface="Calibri"/>
              </a:rPr>
              <a:t>B.  READ PATH</a:t>
            </a:r>
          </a:p>
        </p:txBody>
      </p:sp>
      <p:sp>
        <p:nvSpPr>
          <p:cNvPr id="112" name="CB_T"/>
          <p:cNvSpPr>
            <a:spLocks noGrp="1"/>
          </p:cNvSpPr>
          <p:nvPr/>
        </p:nvSpPr>
        <p:spPr>
          <a:xfrm>
            <a:off x="31242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Conscia direct</a:t>
            </a:r>
          </a:p>
        </p:txBody>
      </p:sp>
      <p:sp>
        <p:nvSpPr>
          <p:cNvPr id="113" name="CB_B"/>
          <p:cNvSpPr>
            <a:spLocks noGrp="1"/>
          </p:cNvSpPr>
          <p:nvPr/>
        </p:nvSpPr>
        <p:spPr>
          <a:xfrm>
            <a:off x="31242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C.  BOM HANDOFF</a:t>
            </a:r>
          </a:p>
        </p:txBody>
      </p:sp>
      <p:sp>
        <p:nvSpPr>
          <p:cNvPr id="122" name="CC_T"/>
          <p:cNvSpPr>
            <a:spLocks noGrp="1"/>
          </p:cNvSpPr>
          <p:nvPr/>
        </p:nvSpPr>
        <p:spPr>
          <a:xfrm>
            <a:off x="5981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7975600" y="25146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1117600"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26670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2844800" y="2717800"/>
            <a:ext cx="1676400" cy="11430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525" dirty="0">
                <a:solidFill>
                  <a:srgbClr val="92400E"/>
                </a:solidFill>
                <a:latin typeface="Calibri"/>
              </a:rPr>
              <a:t>Magento / Adobe Commerce</a:t>
            </a:r>
          </a:p>
        </p:txBody>
      </p:sp>
      <p:sp>
        <p:nvSpPr>
          <p:cNvPr id="205" name="BO1"/>
          <p:cNvSpPr>
            <a:spLocks noGrp="1"/>
          </p:cNvSpPr>
          <p:nvPr/>
        </p:nvSpPr>
        <p:spPr>
          <a:xfrm>
            <a:off x="2844800" y="2844800"/>
            <a:ext cx="1676400" cy="11430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525" dirty="0">
                <a:solidFill>
                  <a:srgbClr val="92400E"/>
                </a:solidFill>
                <a:latin typeface="Calibri"/>
              </a:rPr>
              <a:t>Manhattan Active Omni</a:t>
            </a:r>
          </a:p>
        </p:txBody>
      </p:sp>
      <p:sp>
        <p:nvSpPr>
          <p:cNvPr id="206" name="BO2"/>
          <p:cNvSpPr>
            <a:spLocks noGrp="1"/>
          </p:cNvSpPr>
          <p:nvPr/>
        </p:nvSpPr>
        <p:spPr>
          <a:xfrm>
            <a:off x="2844800" y="2971800"/>
            <a:ext cx="1676400" cy="11430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525" dirty="0">
                <a:solidFill>
                  <a:srgbClr val="92400E"/>
                </a:solidFill>
                <a:latin typeface="Calibri"/>
              </a:rPr>
              <a:t>Salesforce Retail Cloud</a:t>
            </a:r>
          </a:p>
        </p:txBody>
      </p:sp>
      <p:sp>
        <p:nvSpPr>
          <p:cNvPr id="210" name="A_Cel_DXG"/>
          <p:cNvSpPr>
            <a:spLocks noGrp="1"/>
          </p:cNvSpPr>
          <p:nvPr/>
        </p:nvSpPr>
        <p:spPr>
          <a:xfrm>
            <a:off x="2019300" y="3086100"/>
            <a:ext cx="101600" cy="558800"/>
          </a:xfrm>
          <a:prstGeom prst="downArrow">
            <a:avLst>
              <a:gd name="adj1" fmla="val 50000"/>
              <a:gd name="adj2" fmla="val 50000"/>
            </a:avLst>
          </a:prstGeom>
          <a:solidFill>
            <a:srgbClr val="0D9488"/>
          </a:solidFill>
          <a:ln>
            <a:noFill/>
          </a:ln>
        </p:spPr>
        <p:txBody>
          <a:bodyPr/>
          <a:lstStyle/>
          <a:p>
            <a:endParaRPr lang="en-GB"/>
          </a:p>
        </p:txBody>
      </p:sp>
      <p:sp>
        <p:nvSpPr>
          <p:cNvPr id="212" name="DXG"/>
          <p:cNvSpPr>
            <a:spLocks noGrp="1"/>
          </p:cNvSpPr>
          <p:nvPr/>
        </p:nvSpPr>
        <p:spPr>
          <a:xfrm>
            <a:off x="1524000" y="365760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21000" y="378460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098800" y="365760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495800" y="378460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673600" y="345440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550" i="1" dirty="0">
                <a:solidFill>
                  <a:srgbClr val="134E4A"/>
                </a:solidFill>
                <a:latin typeface="Calibri"/>
              </a:rPr>
              <a:t>(B) real-time validation</a:t>
            </a:r>
          </a:p>
        </p:txBody>
      </p:sp>
      <p:sp>
        <p:nvSpPr>
          <p:cNvPr id="221" name="Out1"/>
          <p:cNvSpPr>
            <a:spLocks noGrp="1"/>
          </p:cNvSpPr>
          <p:nvPr/>
        </p:nvSpPr>
        <p:spPr>
          <a:xfrm>
            <a:off x="4673600" y="365760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550" i="1" dirty="0">
                <a:solidFill>
                  <a:srgbClr val="134E4A"/>
                </a:solidFill>
                <a:latin typeface="Calibri"/>
              </a:rPr>
              <a:t>Experience API</a:t>
            </a:r>
          </a:p>
        </p:txBody>
      </p:sp>
      <p:sp>
        <p:nvSpPr>
          <p:cNvPr id="222" name="Out2"/>
          <p:cNvSpPr>
            <a:spLocks noGrp="1"/>
          </p:cNvSpPr>
          <p:nvPr/>
        </p:nvSpPr>
        <p:spPr>
          <a:xfrm>
            <a:off x="4673600" y="3860800"/>
            <a:ext cx="1701800" cy="165100"/>
          </a:xfrm>
          <a:prstGeom prst="roundRect">
            <a:avLst>
              <a:gd name="adj" fmla="val 1500"/>
            </a:avLst>
          </a:prstGeom>
          <a:solidFill>
            <a:srgbClr val="FFFBEB"/>
          </a:solidFill>
          <a:ln w="6350">
            <a:solidFill>
              <a:srgbClr val="FCD34D"/>
            </a:solidFill>
          </a:ln>
        </p:spPr>
        <p:txBody>
          <a:bodyPr wrap="square" lIns="25400" tIns="25400" rIns="25400" bIns="25400" anchor="t"/>
          <a:lstStyle/>
          <a:p>
            <a:pPr>
              <a:lnSpc>
                <a:spcPts val="1050"/>
              </a:lnSpc>
              <a:buNone/>
            </a:pPr>
            <a:r>
              <a:rPr lang="en-US" sz="600" b="1" dirty="0">
                <a:solidFill>
                  <a:srgbClr val="92400E"/>
                </a:solidFill>
                <a:latin typeface="Calibri"/>
              </a:rPr>
              <a:t>Google Shopping / ChatGPT</a:t>
            </a:r>
          </a:p>
          <a:p>
            <a:pPr>
              <a:lnSpc>
                <a:spcPts val="1050"/>
              </a:lnSpc>
              <a:buNone/>
            </a:pPr>
            <a:r>
              <a:rPr lang="en-US" sz="550" i="1" dirty="0">
                <a:solidFill>
                  <a:srgbClr val="92400E"/>
                </a:solidFill>
                <a:latin typeface="Calibri"/>
              </a:rPr>
              <a:t>via MCP</a:t>
            </a:r>
          </a:p>
        </p:txBody>
      </p:sp>
      <p:sp>
        <p:nvSpPr>
          <p:cNvPr id="223" name="Out3"/>
          <p:cNvSpPr>
            <a:spLocks noGrp="1"/>
          </p:cNvSpPr>
          <p:nvPr/>
        </p:nvSpPr>
        <p:spPr>
          <a:xfrm>
            <a:off x="4673600" y="4064000"/>
            <a:ext cx="1701800" cy="165100"/>
          </a:xfrm>
          <a:prstGeom prst="roundRect">
            <a:avLst>
              <a:gd name="adj" fmla="val 1500"/>
            </a:avLst>
          </a:prstGeom>
          <a:solidFill>
            <a:srgbClr val="F9FAFB"/>
          </a:solidFill>
          <a:ln w="6350">
            <a:solidFill>
              <a:srgbClr val="D1D5DB"/>
            </a:solidFill>
          </a:ln>
        </p:spPr>
        <p:txBody>
          <a:bodyPr wrap="square" lIns="25400" tIns="25400" rIns="25400" bIns="25400" anchor="t"/>
          <a:lstStyle/>
          <a:p>
            <a:pPr>
              <a:lnSpc>
                <a:spcPts val="1050"/>
              </a:lnSpc>
              <a:buNone/>
            </a:pPr>
            <a:r>
              <a:rPr lang="en-US" sz="600" b="1" dirty="0">
                <a:solidFill>
                  <a:srgbClr val="374151"/>
                </a:solidFill>
                <a:latin typeface="Calibri"/>
              </a:rPr>
              <a:t>Celigo flow → Manhattan Omni</a:t>
            </a:r>
          </a:p>
          <a:p>
            <a:pPr>
              <a:lnSpc>
                <a:spcPts val="1050"/>
              </a:lnSpc>
              <a:buNone/>
            </a:pPr>
            <a:r>
              <a:rPr lang="en-US" sz="550" i="1" dirty="0">
                <a:solidFill>
                  <a:srgbClr val="374151"/>
                </a:solidFill>
                <a:latin typeface="Calibri"/>
              </a:rPr>
              <a:t>(C) BOM handoff</a:t>
            </a:r>
          </a:p>
        </p:txBody>
      </p:sp>
      <p:sp>
        <p:nvSpPr>
          <p:cNvPr id="500" name="IngestLblNew"/>
          <p:cNvSpPr>
            <a:spLocks noGrp="1"/>
          </p:cNvSpPr>
          <p:nvPr/>
        </p:nvSpPr>
        <p:spPr>
          <a:xfrm>
            <a:off x="1943100" y="3271630"/>
            <a:ext cx="1270000" cy="127000"/>
          </a:xfrm>
          <a:prstGeom prst="rect">
            <a:avLst/>
          </a:prstGeom>
          <a:noFill/>
          <a:ln>
            <a:noFill/>
          </a:ln>
        </p:spPr>
        <p:txBody>
          <a:bodyPr wrap="square" lIns="25400" tIns="25400" rIns="25400" bIns="25400" anchor="ctr"/>
          <a:lstStyle/>
          <a:p>
            <a:pPr algn="ctr">
              <a:lnSpc>
                <a:spcPts val="1050"/>
              </a:lnSpc>
              <a:buNone/>
            </a:pPr>
            <a:r>
              <a:rPr lang="en-US" sz="550" i="1" dirty="0">
                <a:solidFill>
                  <a:srgbClr val="0D9488"/>
                </a:solidFill>
                <a:latin typeface="Calibri"/>
              </a:rPr>
              <a:t>(A) ingest feed → DX Graph</a:t>
            </a:r>
          </a:p>
        </p:txBody>
      </p:sp>
      <p:sp>
        <p:nvSpPr>
          <p:cNvPr id="501" name="ArrPatLbl"/>
          <p:cNvSpPr>
            <a:spLocks noGrp="1"/>
          </p:cNvSpPr>
          <p:nvPr/>
        </p:nvSpPr>
        <p:spPr>
          <a:xfrm>
            <a:off x="4495800" y="368300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13"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1109</TotalTime>
  <Words>4505</Words>
  <Application>Microsoft Office PowerPoint</Application>
  <PresentationFormat>On-screen Show (16:9)</PresentationFormat>
  <Paragraphs>648</Paragraphs>
  <Slides>22</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5</cp:revision>
  <dcterms:created xsi:type="dcterms:W3CDTF">2026-03-28T20:38:14Z</dcterms:created>
  <dcterms:modified xsi:type="dcterms:W3CDTF">2026-04-07T16:03:25Z</dcterms:modified>
</cp:coreProperties>
</file>