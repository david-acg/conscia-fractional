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305" r:id="rId2"/>
    <p:sldId id="325" r:id="rId3"/>
    <p:sldId id="346" r:id="rId4"/>
    <p:sldId id="400" r:id="rId5"/>
    <p:sldId id="401" r:id="rId6"/>
    <p:sldId id="402" r:id="rId7"/>
    <p:sldId id="403" r:id="rId8"/>
    <p:sldId id="404" r:id="rId9"/>
    <p:sldId id="405" r:id="rId10"/>
    <p:sldId id="406" r:id="rId11"/>
    <p:sldId id="408" r:id="rId12"/>
    <p:sldId id="409" r:id="rId13"/>
    <p:sldId id="426" r:id="rId14"/>
    <p:sldId id="417" r:id="rId15"/>
    <p:sldId id="438" r:id="rId16"/>
    <p:sldId id="441" r:id="rId17"/>
    <p:sldId id="444" r:id="rId18"/>
    <p:sldId id="449" r:id="rId19"/>
    <p:sldId id="356" r:id="rId20"/>
    <p:sldId id="380" r:id="rId21"/>
    <p:sldId id="434" r:id="rId22"/>
    <p:sldId id="435" r:id="rId23"/>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5" roundtripDataSignature="AMtx7mhHCJthnzYT8TGbZ49sVQp0B7AhEg=="/>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avid Uccelli" initial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D5DB"/>
    <a:srgbClr val="EB1A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7437" autoAdjust="0"/>
  </p:normalViewPr>
  <p:slideViewPr>
    <p:cSldViewPr snapToGrid="0">
      <p:cViewPr varScale="1">
        <p:scale>
          <a:sx n="144" d="100"/>
          <a:sy n="144" d="100"/>
        </p:scale>
        <p:origin x="300"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 name="Google Shape;6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3d4ba649cf8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 name="Google Shape;49;g3d4ba649cf8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 name="Google Shape;50;g3d4ba649cf8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2" name="Google Shape;11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 name="Google Shape;19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5" name="Google Shape;335;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6" name="Google Shape;336;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7" name="Google Shape;417;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8" name="Google Shape;418;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6" name="Google Shape;466;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67" name="Google Shape;467;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8" name="Google Shape;22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d4de2a385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3d4de2a385f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90" name="Google Shape;290;g3d4de2a385f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728255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0" name="Google Shape;30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01" name="Google Shape;301;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a:xfrm>
            <a:off x="685800" y="4525963"/>
            <a:ext cx="5486400" cy="3600963"/>
          </a:xfrm>
        </p:spPr>
        <p:txBody>
          <a:bodyPr/>
          <a:lstStyle/>
          <a:p>
            <a:r>
              <a:rPr lang="en-US" sz="1200" dirty="0"/>
              <a:t>SPEAKER NOTES — Threekit &amp; Conscia: Different Jobs, Different Tools</a:t>
            </a:r>
          </a:p>
          <a:p>
            <a:r>
              <a:rPr lang="en-US" sz="1200" dirty="0"/>
              <a:t> </a:t>
            </a:r>
          </a:p>
          <a:p>
            <a:r>
              <a:rPr lang="en-US" sz="1200" dirty="0"/>
              <a:t>The goal is to reframe the conversation: Threekit is not being replaced — it is being enhanced. Conscia sits above it and reads from it.</a:t>
            </a:r>
          </a:p>
          <a:p>
            <a:r>
              <a:rPr lang="en-US" sz="1200" dirty="0"/>
              <a:t> </a:t>
            </a:r>
          </a:p>
          <a:p>
            <a:r>
              <a:rPr lang="en-US" sz="1200" dirty="0"/>
              <a:t>Key points:</a:t>
            </a:r>
          </a:p>
          <a:p>
            <a:r>
              <a:rPr lang="en-US" sz="1200" dirty="0"/>
              <a:t>• Threekit was built to solve a hard visual problem. The constraint is a scoping decision, not a product flaw — Threekit is a renderer, not an integration layer.</a:t>
            </a:r>
          </a:p>
          <a:p>
            <a:r>
              <a:rPr lang="en-US" sz="1200" dirty="0"/>
              <a:t>• Conscia is the integration layer. The two products are designed for different layers of the stack and are genuinely complementary.</a:t>
            </a:r>
          </a:p>
          <a:p>
            <a:r>
              <a:rPr lang="en-US" sz="1200" dirty="0"/>
              <a:t>• Phase 1 preserves Threekit as the configurator. Conscia ingests from it — it does not replace it.</a:t>
            </a:r>
          </a:p>
          <a:p>
            <a:r>
              <a:rPr lang="en-US" sz="1200" dirty="0"/>
              <a:t>• Adding Conscia reduces integration burden: every new channel uses the same Experience API rather than building a new Threekit connector.</a:t>
            </a:r>
          </a:p>
          <a:p>
            <a:r>
              <a:rPr lang="en-US" sz="1200" dirty="0"/>
              <a:t> </a:t>
            </a:r>
          </a:p>
          <a:p>
            <a:r>
              <a:rPr lang="en-US" sz="1200" dirty="0"/>
              <a:t>Do not use the word 'limitation' or 'weakness' when referring to Threekit. Frame all differences as design intent.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a:xfrm>
            <a:off x="685800" y="4525963"/>
            <a:ext cx="5486400" cy="3600963"/>
          </a:xfrm>
        </p:spPr>
        <p:txBody>
          <a:bodyPr/>
          <a:lstStyle/>
          <a:p>
            <a:r>
              <a:rPr lang="en-US" sz="1200" dirty="0"/>
              <a:t>SPEAKER NOTES — How They Work Together: A Phased Approach</a:t>
            </a:r>
          </a:p>
          <a:p>
            <a:r>
              <a:rPr lang="en-US" sz="1200" dirty="0"/>
              <a:t> </a:t>
            </a:r>
          </a:p>
          <a:p>
            <a:r>
              <a:rPr lang="en-US" sz="1200" dirty="0"/>
              <a:t>Walk through each phase clearly and confidently. Emphasise that every phase delivers something real — this is not a big-bang migration.</a:t>
            </a:r>
          </a:p>
          <a:p>
            <a:r>
              <a:rPr lang="en-US" sz="1200" dirty="0"/>
              <a:t> </a:t>
            </a:r>
          </a:p>
          <a:p>
            <a:r>
              <a:rPr lang="en-US" sz="1200" dirty="0"/>
              <a:t>Phase 1 — Ingest &amp; Model (Weeks 1–6):</a:t>
            </a:r>
          </a:p>
          <a:p>
            <a:r>
              <a:rPr lang="en-US" sz="1200" dirty="0"/>
              <a:t>Foundation work. Connect NetSuite, Magento, and Threekit into DX Graph. Model Sactional SKUs as graph nodes with real parent-child links. No customer-facing change yet — the output is a queryable product API. The deliverable is a graph and a schema, validated by the Lovesac team.</a:t>
            </a:r>
          </a:p>
          <a:p>
            <a:r>
              <a:rPr lang="en-US" sz="1200" dirty="0"/>
              <a:t> </a:t>
            </a:r>
          </a:p>
          <a:p>
            <a:r>
              <a:rPr lang="en-US" sz="1200" dirty="0"/>
              <a:t>Phase 2 — Orchestrate &amp; Serve (Weeks 7–12):</a:t>
            </a:r>
          </a:p>
          <a:p>
            <a:r>
              <a:rPr lang="en-US" sz="1200" dirty="0"/>
              <a:t>DX Engine rules go live: pricing eligibility, cover compatibility, inventory availability. Lovesac.com configurator is the first consumer of the new Experience API — first moment a customer benefits. Salesforce POS and Manhattan Active Omni are wired in so associates get consistent data. UAT is built into this phase; we iterate on rule logic before moving on.</a:t>
            </a:r>
          </a:p>
          <a:p>
            <a:r>
              <a:rPr lang="en-US" sz="1200" dirty="0"/>
              <a:t> </a:t>
            </a:r>
          </a:p>
          <a:p>
            <a:r>
              <a:rPr lang="en-US" sz="1200" dirty="0"/>
              <a:t>Phase 3 — Expand &amp; Activate (Weeks 13–20):</a:t>
            </a:r>
          </a:p>
          <a:p>
            <a:r>
              <a:rPr lang="en-US" sz="1200" dirty="0"/>
              <a:t>The MCP endpoint makes Lovesac's product catalogue available to AI agents — AgentForce, ChatGPT, any future agent. Google Shopping is added as a channel using the same API, no rebuild. Configuration session analytics are enabled for the first time: Lovesac can see what customers are actually doing in the configurator. Any additional channel from this point plugs into the same governed API.</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d4de2a385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3d4de2a385f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dirty="0"/>
              <a:t>Lovesac is already a Celigo customer — Kimberly Dietz is publicly quoted endorsing the NetSuite-Magento Integration App. We are not displacing any Celigo flow.</a:t>
            </a:r>
          </a:p>
          <a:p>
            <a:endParaRPr lang="en-US" dirty="0"/>
          </a:p>
          <a:p>
            <a:r>
              <a:rPr lang="en-US" dirty="0"/>
              <a:t>Celigo is genuinely good at what it does: moving customer records, orders, inventory, fulfilments, and item master data between NetSuite, Magento, Manhattan Active Omni, and Salesforce Retail Cloud.</a:t>
            </a:r>
          </a:p>
          <a:p>
            <a:endParaRPr lang="en-US" dirty="0"/>
          </a:p>
          <a:p>
            <a:r>
              <a:rPr lang="en-US" dirty="0"/>
              <a:t>What Celigo cannot do — by category, not by quality — is hold a governed semantic model of what a Sactional is, encode component compatibility as queryable graph relationships, or serve a synchronous sub-second Experience API to a POS terminal during checkout.</a:t>
            </a:r>
          </a:p>
          <a:p>
            <a:endParaRPr lang="en-US" dirty="0"/>
          </a:p>
          <a:p>
            <a:r>
              <a:rPr lang="en-US" dirty="0"/>
              <a:t>Those are different categories of problem and they need different categories of tool. The kickoff narrative is additive, not substitutive.</a:t>
            </a:r>
          </a:p>
        </p:txBody>
      </p:sp>
      <p:sp>
        <p:nvSpPr>
          <p:cNvPr id="290" name="Google Shape;290;g3d4de2a385f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d4de2a385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3d4de2a385f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dirty="0"/>
              <a:t>Pattern A is the strong default for ingest. Lovesac has already paid for Celigo's NetSuite expertise — the saved searches, the matrix item handling, the eTail configuration on item records, the custom field mappings. Re-implementing all of that in DX Graph Jobs against raw NetSuite is duplicative and slow. We piggyback on the work Celigo is already doing.</a:t>
            </a:r>
          </a:p>
          <a:p>
            <a:endParaRPr lang="en-US" dirty="0"/>
          </a:p>
          <a:p>
            <a:r>
              <a:rPr lang="en-US" dirty="0"/>
              <a:t>Pattern B is the real-time read path: POS hits Conscia directly because synchronous sub-second validation is exactly the latency profile iPaaS isn't built for.</a:t>
            </a:r>
          </a:p>
          <a:p>
            <a:endParaRPr lang="en-US" dirty="0"/>
          </a:p>
          <a:p>
            <a:r>
              <a:rPr lang="en-US" dirty="0"/>
              <a:t>Pattern C is the downstream hand-off — DX Engine does the configuration brain work, but the consumer (Manhattan Active Omni) is reached via an existing Celigo flow rather than building a new direct connection.</a:t>
            </a:r>
          </a:p>
          <a:p>
            <a:endParaRPr lang="en-US" dirty="0"/>
          </a:p>
          <a:p>
            <a:r>
              <a:rPr lang="en-US" dirty="0"/>
              <a:t>The one genuine overlap to clarify at kickoff is the marketplace feeds: the kickoff deck commits Conscia to updating two existing feeds, and if those are currently produced by Celigo flows we need to agree whether ownership transfers or whether Conscia provides the data and Celigo continues to ship it.</a:t>
            </a:r>
          </a:p>
        </p:txBody>
      </p:sp>
      <p:sp>
        <p:nvSpPr>
          <p:cNvPr id="290" name="Google Shape;290;g3d4de2a385f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15"/>
        <p:cNvGrpSpPr/>
        <p:nvPr/>
      </p:nvGrpSpPr>
      <p:grpSpPr>
        <a:xfrm>
          <a:off x="0" y="0"/>
          <a:ext cx="0" cy="0"/>
          <a:chOff x="0" y="0"/>
          <a:chExt cx="0" cy="0"/>
        </a:xfrm>
      </p:grpSpPr>
      <p:sp>
        <p:nvSpPr>
          <p:cNvPr id="10" name="LeftStripe"/>
          <p:cNvSpPr/>
          <p:nvPr/>
        </p:nvSpPr>
        <p:spPr>
          <a:xfrm>
            <a:off x="0" y="0"/>
            <a:ext cx="101600" cy="5143500"/>
          </a:xfrm>
          <a:prstGeom prst="rect">
            <a:avLst/>
          </a:prstGeom>
          <a:solidFill>
            <a:srgbClr val="EB1A63"/>
          </a:solidFill>
          <a:ln>
            <a:noFill/>
          </a:ln>
        </p:spPr>
        <p:txBody>
          <a:bodyPr/>
          <a:lstStyle/>
          <a:p>
            <a:endParaRPr lang="en-US"/>
          </a:p>
        </p:txBody>
      </p:sp>
      <p:sp>
        <p:nvSpPr>
          <p:cNvPr id="11" name="Divider"/>
          <p:cNvSpPr/>
          <p:nvPr/>
        </p:nvSpPr>
        <p:spPr>
          <a:xfrm>
            <a:off x="457200" y="609600"/>
            <a:ext cx="8229600" cy="12700"/>
          </a:xfrm>
          <a:prstGeom prst="rect">
            <a:avLst/>
          </a:prstGeom>
          <a:solidFill>
            <a:srgbClr val="E5E7EB"/>
          </a:solidFill>
          <a:ln>
            <a:noFill/>
          </a:ln>
        </p:spPr>
        <p:txBody>
          <a:bodyPr/>
          <a:lstStyle/>
          <a:p>
            <a:endParaRPr lang="en-US"/>
          </a:p>
        </p:txBody>
      </p:sp>
      <p:sp>
        <p:nvSpPr>
          <p:cNvPr id="12" name="Pill"/>
          <p:cNvSpPr/>
          <p:nvPr/>
        </p:nvSpPr>
        <p:spPr>
          <a:xfrm>
            <a:off x="457200" y="762000"/>
            <a:ext cx="3302000" cy="279400"/>
          </a:xfrm>
          <a:prstGeom prst="roundRect">
            <a:avLst>
              <a:gd name="adj" fmla="val 50000"/>
            </a:avLst>
          </a:prstGeom>
          <a:solidFill>
            <a:srgbClr val="EB1A63"/>
          </a:solidFill>
          <a:ln>
            <a:noFill/>
          </a:ln>
        </p:spPr>
        <p:txBody>
          <a:bodyPr wrap="square" lIns="91440" tIns="0" rIns="91440" bIns="0" anchor="ctr"/>
          <a:lstStyle/>
          <a:p>
            <a:pPr algn="ctr">
              <a:buNone/>
            </a:pPr>
            <a:r>
              <a:rPr lang="en-GB" sz="900" b="1" spc="200">
                <a:solidFill>
                  <a:srgbClr val="FFFFFF"/>
                </a:solidFill>
                <a:latin typeface="Calibri"/>
              </a:rPr>
              <a:t>PROJECT KICK-OFF  ·  APRIL 8, 2026</a:t>
            </a:r>
            <a:endParaRPr lang="en-US" sz="900" b="1" spc="200" dirty="0">
              <a:solidFill>
                <a:srgbClr val="FFFFFF"/>
              </a:solidFill>
              <a:latin typeface="Calibri"/>
            </a:endParaRPr>
          </a:p>
        </p:txBody>
      </p:sp>
      <p:sp>
        <p:nvSpPr>
          <p:cNvPr id="13" name="Title"/>
          <p:cNvSpPr/>
          <p:nvPr/>
        </p:nvSpPr>
        <p:spPr>
          <a:xfrm>
            <a:off x="457200" y="1270000"/>
            <a:ext cx="8229600" cy="1016000"/>
          </a:xfrm>
          <a:prstGeom prst="rect">
            <a:avLst/>
          </a:prstGeom>
          <a:noFill/>
          <a:ln>
            <a:noFill/>
          </a:ln>
        </p:spPr>
        <p:txBody>
          <a:bodyPr wrap="square" lIns="0" tIns="0" rIns="0" bIns="0" anchor="t"/>
          <a:lstStyle/>
          <a:p>
            <a:pPr>
              <a:buNone/>
            </a:pPr>
            <a:r>
              <a:rPr lang="en-US" sz="4200" b="1" dirty="0">
                <a:solidFill>
                  <a:srgbClr val="111827"/>
                </a:solidFill>
                <a:latin typeface="Calibri"/>
              </a:rPr>
              <a:t>Conscia: Beyond Traditional </a:t>
            </a:r>
            <a:r>
              <a:rPr lang="en-US" sz="4200" b="1" dirty="0">
                <a:solidFill>
                  <a:srgbClr val="EB1A63"/>
                </a:solidFill>
                <a:latin typeface="Calibri"/>
              </a:rPr>
              <a:t>PIM</a:t>
            </a:r>
          </a:p>
        </p:txBody>
      </p:sp>
      <p:sp>
        <p:nvSpPr>
          <p:cNvPr id="14" name="Subtitle"/>
          <p:cNvSpPr/>
          <p:nvPr/>
        </p:nvSpPr>
        <p:spPr>
          <a:xfrm>
            <a:off x="457200" y="2476500"/>
            <a:ext cx="5588000" cy="571500"/>
          </a:xfrm>
          <a:prstGeom prst="rect">
            <a:avLst/>
          </a:prstGeom>
          <a:noFill/>
          <a:ln>
            <a:noFill/>
          </a:ln>
        </p:spPr>
        <p:txBody>
          <a:bodyPr wrap="square" lIns="0" tIns="0" rIns="0" bIns="0" anchor="t"/>
          <a:lstStyle/>
          <a:p>
            <a:pPr>
              <a:lnSpc>
                <a:spcPts val="2000"/>
              </a:lnSpc>
              <a:buNone/>
            </a:pPr>
            <a:r>
              <a:rPr lang="en-US" sz="1500" dirty="0">
                <a:solidFill>
                  <a:srgbClr val="6B7280"/>
                </a:solidFill>
                <a:latin typeface="Calibri"/>
              </a:rPr>
              <a:t>A governed semantic foundation and real-time orchestration engine for complex, configurable commerce</a:t>
            </a:r>
          </a:p>
        </p:txBody>
      </p:sp>
      <p:sp>
        <p:nvSpPr>
          <p:cNvPr id="15" name="PoweredBy"/>
          <p:cNvSpPr/>
          <p:nvPr/>
        </p:nvSpPr>
        <p:spPr>
          <a:xfrm>
            <a:off x="457200" y="3429000"/>
            <a:ext cx="3810000" cy="279400"/>
          </a:xfrm>
          <a:prstGeom prst="roundRect">
            <a:avLst>
              <a:gd name="adj" fmla="val 30000"/>
            </a:avLst>
          </a:prstGeom>
          <a:solidFill>
            <a:srgbClr val="07BCD6"/>
          </a:solidFill>
          <a:ln>
            <a:noFill/>
          </a:ln>
        </p:spPr>
        <p:txBody>
          <a:bodyPr wrap="square" lIns="91440" tIns="0" rIns="91440" bIns="0" anchor="ctr"/>
          <a:lstStyle/>
          <a:p>
            <a:pPr algn="ctr">
              <a:buNone/>
            </a:pPr>
            <a:r>
              <a:rPr lang="en-US" sz="1000" b="1" spc="150" dirty="0">
                <a:solidFill>
                  <a:srgbClr val="FFFFFF"/>
                </a:solidFill>
                <a:latin typeface="Calibri"/>
              </a:rPr>
              <a:t>POWERED BY: DX GRAPH + DX ENGINE</a:t>
            </a:r>
          </a:p>
        </p:txBody>
      </p:sp>
      <p:sp>
        <p:nvSpPr>
          <p:cNvPr id="16" name="Kickoff"/>
          <p:cNvSpPr/>
          <p:nvPr/>
        </p:nvSpPr>
        <p:spPr>
          <a:xfrm>
            <a:off x="457200" y="3937000"/>
            <a:ext cx="5080000" cy="254000"/>
          </a:xfrm>
          <a:prstGeom prst="rect">
            <a:avLst/>
          </a:prstGeom>
          <a:noFill/>
          <a:ln>
            <a:noFill/>
          </a:ln>
        </p:spPr>
        <p:txBody>
          <a:bodyPr wrap="square" lIns="0" tIns="0" rIns="0" bIns="0" anchor="ctr"/>
          <a:lstStyle/>
          <a:p>
            <a:pPr>
              <a:buNone/>
            </a:pPr>
            <a:r>
              <a:rPr lang="en-US" sz="1400" dirty="0">
                <a:solidFill>
                  <a:srgbClr val="6B7280"/>
                </a:solidFill>
                <a:latin typeface="Calibri"/>
              </a:rPr>
              <a:t>Conscia × Lovesac Joint Kick-off</a:t>
            </a:r>
          </a:p>
        </p:txBody>
      </p:sp>
      <p:sp>
        <p:nvSpPr>
          <p:cNvPr id="17" name="Tagline"/>
          <p:cNvSpPr/>
          <p:nvPr/>
        </p:nvSpPr>
        <p:spPr>
          <a:xfrm>
            <a:off x="2540000" y="228600"/>
            <a:ext cx="4699000" cy="228600"/>
          </a:xfrm>
          <a:prstGeom prst="rect">
            <a:avLst/>
          </a:prstGeom>
          <a:noFill/>
          <a:ln>
            <a:noFill/>
          </a:ln>
        </p:spPr>
        <p:txBody>
          <a:bodyPr wrap="square" lIns="0" tIns="0" rIns="0" bIns="0" anchor="ctr"/>
          <a:lstStyle/>
          <a:p>
            <a:pPr algn="r">
              <a:buNone/>
            </a:pPr>
            <a:r>
              <a:rPr lang="en-US" sz="900" dirty="0">
                <a:solidFill>
                  <a:srgbClr val="9CA3AF"/>
                </a:solidFill>
                <a:latin typeface="Calibri"/>
              </a:rPr>
              <a:t>The API and Data Foundation for Agentic Commerce</a:t>
            </a:r>
          </a:p>
        </p:txBody>
      </p:sp>
      <p:sp>
        <p:nvSpPr>
          <p:cNvPr id="18" name="BottomBar"/>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pic>
        <p:nvPicPr>
          <p:cNvPr id="46" name="Google Shape;46;p1"/>
          <p:cNvPicPr preferRelativeResize="0"/>
          <p:nvPr/>
        </p:nvPicPr>
        <p:blipFill>
          <a:blip r:embed="rId3">
            <a:alphaModFix/>
          </a:blip>
          <a:stretch>
            <a:fillRect/>
          </a:stretch>
        </p:blipFill>
        <p:spPr>
          <a:xfrm>
            <a:off x="7493000" y="203200"/>
            <a:ext cx="1232572" cy="329175"/>
          </a:xfrm>
          <a:prstGeom prst="rect">
            <a:avLst/>
          </a:prstGeom>
          <a:noFill/>
          <a:ln>
            <a:noFill/>
          </a:ln>
        </p:spPr>
      </p:pic>
    </p:spTree>
    <p:extLst>
      <p:ext uri="{BB962C8B-B14F-4D97-AF65-F5344CB8AC3E}">
        <p14:creationId xmlns:p14="http://schemas.microsoft.com/office/powerpoint/2010/main" val="870965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62"/>
        <p:cNvGrpSpPr/>
        <p:nvPr/>
      </p:nvGrpSpPr>
      <p:grpSpPr>
        <a:xfrm>
          <a:off x="0" y="0"/>
          <a:ext cx="0" cy="0"/>
          <a:chOff x="0" y="0"/>
          <a:chExt cx="0" cy="0"/>
        </a:xfrm>
      </p:grpSpPr>
      <p:sp>
        <p:nvSpPr>
          <p:cNvPr id="10" name="LeftBar"/>
          <p:cNvSpPr/>
          <p:nvPr/>
        </p:nvSpPr>
        <p:spPr>
          <a:xfrm>
            <a:off x="0" y="0"/>
            <a:ext cx="101600" cy="5143500"/>
          </a:xfrm>
          <a:prstGeom prst="rect">
            <a:avLst/>
          </a:prstGeom>
          <a:solidFill>
            <a:srgbClr val="EB1A63"/>
          </a:solidFill>
          <a:ln>
            <a:noFill/>
          </a:ln>
        </p:spPr>
        <p:txBody>
          <a:bodyPr/>
          <a:lstStyle/>
          <a:p>
            <a:endParaRPr lang="en-US"/>
          </a:p>
        </p:txBody>
      </p:sp>
      <p:sp>
        <p:nvSpPr>
          <p:cNvPr id="11" name="Title"/>
          <p:cNvSpPr/>
          <p:nvPr/>
        </p:nvSpPr>
        <p:spPr>
          <a:xfrm>
            <a:off x="457200" y="203200"/>
            <a:ext cx="50800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Today's Agenda</a:t>
            </a:r>
          </a:p>
        </p:txBody>
      </p:sp>
      <p:sp>
        <p:nvSpPr>
          <p:cNvPr id="12" name="Div"/>
          <p:cNvSpPr/>
          <p:nvPr/>
        </p:nvSpPr>
        <p:spPr>
          <a:xfrm>
            <a:off x="457200" y="660400"/>
            <a:ext cx="8229600" cy="12700"/>
          </a:xfrm>
          <a:prstGeom prst="rect">
            <a:avLst/>
          </a:prstGeom>
          <a:solidFill>
            <a:srgbClr val="E5E7EB"/>
          </a:solidFill>
          <a:ln>
            <a:noFill/>
          </a:ln>
        </p:spPr>
        <p:txBody>
          <a:bodyPr/>
          <a:lstStyle/>
          <a:p>
            <a:endParaRPr lang="en-US"/>
          </a:p>
        </p:txBody>
      </p:sp>
      <p:sp>
        <p:nvSpPr>
          <p:cNvPr id="200" name="Footer"/>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ottomBar"/>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300" name="AccBar0"/>
          <p:cNvSpPr>
            <a:spLocks noGrp="1"/>
          </p:cNvSpPr>
          <p:nvPr/>
        </p:nvSpPr>
        <p:spPr>
          <a:xfrm>
            <a:off x="355600" y="800100"/>
            <a:ext cx="50800" cy="419100"/>
          </a:xfrm>
          <a:prstGeom prst="rect">
            <a:avLst/>
          </a:prstGeom>
          <a:solidFill>
            <a:srgbClr val="EB1A63"/>
          </a:solidFill>
          <a:ln>
            <a:noFill/>
          </a:ln>
        </p:spPr>
        <p:txBody>
          <a:bodyPr wrap="square" lIns="50800" tIns="25400" rIns="50800" bIns="25400" anchor="ctr"/>
          <a:lstStyle/>
          <a:p>
            <a:pPr>
              <a:buNone/>
            </a:pPr>
            <a:endParaRPr/>
          </a:p>
        </p:txBody>
      </p:sp>
      <p:sp>
        <p:nvSpPr>
          <p:cNvPr id="301" name="Div0"/>
          <p:cNvSpPr>
            <a:spLocks noGrp="1"/>
          </p:cNvSpPr>
          <p:nvPr/>
        </p:nvSpPr>
        <p:spPr>
          <a:xfrm>
            <a:off x="482600" y="1231900"/>
            <a:ext cx="8305800" cy="12700"/>
          </a:xfrm>
          <a:prstGeom prst="rect">
            <a:avLst/>
          </a:prstGeom>
          <a:solidFill>
            <a:srgbClr val="E5E7EB"/>
          </a:solidFill>
          <a:ln>
            <a:noFill/>
          </a:ln>
        </p:spPr>
        <p:txBody>
          <a:bodyPr/>
          <a:lstStyle/>
          <a:p>
            <a:endParaRPr/>
          </a:p>
        </p:txBody>
      </p:sp>
      <p:sp>
        <p:nvSpPr>
          <p:cNvPr id="302" name="Num0"/>
          <p:cNvSpPr>
            <a:spLocks noGrp="1"/>
          </p:cNvSpPr>
          <p:nvPr/>
        </p:nvSpPr>
        <p:spPr>
          <a:xfrm>
            <a:off x="508000" y="825500"/>
            <a:ext cx="330200" cy="368300"/>
          </a:xfrm>
          <a:prstGeom prst="rect">
            <a:avLst/>
          </a:prstGeom>
          <a:noFill/>
          <a:ln>
            <a:noFill/>
          </a:ln>
        </p:spPr>
        <p:txBody>
          <a:bodyPr wrap="square" lIns="50800" tIns="25400" rIns="50800" bIns="25400" anchor="ctr"/>
          <a:lstStyle/>
          <a:p>
            <a:pPr>
              <a:buNone/>
            </a:pPr>
            <a:r>
              <a:rPr lang="en-US" sz="1100" b="1" dirty="0">
                <a:solidFill>
                  <a:srgbClr val="EB1A63"/>
                </a:solidFill>
                <a:latin typeface="Calibri"/>
              </a:rPr>
              <a:t>01</a:t>
            </a:r>
          </a:p>
        </p:txBody>
      </p:sp>
      <p:sp>
        <p:nvSpPr>
          <p:cNvPr id="303" name="Row0"/>
          <p:cNvSpPr>
            <a:spLocks noGrp="1"/>
          </p:cNvSpPr>
          <p:nvPr/>
        </p:nvSpPr>
        <p:spPr>
          <a:xfrm>
            <a:off x="889000" y="8001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Problem Statement</a:t>
            </a:r>
            <a:r>
              <a:rPr lang="en-US" sz="1100" dirty="0">
                <a:solidFill>
                  <a:srgbClr val="9CA3AF"/>
                </a:solidFill>
                <a:latin typeface="Calibri"/>
              </a:rPr>
              <a:t>  —  Recap of the challenges we're here to solve</a:t>
            </a:r>
          </a:p>
        </p:txBody>
      </p:sp>
      <p:sp>
        <p:nvSpPr>
          <p:cNvPr id="310" name="AccBar1"/>
          <p:cNvSpPr>
            <a:spLocks noGrp="1"/>
          </p:cNvSpPr>
          <p:nvPr/>
        </p:nvSpPr>
        <p:spPr>
          <a:xfrm>
            <a:off x="355600" y="1231900"/>
            <a:ext cx="50800" cy="419100"/>
          </a:xfrm>
          <a:prstGeom prst="rect">
            <a:avLst/>
          </a:prstGeom>
          <a:solidFill>
            <a:srgbClr val="07BCD6"/>
          </a:solidFill>
          <a:ln>
            <a:noFill/>
          </a:ln>
        </p:spPr>
        <p:txBody>
          <a:bodyPr wrap="square" lIns="50800" tIns="25400" rIns="50800" bIns="25400" anchor="ctr"/>
          <a:lstStyle/>
          <a:p>
            <a:pPr>
              <a:buNone/>
            </a:pPr>
            <a:endParaRPr/>
          </a:p>
        </p:txBody>
      </p:sp>
      <p:sp>
        <p:nvSpPr>
          <p:cNvPr id="311" name="Div1"/>
          <p:cNvSpPr>
            <a:spLocks noGrp="1"/>
          </p:cNvSpPr>
          <p:nvPr/>
        </p:nvSpPr>
        <p:spPr>
          <a:xfrm>
            <a:off x="482600" y="1663700"/>
            <a:ext cx="8305800" cy="12700"/>
          </a:xfrm>
          <a:prstGeom prst="rect">
            <a:avLst/>
          </a:prstGeom>
          <a:solidFill>
            <a:srgbClr val="E5E7EB"/>
          </a:solidFill>
          <a:ln>
            <a:noFill/>
          </a:ln>
        </p:spPr>
        <p:txBody>
          <a:bodyPr/>
          <a:lstStyle/>
          <a:p>
            <a:endParaRPr/>
          </a:p>
        </p:txBody>
      </p:sp>
      <p:sp>
        <p:nvSpPr>
          <p:cNvPr id="312" name="Num1"/>
          <p:cNvSpPr>
            <a:spLocks noGrp="1"/>
          </p:cNvSpPr>
          <p:nvPr/>
        </p:nvSpPr>
        <p:spPr>
          <a:xfrm>
            <a:off x="508000" y="1257300"/>
            <a:ext cx="330200" cy="368300"/>
          </a:xfrm>
          <a:prstGeom prst="rect">
            <a:avLst/>
          </a:prstGeom>
          <a:noFill/>
          <a:ln>
            <a:noFill/>
          </a:ln>
        </p:spPr>
        <p:txBody>
          <a:bodyPr wrap="square" lIns="50800" tIns="25400" rIns="50800" bIns="25400" anchor="ctr"/>
          <a:lstStyle/>
          <a:p>
            <a:pPr>
              <a:buNone/>
            </a:pPr>
            <a:r>
              <a:rPr lang="en-US" sz="1100" b="1" dirty="0">
                <a:solidFill>
                  <a:srgbClr val="07BCD6"/>
                </a:solidFill>
                <a:latin typeface="Calibri"/>
              </a:rPr>
              <a:t>02</a:t>
            </a:r>
          </a:p>
        </p:txBody>
      </p:sp>
      <p:sp>
        <p:nvSpPr>
          <p:cNvPr id="313" name="Row1"/>
          <p:cNvSpPr>
            <a:spLocks noGrp="1"/>
          </p:cNvSpPr>
          <p:nvPr/>
        </p:nvSpPr>
        <p:spPr>
          <a:xfrm>
            <a:off x="889000" y="12319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Meet the Teams</a:t>
            </a:r>
            <a:r>
              <a:rPr lang="en-US" sz="1100" dirty="0">
                <a:solidFill>
                  <a:srgbClr val="9CA3AF"/>
                </a:solidFill>
                <a:latin typeface="Calibri"/>
              </a:rPr>
              <a:t>  —  Introductions and roles</a:t>
            </a:r>
          </a:p>
        </p:txBody>
      </p:sp>
      <p:sp>
        <p:nvSpPr>
          <p:cNvPr id="320" name="AccBar2"/>
          <p:cNvSpPr>
            <a:spLocks noGrp="1"/>
          </p:cNvSpPr>
          <p:nvPr/>
        </p:nvSpPr>
        <p:spPr>
          <a:xfrm>
            <a:off x="355600" y="1663700"/>
            <a:ext cx="50800" cy="419100"/>
          </a:xfrm>
          <a:prstGeom prst="rect">
            <a:avLst/>
          </a:prstGeom>
          <a:solidFill>
            <a:srgbClr val="8AC542"/>
          </a:solidFill>
          <a:ln>
            <a:noFill/>
          </a:ln>
        </p:spPr>
        <p:txBody>
          <a:bodyPr wrap="square" lIns="50800" tIns="25400" rIns="50800" bIns="25400" anchor="ctr"/>
          <a:lstStyle/>
          <a:p>
            <a:pPr>
              <a:buNone/>
            </a:pPr>
            <a:endParaRPr/>
          </a:p>
        </p:txBody>
      </p:sp>
      <p:sp>
        <p:nvSpPr>
          <p:cNvPr id="321" name="Div2"/>
          <p:cNvSpPr>
            <a:spLocks noGrp="1"/>
          </p:cNvSpPr>
          <p:nvPr/>
        </p:nvSpPr>
        <p:spPr>
          <a:xfrm>
            <a:off x="482600" y="2095500"/>
            <a:ext cx="8305800" cy="12700"/>
          </a:xfrm>
          <a:prstGeom prst="rect">
            <a:avLst/>
          </a:prstGeom>
          <a:solidFill>
            <a:srgbClr val="E5E7EB"/>
          </a:solidFill>
          <a:ln>
            <a:noFill/>
          </a:ln>
        </p:spPr>
        <p:txBody>
          <a:bodyPr/>
          <a:lstStyle/>
          <a:p>
            <a:endParaRPr/>
          </a:p>
        </p:txBody>
      </p:sp>
      <p:sp>
        <p:nvSpPr>
          <p:cNvPr id="322" name="Num2"/>
          <p:cNvSpPr>
            <a:spLocks noGrp="1"/>
          </p:cNvSpPr>
          <p:nvPr/>
        </p:nvSpPr>
        <p:spPr>
          <a:xfrm>
            <a:off x="508000" y="1689100"/>
            <a:ext cx="330200" cy="368300"/>
          </a:xfrm>
          <a:prstGeom prst="rect">
            <a:avLst/>
          </a:prstGeom>
          <a:noFill/>
          <a:ln>
            <a:noFill/>
          </a:ln>
        </p:spPr>
        <p:txBody>
          <a:bodyPr wrap="square" lIns="50800" tIns="25400" rIns="50800" bIns="25400" anchor="ctr"/>
          <a:lstStyle/>
          <a:p>
            <a:pPr>
              <a:buNone/>
            </a:pPr>
            <a:r>
              <a:rPr lang="en-US" sz="1100" b="1" dirty="0">
                <a:solidFill>
                  <a:srgbClr val="8AC542"/>
                </a:solidFill>
                <a:latin typeface="Calibri"/>
              </a:rPr>
              <a:t>03</a:t>
            </a:r>
          </a:p>
        </p:txBody>
      </p:sp>
      <p:sp>
        <p:nvSpPr>
          <p:cNvPr id="323" name="Row2"/>
          <p:cNvSpPr>
            <a:spLocks noGrp="1"/>
          </p:cNvSpPr>
          <p:nvPr/>
        </p:nvSpPr>
        <p:spPr>
          <a:xfrm>
            <a:off x="889000" y="16637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Conscia Platform Overview</a:t>
            </a:r>
            <a:r>
              <a:rPr lang="en-US" sz="1100" dirty="0">
                <a:solidFill>
                  <a:srgbClr val="9CA3AF"/>
                </a:solidFill>
                <a:latin typeface="Calibri"/>
              </a:rPr>
              <a:t>  —  How DX Graph and DX Engine address Lovesac's needs</a:t>
            </a:r>
          </a:p>
        </p:txBody>
      </p:sp>
      <p:sp>
        <p:nvSpPr>
          <p:cNvPr id="330" name="AccBar3"/>
          <p:cNvSpPr>
            <a:spLocks noGrp="1"/>
          </p:cNvSpPr>
          <p:nvPr/>
        </p:nvSpPr>
        <p:spPr>
          <a:xfrm>
            <a:off x="355600" y="2095500"/>
            <a:ext cx="50800" cy="419100"/>
          </a:xfrm>
          <a:prstGeom prst="rect">
            <a:avLst/>
          </a:prstGeom>
          <a:solidFill>
            <a:srgbClr val="458CCB"/>
          </a:solidFill>
          <a:ln>
            <a:noFill/>
          </a:ln>
        </p:spPr>
        <p:txBody>
          <a:bodyPr wrap="square" lIns="50800" tIns="25400" rIns="50800" bIns="25400" anchor="ctr"/>
          <a:lstStyle/>
          <a:p>
            <a:pPr>
              <a:buNone/>
            </a:pPr>
            <a:endParaRPr/>
          </a:p>
        </p:txBody>
      </p:sp>
      <p:sp>
        <p:nvSpPr>
          <p:cNvPr id="331" name="Div3"/>
          <p:cNvSpPr>
            <a:spLocks noGrp="1"/>
          </p:cNvSpPr>
          <p:nvPr/>
        </p:nvSpPr>
        <p:spPr>
          <a:xfrm>
            <a:off x="482600" y="2527300"/>
            <a:ext cx="8305800" cy="12700"/>
          </a:xfrm>
          <a:prstGeom prst="rect">
            <a:avLst/>
          </a:prstGeom>
          <a:solidFill>
            <a:srgbClr val="E5E7EB"/>
          </a:solidFill>
          <a:ln>
            <a:noFill/>
          </a:ln>
        </p:spPr>
        <p:txBody>
          <a:bodyPr/>
          <a:lstStyle/>
          <a:p>
            <a:endParaRPr/>
          </a:p>
        </p:txBody>
      </p:sp>
      <p:sp>
        <p:nvSpPr>
          <p:cNvPr id="332" name="Num3"/>
          <p:cNvSpPr>
            <a:spLocks noGrp="1"/>
          </p:cNvSpPr>
          <p:nvPr/>
        </p:nvSpPr>
        <p:spPr>
          <a:xfrm>
            <a:off x="508000" y="2120900"/>
            <a:ext cx="330200" cy="368300"/>
          </a:xfrm>
          <a:prstGeom prst="rect">
            <a:avLst/>
          </a:prstGeom>
          <a:noFill/>
          <a:ln>
            <a:noFill/>
          </a:ln>
        </p:spPr>
        <p:txBody>
          <a:bodyPr wrap="square" lIns="50800" tIns="25400" rIns="50800" bIns="25400" anchor="ctr"/>
          <a:lstStyle/>
          <a:p>
            <a:pPr>
              <a:buNone/>
            </a:pPr>
            <a:r>
              <a:rPr lang="en-US" sz="1100" b="1" dirty="0">
                <a:solidFill>
                  <a:srgbClr val="458CCB"/>
                </a:solidFill>
                <a:latin typeface="Calibri"/>
              </a:rPr>
              <a:t>04</a:t>
            </a:r>
          </a:p>
        </p:txBody>
      </p:sp>
      <p:sp>
        <p:nvSpPr>
          <p:cNvPr id="333" name="Row3"/>
          <p:cNvSpPr>
            <a:spLocks noGrp="1"/>
          </p:cNvSpPr>
          <p:nvPr/>
        </p:nvSpPr>
        <p:spPr>
          <a:xfrm>
            <a:off x="889000" y="20955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Proposed Architecture Fit</a:t>
            </a:r>
            <a:r>
              <a:rPr lang="en-US" sz="1100" dirty="0">
                <a:solidFill>
                  <a:srgbClr val="9CA3AF"/>
                </a:solidFill>
                <a:latin typeface="Calibri"/>
              </a:rPr>
              <a:t>  —  Where Conscia sits within your existing stack</a:t>
            </a:r>
          </a:p>
        </p:txBody>
      </p:sp>
      <p:sp>
        <p:nvSpPr>
          <p:cNvPr id="340" name="AccBar4"/>
          <p:cNvSpPr>
            <a:spLocks noGrp="1"/>
          </p:cNvSpPr>
          <p:nvPr/>
        </p:nvSpPr>
        <p:spPr>
          <a:xfrm>
            <a:off x="355600" y="2527300"/>
            <a:ext cx="50800" cy="419100"/>
          </a:xfrm>
          <a:prstGeom prst="rect">
            <a:avLst/>
          </a:prstGeom>
          <a:solidFill>
            <a:srgbClr val="F8981D"/>
          </a:solidFill>
          <a:ln>
            <a:noFill/>
          </a:ln>
        </p:spPr>
        <p:txBody>
          <a:bodyPr wrap="square" lIns="50800" tIns="25400" rIns="50800" bIns="25400" anchor="ctr"/>
          <a:lstStyle/>
          <a:p>
            <a:pPr>
              <a:buNone/>
            </a:pPr>
            <a:endParaRPr/>
          </a:p>
        </p:txBody>
      </p:sp>
      <p:sp>
        <p:nvSpPr>
          <p:cNvPr id="341" name="Div4"/>
          <p:cNvSpPr>
            <a:spLocks noGrp="1"/>
          </p:cNvSpPr>
          <p:nvPr/>
        </p:nvSpPr>
        <p:spPr>
          <a:xfrm>
            <a:off x="482600" y="2959100"/>
            <a:ext cx="8305800" cy="12700"/>
          </a:xfrm>
          <a:prstGeom prst="rect">
            <a:avLst/>
          </a:prstGeom>
          <a:solidFill>
            <a:srgbClr val="E5E7EB"/>
          </a:solidFill>
          <a:ln>
            <a:noFill/>
          </a:ln>
        </p:spPr>
        <p:txBody>
          <a:bodyPr/>
          <a:lstStyle/>
          <a:p>
            <a:endParaRPr/>
          </a:p>
        </p:txBody>
      </p:sp>
      <p:sp>
        <p:nvSpPr>
          <p:cNvPr id="342" name="Num4"/>
          <p:cNvSpPr>
            <a:spLocks noGrp="1"/>
          </p:cNvSpPr>
          <p:nvPr/>
        </p:nvSpPr>
        <p:spPr>
          <a:xfrm>
            <a:off x="508000" y="2552700"/>
            <a:ext cx="330200" cy="368300"/>
          </a:xfrm>
          <a:prstGeom prst="rect">
            <a:avLst/>
          </a:prstGeom>
          <a:noFill/>
          <a:ln>
            <a:noFill/>
          </a:ln>
        </p:spPr>
        <p:txBody>
          <a:bodyPr wrap="square" lIns="50800" tIns="25400" rIns="50800" bIns="25400" anchor="ctr"/>
          <a:lstStyle/>
          <a:p>
            <a:pPr>
              <a:buNone/>
            </a:pPr>
            <a:r>
              <a:rPr lang="en-US" sz="1100" b="1" dirty="0">
                <a:solidFill>
                  <a:srgbClr val="C49500"/>
                </a:solidFill>
                <a:latin typeface="Calibri"/>
              </a:rPr>
              <a:t>05</a:t>
            </a:r>
          </a:p>
        </p:txBody>
      </p:sp>
      <p:sp>
        <p:nvSpPr>
          <p:cNvPr id="343" name="Row4"/>
          <p:cNvSpPr>
            <a:spLocks noGrp="1"/>
          </p:cNvSpPr>
          <p:nvPr/>
        </p:nvSpPr>
        <p:spPr>
          <a:xfrm>
            <a:off x="889000" y="25273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Success Metrics and KPIs</a:t>
            </a:r>
            <a:r>
              <a:rPr lang="en-US" sz="1100" dirty="0">
                <a:solidFill>
                  <a:srgbClr val="9CA3AF"/>
                </a:solidFill>
                <a:latin typeface="Calibri"/>
              </a:rPr>
              <a:t>  —  Defining what good looks like</a:t>
            </a:r>
          </a:p>
        </p:txBody>
      </p:sp>
      <p:sp>
        <p:nvSpPr>
          <p:cNvPr id="350" name="AccBar5"/>
          <p:cNvSpPr>
            <a:spLocks noGrp="1"/>
          </p:cNvSpPr>
          <p:nvPr/>
        </p:nvSpPr>
        <p:spPr>
          <a:xfrm>
            <a:off x="355600" y="2959100"/>
            <a:ext cx="50800" cy="419100"/>
          </a:xfrm>
          <a:prstGeom prst="rect">
            <a:avLst/>
          </a:prstGeom>
          <a:solidFill>
            <a:srgbClr val="FABF2D"/>
          </a:solidFill>
          <a:ln>
            <a:noFill/>
          </a:ln>
        </p:spPr>
        <p:txBody>
          <a:bodyPr wrap="square" lIns="50800" tIns="25400" rIns="50800" bIns="25400" anchor="ctr"/>
          <a:lstStyle/>
          <a:p>
            <a:pPr>
              <a:buNone/>
            </a:pPr>
            <a:endParaRPr/>
          </a:p>
        </p:txBody>
      </p:sp>
      <p:sp>
        <p:nvSpPr>
          <p:cNvPr id="351" name="Div5"/>
          <p:cNvSpPr>
            <a:spLocks noGrp="1"/>
          </p:cNvSpPr>
          <p:nvPr/>
        </p:nvSpPr>
        <p:spPr>
          <a:xfrm>
            <a:off x="482600" y="3390900"/>
            <a:ext cx="8305800" cy="12700"/>
          </a:xfrm>
          <a:prstGeom prst="rect">
            <a:avLst/>
          </a:prstGeom>
          <a:solidFill>
            <a:srgbClr val="E5E7EB"/>
          </a:solidFill>
          <a:ln>
            <a:noFill/>
          </a:ln>
        </p:spPr>
        <p:txBody>
          <a:bodyPr/>
          <a:lstStyle/>
          <a:p>
            <a:endParaRPr/>
          </a:p>
        </p:txBody>
      </p:sp>
      <p:sp>
        <p:nvSpPr>
          <p:cNvPr id="352" name="Num5"/>
          <p:cNvSpPr>
            <a:spLocks noGrp="1"/>
          </p:cNvSpPr>
          <p:nvPr/>
        </p:nvSpPr>
        <p:spPr>
          <a:xfrm>
            <a:off x="508000" y="2984500"/>
            <a:ext cx="330200" cy="368300"/>
          </a:xfrm>
          <a:prstGeom prst="rect">
            <a:avLst/>
          </a:prstGeom>
          <a:noFill/>
          <a:ln>
            <a:noFill/>
          </a:ln>
        </p:spPr>
        <p:txBody>
          <a:bodyPr wrap="square" lIns="50800" tIns="25400" rIns="50800" bIns="25400" anchor="ctr"/>
          <a:lstStyle/>
          <a:p>
            <a:pPr>
              <a:buNone/>
            </a:pPr>
            <a:r>
              <a:rPr lang="en-US" sz="1100" b="1" dirty="0">
                <a:solidFill>
                  <a:srgbClr val="C4690A"/>
                </a:solidFill>
                <a:latin typeface="Calibri"/>
              </a:rPr>
              <a:t>06</a:t>
            </a:r>
          </a:p>
        </p:txBody>
      </p:sp>
      <p:sp>
        <p:nvSpPr>
          <p:cNvPr id="353" name="Row5"/>
          <p:cNvSpPr>
            <a:spLocks noGrp="1"/>
          </p:cNvSpPr>
          <p:nvPr/>
        </p:nvSpPr>
        <p:spPr>
          <a:xfrm>
            <a:off x="889000" y="29591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Early Findings from Your Data</a:t>
            </a:r>
            <a:r>
              <a:rPr lang="en-US" sz="1100" dirty="0">
                <a:solidFill>
                  <a:srgbClr val="9CA3AF"/>
                </a:solidFill>
                <a:latin typeface="Calibri"/>
              </a:rPr>
              <a:t>  —  Initial analysis and observations from pre-kickoff review</a:t>
            </a:r>
          </a:p>
        </p:txBody>
      </p:sp>
      <p:sp>
        <p:nvSpPr>
          <p:cNvPr id="360" name="AccBar6"/>
          <p:cNvSpPr>
            <a:spLocks noGrp="1"/>
          </p:cNvSpPr>
          <p:nvPr/>
        </p:nvSpPr>
        <p:spPr>
          <a:xfrm>
            <a:off x="355600" y="3390900"/>
            <a:ext cx="50800" cy="419100"/>
          </a:xfrm>
          <a:prstGeom prst="rect">
            <a:avLst/>
          </a:prstGeom>
          <a:solidFill>
            <a:srgbClr val="EB1A63"/>
          </a:solidFill>
          <a:ln>
            <a:noFill/>
          </a:ln>
        </p:spPr>
        <p:txBody>
          <a:bodyPr wrap="square" lIns="50800" tIns="25400" rIns="50800" bIns="25400" anchor="ctr"/>
          <a:lstStyle/>
          <a:p>
            <a:pPr>
              <a:buNone/>
            </a:pPr>
            <a:endParaRPr/>
          </a:p>
        </p:txBody>
      </p:sp>
      <p:sp>
        <p:nvSpPr>
          <p:cNvPr id="361" name="Div6"/>
          <p:cNvSpPr>
            <a:spLocks noGrp="1"/>
          </p:cNvSpPr>
          <p:nvPr/>
        </p:nvSpPr>
        <p:spPr>
          <a:xfrm>
            <a:off x="482600" y="3822700"/>
            <a:ext cx="8305800" cy="12700"/>
          </a:xfrm>
          <a:prstGeom prst="rect">
            <a:avLst/>
          </a:prstGeom>
          <a:solidFill>
            <a:srgbClr val="E5E7EB"/>
          </a:solidFill>
          <a:ln>
            <a:noFill/>
          </a:ln>
        </p:spPr>
        <p:txBody>
          <a:bodyPr/>
          <a:lstStyle/>
          <a:p>
            <a:endParaRPr/>
          </a:p>
        </p:txBody>
      </p:sp>
      <p:sp>
        <p:nvSpPr>
          <p:cNvPr id="362" name="Num6"/>
          <p:cNvSpPr>
            <a:spLocks noGrp="1"/>
          </p:cNvSpPr>
          <p:nvPr/>
        </p:nvSpPr>
        <p:spPr>
          <a:xfrm>
            <a:off x="508000" y="3416300"/>
            <a:ext cx="330200" cy="368300"/>
          </a:xfrm>
          <a:prstGeom prst="rect">
            <a:avLst/>
          </a:prstGeom>
          <a:noFill/>
          <a:ln>
            <a:noFill/>
          </a:ln>
        </p:spPr>
        <p:txBody>
          <a:bodyPr wrap="square" lIns="50800" tIns="25400" rIns="50800" bIns="25400" anchor="ctr"/>
          <a:lstStyle/>
          <a:p>
            <a:pPr>
              <a:buNone/>
            </a:pPr>
            <a:r>
              <a:rPr lang="en-US" sz="1100" b="1" dirty="0">
                <a:solidFill>
                  <a:srgbClr val="EB1A63"/>
                </a:solidFill>
                <a:latin typeface="Calibri"/>
              </a:rPr>
              <a:t>07</a:t>
            </a:r>
          </a:p>
        </p:txBody>
      </p:sp>
      <p:sp>
        <p:nvSpPr>
          <p:cNvPr id="363" name="Row6"/>
          <p:cNvSpPr>
            <a:spLocks noGrp="1"/>
          </p:cNvSpPr>
          <p:nvPr/>
        </p:nvSpPr>
        <p:spPr>
          <a:xfrm>
            <a:off x="889000" y="33909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Ways of Working</a:t>
            </a:r>
            <a:r>
              <a:rPr lang="en-US" sz="1100" dirty="0">
                <a:solidFill>
                  <a:srgbClr val="9CA3AF"/>
                </a:solidFill>
                <a:latin typeface="Calibri"/>
              </a:rPr>
              <a:t>  —  Roles, responsibilities, working cadence, and escalation paths</a:t>
            </a:r>
          </a:p>
        </p:txBody>
      </p:sp>
      <p:sp>
        <p:nvSpPr>
          <p:cNvPr id="370" name="AccBar7"/>
          <p:cNvSpPr>
            <a:spLocks noGrp="1"/>
          </p:cNvSpPr>
          <p:nvPr/>
        </p:nvSpPr>
        <p:spPr>
          <a:xfrm>
            <a:off x="355600" y="3822700"/>
            <a:ext cx="50800" cy="419100"/>
          </a:xfrm>
          <a:prstGeom prst="rect">
            <a:avLst/>
          </a:prstGeom>
          <a:solidFill>
            <a:srgbClr val="07BCD6"/>
          </a:solidFill>
          <a:ln>
            <a:noFill/>
          </a:ln>
        </p:spPr>
        <p:txBody>
          <a:bodyPr wrap="square" lIns="50800" tIns="25400" rIns="50800" bIns="25400" anchor="ctr"/>
          <a:lstStyle/>
          <a:p>
            <a:pPr>
              <a:buNone/>
            </a:pPr>
            <a:endParaRPr/>
          </a:p>
        </p:txBody>
      </p:sp>
      <p:sp>
        <p:nvSpPr>
          <p:cNvPr id="371" name="Div7"/>
          <p:cNvSpPr>
            <a:spLocks noGrp="1"/>
          </p:cNvSpPr>
          <p:nvPr/>
        </p:nvSpPr>
        <p:spPr>
          <a:xfrm>
            <a:off x="482600" y="4254500"/>
            <a:ext cx="8305800" cy="12700"/>
          </a:xfrm>
          <a:prstGeom prst="rect">
            <a:avLst/>
          </a:prstGeom>
          <a:solidFill>
            <a:srgbClr val="E5E7EB"/>
          </a:solidFill>
          <a:ln>
            <a:noFill/>
          </a:ln>
        </p:spPr>
        <p:txBody>
          <a:bodyPr/>
          <a:lstStyle/>
          <a:p>
            <a:endParaRPr/>
          </a:p>
        </p:txBody>
      </p:sp>
      <p:sp>
        <p:nvSpPr>
          <p:cNvPr id="372" name="Num7"/>
          <p:cNvSpPr>
            <a:spLocks noGrp="1"/>
          </p:cNvSpPr>
          <p:nvPr/>
        </p:nvSpPr>
        <p:spPr>
          <a:xfrm>
            <a:off x="508000" y="3848100"/>
            <a:ext cx="330200" cy="368300"/>
          </a:xfrm>
          <a:prstGeom prst="rect">
            <a:avLst/>
          </a:prstGeom>
          <a:noFill/>
          <a:ln>
            <a:noFill/>
          </a:ln>
        </p:spPr>
        <p:txBody>
          <a:bodyPr wrap="square" lIns="50800" tIns="25400" rIns="50800" bIns="25400" anchor="ctr"/>
          <a:lstStyle/>
          <a:p>
            <a:pPr>
              <a:buNone/>
            </a:pPr>
            <a:r>
              <a:rPr lang="en-US" sz="1100" b="1" dirty="0">
                <a:solidFill>
                  <a:srgbClr val="07BCD6"/>
                </a:solidFill>
                <a:latin typeface="Calibri"/>
              </a:rPr>
              <a:t>08</a:t>
            </a:r>
          </a:p>
        </p:txBody>
      </p:sp>
      <p:sp>
        <p:nvSpPr>
          <p:cNvPr id="373" name="Row7"/>
          <p:cNvSpPr>
            <a:spLocks noGrp="1"/>
          </p:cNvSpPr>
          <p:nvPr/>
        </p:nvSpPr>
        <p:spPr>
          <a:xfrm>
            <a:off x="889000" y="38227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Open Questions</a:t>
            </a:r>
            <a:r>
              <a:rPr lang="en-US" sz="1100" dirty="0">
                <a:solidFill>
                  <a:srgbClr val="9CA3AF"/>
                </a:solidFill>
                <a:latin typeface="Calibri"/>
              </a:rPr>
              <a:t>  —  Items for Lovesac to take away and address</a:t>
            </a:r>
          </a:p>
        </p:txBody>
      </p:sp>
      <p:sp>
        <p:nvSpPr>
          <p:cNvPr id="380" name="AccBar8"/>
          <p:cNvSpPr>
            <a:spLocks noGrp="1"/>
          </p:cNvSpPr>
          <p:nvPr/>
        </p:nvSpPr>
        <p:spPr>
          <a:xfrm>
            <a:off x="355600" y="4254500"/>
            <a:ext cx="50800" cy="419100"/>
          </a:xfrm>
          <a:prstGeom prst="rect">
            <a:avLst/>
          </a:prstGeom>
          <a:solidFill>
            <a:srgbClr val="8AC542"/>
          </a:solidFill>
          <a:ln>
            <a:noFill/>
          </a:ln>
        </p:spPr>
        <p:txBody>
          <a:bodyPr wrap="square" lIns="50800" tIns="25400" rIns="50800" bIns="25400" anchor="ctr"/>
          <a:lstStyle/>
          <a:p>
            <a:pPr>
              <a:buNone/>
            </a:pPr>
            <a:endParaRPr/>
          </a:p>
        </p:txBody>
      </p:sp>
      <p:sp>
        <p:nvSpPr>
          <p:cNvPr id="382" name="Num8"/>
          <p:cNvSpPr>
            <a:spLocks noGrp="1"/>
          </p:cNvSpPr>
          <p:nvPr/>
        </p:nvSpPr>
        <p:spPr>
          <a:xfrm>
            <a:off x="508000" y="4279900"/>
            <a:ext cx="330200" cy="368300"/>
          </a:xfrm>
          <a:prstGeom prst="rect">
            <a:avLst/>
          </a:prstGeom>
          <a:noFill/>
          <a:ln>
            <a:noFill/>
          </a:ln>
        </p:spPr>
        <p:txBody>
          <a:bodyPr wrap="square" lIns="50800" tIns="25400" rIns="50800" bIns="25400" anchor="ctr"/>
          <a:lstStyle/>
          <a:p>
            <a:pPr>
              <a:buNone/>
            </a:pPr>
            <a:r>
              <a:rPr lang="en-US" sz="1100" b="1" dirty="0">
                <a:solidFill>
                  <a:srgbClr val="8AC542"/>
                </a:solidFill>
                <a:latin typeface="Calibri"/>
              </a:rPr>
              <a:t>09</a:t>
            </a:r>
          </a:p>
        </p:txBody>
      </p:sp>
      <p:sp>
        <p:nvSpPr>
          <p:cNvPr id="383" name="Row8"/>
          <p:cNvSpPr>
            <a:spLocks noGrp="1"/>
          </p:cNvSpPr>
          <p:nvPr/>
        </p:nvSpPr>
        <p:spPr>
          <a:xfrm>
            <a:off x="889000" y="42545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Agreed Next Steps</a:t>
            </a:r>
            <a:r>
              <a:rPr lang="en-US" sz="1100" dirty="0">
                <a:solidFill>
                  <a:srgbClr val="9CA3AF"/>
                </a:solidFill>
                <a:latin typeface="Calibri"/>
              </a:rPr>
              <a:t>  —  Actions, owners, and target dates coming out of today</a:t>
            </a:r>
          </a:p>
        </p:txBody>
      </p:sp>
      <p:sp>
        <p:nvSpPr>
          <p:cNvPr id="2" name="TextBox 1">
            <a:extLst>
              <a:ext uri="{FF2B5EF4-FFF2-40B4-BE49-F238E27FC236}">
                <a16:creationId xmlns:a16="http://schemas.microsoft.com/office/drawing/2014/main" id="{F0593884-E841-7862-7486-D5FCCE2F146B}"/>
              </a:ext>
            </a:extLst>
          </p:cNvPr>
          <p:cNvSpPr txBox="1"/>
          <p:nvPr/>
        </p:nvSpPr>
        <p:spPr>
          <a:xfrm>
            <a:off x="4156765" y="56575"/>
            <a:ext cx="4717774" cy="584775"/>
          </a:xfrm>
          <a:prstGeom prst="rect">
            <a:avLst/>
          </a:prstGeom>
          <a:noFill/>
        </p:spPr>
        <p:txBody>
          <a:bodyPr wrap="square" rtlCol="0">
            <a:spAutoFit/>
          </a:bodyPr>
          <a:lstStyle/>
          <a:p>
            <a:r>
              <a:rPr lang="en-GB" sz="3200" b="1" dirty="0">
                <a:solidFill>
                  <a:srgbClr val="FF0000"/>
                </a:solidFill>
              </a:rPr>
              <a:t>David to change / add</a:t>
            </a:r>
          </a:p>
        </p:txBody>
      </p:sp>
    </p:spTree>
    <p:extLst>
      <p:ext uri="{BB962C8B-B14F-4D97-AF65-F5344CB8AC3E}">
        <p14:creationId xmlns:p14="http://schemas.microsoft.com/office/powerpoint/2010/main" val="3696216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168"/>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6746630" y="2366596"/>
            <a:ext cx="2221523" cy="381000"/>
          </a:xfrm>
          <a:prstGeom prst="rect">
            <a:avLst/>
          </a:prstGeom>
          <a:noFill/>
          <a:ln>
            <a:noFill/>
          </a:ln>
        </p:spPr>
        <p:txBody>
          <a:bodyPr wrap="square" lIns="0" tIns="0" rIns="0" bIns="0" anchor="ctr"/>
          <a:lstStyle/>
          <a:p>
            <a:r>
              <a:rPr lang="en-US" sz="1800" b="1" i="1" dirty="0">
                <a:solidFill>
                  <a:srgbClr val="111827"/>
                </a:solidFill>
                <a:latin typeface="Calibri"/>
              </a:rPr>
              <a:t>Compatibility intelligence is locked in one tool</a:t>
            </a:r>
          </a:p>
          <a:p>
            <a:pPr>
              <a:buNone/>
            </a:pPr>
            <a:endParaRPr lang="en-US" sz="1800" i="1" dirty="0">
              <a:solidFill>
                <a:srgbClr val="111827"/>
              </a:solidFill>
              <a:latin typeface="Calibri"/>
            </a:endParaRPr>
          </a:p>
          <a:p>
            <a:r>
              <a:rPr lang="en-US" i="1" dirty="0" err="1">
                <a:solidFill>
                  <a:srgbClr val="9CA3AF"/>
                </a:solidFill>
                <a:latin typeface="Calibri"/>
              </a:rPr>
              <a:t>Lovesac's</a:t>
            </a:r>
            <a:r>
              <a:rPr lang="en-US" i="1" dirty="0">
                <a:solidFill>
                  <a:srgbClr val="9CA3AF"/>
                </a:solidFill>
                <a:latin typeface="Calibri"/>
              </a:rPr>
              <a:t> product data lives in </a:t>
            </a:r>
            <a:r>
              <a:rPr lang="en-US" i="1" dirty="0" err="1">
                <a:solidFill>
                  <a:srgbClr val="9CA3AF"/>
                </a:solidFill>
                <a:latin typeface="Calibri"/>
              </a:rPr>
              <a:t>Threekit</a:t>
            </a:r>
            <a:r>
              <a:rPr lang="en-US" i="1" dirty="0">
                <a:solidFill>
                  <a:srgbClr val="9CA3AF"/>
                </a:solidFill>
                <a:latin typeface="Calibri"/>
              </a:rPr>
              <a:t> — but no downstream channel can query it directly.</a:t>
            </a:r>
            <a:br>
              <a:rPr lang="en-US" i="1" dirty="0">
                <a:solidFill>
                  <a:srgbClr val="9CA3AF"/>
                </a:solidFill>
                <a:latin typeface="Calibri"/>
              </a:rPr>
            </a:br>
            <a:endParaRPr lang="en-US" sz="1800" i="1" dirty="0">
              <a:solidFill>
                <a:srgbClr val="111827"/>
              </a:solidFill>
              <a:latin typeface="Calibri"/>
            </a:endParaRPr>
          </a:p>
          <a:p>
            <a:pPr>
              <a:buNone/>
            </a:pPr>
            <a:r>
              <a:rPr lang="en-US" sz="1100" i="1" dirty="0">
                <a:solidFill>
                  <a:srgbClr val="111827"/>
                </a:solidFill>
                <a:latin typeface="Calibri"/>
              </a:rPr>
              <a:t>(See Appendix for more detail)</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300" name="LblSrc"/>
          <p:cNvSpPr>
            <a:spLocks noGrp="1"/>
          </p:cNvSpPr>
          <p:nvPr/>
        </p:nvSpPr>
        <p:spPr>
          <a:xfrm>
            <a:off x="228600" y="711200"/>
            <a:ext cx="1498600" cy="152400"/>
          </a:xfrm>
          <a:prstGeom prst="rect">
            <a:avLst/>
          </a:prstGeom>
          <a:noFill/>
          <a:ln>
            <a:noFill/>
          </a:ln>
        </p:spPr>
        <p:txBody>
          <a:bodyPr wrap="square" lIns="76200" tIns="25400" rIns="76200" bIns="25400" anchor="ctr"/>
          <a:lstStyle/>
          <a:p>
            <a:pPr algn="ctr">
              <a:buNone/>
            </a:pPr>
            <a:r>
              <a:rPr lang="en-US" sz="700" b="1" dirty="0">
                <a:solidFill>
                  <a:srgbClr val="9CA3AF"/>
                </a:solidFill>
                <a:latin typeface="Calibri"/>
              </a:rPr>
              <a:t>DATA SOURCES</a:t>
            </a:r>
          </a:p>
        </p:txBody>
      </p:sp>
      <p:sp>
        <p:nvSpPr>
          <p:cNvPr id="301" name="LblCh"/>
          <p:cNvSpPr>
            <a:spLocks noGrp="1"/>
          </p:cNvSpPr>
          <p:nvPr/>
        </p:nvSpPr>
        <p:spPr>
          <a:xfrm>
            <a:off x="4089400" y="711200"/>
            <a:ext cx="2286000" cy="152400"/>
          </a:xfrm>
          <a:prstGeom prst="rect">
            <a:avLst/>
          </a:prstGeom>
          <a:noFill/>
          <a:ln>
            <a:noFill/>
          </a:ln>
        </p:spPr>
        <p:txBody>
          <a:bodyPr wrap="square" lIns="76200" tIns="25400" rIns="76200" bIns="25400" anchor="ctr"/>
          <a:lstStyle/>
          <a:p>
            <a:pPr algn="ctr">
              <a:buNone/>
            </a:pPr>
            <a:r>
              <a:rPr lang="en-US" sz="700" b="1" dirty="0">
                <a:solidFill>
                  <a:srgbClr val="9CA3AF"/>
                </a:solidFill>
                <a:latin typeface="Calibri"/>
              </a:rPr>
              <a:t>CHANNELS</a:t>
            </a:r>
          </a:p>
        </p:txBody>
      </p:sp>
      <p:sp>
        <p:nvSpPr>
          <p:cNvPr id="310" name="LN0"/>
          <p:cNvSpPr>
            <a:spLocks noGrp="1"/>
          </p:cNvSpPr>
          <p:nvPr/>
        </p:nvSpPr>
        <p:spPr>
          <a:xfrm>
            <a:off x="228600" y="863600"/>
            <a:ext cx="1498600" cy="533400"/>
          </a:xfrm>
          <a:prstGeom prst="roundRect">
            <a:avLst>
              <a:gd name="adj" fmla="val 16667"/>
            </a:avLst>
          </a:prstGeom>
          <a:solidFill>
            <a:srgbClr val="EFF4FF"/>
          </a:solidFill>
          <a:ln w="9525">
            <a:solidFill>
              <a:srgbClr val="C7D2FE"/>
            </a:solidFill>
          </a:ln>
        </p:spPr>
        <p:txBody>
          <a:bodyPr wrap="square" lIns="76200" tIns="25400" rIns="76200" bIns="25400" anchor="ctr"/>
          <a:lstStyle/>
          <a:p>
            <a:pPr algn="ctr">
              <a:buNone/>
            </a:pPr>
            <a:r>
              <a:rPr lang="en-US" sz="1050" b="1" dirty="0">
                <a:solidFill>
                  <a:srgbClr val="1E3A8A"/>
                </a:solidFill>
                <a:latin typeface="Calibri"/>
              </a:rPr>
              <a:t>NetSuite ERP</a:t>
            </a:r>
          </a:p>
          <a:p>
            <a:pPr algn="ctr">
              <a:buNone/>
            </a:pPr>
            <a:r>
              <a:rPr lang="en-US" sz="800" dirty="0">
                <a:solidFill>
                  <a:srgbClr val="EB1A63"/>
                </a:solidFill>
                <a:latin typeface="Calibri"/>
              </a:rPr>
              <a:t>inventory &amp; pricing</a:t>
            </a:r>
          </a:p>
        </p:txBody>
      </p:sp>
      <p:sp>
        <p:nvSpPr>
          <p:cNvPr id="311" name="LN1"/>
          <p:cNvSpPr>
            <a:spLocks noGrp="1"/>
          </p:cNvSpPr>
          <p:nvPr/>
        </p:nvSpPr>
        <p:spPr>
          <a:xfrm>
            <a:off x="228600" y="2336800"/>
            <a:ext cx="1498600" cy="533400"/>
          </a:xfrm>
          <a:prstGeom prst="roundRect">
            <a:avLst>
              <a:gd name="adj" fmla="val 16667"/>
            </a:avLst>
          </a:prstGeom>
          <a:solidFill>
            <a:srgbClr val="EFF4FF"/>
          </a:solidFill>
          <a:ln w="9525">
            <a:solidFill>
              <a:srgbClr val="C7D2FE"/>
            </a:solidFill>
          </a:ln>
        </p:spPr>
        <p:txBody>
          <a:bodyPr wrap="square" lIns="76200" tIns="25400" rIns="76200" bIns="25400" anchor="ctr"/>
          <a:lstStyle/>
          <a:p>
            <a:pPr algn="ctr">
              <a:buNone/>
            </a:pPr>
            <a:r>
              <a:rPr lang="en-US" sz="1050" b="1" dirty="0">
                <a:solidFill>
                  <a:srgbClr val="1E3A8A"/>
                </a:solidFill>
                <a:latin typeface="Calibri"/>
              </a:rPr>
              <a:t>Magento</a:t>
            </a:r>
          </a:p>
          <a:p>
            <a:pPr algn="ctr">
              <a:buNone/>
            </a:pPr>
            <a:r>
              <a:rPr lang="en-US" sz="800" dirty="0">
                <a:solidFill>
                  <a:srgbClr val="EB1A63"/>
                </a:solidFill>
                <a:latin typeface="Calibri"/>
              </a:rPr>
              <a:t>product catalogue</a:t>
            </a:r>
          </a:p>
        </p:txBody>
      </p:sp>
      <p:sp>
        <p:nvSpPr>
          <p:cNvPr id="312" name="LN2"/>
          <p:cNvSpPr>
            <a:spLocks noGrp="1"/>
          </p:cNvSpPr>
          <p:nvPr/>
        </p:nvSpPr>
        <p:spPr>
          <a:xfrm>
            <a:off x="228600" y="3810000"/>
            <a:ext cx="1498600" cy="533400"/>
          </a:xfrm>
          <a:prstGeom prst="roundRect">
            <a:avLst>
              <a:gd name="adj" fmla="val 16667"/>
            </a:avLst>
          </a:prstGeom>
          <a:solidFill>
            <a:srgbClr val="EFF4FF"/>
          </a:solidFill>
          <a:ln w="9525">
            <a:solidFill>
              <a:srgbClr val="C7D2FE"/>
            </a:solidFill>
          </a:ln>
        </p:spPr>
        <p:txBody>
          <a:bodyPr wrap="square" lIns="76200" tIns="25400" rIns="76200" bIns="25400" anchor="ctr"/>
          <a:lstStyle/>
          <a:p>
            <a:pPr algn="ctr">
              <a:buNone/>
            </a:pPr>
            <a:r>
              <a:rPr lang="en-US" sz="1050" b="1" dirty="0">
                <a:solidFill>
                  <a:srgbClr val="1E3A8A"/>
                </a:solidFill>
                <a:latin typeface="Calibri"/>
              </a:rPr>
              <a:t>Product Team</a:t>
            </a:r>
          </a:p>
          <a:p>
            <a:pPr algn="ctr">
              <a:buNone/>
            </a:pPr>
            <a:r>
              <a:rPr lang="en-US" sz="800" dirty="0">
                <a:solidFill>
                  <a:srgbClr val="EB1A63"/>
                </a:solidFill>
                <a:latin typeface="Calibri"/>
              </a:rPr>
              <a:t>manual updates</a:t>
            </a:r>
          </a:p>
        </p:txBody>
      </p:sp>
      <p:sp>
        <p:nvSpPr>
          <p:cNvPr id="320" name="Arr0"/>
          <p:cNvSpPr>
            <a:spLocks noGrp="1"/>
          </p:cNvSpPr>
          <p:nvPr/>
        </p:nvSpPr>
        <p:spPr>
          <a:xfrm>
            <a:off x="1752600" y="1028700"/>
            <a:ext cx="254000" cy="203200"/>
          </a:xfrm>
          <a:prstGeom prst="rect">
            <a:avLst/>
          </a:prstGeom>
          <a:noFill/>
          <a:ln>
            <a:noFill/>
          </a:ln>
        </p:spPr>
        <p:txBody>
          <a:bodyPr wrap="square" lIns="76200" tIns="25400" rIns="76200" bIns="25400" anchor="ctr"/>
          <a:lstStyle/>
          <a:p>
            <a:pPr algn="ctr">
              <a:buNone/>
            </a:pPr>
            <a:r>
              <a:rPr lang="en-US" sz="900" dirty="0">
                <a:solidFill>
                  <a:srgbClr val="EB1A63"/>
                </a:solidFill>
                <a:latin typeface="Calibri"/>
              </a:rPr>
              <a:t>▶</a:t>
            </a:r>
          </a:p>
        </p:txBody>
      </p:sp>
      <p:sp>
        <p:nvSpPr>
          <p:cNvPr id="321" name="Arr1"/>
          <p:cNvSpPr>
            <a:spLocks noGrp="1"/>
          </p:cNvSpPr>
          <p:nvPr/>
        </p:nvSpPr>
        <p:spPr>
          <a:xfrm>
            <a:off x="1752600" y="2501900"/>
            <a:ext cx="254000" cy="203200"/>
          </a:xfrm>
          <a:prstGeom prst="rect">
            <a:avLst/>
          </a:prstGeom>
          <a:noFill/>
          <a:ln>
            <a:noFill/>
          </a:ln>
        </p:spPr>
        <p:txBody>
          <a:bodyPr wrap="square" lIns="76200" tIns="25400" rIns="76200" bIns="25400" anchor="ctr"/>
          <a:lstStyle/>
          <a:p>
            <a:pPr algn="ctr">
              <a:buNone/>
            </a:pPr>
            <a:r>
              <a:rPr lang="en-US" sz="900" dirty="0">
                <a:solidFill>
                  <a:srgbClr val="EB1A63"/>
                </a:solidFill>
                <a:latin typeface="Calibri"/>
              </a:rPr>
              <a:t>▶</a:t>
            </a:r>
          </a:p>
        </p:txBody>
      </p:sp>
      <p:sp>
        <p:nvSpPr>
          <p:cNvPr id="322" name="Arr2"/>
          <p:cNvSpPr>
            <a:spLocks noGrp="1"/>
          </p:cNvSpPr>
          <p:nvPr/>
        </p:nvSpPr>
        <p:spPr>
          <a:xfrm>
            <a:off x="1752600" y="3975100"/>
            <a:ext cx="254000" cy="203200"/>
          </a:xfrm>
          <a:prstGeom prst="rect">
            <a:avLst/>
          </a:prstGeom>
          <a:noFill/>
          <a:ln>
            <a:noFill/>
          </a:ln>
        </p:spPr>
        <p:txBody>
          <a:bodyPr wrap="square" lIns="76200" tIns="25400" rIns="76200" bIns="25400" anchor="ctr"/>
          <a:lstStyle/>
          <a:p>
            <a:pPr algn="ctr">
              <a:buNone/>
            </a:pPr>
            <a:r>
              <a:rPr lang="en-US" sz="900" dirty="0">
                <a:solidFill>
                  <a:srgbClr val="EB1A63"/>
                </a:solidFill>
                <a:latin typeface="Calibri"/>
              </a:rPr>
              <a:t>▶</a:t>
            </a:r>
          </a:p>
        </p:txBody>
      </p:sp>
      <p:sp>
        <p:nvSpPr>
          <p:cNvPr id="330" name="TK"/>
          <p:cNvSpPr>
            <a:spLocks noGrp="1"/>
          </p:cNvSpPr>
          <p:nvPr/>
        </p:nvSpPr>
        <p:spPr>
          <a:xfrm>
            <a:off x="2032000" y="838200"/>
            <a:ext cx="1752600" cy="3530600"/>
          </a:xfrm>
          <a:prstGeom prst="rect">
            <a:avLst/>
          </a:prstGeom>
          <a:solidFill>
            <a:srgbClr val="111827"/>
          </a:solidFill>
          <a:ln>
            <a:noFill/>
          </a:ln>
        </p:spPr>
        <p:txBody>
          <a:bodyPr wrap="square" lIns="76200" tIns="25400" rIns="76200" bIns="25400" anchor="ctr"/>
          <a:lstStyle/>
          <a:p>
            <a:pPr algn="ctr">
              <a:buNone/>
            </a:pPr>
            <a:r>
              <a:rPr lang="en-US" sz="1400" b="1" dirty="0">
                <a:solidFill>
                  <a:srgbClr val="FFFFFF"/>
                </a:solidFill>
                <a:latin typeface="Calibri"/>
              </a:rPr>
              <a:t>Threekit</a:t>
            </a:r>
          </a:p>
          <a:p>
            <a:pPr algn="ctr">
              <a:buNone/>
            </a:pPr>
            <a:r>
              <a:rPr lang="en-US" sz="950" dirty="0">
                <a:solidFill>
                  <a:srgbClr val="9CA3AF"/>
                </a:solidFill>
                <a:latin typeface="Calibri"/>
              </a:rPr>
              <a:t>3D Configurator</a:t>
            </a:r>
          </a:p>
          <a:p>
            <a:pPr algn="ctr">
              <a:spcBef>
                <a:spcPts val="400"/>
              </a:spcBef>
              <a:buNone/>
            </a:pPr>
            <a:r>
              <a:rPr lang="en-US" sz="800" dirty="0">
                <a:solidFill>
                  <a:srgbClr val="6B7280"/>
                </a:solidFill>
                <a:latin typeface="Calibri"/>
              </a:rPr>
              <a:t>Compatibility rules locked inside.</a:t>
            </a:r>
          </a:p>
          <a:p>
            <a:pPr algn="ctr">
              <a:buNone/>
            </a:pPr>
            <a:r>
              <a:rPr lang="en-US" sz="800" dirty="0">
                <a:solidFill>
                  <a:srgbClr val="6B7280"/>
                </a:solidFill>
                <a:latin typeface="Calibri"/>
              </a:rPr>
              <a:t>No external API.</a:t>
            </a:r>
          </a:p>
        </p:txBody>
      </p:sp>
      <p:sp>
        <p:nvSpPr>
          <p:cNvPr id="331" name="Barrier"/>
          <p:cNvSpPr>
            <a:spLocks noGrp="1"/>
          </p:cNvSpPr>
          <p:nvPr/>
        </p:nvSpPr>
        <p:spPr>
          <a:xfrm>
            <a:off x="3784600" y="838200"/>
            <a:ext cx="152400" cy="3530600"/>
          </a:xfrm>
          <a:prstGeom prst="rect">
            <a:avLst/>
          </a:prstGeom>
          <a:solidFill>
            <a:srgbClr val="EB1A63"/>
          </a:solidFill>
          <a:ln>
            <a:noFill/>
          </a:ln>
        </p:spPr>
        <p:txBody>
          <a:bodyPr wrap="square" lIns="76200" tIns="25400" rIns="76200" bIns="25400" anchor="ctr"/>
          <a:lstStyle/>
          <a:p>
            <a:pPr algn="ctr">
              <a:buNone/>
            </a:pPr>
            <a:r>
              <a:rPr lang="en-US" sz="1000" b="1" dirty="0">
                <a:solidFill>
                  <a:srgbClr val="FFFFFF"/>
                </a:solidFill>
                <a:latin typeface="Calibri"/>
              </a:rPr>
              <a:t>✕</a:t>
            </a:r>
          </a:p>
        </p:txBody>
      </p:sp>
      <p:sp>
        <p:nvSpPr>
          <p:cNvPr id="340" name="Dash0"/>
          <p:cNvSpPr>
            <a:spLocks noGrp="1"/>
          </p:cNvSpPr>
          <p:nvPr/>
        </p:nvSpPr>
        <p:spPr>
          <a:xfrm>
            <a:off x="3937000" y="1117600"/>
            <a:ext cx="152400" cy="25400"/>
          </a:xfrm>
          <a:prstGeom prst="rect">
            <a:avLst/>
          </a:prstGeom>
          <a:solidFill>
            <a:srgbClr val="D1D5DB"/>
          </a:solidFill>
          <a:ln>
            <a:noFill/>
          </a:ln>
        </p:spPr>
        <p:txBody>
          <a:bodyPr wrap="square" lIns="76200" tIns="25400" rIns="76200" bIns="25400" anchor="ctr"/>
          <a:lstStyle/>
          <a:p>
            <a:endParaRPr/>
          </a:p>
        </p:txBody>
      </p:sp>
      <p:sp>
        <p:nvSpPr>
          <p:cNvPr id="341" name="Dash1"/>
          <p:cNvSpPr>
            <a:spLocks noGrp="1"/>
          </p:cNvSpPr>
          <p:nvPr/>
        </p:nvSpPr>
        <p:spPr>
          <a:xfrm>
            <a:off x="3937000" y="1854200"/>
            <a:ext cx="152400" cy="25400"/>
          </a:xfrm>
          <a:prstGeom prst="rect">
            <a:avLst/>
          </a:prstGeom>
          <a:solidFill>
            <a:srgbClr val="D1D5DB"/>
          </a:solidFill>
          <a:ln>
            <a:noFill/>
          </a:ln>
        </p:spPr>
        <p:txBody>
          <a:bodyPr wrap="square" lIns="76200" tIns="25400" rIns="76200" bIns="25400" anchor="ctr"/>
          <a:lstStyle/>
          <a:p>
            <a:endParaRPr/>
          </a:p>
        </p:txBody>
      </p:sp>
      <p:sp>
        <p:nvSpPr>
          <p:cNvPr id="342" name="Dash2"/>
          <p:cNvSpPr>
            <a:spLocks noGrp="1"/>
          </p:cNvSpPr>
          <p:nvPr/>
        </p:nvSpPr>
        <p:spPr>
          <a:xfrm>
            <a:off x="3937000" y="2590800"/>
            <a:ext cx="152400" cy="25400"/>
          </a:xfrm>
          <a:prstGeom prst="rect">
            <a:avLst/>
          </a:prstGeom>
          <a:solidFill>
            <a:srgbClr val="D1D5DB"/>
          </a:solidFill>
          <a:ln>
            <a:noFill/>
          </a:ln>
        </p:spPr>
        <p:txBody>
          <a:bodyPr wrap="square" lIns="76200" tIns="25400" rIns="76200" bIns="25400" anchor="ctr"/>
          <a:lstStyle/>
          <a:p>
            <a:endParaRPr/>
          </a:p>
        </p:txBody>
      </p:sp>
      <p:sp>
        <p:nvSpPr>
          <p:cNvPr id="343" name="Dash3"/>
          <p:cNvSpPr>
            <a:spLocks noGrp="1"/>
          </p:cNvSpPr>
          <p:nvPr/>
        </p:nvSpPr>
        <p:spPr>
          <a:xfrm>
            <a:off x="3937000" y="3327400"/>
            <a:ext cx="152400" cy="25400"/>
          </a:xfrm>
          <a:prstGeom prst="rect">
            <a:avLst/>
          </a:prstGeom>
          <a:solidFill>
            <a:srgbClr val="D1D5DB"/>
          </a:solidFill>
          <a:ln>
            <a:noFill/>
          </a:ln>
        </p:spPr>
        <p:txBody>
          <a:bodyPr wrap="square" lIns="76200" tIns="25400" rIns="76200" bIns="25400" anchor="ctr"/>
          <a:lstStyle/>
          <a:p>
            <a:endParaRPr/>
          </a:p>
        </p:txBody>
      </p:sp>
      <p:sp>
        <p:nvSpPr>
          <p:cNvPr id="344" name="Dash4"/>
          <p:cNvSpPr>
            <a:spLocks noGrp="1"/>
          </p:cNvSpPr>
          <p:nvPr/>
        </p:nvSpPr>
        <p:spPr>
          <a:xfrm>
            <a:off x="3937000" y="4064000"/>
            <a:ext cx="152400" cy="25400"/>
          </a:xfrm>
          <a:prstGeom prst="rect">
            <a:avLst/>
          </a:prstGeom>
          <a:solidFill>
            <a:srgbClr val="D1D5DB"/>
          </a:solidFill>
          <a:ln>
            <a:noFill/>
          </a:ln>
        </p:spPr>
        <p:txBody>
          <a:bodyPr wrap="square" lIns="76200" tIns="25400" rIns="76200" bIns="25400" anchor="ctr"/>
          <a:lstStyle/>
          <a:p>
            <a:endParaRPr/>
          </a:p>
        </p:txBody>
      </p:sp>
      <p:sp>
        <p:nvSpPr>
          <p:cNvPr id="500" name="RN0"/>
          <p:cNvSpPr>
            <a:spLocks noGrp="1"/>
          </p:cNvSpPr>
          <p:nvPr/>
        </p:nvSpPr>
        <p:spPr>
          <a:xfrm>
            <a:off x="4089400" y="863600"/>
            <a:ext cx="2286000" cy="533400"/>
          </a:xfrm>
          <a:prstGeom prst="roundRect">
            <a:avLst>
              <a:gd name="adj" fmla="val 16667"/>
            </a:avLst>
          </a:prstGeom>
          <a:solidFill>
            <a:srgbClr val="F9FAFB"/>
          </a:solidFill>
          <a:ln w="9525">
            <a:solidFill>
              <a:srgbClr val="E5E7EB"/>
            </a:solidFill>
          </a:ln>
        </p:spPr>
        <p:txBody>
          <a:bodyPr wrap="square" lIns="76200" tIns="25400" rIns="76200" bIns="25400" anchor="ctr"/>
          <a:lstStyle/>
          <a:p>
            <a:pPr algn="ctr">
              <a:buNone/>
            </a:pPr>
            <a:r>
              <a:rPr lang="en-US" sz="1050" dirty="0">
                <a:solidFill>
                  <a:srgbClr val="6B7280"/>
                </a:solidFill>
                <a:latin typeface="Calibri"/>
              </a:rPr>
              <a:t>Salesforce POS</a:t>
            </a:r>
          </a:p>
        </p:txBody>
      </p:sp>
      <p:sp>
        <p:nvSpPr>
          <p:cNvPr id="501" name="RN1"/>
          <p:cNvSpPr>
            <a:spLocks noGrp="1"/>
          </p:cNvSpPr>
          <p:nvPr/>
        </p:nvSpPr>
        <p:spPr>
          <a:xfrm>
            <a:off x="4089400" y="1600200"/>
            <a:ext cx="2286000" cy="533400"/>
          </a:xfrm>
          <a:prstGeom prst="roundRect">
            <a:avLst>
              <a:gd name="adj" fmla="val 16667"/>
            </a:avLst>
          </a:prstGeom>
          <a:solidFill>
            <a:srgbClr val="F9FAFB"/>
          </a:solidFill>
          <a:ln w="9525">
            <a:solidFill>
              <a:srgbClr val="E5E7EB"/>
            </a:solidFill>
          </a:ln>
        </p:spPr>
        <p:txBody>
          <a:bodyPr wrap="square" lIns="76200" tIns="25400" rIns="76200" bIns="25400" anchor="ctr"/>
          <a:lstStyle/>
          <a:p>
            <a:pPr algn="ctr">
              <a:buNone/>
            </a:pPr>
            <a:r>
              <a:rPr lang="en-US" sz="1050" dirty="0">
                <a:solidFill>
                  <a:srgbClr val="6B7280"/>
                </a:solidFill>
                <a:latin typeface="Calibri"/>
              </a:rPr>
              <a:t>Manhattan Active Omni</a:t>
            </a:r>
          </a:p>
        </p:txBody>
      </p:sp>
      <p:sp>
        <p:nvSpPr>
          <p:cNvPr id="502" name="RN2"/>
          <p:cNvSpPr>
            <a:spLocks noGrp="1"/>
          </p:cNvSpPr>
          <p:nvPr/>
        </p:nvSpPr>
        <p:spPr>
          <a:xfrm>
            <a:off x="4089400" y="2336800"/>
            <a:ext cx="2286000" cy="533400"/>
          </a:xfrm>
          <a:prstGeom prst="roundRect">
            <a:avLst>
              <a:gd name="adj" fmla="val 16667"/>
            </a:avLst>
          </a:prstGeom>
          <a:solidFill>
            <a:srgbClr val="F9FAFB"/>
          </a:solidFill>
          <a:ln w="9525">
            <a:solidFill>
              <a:srgbClr val="E5E7EB"/>
            </a:solidFill>
          </a:ln>
        </p:spPr>
        <p:txBody>
          <a:bodyPr wrap="square" lIns="76200" tIns="25400" rIns="76200" bIns="25400" anchor="ctr"/>
          <a:lstStyle/>
          <a:p>
            <a:pPr algn="ctr">
              <a:buNone/>
            </a:pPr>
            <a:r>
              <a:rPr lang="en-US" sz="1050" dirty="0">
                <a:solidFill>
                  <a:srgbClr val="6B7280"/>
                </a:solidFill>
                <a:latin typeface="Calibri"/>
              </a:rPr>
              <a:t>Lovesac.com</a:t>
            </a:r>
          </a:p>
        </p:txBody>
      </p:sp>
      <p:sp>
        <p:nvSpPr>
          <p:cNvPr id="503" name="RN3"/>
          <p:cNvSpPr>
            <a:spLocks noGrp="1"/>
          </p:cNvSpPr>
          <p:nvPr/>
        </p:nvSpPr>
        <p:spPr>
          <a:xfrm>
            <a:off x="4089400" y="3073400"/>
            <a:ext cx="2286000" cy="533400"/>
          </a:xfrm>
          <a:prstGeom prst="roundRect">
            <a:avLst>
              <a:gd name="adj" fmla="val 16667"/>
            </a:avLst>
          </a:prstGeom>
          <a:solidFill>
            <a:srgbClr val="F9FAFB"/>
          </a:solidFill>
          <a:ln w="9525">
            <a:solidFill>
              <a:srgbClr val="E5E7EB"/>
            </a:solidFill>
          </a:ln>
        </p:spPr>
        <p:txBody>
          <a:bodyPr wrap="square" lIns="76200" tIns="25400" rIns="76200" bIns="25400" anchor="ctr"/>
          <a:lstStyle/>
          <a:p>
            <a:pPr algn="ctr">
              <a:buNone/>
            </a:pPr>
            <a:r>
              <a:rPr lang="en-US" sz="1050" dirty="0">
                <a:solidFill>
                  <a:srgbClr val="6B7280"/>
                </a:solidFill>
                <a:latin typeface="Calibri"/>
              </a:rPr>
              <a:t>Google Shopping</a:t>
            </a:r>
          </a:p>
        </p:txBody>
      </p:sp>
      <p:sp>
        <p:nvSpPr>
          <p:cNvPr id="504" name="RN4"/>
          <p:cNvSpPr>
            <a:spLocks noGrp="1"/>
          </p:cNvSpPr>
          <p:nvPr/>
        </p:nvSpPr>
        <p:spPr>
          <a:xfrm>
            <a:off x="4089400" y="3810000"/>
            <a:ext cx="2286000" cy="533400"/>
          </a:xfrm>
          <a:prstGeom prst="roundRect">
            <a:avLst>
              <a:gd name="adj" fmla="val 16667"/>
            </a:avLst>
          </a:prstGeom>
          <a:solidFill>
            <a:srgbClr val="F9FAFB"/>
          </a:solidFill>
          <a:ln w="9525">
            <a:solidFill>
              <a:srgbClr val="E5E7EB"/>
            </a:solidFill>
          </a:ln>
        </p:spPr>
        <p:txBody>
          <a:bodyPr wrap="square" lIns="76200" tIns="25400" rIns="76200" bIns="25400" anchor="ctr"/>
          <a:lstStyle/>
          <a:p>
            <a:pPr algn="ctr">
              <a:buNone/>
            </a:pPr>
            <a:r>
              <a:rPr lang="en-US" sz="1050" dirty="0">
                <a:solidFill>
                  <a:srgbClr val="6B7280"/>
                </a:solidFill>
                <a:latin typeface="Calibri"/>
              </a:rPr>
              <a:t>AgentForce / ChatGPT</a:t>
            </a:r>
          </a:p>
        </p:txBody>
      </p:sp>
      <p:sp>
        <p:nvSpPr>
          <p:cNvPr id="350" name="Caption"/>
          <p:cNvSpPr>
            <a:spLocks noGrp="1"/>
          </p:cNvSpPr>
          <p:nvPr/>
        </p:nvSpPr>
        <p:spPr>
          <a:xfrm>
            <a:off x="228600" y="4445000"/>
            <a:ext cx="6146800" cy="254000"/>
          </a:xfrm>
          <a:prstGeom prst="rect">
            <a:avLst/>
          </a:prstGeom>
          <a:noFill/>
          <a:ln>
            <a:noFill/>
          </a:ln>
        </p:spPr>
        <p:txBody>
          <a:bodyPr wrap="square" lIns="76200" tIns="25400" rIns="76200" bIns="25400" anchor="ctr"/>
          <a:lstStyle/>
          <a:p>
            <a:pPr algn="ctr">
              <a:buNone/>
            </a:pPr>
            <a:endParaRPr lang="en-US" sz="900" i="1" dirty="0">
              <a:solidFill>
                <a:srgbClr val="9CA3AF"/>
              </a:solidFill>
              <a:latin typeface="Calibri"/>
            </a:endParaRPr>
          </a:p>
        </p:txBody>
      </p:sp>
      <p:sp>
        <p:nvSpPr>
          <p:cNvPr id="700" name="Footer"/>
          <p:cNvSpPr>
            <a:spLocks noGrp="1"/>
          </p:cNvSpPr>
          <p:nvPr/>
        </p:nvSpPr>
        <p:spPr>
          <a:xfrm>
            <a:off x="101600" y="4762500"/>
            <a:ext cx="9042400" cy="279400"/>
          </a:xfrm>
          <a:prstGeom prst="rect">
            <a:avLst/>
          </a:prstGeom>
          <a:solidFill>
            <a:srgbClr val="F8FAFC"/>
          </a:solidFill>
          <a:ln>
            <a:noFill/>
          </a:ln>
        </p:spPr>
        <p:txBody>
          <a:bodyPr lIns="50800" tIns="25400" rIns="50800" bIns="25400" anchor="ctr"/>
          <a:lstStyle/>
          <a:p>
            <a:pPr algn="ctr">
              <a:buNone/>
            </a:pPr>
            <a:r>
              <a:rPr lang="en-US" sz="800" dirty="0">
                <a:solidFill>
                  <a:srgbClr val="9CA3AF"/>
                </a:solidFill>
                <a:latin typeface="Calibri"/>
              </a:rPr>
              <a:t>Lovesac × Conscia  ·  Project Kick-off  ·  April 8, 2026</a:t>
            </a:r>
          </a:p>
        </p:txBody>
      </p:sp>
      <p:sp>
        <p:nvSpPr>
          <p:cNvPr id="710" name="Bar0"/>
          <p:cNvSpPr>
            <a:spLocks noGrp="1"/>
          </p:cNvSpPr>
          <p:nvPr/>
        </p:nvSpPr>
        <p:spPr>
          <a:xfrm>
            <a:off x="0" y="5092700"/>
            <a:ext cx="1524000" cy="50800"/>
          </a:xfrm>
          <a:prstGeom prst="rect">
            <a:avLst/>
          </a:prstGeom>
          <a:solidFill>
            <a:srgbClr val="EB1A63"/>
          </a:solidFill>
          <a:ln>
            <a:noFill/>
          </a:ln>
        </p:spPr>
        <p:txBody>
          <a:bodyPr lIns="50800" tIns="25400" rIns="50800" bIns="25400" anchor="ctr"/>
          <a:lstStyle/>
          <a:p>
            <a:endParaRPr/>
          </a:p>
        </p:txBody>
      </p:sp>
      <p:sp>
        <p:nvSpPr>
          <p:cNvPr id="711" name="Bar1"/>
          <p:cNvSpPr>
            <a:spLocks noGrp="1"/>
          </p:cNvSpPr>
          <p:nvPr/>
        </p:nvSpPr>
        <p:spPr>
          <a:xfrm>
            <a:off x="1524000" y="5092700"/>
            <a:ext cx="1524000" cy="50800"/>
          </a:xfrm>
          <a:prstGeom prst="rect">
            <a:avLst/>
          </a:prstGeom>
          <a:solidFill>
            <a:srgbClr val="F8981D"/>
          </a:solidFill>
          <a:ln>
            <a:noFill/>
          </a:ln>
        </p:spPr>
        <p:txBody>
          <a:bodyPr lIns="50800" tIns="25400" rIns="50800" bIns="25400" anchor="ctr"/>
          <a:lstStyle/>
          <a:p>
            <a:endParaRPr/>
          </a:p>
        </p:txBody>
      </p:sp>
      <p:sp>
        <p:nvSpPr>
          <p:cNvPr id="712" name="Bar2"/>
          <p:cNvSpPr>
            <a:spLocks noGrp="1"/>
          </p:cNvSpPr>
          <p:nvPr/>
        </p:nvSpPr>
        <p:spPr>
          <a:xfrm>
            <a:off x="3048000" y="5092700"/>
            <a:ext cx="1524000" cy="50800"/>
          </a:xfrm>
          <a:prstGeom prst="rect">
            <a:avLst/>
          </a:prstGeom>
          <a:solidFill>
            <a:srgbClr val="FABF2D"/>
          </a:solidFill>
          <a:ln>
            <a:noFill/>
          </a:ln>
        </p:spPr>
        <p:txBody>
          <a:bodyPr lIns="50800" tIns="25400" rIns="50800" bIns="25400" anchor="ctr"/>
          <a:lstStyle/>
          <a:p>
            <a:endParaRPr/>
          </a:p>
        </p:txBody>
      </p:sp>
      <p:sp>
        <p:nvSpPr>
          <p:cNvPr id="713" name="Bar3"/>
          <p:cNvSpPr>
            <a:spLocks noGrp="1"/>
          </p:cNvSpPr>
          <p:nvPr/>
        </p:nvSpPr>
        <p:spPr>
          <a:xfrm>
            <a:off x="4572000" y="5092700"/>
            <a:ext cx="1524000" cy="50800"/>
          </a:xfrm>
          <a:prstGeom prst="rect">
            <a:avLst/>
          </a:prstGeom>
          <a:solidFill>
            <a:srgbClr val="8AC542"/>
          </a:solidFill>
          <a:ln>
            <a:noFill/>
          </a:ln>
        </p:spPr>
        <p:txBody>
          <a:bodyPr lIns="50800" tIns="25400" rIns="50800" bIns="25400" anchor="ctr"/>
          <a:lstStyle/>
          <a:p>
            <a:endParaRPr/>
          </a:p>
        </p:txBody>
      </p:sp>
      <p:sp>
        <p:nvSpPr>
          <p:cNvPr id="714" name="Bar4"/>
          <p:cNvSpPr>
            <a:spLocks noGrp="1"/>
          </p:cNvSpPr>
          <p:nvPr/>
        </p:nvSpPr>
        <p:spPr>
          <a:xfrm>
            <a:off x="6096000" y="5092700"/>
            <a:ext cx="1524000" cy="50800"/>
          </a:xfrm>
          <a:prstGeom prst="rect">
            <a:avLst/>
          </a:prstGeom>
          <a:solidFill>
            <a:srgbClr val="07BCD6"/>
          </a:solidFill>
          <a:ln>
            <a:noFill/>
          </a:ln>
        </p:spPr>
        <p:txBody>
          <a:bodyPr lIns="50800" tIns="25400" rIns="50800" bIns="25400" anchor="ctr"/>
          <a:lstStyle/>
          <a:p>
            <a:endParaRPr/>
          </a:p>
        </p:txBody>
      </p:sp>
      <p:sp>
        <p:nvSpPr>
          <p:cNvPr id="715" name="Bar5"/>
          <p:cNvSpPr>
            <a:spLocks noGrp="1"/>
          </p:cNvSpPr>
          <p:nvPr/>
        </p:nvSpPr>
        <p:spPr>
          <a:xfrm>
            <a:off x="7620000" y="5092700"/>
            <a:ext cx="1524000" cy="50800"/>
          </a:xfrm>
          <a:prstGeom prst="rect">
            <a:avLst/>
          </a:prstGeom>
          <a:solidFill>
            <a:srgbClr val="458CCB"/>
          </a:solidFill>
          <a:ln>
            <a:noFill/>
          </a:ln>
        </p:spPr>
        <p:txBody>
          <a:bodyPr lIns="50800" tIns="25400" rIns="50800" bIns="25400" anchor="ctr"/>
          <a:lstStyle/>
          <a:p>
            <a:endParaRPr/>
          </a:p>
        </p:txBody>
      </p:sp>
      <p:sp>
        <p:nvSpPr>
          <p:cNvPr id="2" name="Title">
            <a:extLst>
              <a:ext uri="{FF2B5EF4-FFF2-40B4-BE49-F238E27FC236}">
                <a16:creationId xmlns:a16="http://schemas.microsoft.com/office/drawing/2014/main" id="{BB99FD45-DD7C-8BB2-24E2-0BF9532D6A88}"/>
              </a:ext>
            </a:extLst>
          </p:cNvPr>
          <p:cNvSpPr/>
          <p:nvPr/>
        </p:nvSpPr>
        <p:spPr>
          <a:xfrm>
            <a:off x="457200" y="203200"/>
            <a:ext cx="50800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Problem Statement - </a:t>
            </a:r>
            <a:r>
              <a:rPr lang="en-GB" sz="2400" b="1" dirty="0">
                <a:solidFill>
                  <a:srgbClr val="111827"/>
                </a:solidFill>
                <a:latin typeface="Calibri"/>
              </a:rPr>
              <a:t>The Bottleneck</a:t>
            </a:r>
            <a:r>
              <a:rPr lang="en-US" sz="2400" b="1" dirty="0">
                <a:solidFill>
                  <a:srgbClr val="111827"/>
                </a:solidFill>
                <a:latin typeface="Calibri"/>
              </a:rPr>
              <a:t> </a:t>
            </a:r>
          </a:p>
        </p:txBody>
      </p:sp>
    </p:spTree>
    <p:extLst>
      <p:ext uri="{BB962C8B-B14F-4D97-AF65-F5344CB8AC3E}">
        <p14:creationId xmlns:p14="http://schemas.microsoft.com/office/powerpoint/2010/main" val="1474777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168"/>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177800"/>
            <a:ext cx="82296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Problem Statement - What Lovesac Can’t Do Today</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710" name="Bar0"/>
          <p:cNvSpPr>
            <a:spLocks noGrp="1"/>
          </p:cNvSpPr>
          <p:nvPr/>
        </p:nvSpPr>
        <p:spPr>
          <a:xfrm>
            <a:off x="0" y="5092700"/>
            <a:ext cx="1524000" cy="50800"/>
          </a:xfrm>
          <a:prstGeom prst="rect">
            <a:avLst/>
          </a:prstGeom>
          <a:solidFill>
            <a:srgbClr val="EB1A63"/>
          </a:solidFill>
          <a:ln>
            <a:noFill/>
          </a:ln>
        </p:spPr>
        <p:txBody>
          <a:bodyPr lIns="50800" tIns="25400" rIns="50800" bIns="25400" anchor="ctr"/>
          <a:lstStyle/>
          <a:p>
            <a:endParaRPr/>
          </a:p>
        </p:txBody>
      </p:sp>
      <p:sp>
        <p:nvSpPr>
          <p:cNvPr id="711" name="Bar1"/>
          <p:cNvSpPr>
            <a:spLocks noGrp="1"/>
          </p:cNvSpPr>
          <p:nvPr/>
        </p:nvSpPr>
        <p:spPr>
          <a:xfrm>
            <a:off x="1524000" y="5092700"/>
            <a:ext cx="1524000" cy="50800"/>
          </a:xfrm>
          <a:prstGeom prst="rect">
            <a:avLst/>
          </a:prstGeom>
          <a:solidFill>
            <a:srgbClr val="F8981D"/>
          </a:solidFill>
          <a:ln>
            <a:noFill/>
          </a:ln>
        </p:spPr>
        <p:txBody>
          <a:bodyPr lIns="50800" tIns="25400" rIns="50800" bIns="25400" anchor="ctr"/>
          <a:lstStyle/>
          <a:p>
            <a:endParaRPr/>
          </a:p>
        </p:txBody>
      </p:sp>
      <p:sp>
        <p:nvSpPr>
          <p:cNvPr id="712" name="Bar2"/>
          <p:cNvSpPr>
            <a:spLocks noGrp="1"/>
          </p:cNvSpPr>
          <p:nvPr/>
        </p:nvSpPr>
        <p:spPr>
          <a:xfrm>
            <a:off x="3048000" y="5092700"/>
            <a:ext cx="1524000" cy="50800"/>
          </a:xfrm>
          <a:prstGeom prst="rect">
            <a:avLst/>
          </a:prstGeom>
          <a:solidFill>
            <a:srgbClr val="FABF2D"/>
          </a:solidFill>
          <a:ln>
            <a:noFill/>
          </a:ln>
        </p:spPr>
        <p:txBody>
          <a:bodyPr lIns="50800" tIns="25400" rIns="50800" bIns="25400" anchor="ctr"/>
          <a:lstStyle/>
          <a:p>
            <a:endParaRPr/>
          </a:p>
        </p:txBody>
      </p:sp>
      <p:sp>
        <p:nvSpPr>
          <p:cNvPr id="713" name="Bar3"/>
          <p:cNvSpPr>
            <a:spLocks noGrp="1"/>
          </p:cNvSpPr>
          <p:nvPr/>
        </p:nvSpPr>
        <p:spPr>
          <a:xfrm>
            <a:off x="4572000" y="5092700"/>
            <a:ext cx="1524000" cy="50800"/>
          </a:xfrm>
          <a:prstGeom prst="rect">
            <a:avLst/>
          </a:prstGeom>
          <a:solidFill>
            <a:srgbClr val="8AC542"/>
          </a:solidFill>
          <a:ln>
            <a:noFill/>
          </a:ln>
        </p:spPr>
        <p:txBody>
          <a:bodyPr lIns="50800" tIns="25400" rIns="50800" bIns="25400" anchor="ctr"/>
          <a:lstStyle/>
          <a:p>
            <a:endParaRPr/>
          </a:p>
        </p:txBody>
      </p:sp>
      <p:sp>
        <p:nvSpPr>
          <p:cNvPr id="714" name="Bar4"/>
          <p:cNvSpPr>
            <a:spLocks noGrp="1"/>
          </p:cNvSpPr>
          <p:nvPr/>
        </p:nvSpPr>
        <p:spPr>
          <a:xfrm>
            <a:off x="6096000" y="5092700"/>
            <a:ext cx="1524000" cy="50800"/>
          </a:xfrm>
          <a:prstGeom prst="rect">
            <a:avLst/>
          </a:prstGeom>
          <a:solidFill>
            <a:srgbClr val="07BCD6"/>
          </a:solidFill>
          <a:ln>
            <a:noFill/>
          </a:ln>
        </p:spPr>
        <p:txBody>
          <a:bodyPr lIns="50800" tIns="25400" rIns="50800" bIns="25400" anchor="ctr"/>
          <a:lstStyle/>
          <a:p>
            <a:endParaRPr/>
          </a:p>
        </p:txBody>
      </p:sp>
      <p:sp>
        <p:nvSpPr>
          <p:cNvPr id="715" name="Bar5"/>
          <p:cNvSpPr>
            <a:spLocks noGrp="1"/>
          </p:cNvSpPr>
          <p:nvPr/>
        </p:nvSpPr>
        <p:spPr>
          <a:xfrm>
            <a:off x="7620000" y="5092700"/>
            <a:ext cx="1524000" cy="50800"/>
          </a:xfrm>
          <a:prstGeom prst="rect">
            <a:avLst/>
          </a:prstGeom>
          <a:solidFill>
            <a:srgbClr val="458CCB"/>
          </a:solidFill>
          <a:ln>
            <a:noFill/>
          </a:ln>
        </p:spPr>
        <p:txBody>
          <a:bodyPr lIns="50800" tIns="25400" rIns="50800" bIns="25400" anchor="ctr"/>
          <a:lstStyle/>
          <a:p>
            <a:endParaRPr/>
          </a:p>
        </p:txBody>
      </p:sp>
      <p:sp>
        <p:nvSpPr>
          <p:cNvPr id="100" name="Acc0"/>
          <p:cNvSpPr>
            <a:spLocks noGrp="1"/>
          </p:cNvSpPr>
          <p:nvPr/>
        </p:nvSpPr>
        <p:spPr>
          <a:xfrm>
            <a:off x="254000" y="838200"/>
            <a:ext cx="50800" cy="635000"/>
          </a:xfrm>
          <a:prstGeom prst="rect">
            <a:avLst/>
          </a:prstGeom>
          <a:solidFill>
            <a:srgbClr val="EB1A63"/>
          </a:solidFill>
          <a:ln>
            <a:noFill/>
          </a:ln>
        </p:spPr>
        <p:txBody>
          <a:bodyPr wrap="square" lIns="50800" tIns="25400" rIns="50800" bIns="25400" anchor="ctr"/>
          <a:lstStyle/>
          <a:p>
            <a:endParaRPr/>
          </a:p>
        </p:txBody>
      </p:sp>
      <p:sp>
        <p:nvSpPr>
          <p:cNvPr id="101" name="Num0"/>
          <p:cNvSpPr>
            <a:spLocks noGrp="1"/>
          </p:cNvSpPr>
          <p:nvPr/>
        </p:nvSpPr>
        <p:spPr>
          <a:xfrm>
            <a:off x="355600" y="1003300"/>
            <a:ext cx="304800" cy="304800"/>
          </a:xfrm>
          <a:prstGeom prst="roundRect">
            <a:avLst>
              <a:gd name="adj" fmla="val 30000"/>
            </a:avLst>
          </a:prstGeom>
          <a:solidFill>
            <a:srgbClr val="EB1A63"/>
          </a:solidFill>
          <a:ln>
            <a:noFill/>
          </a:ln>
        </p:spPr>
        <p:txBody>
          <a:bodyPr wrap="square" lIns="50800" tIns="25400" rIns="50800" bIns="25400" anchor="ctr"/>
          <a:lstStyle/>
          <a:p>
            <a:pPr algn="ctr">
              <a:buNone/>
            </a:pPr>
            <a:r>
              <a:rPr lang="en-US" sz="900" b="1" dirty="0">
                <a:solidFill>
                  <a:srgbClr val="FFFFFF"/>
                </a:solidFill>
                <a:latin typeface="Calibri"/>
              </a:rPr>
              <a:t>01</a:t>
            </a:r>
          </a:p>
        </p:txBody>
      </p:sp>
      <p:sp>
        <p:nvSpPr>
          <p:cNvPr id="102" name="Title0"/>
          <p:cNvSpPr>
            <a:spLocks noGrp="1"/>
          </p:cNvSpPr>
          <p:nvPr/>
        </p:nvSpPr>
        <p:spPr>
          <a:xfrm>
            <a:off x="914400" y="889000"/>
            <a:ext cx="8001000" cy="254000"/>
          </a:xfrm>
          <a:prstGeom prst="rect">
            <a:avLst/>
          </a:prstGeom>
          <a:noFill/>
          <a:ln>
            <a:noFill/>
          </a:ln>
        </p:spPr>
        <p:txBody>
          <a:bodyPr wrap="square" lIns="50800" tIns="25400" rIns="50800" bIns="25400" anchor="ctr"/>
          <a:lstStyle/>
          <a:p>
            <a:pPr>
              <a:buNone/>
            </a:pPr>
            <a:r>
              <a:rPr lang="en-US" sz="1200" dirty="0">
                <a:solidFill>
                  <a:srgbClr val="9CA3AF"/>
                </a:solidFill>
                <a:latin typeface="Calibri"/>
              </a:rPr>
              <a:t>You can’t </a:t>
            </a:r>
            <a:r>
              <a:rPr lang="en-US" sz="1300" b="1" dirty="0">
                <a:solidFill>
                  <a:srgbClr val="111827"/>
                </a:solidFill>
                <a:latin typeface="Calibri"/>
              </a:rPr>
              <a:t>Ask “What goes with this Sactional cover?”</a:t>
            </a:r>
          </a:p>
        </p:txBody>
      </p:sp>
      <p:sp>
        <p:nvSpPr>
          <p:cNvPr id="103" name="Desc0"/>
          <p:cNvSpPr>
            <a:spLocks noGrp="1"/>
          </p:cNvSpPr>
          <p:nvPr/>
        </p:nvSpPr>
        <p:spPr>
          <a:xfrm>
            <a:off x="914400" y="1168400"/>
            <a:ext cx="8001000" cy="279400"/>
          </a:xfrm>
          <a:prstGeom prst="rect">
            <a:avLst/>
          </a:prstGeom>
          <a:noFill/>
          <a:ln>
            <a:noFill/>
          </a:ln>
        </p:spPr>
        <p:txBody>
          <a:bodyPr wrap="square" lIns="50800" tIns="25400" rIns="50800" bIns="25400" anchor="ctr"/>
          <a:lstStyle/>
          <a:p>
            <a:pPr>
              <a:lnSpc>
                <a:spcPts val="1150"/>
              </a:lnSpc>
              <a:buNone/>
            </a:pPr>
            <a:r>
              <a:rPr lang="en-US" sz="1000" dirty="0">
                <a:solidFill>
                  <a:srgbClr val="6B7280"/>
                </a:solidFill>
                <a:latin typeface="Calibri"/>
              </a:rPr>
              <a:t>Compatibility rules live only inside Threekit. No system can query them programmatically — so every channel has to hard-code logic or send the customer back to the web configurator.</a:t>
            </a:r>
          </a:p>
        </p:txBody>
      </p:sp>
      <p:sp>
        <p:nvSpPr>
          <p:cNvPr id="104" name="Div0"/>
          <p:cNvSpPr>
            <a:spLocks noGrp="1"/>
          </p:cNvSpPr>
          <p:nvPr/>
        </p:nvSpPr>
        <p:spPr>
          <a:xfrm>
            <a:off x="914400" y="1511300"/>
            <a:ext cx="8001000" cy="12700"/>
          </a:xfrm>
          <a:prstGeom prst="rect">
            <a:avLst/>
          </a:prstGeom>
          <a:solidFill>
            <a:srgbClr val="E5E7EB"/>
          </a:solidFill>
          <a:ln>
            <a:noFill/>
          </a:ln>
        </p:spPr>
        <p:txBody>
          <a:bodyPr wrap="square" lIns="50800" tIns="25400" rIns="50800" bIns="25400" anchor="ctr"/>
          <a:lstStyle/>
          <a:p>
            <a:endParaRPr/>
          </a:p>
        </p:txBody>
      </p:sp>
      <p:sp>
        <p:nvSpPr>
          <p:cNvPr id="110" name="Acc1"/>
          <p:cNvSpPr>
            <a:spLocks noGrp="1"/>
          </p:cNvSpPr>
          <p:nvPr/>
        </p:nvSpPr>
        <p:spPr>
          <a:xfrm>
            <a:off x="254000" y="1574800"/>
            <a:ext cx="50800" cy="635000"/>
          </a:xfrm>
          <a:prstGeom prst="rect">
            <a:avLst/>
          </a:prstGeom>
          <a:solidFill>
            <a:srgbClr val="F8981D"/>
          </a:solidFill>
          <a:ln>
            <a:noFill/>
          </a:ln>
        </p:spPr>
        <p:txBody>
          <a:bodyPr wrap="square" lIns="50800" tIns="25400" rIns="50800" bIns="25400" anchor="ctr"/>
          <a:lstStyle/>
          <a:p>
            <a:endParaRPr/>
          </a:p>
        </p:txBody>
      </p:sp>
      <p:sp>
        <p:nvSpPr>
          <p:cNvPr id="111" name="Num1"/>
          <p:cNvSpPr>
            <a:spLocks noGrp="1"/>
          </p:cNvSpPr>
          <p:nvPr/>
        </p:nvSpPr>
        <p:spPr>
          <a:xfrm>
            <a:off x="355600" y="1739900"/>
            <a:ext cx="304800" cy="304800"/>
          </a:xfrm>
          <a:prstGeom prst="roundRect">
            <a:avLst>
              <a:gd name="adj" fmla="val 30000"/>
            </a:avLst>
          </a:prstGeom>
          <a:solidFill>
            <a:srgbClr val="F8981D"/>
          </a:solidFill>
          <a:ln>
            <a:noFill/>
          </a:ln>
        </p:spPr>
        <p:txBody>
          <a:bodyPr wrap="square" lIns="50800" tIns="25400" rIns="50800" bIns="25400" anchor="ctr"/>
          <a:lstStyle/>
          <a:p>
            <a:pPr algn="ctr">
              <a:buNone/>
            </a:pPr>
            <a:r>
              <a:rPr lang="en-US" sz="900" b="1" dirty="0">
                <a:solidFill>
                  <a:srgbClr val="FFFFFF"/>
                </a:solidFill>
                <a:latin typeface="Calibri"/>
              </a:rPr>
              <a:t>02</a:t>
            </a:r>
          </a:p>
        </p:txBody>
      </p:sp>
      <p:sp>
        <p:nvSpPr>
          <p:cNvPr id="112" name="Title1"/>
          <p:cNvSpPr>
            <a:spLocks noGrp="1"/>
          </p:cNvSpPr>
          <p:nvPr/>
        </p:nvSpPr>
        <p:spPr>
          <a:xfrm>
            <a:off x="914400" y="1625600"/>
            <a:ext cx="8001000" cy="254000"/>
          </a:xfrm>
          <a:prstGeom prst="rect">
            <a:avLst/>
          </a:prstGeom>
          <a:noFill/>
          <a:ln>
            <a:noFill/>
          </a:ln>
        </p:spPr>
        <p:txBody>
          <a:bodyPr wrap="square" lIns="50800" tIns="25400" rIns="50800" bIns="25400" anchor="ctr"/>
          <a:lstStyle/>
          <a:p>
            <a:pPr>
              <a:buNone/>
            </a:pPr>
            <a:r>
              <a:rPr lang="en-US" sz="1200" dirty="0">
                <a:solidFill>
                  <a:srgbClr val="9CA3AF"/>
                </a:solidFill>
                <a:latin typeface="Calibri"/>
              </a:rPr>
              <a:t>You can’t </a:t>
            </a:r>
            <a:r>
              <a:rPr lang="en-US" sz="1300" b="1" dirty="0">
                <a:solidFill>
                  <a:srgbClr val="111827"/>
                </a:solidFill>
                <a:latin typeface="Calibri"/>
              </a:rPr>
              <a:t>Serve product data to AgentForce or ChatGPT</a:t>
            </a:r>
          </a:p>
        </p:txBody>
      </p:sp>
      <p:sp>
        <p:nvSpPr>
          <p:cNvPr id="113" name="Desc1"/>
          <p:cNvSpPr>
            <a:spLocks noGrp="1"/>
          </p:cNvSpPr>
          <p:nvPr/>
        </p:nvSpPr>
        <p:spPr>
          <a:xfrm>
            <a:off x="914400" y="1905000"/>
            <a:ext cx="8001000" cy="279400"/>
          </a:xfrm>
          <a:prstGeom prst="rect">
            <a:avLst/>
          </a:prstGeom>
          <a:noFill/>
          <a:ln>
            <a:noFill/>
          </a:ln>
        </p:spPr>
        <p:txBody>
          <a:bodyPr wrap="square" lIns="50800" tIns="25400" rIns="50800" bIns="25400" anchor="ctr"/>
          <a:lstStyle/>
          <a:p>
            <a:pPr>
              <a:lnSpc>
                <a:spcPts val="1150"/>
              </a:lnSpc>
              <a:buNone/>
            </a:pPr>
            <a:r>
              <a:rPr lang="en-US" sz="1000" dirty="0">
                <a:solidFill>
                  <a:srgbClr val="6B7280"/>
                </a:solidFill>
                <a:latin typeface="Calibri"/>
              </a:rPr>
              <a:t>AI agents need a queryable API. Threekit has no MCP endpoint. Any agentic commerce experience requires custom middleware that duplicates and quickly drifts from the source of truth.</a:t>
            </a:r>
          </a:p>
        </p:txBody>
      </p:sp>
      <p:sp>
        <p:nvSpPr>
          <p:cNvPr id="114" name="Div1"/>
          <p:cNvSpPr>
            <a:spLocks noGrp="1"/>
          </p:cNvSpPr>
          <p:nvPr/>
        </p:nvSpPr>
        <p:spPr>
          <a:xfrm>
            <a:off x="914400" y="2247900"/>
            <a:ext cx="8001000" cy="12700"/>
          </a:xfrm>
          <a:prstGeom prst="rect">
            <a:avLst/>
          </a:prstGeom>
          <a:solidFill>
            <a:srgbClr val="E5E7EB"/>
          </a:solidFill>
          <a:ln>
            <a:noFill/>
          </a:ln>
        </p:spPr>
        <p:txBody>
          <a:bodyPr wrap="square" lIns="50800" tIns="25400" rIns="50800" bIns="25400" anchor="ctr"/>
          <a:lstStyle/>
          <a:p>
            <a:endParaRPr/>
          </a:p>
        </p:txBody>
      </p:sp>
      <p:sp>
        <p:nvSpPr>
          <p:cNvPr id="120" name="Acc2"/>
          <p:cNvSpPr>
            <a:spLocks noGrp="1"/>
          </p:cNvSpPr>
          <p:nvPr/>
        </p:nvSpPr>
        <p:spPr>
          <a:xfrm>
            <a:off x="254000" y="2311400"/>
            <a:ext cx="50800" cy="635000"/>
          </a:xfrm>
          <a:prstGeom prst="rect">
            <a:avLst/>
          </a:prstGeom>
          <a:solidFill>
            <a:srgbClr val="FABF2D"/>
          </a:solidFill>
          <a:ln>
            <a:noFill/>
          </a:ln>
        </p:spPr>
        <p:txBody>
          <a:bodyPr wrap="square" lIns="50800" tIns="25400" rIns="50800" bIns="25400" anchor="ctr"/>
          <a:lstStyle/>
          <a:p>
            <a:endParaRPr/>
          </a:p>
        </p:txBody>
      </p:sp>
      <p:sp>
        <p:nvSpPr>
          <p:cNvPr id="121" name="Num2"/>
          <p:cNvSpPr>
            <a:spLocks noGrp="1"/>
          </p:cNvSpPr>
          <p:nvPr/>
        </p:nvSpPr>
        <p:spPr>
          <a:xfrm>
            <a:off x="355600" y="2476500"/>
            <a:ext cx="304800" cy="304800"/>
          </a:xfrm>
          <a:prstGeom prst="roundRect">
            <a:avLst>
              <a:gd name="adj" fmla="val 30000"/>
            </a:avLst>
          </a:prstGeom>
          <a:solidFill>
            <a:srgbClr val="FABF2D"/>
          </a:solidFill>
          <a:ln>
            <a:noFill/>
          </a:ln>
        </p:spPr>
        <p:txBody>
          <a:bodyPr wrap="square" lIns="50800" tIns="25400" rIns="50800" bIns="25400" anchor="ctr"/>
          <a:lstStyle/>
          <a:p>
            <a:pPr algn="ctr">
              <a:buNone/>
            </a:pPr>
            <a:r>
              <a:rPr lang="en-US" sz="900" b="1" dirty="0">
                <a:solidFill>
                  <a:srgbClr val="FFFFFF"/>
                </a:solidFill>
                <a:latin typeface="Calibri"/>
              </a:rPr>
              <a:t>03</a:t>
            </a:r>
          </a:p>
        </p:txBody>
      </p:sp>
      <p:sp>
        <p:nvSpPr>
          <p:cNvPr id="122" name="Title2"/>
          <p:cNvSpPr>
            <a:spLocks noGrp="1"/>
          </p:cNvSpPr>
          <p:nvPr/>
        </p:nvSpPr>
        <p:spPr>
          <a:xfrm>
            <a:off x="914400" y="2362200"/>
            <a:ext cx="8001000" cy="254000"/>
          </a:xfrm>
          <a:prstGeom prst="rect">
            <a:avLst/>
          </a:prstGeom>
          <a:noFill/>
          <a:ln>
            <a:noFill/>
          </a:ln>
        </p:spPr>
        <p:txBody>
          <a:bodyPr wrap="square" lIns="50800" tIns="25400" rIns="50800" bIns="25400" anchor="ctr"/>
          <a:lstStyle/>
          <a:p>
            <a:pPr>
              <a:buNone/>
            </a:pPr>
            <a:r>
              <a:rPr lang="en-US" sz="1200" dirty="0">
                <a:solidFill>
                  <a:srgbClr val="9CA3AF"/>
                </a:solidFill>
                <a:latin typeface="Calibri"/>
              </a:rPr>
              <a:t>You can’t </a:t>
            </a:r>
            <a:r>
              <a:rPr lang="en-US" sz="1300" b="1" dirty="0">
                <a:solidFill>
                  <a:srgbClr val="111827"/>
                </a:solidFill>
                <a:latin typeface="Calibri"/>
              </a:rPr>
              <a:t>Keep pricing and inventory in sync across channels</a:t>
            </a:r>
          </a:p>
        </p:txBody>
      </p:sp>
      <p:sp>
        <p:nvSpPr>
          <p:cNvPr id="123" name="Desc2"/>
          <p:cNvSpPr>
            <a:spLocks noGrp="1"/>
          </p:cNvSpPr>
          <p:nvPr/>
        </p:nvSpPr>
        <p:spPr>
          <a:xfrm>
            <a:off x="914400" y="2641600"/>
            <a:ext cx="8001000" cy="279400"/>
          </a:xfrm>
          <a:prstGeom prst="rect">
            <a:avLst/>
          </a:prstGeom>
          <a:noFill/>
          <a:ln>
            <a:noFill/>
          </a:ln>
        </p:spPr>
        <p:txBody>
          <a:bodyPr wrap="square" lIns="50800" tIns="25400" rIns="50800" bIns="25400" anchor="ctr"/>
          <a:lstStyle/>
          <a:p>
            <a:pPr>
              <a:lnSpc>
                <a:spcPts val="1150"/>
              </a:lnSpc>
              <a:buNone/>
            </a:pPr>
            <a:r>
              <a:rPr lang="en-US" sz="1000" dirty="0">
                <a:solidFill>
                  <a:srgbClr val="6B7280"/>
                </a:solidFill>
                <a:latin typeface="Calibri"/>
              </a:rPr>
              <a:t>NetSuite holds pricing, Magento holds inventory — but neither feeds the configurator in real time. Associates and customers frequently see conflicting data depending on which touchpoint they use.</a:t>
            </a:r>
          </a:p>
        </p:txBody>
      </p:sp>
      <p:sp>
        <p:nvSpPr>
          <p:cNvPr id="124" name="Div2"/>
          <p:cNvSpPr>
            <a:spLocks noGrp="1"/>
          </p:cNvSpPr>
          <p:nvPr/>
        </p:nvSpPr>
        <p:spPr>
          <a:xfrm>
            <a:off x="914400" y="2984500"/>
            <a:ext cx="8001000" cy="12700"/>
          </a:xfrm>
          <a:prstGeom prst="rect">
            <a:avLst/>
          </a:prstGeom>
          <a:solidFill>
            <a:srgbClr val="E5E7EB"/>
          </a:solidFill>
          <a:ln>
            <a:noFill/>
          </a:ln>
        </p:spPr>
        <p:txBody>
          <a:bodyPr wrap="square" lIns="50800" tIns="25400" rIns="50800" bIns="25400" anchor="ctr"/>
          <a:lstStyle/>
          <a:p>
            <a:endParaRPr/>
          </a:p>
        </p:txBody>
      </p:sp>
      <p:sp>
        <p:nvSpPr>
          <p:cNvPr id="130" name="Acc3"/>
          <p:cNvSpPr>
            <a:spLocks noGrp="1"/>
          </p:cNvSpPr>
          <p:nvPr/>
        </p:nvSpPr>
        <p:spPr>
          <a:xfrm>
            <a:off x="254000" y="3048000"/>
            <a:ext cx="50800" cy="635000"/>
          </a:xfrm>
          <a:prstGeom prst="rect">
            <a:avLst/>
          </a:prstGeom>
          <a:solidFill>
            <a:srgbClr val="8AC542"/>
          </a:solidFill>
          <a:ln>
            <a:noFill/>
          </a:ln>
        </p:spPr>
        <p:txBody>
          <a:bodyPr wrap="square" lIns="50800" tIns="25400" rIns="50800" bIns="25400" anchor="ctr"/>
          <a:lstStyle/>
          <a:p>
            <a:endParaRPr/>
          </a:p>
        </p:txBody>
      </p:sp>
      <p:sp>
        <p:nvSpPr>
          <p:cNvPr id="131" name="Num3"/>
          <p:cNvSpPr>
            <a:spLocks noGrp="1"/>
          </p:cNvSpPr>
          <p:nvPr/>
        </p:nvSpPr>
        <p:spPr>
          <a:xfrm>
            <a:off x="355600" y="3213100"/>
            <a:ext cx="304800" cy="304800"/>
          </a:xfrm>
          <a:prstGeom prst="roundRect">
            <a:avLst>
              <a:gd name="adj" fmla="val 30000"/>
            </a:avLst>
          </a:prstGeom>
          <a:solidFill>
            <a:srgbClr val="8AC542"/>
          </a:solidFill>
          <a:ln>
            <a:noFill/>
          </a:ln>
        </p:spPr>
        <p:txBody>
          <a:bodyPr wrap="square" lIns="50800" tIns="25400" rIns="50800" bIns="25400" anchor="ctr"/>
          <a:lstStyle/>
          <a:p>
            <a:pPr algn="ctr">
              <a:buNone/>
            </a:pPr>
            <a:r>
              <a:rPr lang="en-US" sz="900" b="1" dirty="0">
                <a:solidFill>
                  <a:srgbClr val="FFFFFF"/>
                </a:solidFill>
                <a:latin typeface="Calibri"/>
              </a:rPr>
              <a:t>04</a:t>
            </a:r>
          </a:p>
        </p:txBody>
      </p:sp>
      <p:sp>
        <p:nvSpPr>
          <p:cNvPr id="132" name="Title3"/>
          <p:cNvSpPr>
            <a:spLocks noGrp="1"/>
          </p:cNvSpPr>
          <p:nvPr/>
        </p:nvSpPr>
        <p:spPr>
          <a:xfrm>
            <a:off x="914400" y="3098800"/>
            <a:ext cx="8001000" cy="254000"/>
          </a:xfrm>
          <a:prstGeom prst="rect">
            <a:avLst/>
          </a:prstGeom>
          <a:noFill/>
          <a:ln>
            <a:noFill/>
          </a:ln>
        </p:spPr>
        <p:txBody>
          <a:bodyPr wrap="square" lIns="50800" tIns="25400" rIns="50800" bIns="25400" anchor="ctr"/>
          <a:lstStyle/>
          <a:p>
            <a:pPr>
              <a:buNone/>
            </a:pPr>
            <a:r>
              <a:rPr lang="en-US" sz="1200" dirty="0">
                <a:solidFill>
                  <a:srgbClr val="9CA3AF"/>
                </a:solidFill>
                <a:latin typeface="Calibri"/>
              </a:rPr>
              <a:t>You can’t </a:t>
            </a:r>
            <a:r>
              <a:rPr lang="en-US" sz="1300" b="1" dirty="0">
                <a:solidFill>
                  <a:srgbClr val="111827"/>
                </a:solidFill>
                <a:latin typeface="Calibri"/>
              </a:rPr>
              <a:t>Launch a new sales channel without rebuilding logic</a:t>
            </a:r>
          </a:p>
        </p:txBody>
      </p:sp>
      <p:sp>
        <p:nvSpPr>
          <p:cNvPr id="133" name="Desc3"/>
          <p:cNvSpPr>
            <a:spLocks noGrp="1"/>
          </p:cNvSpPr>
          <p:nvPr/>
        </p:nvSpPr>
        <p:spPr>
          <a:xfrm>
            <a:off x="914400" y="3378200"/>
            <a:ext cx="8001000" cy="279400"/>
          </a:xfrm>
          <a:prstGeom prst="rect">
            <a:avLst/>
          </a:prstGeom>
          <a:noFill/>
          <a:ln>
            <a:noFill/>
          </a:ln>
        </p:spPr>
        <p:txBody>
          <a:bodyPr wrap="square" lIns="50800" tIns="25400" rIns="50800" bIns="25400" anchor="ctr"/>
          <a:lstStyle/>
          <a:p>
            <a:pPr>
              <a:lnSpc>
                <a:spcPts val="1150"/>
              </a:lnSpc>
              <a:buNone/>
            </a:pPr>
            <a:r>
              <a:rPr lang="en-US" sz="1000" dirty="0">
                <a:solidFill>
                  <a:srgbClr val="6B7280"/>
                </a:solidFill>
                <a:latin typeface="Calibri"/>
              </a:rPr>
              <a:t>Each new touchpoint (kiosk, app, Google Shopping) requires its own integration. There is no shared experience API — so every channel launch restarts the engineering effort from scratch.</a:t>
            </a:r>
          </a:p>
        </p:txBody>
      </p:sp>
      <p:sp>
        <p:nvSpPr>
          <p:cNvPr id="134" name="Div3"/>
          <p:cNvSpPr>
            <a:spLocks noGrp="1"/>
          </p:cNvSpPr>
          <p:nvPr/>
        </p:nvSpPr>
        <p:spPr>
          <a:xfrm>
            <a:off x="914400" y="3721100"/>
            <a:ext cx="8001000" cy="12700"/>
          </a:xfrm>
          <a:prstGeom prst="rect">
            <a:avLst/>
          </a:prstGeom>
          <a:solidFill>
            <a:srgbClr val="E5E7EB"/>
          </a:solidFill>
          <a:ln>
            <a:noFill/>
          </a:ln>
        </p:spPr>
        <p:txBody>
          <a:bodyPr wrap="square" lIns="50800" tIns="25400" rIns="50800" bIns="25400" anchor="ctr"/>
          <a:lstStyle/>
          <a:p>
            <a:endParaRPr/>
          </a:p>
        </p:txBody>
      </p:sp>
      <p:sp>
        <p:nvSpPr>
          <p:cNvPr id="140" name="Acc4"/>
          <p:cNvSpPr>
            <a:spLocks noGrp="1"/>
          </p:cNvSpPr>
          <p:nvPr/>
        </p:nvSpPr>
        <p:spPr>
          <a:xfrm>
            <a:off x="254000" y="3784600"/>
            <a:ext cx="50800" cy="635000"/>
          </a:xfrm>
          <a:prstGeom prst="rect">
            <a:avLst/>
          </a:prstGeom>
          <a:solidFill>
            <a:srgbClr val="07BCD6"/>
          </a:solidFill>
          <a:ln>
            <a:noFill/>
          </a:ln>
        </p:spPr>
        <p:txBody>
          <a:bodyPr wrap="square" lIns="50800" tIns="25400" rIns="50800" bIns="25400" anchor="ctr"/>
          <a:lstStyle/>
          <a:p>
            <a:endParaRPr/>
          </a:p>
        </p:txBody>
      </p:sp>
      <p:sp>
        <p:nvSpPr>
          <p:cNvPr id="141" name="Num4"/>
          <p:cNvSpPr>
            <a:spLocks noGrp="1"/>
          </p:cNvSpPr>
          <p:nvPr/>
        </p:nvSpPr>
        <p:spPr>
          <a:xfrm>
            <a:off x="355600" y="3949700"/>
            <a:ext cx="304800" cy="304800"/>
          </a:xfrm>
          <a:prstGeom prst="roundRect">
            <a:avLst>
              <a:gd name="adj" fmla="val 30000"/>
            </a:avLst>
          </a:prstGeom>
          <a:solidFill>
            <a:srgbClr val="07BCD6"/>
          </a:solidFill>
          <a:ln>
            <a:noFill/>
          </a:ln>
        </p:spPr>
        <p:txBody>
          <a:bodyPr wrap="square" lIns="50800" tIns="25400" rIns="50800" bIns="25400" anchor="ctr"/>
          <a:lstStyle/>
          <a:p>
            <a:pPr algn="ctr">
              <a:buNone/>
            </a:pPr>
            <a:r>
              <a:rPr lang="en-US" sz="900" b="1" dirty="0">
                <a:solidFill>
                  <a:srgbClr val="FFFFFF"/>
                </a:solidFill>
                <a:latin typeface="Calibri"/>
              </a:rPr>
              <a:t>05</a:t>
            </a:r>
          </a:p>
        </p:txBody>
      </p:sp>
      <p:sp>
        <p:nvSpPr>
          <p:cNvPr id="142" name="Title4"/>
          <p:cNvSpPr>
            <a:spLocks noGrp="1"/>
          </p:cNvSpPr>
          <p:nvPr/>
        </p:nvSpPr>
        <p:spPr>
          <a:xfrm>
            <a:off x="914400" y="3835400"/>
            <a:ext cx="8001000" cy="254000"/>
          </a:xfrm>
          <a:prstGeom prst="rect">
            <a:avLst/>
          </a:prstGeom>
          <a:noFill/>
          <a:ln>
            <a:noFill/>
          </a:ln>
        </p:spPr>
        <p:txBody>
          <a:bodyPr wrap="square" lIns="50800" tIns="25400" rIns="50800" bIns="25400" anchor="ctr"/>
          <a:lstStyle/>
          <a:p>
            <a:pPr>
              <a:buNone/>
            </a:pPr>
            <a:r>
              <a:rPr lang="en-US" sz="1200" dirty="0">
                <a:solidFill>
                  <a:srgbClr val="9CA3AF"/>
                </a:solidFill>
                <a:latin typeface="Calibri"/>
              </a:rPr>
              <a:t>You can’t </a:t>
            </a:r>
            <a:r>
              <a:rPr lang="en-US" sz="1300" b="1" dirty="0">
                <a:solidFill>
                  <a:srgbClr val="111827"/>
                </a:solidFill>
                <a:latin typeface="Calibri"/>
              </a:rPr>
              <a:t>Understand how customers actually configure products</a:t>
            </a:r>
          </a:p>
        </p:txBody>
      </p:sp>
      <p:sp>
        <p:nvSpPr>
          <p:cNvPr id="143" name="Desc4"/>
          <p:cNvSpPr>
            <a:spLocks noGrp="1"/>
          </p:cNvSpPr>
          <p:nvPr/>
        </p:nvSpPr>
        <p:spPr>
          <a:xfrm>
            <a:off x="914400" y="4114800"/>
            <a:ext cx="8001000" cy="279400"/>
          </a:xfrm>
          <a:prstGeom prst="rect">
            <a:avLst/>
          </a:prstGeom>
          <a:noFill/>
          <a:ln>
            <a:noFill/>
          </a:ln>
        </p:spPr>
        <p:txBody>
          <a:bodyPr wrap="square" lIns="50800" tIns="25400" rIns="50800" bIns="25400" anchor="ctr"/>
          <a:lstStyle/>
          <a:p>
            <a:pPr>
              <a:lnSpc>
                <a:spcPts val="1150"/>
              </a:lnSpc>
              <a:buNone/>
            </a:pPr>
            <a:r>
              <a:rPr lang="en-US" sz="1000" dirty="0">
                <a:solidFill>
                  <a:srgbClr val="6B7280"/>
                </a:solidFill>
                <a:latin typeface="Calibri"/>
              </a:rPr>
              <a:t>Configuration session data is trapped inside Threekit. There is no way to extract patterns — which cover combinations are popular, where customers drop off, what drives conversion.</a:t>
            </a:r>
          </a:p>
        </p:txBody>
      </p:sp>
      <p:sp>
        <p:nvSpPr>
          <p:cNvPr id="2" name="F">
            <a:extLst>
              <a:ext uri="{FF2B5EF4-FFF2-40B4-BE49-F238E27FC236}">
                <a16:creationId xmlns:a16="http://schemas.microsoft.com/office/drawing/2014/main" id="{0ECC077E-83A2-E661-A2AE-19180A14DF9A}"/>
              </a:ext>
            </a:extLst>
          </p:cNvPr>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dirty="0" err="1">
                <a:solidFill>
                  <a:srgbClr val="9CA3AF"/>
                </a:solidFill>
                <a:latin typeface="Calibri"/>
              </a:rPr>
              <a:t>Lovesac</a:t>
            </a:r>
            <a:r>
              <a:rPr lang="en-GB" sz="800" dirty="0">
                <a:solidFill>
                  <a:srgbClr val="9CA3AF"/>
                </a:solidFill>
                <a:latin typeface="Calibri"/>
              </a:rPr>
              <a:t> × </a:t>
            </a:r>
            <a:r>
              <a:rPr lang="en-GB" sz="800" dirty="0" err="1">
                <a:solidFill>
                  <a:srgbClr val="9CA3AF"/>
                </a:solidFill>
                <a:latin typeface="Calibri"/>
              </a:rPr>
              <a:t>Conscia</a:t>
            </a:r>
            <a:r>
              <a:rPr lang="en-GB" sz="800" dirty="0">
                <a:solidFill>
                  <a:srgbClr val="9CA3AF"/>
                </a:solidFill>
                <a:latin typeface="Calibri"/>
              </a:rPr>
              <a:t>  ·  Project Kick-off  ·  April 8, 2026</a:t>
            </a:r>
            <a:endParaRPr lang="en-US" sz="800" dirty="0">
              <a:solidFill>
                <a:srgbClr val="9CA3AF"/>
              </a:solidFill>
              <a:latin typeface="Calibri"/>
            </a:endParaRPr>
          </a:p>
        </p:txBody>
      </p:sp>
    </p:spTree>
    <p:extLst>
      <p:ext uri="{BB962C8B-B14F-4D97-AF65-F5344CB8AC3E}">
        <p14:creationId xmlns:p14="http://schemas.microsoft.com/office/powerpoint/2010/main" val="33044740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51"/>
        <p:cNvGrpSpPr/>
        <p:nvPr/>
      </p:nvGrpSpPr>
      <p:grpSpPr>
        <a:xfrm>
          <a:off x="0" y="0"/>
          <a:ext cx="0" cy="0"/>
          <a:chOff x="0" y="0"/>
          <a:chExt cx="0" cy="0"/>
        </a:xfrm>
      </p:grpSpPr>
      <p:sp>
        <p:nvSpPr>
          <p:cNvPr id="10" name="LeftBar"/>
          <p:cNvSpPr/>
          <p:nvPr/>
        </p:nvSpPr>
        <p:spPr>
          <a:xfrm>
            <a:off x="0" y="0"/>
            <a:ext cx="101600" cy="5143500"/>
          </a:xfrm>
          <a:prstGeom prst="rect">
            <a:avLst/>
          </a:prstGeom>
          <a:solidFill>
            <a:srgbClr val="EB1A63"/>
          </a:solidFill>
          <a:ln>
            <a:noFill/>
          </a:ln>
        </p:spPr>
        <p:txBody>
          <a:bodyPr/>
          <a:lstStyle/>
          <a:p>
            <a:endParaRPr lang="en-US"/>
          </a:p>
        </p:txBody>
      </p:sp>
      <p:sp>
        <p:nvSpPr>
          <p:cNvPr id="11" name="Title"/>
          <p:cNvSpPr/>
          <p:nvPr/>
        </p:nvSpPr>
        <p:spPr>
          <a:xfrm>
            <a:off x="457200" y="203200"/>
            <a:ext cx="50800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Meet the Teams</a:t>
            </a:r>
          </a:p>
        </p:txBody>
      </p:sp>
      <p:sp>
        <p:nvSpPr>
          <p:cNvPr id="12" name="Div"/>
          <p:cNvSpPr/>
          <p:nvPr/>
        </p:nvSpPr>
        <p:spPr>
          <a:xfrm>
            <a:off x="457200" y="660400"/>
            <a:ext cx="8229600" cy="12700"/>
          </a:xfrm>
          <a:prstGeom prst="rect">
            <a:avLst/>
          </a:prstGeom>
          <a:solidFill>
            <a:srgbClr val="E5E7EB"/>
          </a:solidFill>
          <a:ln>
            <a:noFill/>
          </a:ln>
        </p:spPr>
        <p:txBody>
          <a:bodyPr/>
          <a:lstStyle/>
          <a:p>
            <a:endParaRPr lang="en-US"/>
          </a:p>
        </p:txBody>
      </p:sp>
      <p:sp>
        <p:nvSpPr>
          <p:cNvPr id="100" name="Card_Conscia"/>
          <p:cNvSpPr/>
          <p:nvPr/>
        </p:nvSpPr>
        <p:spPr>
          <a:xfrm>
            <a:off x="355600" y="838200"/>
            <a:ext cx="4064000" cy="27940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01" name="Acc_Conscia"/>
          <p:cNvSpPr/>
          <p:nvPr/>
        </p:nvSpPr>
        <p:spPr>
          <a:xfrm>
            <a:off x="355600" y="838200"/>
            <a:ext cx="4064000" cy="50800"/>
          </a:xfrm>
          <a:prstGeom prst="roundRect">
            <a:avLst>
              <a:gd name="adj" fmla="val 50000"/>
            </a:avLst>
          </a:prstGeom>
          <a:solidFill>
            <a:srgbClr val="EB1A63"/>
          </a:solidFill>
          <a:ln>
            <a:noFill/>
          </a:ln>
        </p:spPr>
        <p:txBody>
          <a:bodyPr/>
          <a:lstStyle/>
          <a:p>
            <a:endParaRPr lang="en-US"/>
          </a:p>
        </p:txBody>
      </p:sp>
      <p:sp>
        <p:nvSpPr>
          <p:cNvPr id="102" name="TName_Conscia"/>
          <p:cNvSpPr/>
          <p:nvPr/>
        </p:nvSpPr>
        <p:spPr>
          <a:xfrm>
            <a:off x="533400" y="965200"/>
            <a:ext cx="2540000" cy="279400"/>
          </a:xfrm>
          <a:prstGeom prst="rect">
            <a:avLst/>
          </a:prstGeom>
          <a:noFill/>
          <a:ln>
            <a:noFill/>
          </a:ln>
        </p:spPr>
        <p:txBody>
          <a:bodyPr wrap="square" lIns="0" tIns="0" rIns="0" bIns="0" anchor="ctr"/>
          <a:lstStyle/>
          <a:p>
            <a:pPr>
              <a:buNone/>
            </a:pPr>
            <a:r>
              <a:rPr lang="en-US" sz="1400" b="1" dirty="0">
                <a:solidFill>
                  <a:srgbClr val="EB1A63"/>
                </a:solidFill>
                <a:latin typeface="Calibri"/>
              </a:rPr>
              <a:t>Conscia</a:t>
            </a:r>
          </a:p>
        </p:txBody>
      </p:sp>
      <p:sp>
        <p:nvSpPr>
          <p:cNvPr id="103" name="Av_M"/>
          <p:cNvSpPr/>
          <p:nvPr/>
        </p:nvSpPr>
        <p:spPr>
          <a:xfrm>
            <a:off x="533400" y="1397000"/>
            <a:ext cx="304800" cy="304800"/>
          </a:xfrm>
          <a:prstGeom prst="ellipse">
            <a:avLst/>
          </a:prstGeom>
          <a:solidFill>
            <a:srgbClr val="EB1A63">
              <a:alpha val="20000"/>
            </a:srgbClr>
          </a:solidFill>
          <a:ln>
            <a:noFill/>
          </a:ln>
        </p:spPr>
        <p:txBody>
          <a:bodyPr wrap="square" lIns="0" tIns="0" rIns="0" bIns="0" anchor="ctr"/>
          <a:lstStyle/>
          <a:p>
            <a:pPr algn="ctr">
              <a:buNone/>
            </a:pPr>
            <a:r>
              <a:rPr lang="en-US" sz="1000" b="1" dirty="0">
                <a:solidFill>
                  <a:srgbClr val="EB1A63"/>
                </a:solidFill>
                <a:latin typeface="Calibri"/>
              </a:rPr>
              <a:t>M</a:t>
            </a:r>
          </a:p>
        </p:txBody>
      </p:sp>
      <p:sp>
        <p:nvSpPr>
          <p:cNvPr id="104" name="Mem_M"/>
          <p:cNvSpPr/>
          <p:nvPr/>
        </p:nvSpPr>
        <p:spPr>
          <a:xfrm>
            <a:off x="914400" y="1409700"/>
            <a:ext cx="3352800" cy="4699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Morgan</a:t>
            </a:r>
            <a:r>
              <a:rPr lang="en-US" sz="1100" dirty="0">
                <a:solidFill>
                  <a:srgbClr val="9CA3AF"/>
                </a:solidFill>
                <a:latin typeface="Calibri"/>
              </a:rPr>
              <a:t>  ·  Project Manager</a:t>
            </a:r>
          </a:p>
          <a:p>
            <a:pPr>
              <a:lnSpc>
                <a:spcPts val="1100"/>
              </a:lnSpc>
              <a:spcBef>
                <a:spcPts val="0"/>
              </a:spcBef>
              <a:buNone/>
            </a:pPr>
            <a:r>
              <a:rPr lang="en-US" sz="1000" dirty="0">
                <a:solidFill>
                  <a:srgbClr val="9CA3AF"/>
                </a:solidFill>
                <a:latin typeface="Calibri"/>
              </a:rPr>
              <a:t>morgan@conscia.co</a:t>
            </a:r>
          </a:p>
        </p:txBody>
      </p:sp>
      <p:sp>
        <p:nvSpPr>
          <p:cNvPr id="105" name="Av_D"/>
          <p:cNvSpPr/>
          <p:nvPr/>
        </p:nvSpPr>
        <p:spPr>
          <a:xfrm>
            <a:off x="533400" y="3149600"/>
            <a:ext cx="304800" cy="304800"/>
          </a:xfrm>
          <a:prstGeom prst="ellipse">
            <a:avLst/>
          </a:prstGeom>
          <a:solidFill>
            <a:srgbClr val="EB1A63">
              <a:alpha val="20000"/>
            </a:srgbClr>
          </a:solidFill>
          <a:ln>
            <a:noFill/>
          </a:ln>
        </p:spPr>
        <p:txBody>
          <a:bodyPr wrap="square" lIns="0" tIns="0" rIns="0" bIns="0" anchor="ctr"/>
          <a:lstStyle/>
          <a:p>
            <a:pPr algn="ctr">
              <a:buNone/>
            </a:pPr>
            <a:r>
              <a:rPr lang="en-US" sz="1000" b="1" dirty="0">
                <a:solidFill>
                  <a:srgbClr val="EB1A63"/>
                </a:solidFill>
                <a:latin typeface="Calibri"/>
              </a:rPr>
              <a:t>D</a:t>
            </a:r>
          </a:p>
        </p:txBody>
      </p:sp>
      <p:sp>
        <p:nvSpPr>
          <p:cNvPr id="106" name="Mem_D"/>
          <p:cNvSpPr/>
          <p:nvPr/>
        </p:nvSpPr>
        <p:spPr>
          <a:xfrm>
            <a:off x="914400" y="3149600"/>
            <a:ext cx="3352800" cy="4826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David</a:t>
            </a:r>
            <a:r>
              <a:rPr lang="en-US" sz="1100" dirty="0">
                <a:solidFill>
                  <a:srgbClr val="9CA3AF"/>
                </a:solidFill>
                <a:latin typeface="Calibri"/>
              </a:rPr>
              <a:t>  ·  Solution Architect</a:t>
            </a:r>
          </a:p>
          <a:p>
            <a:pPr>
              <a:lnSpc>
                <a:spcPts val="1100"/>
              </a:lnSpc>
              <a:spcBef>
                <a:spcPts val="0"/>
              </a:spcBef>
              <a:buNone/>
            </a:pPr>
            <a:r>
              <a:rPr lang="en-US" sz="1000" dirty="0">
                <a:solidFill>
                  <a:srgbClr val="9CA3AF"/>
                </a:solidFill>
                <a:latin typeface="Calibri"/>
              </a:rPr>
              <a:t>david@conscia.co</a:t>
            </a:r>
          </a:p>
        </p:txBody>
      </p:sp>
      <p:sp>
        <p:nvSpPr>
          <p:cNvPr id="107" name="Av_L"/>
          <p:cNvSpPr/>
          <p:nvPr/>
        </p:nvSpPr>
        <p:spPr>
          <a:xfrm>
            <a:off x="533400" y="2565400"/>
            <a:ext cx="304800" cy="304800"/>
          </a:xfrm>
          <a:prstGeom prst="ellipse">
            <a:avLst/>
          </a:prstGeom>
          <a:solidFill>
            <a:srgbClr val="EB1A63">
              <a:alpha val="20000"/>
            </a:srgbClr>
          </a:solidFill>
          <a:ln>
            <a:noFill/>
          </a:ln>
        </p:spPr>
        <p:txBody>
          <a:bodyPr wrap="square" lIns="0" tIns="0" rIns="0" bIns="0" anchor="ctr"/>
          <a:lstStyle/>
          <a:p>
            <a:pPr algn="ctr">
              <a:buNone/>
            </a:pPr>
            <a:r>
              <a:rPr lang="en-US" sz="1000" b="1" dirty="0">
                <a:solidFill>
                  <a:srgbClr val="EB1A63"/>
                </a:solidFill>
                <a:latin typeface="Calibri"/>
              </a:rPr>
              <a:t>L</a:t>
            </a:r>
          </a:p>
        </p:txBody>
      </p:sp>
      <p:sp>
        <p:nvSpPr>
          <p:cNvPr id="108" name="Mem_L"/>
          <p:cNvSpPr/>
          <p:nvPr/>
        </p:nvSpPr>
        <p:spPr>
          <a:xfrm>
            <a:off x="914400" y="2565400"/>
            <a:ext cx="3352800" cy="4826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Laurel</a:t>
            </a:r>
            <a:r>
              <a:rPr lang="en-US" sz="1100" dirty="0">
                <a:solidFill>
                  <a:srgbClr val="9CA3AF"/>
                </a:solidFill>
                <a:latin typeface="Calibri"/>
              </a:rPr>
              <a:t>  ·  Sr. Solution Engineer</a:t>
            </a:r>
          </a:p>
          <a:p>
            <a:pPr>
              <a:lnSpc>
                <a:spcPts val="1100"/>
              </a:lnSpc>
              <a:spcBef>
                <a:spcPts val="0"/>
              </a:spcBef>
              <a:buNone/>
            </a:pPr>
            <a:r>
              <a:rPr lang="en-US" sz="1000" dirty="0">
                <a:solidFill>
                  <a:srgbClr val="9CA3AF"/>
                </a:solidFill>
                <a:latin typeface="Calibri"/>
              </a:rPr>
              <a:t>laurel@conscia.ai</a:t>
            </a:r>
          </a:p>
        </p:txBody>
      </p:sp>
      <p:sp>
        <p:nvSpPr>
          <p:cNvPr id="109" name="Av_S"/>
          <p:cNvSpPr/>
          <p:nvPr/>
        </p:nvSpPr>
        <p:spPr>
          <a:xfrm>
            <a:off x="533400" y="1981200"/>
            <a:ext cx="304800" cy="304800"/>
          </a:xfrm>
          <a:prstGeom prst="ellipse">
            <a:avLst/>
          </a:prstGeom>
          <a:solidFill>
            <a:srgbClr val="EB1A63">
              <a:alpha val="20000"/>
            </a:srgbClr>
          </a:solidFill>
          <a:ln>
            <a:noFill/>
          </a:ln>
        </p:spPr>
        <p:txBody>
          <a:bodyPr wrap="square" lIns="0" tIns="0" rIns="0" bIns="0" anchor="ctr"/>
          <a:lstStyle/>
          <a:p>
            <a:pPr algn="ctr">
              <a:buNone/>
            </a:pPr>
            <a:r>
              <a:rPr lang="en-US" sz="1000" b="1" dirty="0">
                <a:solidFill>
                  <a:srgbClr val="EB1A63"/>
                </a:solidFill>
                <a:latin typeface="Calibri"/>
              </a:rPr>
              <a:t>S</a:t>
            </a:r>
          </a:p>
        </p:txBody>
      </p:sp>
      <p:sp>
        <p:nvSpPr>
          <p:cNvPr id="110" name="Mem_S"/>
          <p:cNvSpPr/>
          <p:nvPr/>
        </p:nvSpPr>
        <p:spPr>
          <a:xfrm>
            <a:off x="914400" y="1981200"/>
            <a:ext cx="3352800" cy="4826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Sana</a:t>
            </a:r>
            <a:r>
              <a:rPr lang="en-US" sz="1100" dirty="0">
                <a:solidFill>
                  <a:srgbClr val="9CA3AF"/>
                </a:solidFill>
                <a:latin typeface="Calibri"/>
              </a:rPr>
              <a:t>  ·  Product Owner</a:t>
            </a:r>
          </a:p>
          <a:p>
            <a:pPr>
              <a:lnSpc>
                <a:spcPts val="1100"/>
              </a:lnSpc>
              <a:spcBef>
                <a:spcPts val="0"/>
              </a:spcBef>
              <a:buNone/>
            </a:pPr>
            <a:r>
              <a:rPr lang="en-US" sz="1000" dirty="0">
                <a:solidFill>
                  <a:srgbClr val="9CA3AF"/>
                </a:solidFill>
                <a:latin typeface="Calibri"/>
              </a:rPr>
              <a:t>sana@conscia.ai</a:t>
            </a:r>
          </a:p>
        </p:txBody>
      </p:sp>
      <p:sp>
        <p:nvSpPr>
          <p:cNvPr id="111" name="Card_Lovesac"/>
          <p:cNvSpPr/>
          <p:nvPr/>
        </p:nvSpPr>
        <p:spPr>
          <a:xfrm>
            <a:off x="4699000" y="838200"/>
            <a:ext cx="4064000" cy="27940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12" name="Acc_Lovesac"/>
          <p:cNvSpPr/>
          <p:nvPr/>
        </p:nvSpPr>
        <p:spPr>
          <a:xfrm>
            <a:off x="4699000" y="838200"/>
            <a:ext cx="4064000" cy="50800"/>
          </a:xfrm>
          <a:prstGeom prst="roundRect">
            <a:avLst>
              <a:gd name="adj" fmla="val 50000"/>
            </a:avLst>
          </a:prstGeom>
          <a:solidFill>
            <a:srgbClr val="07BCD6"/>
          </a:solidFill>
          <a:ln>
            <a:noFill/>
          </a:ln>
        </p:spPr>
        <p:txBody>
          <a:bodyPr/>
          <a:lstStyle/>
          <a:p>
            <a:endParaRPr lang="en-US"/>
          </a:p>
        </p:txBody>
      </p:sp>
      <p:sp>
        <p:nvSpPr>
          <p:cNvPr id="113" name="TName_Lovesac"/>
          <p:cNvSpPr/>
          <p:nvPr/>
        </p:nvSpPr>
        <p:spPr>
          <a:xfrm>
            <a:off x="4876800" y="965200"/>
            <a:ext cx="3048000" cy="279400"/>
          </a:xfrm>
          <a:prstGeom prst="rect">
            <a:avLst/>
          </a:prstGeom>
          <a:noFill/>
          <a:ln>
            <a:noFill/>
          </a:ln>
        </p:spPr>
        <p:txBody>
          <a:bodyPr wrap="square" lIns="0" tIns="0" rIns="0" bIns="0" anchor="ctr"/>
          <a:lstStyle/>
          <a:p>
            <a:pPr>
              <a:buNone/>
            </a:pPr>
            <a:r>
              <a:rPr lang="en-US" sz="1400" b="1" dirty="0">
                <a:solidFill>
                  <a:srgbClr val="07BCD6"/>
                </a:solidFill>
                <a:latin typeface="Calibri"/>
              </a:rPr>
              <a:t>Lovesac</a:t>
            </a:r>
          </a:p>
        </p:txBody>
      </p:sp>
      <p:sp>
        <p:nvSpPr>
          <p:cNvPr id="114" name="Av_A"/>
          <p:cNvSpPr/>
          <p:nvPr/>
        </p:nvSpPr>
        <p:spPr>
          <a:xfrm>
            <a:off x="4876800" y="1752600"/>
            <a:ext cx="304800" cy="304800"/>
          </a:xfrm>
          <a:prstGeom prst="ellipse">
            <a:avLst/>
          </a:prstGeom>
          <a:solidFill>
            <a:srgbClr val="07BCD6">
              <a:alpha val="20000"/>
            </a:srgbClr>
          </a:solidFill>
          <a:ln>
            <a:noFill/>
          </a:ln>
        </p:spPr>
        <p:txBody>
          <a:bodyPr wrap="square" lIns="0" tIns="0" rIns="0" bIns="0" anchor="ctr"/>
          <a:lstStyle/>
          <a:p>
            <a:pPr algn="ctr">
              <a:buNone/>
            </a:pPr>
            <a:r>
              <a:rPr lang="en-US" sz="1000" b="1" dirty="0">
                <a:solidFill>
                  <a:srgbClr val="07BCD6"/>
                </a:solidFill>
                <a:latin typeface="Calibri"/>
              </a:rPr>
              <a:t>A</a:t>
            </a:r>
          </a:p>
        </p:txBody>
      </p:sp>
      <p:sp>
        <p:nvSpPr>
          <p:cNvPr id="115" name="Mem_A"/>
          <p:cNvSpPr/>
          <p:nvPr/>
        </p:nvSpPr>
        <p:spPr>
          <a:xfrm>
            <a:off x="5257800" y="1752600"/>
            <a:ext cx="3352800" cy="4826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Amelia Jacobs</a:t>
            </a:r>
            <a:r>
              <a:rPr lang="en-US" sz="1100" dirty="0">
                <a:solidFill>
                  <a:srgbClr val="9CA3AF"/>
                </a:solidFill>
                <a:latin typeface="Calibri"/>
              </a:rPr>
              <a:t>  ·  VP, Customer Experience &amp; IT</a:t>
            </a:r>
          </a:p>
          <a:p>
            <a:pPr>
              <a:lnSpc>
                <a:spcPts val="1100"/>
              </a:lnSpc>
              <a:spcBef>
                <a:spcPts val="0"/>
              </a:spcBef>
              <a:buNone/>
            </a:pPr>
            <a:r>
              <a:rPr lang="en-US" sz="1000" dirty="0">
                <a:solidFill>
                  <a:srgbClr val="9CA3AF"/>
                </a:solidFill>
                <a:latin typeface="Calibri"/>
              </a:rPr>
              <a:t>ameliajacobs@lovesac.com</a:t>
            </a:r>
          </a:p>
        </p:txBody>
      </p:sp>
      <p:sp>
        <p:nvSpPr>
          <p:cNvPr id="116" name="Av_T"/>
          <p:cNvSpPr/>
          <p:nvPr/>
        </p:nvSpPr>
        <p:spPr>
          <a:xfrm>
            <a:off x="4876800" y="2336800"/>
            <a:ext cx="304800" cy="304800"/>
          </a:xfrm>
          <a:prstGeom prst="ellipse">
            <a:avLst/>
          </a:prstGeom>
          <a:solidFill>
            <a:srgbClr val="07BCD6">
              <a:alpha val="20000"/>
            </a:srgbClr>
          </a:solidFill>
          <a:ln>
            <a:noFill/>
          </a:ln>
        </p:spPr>
        <p:txBody>
          <a:bodyPr wrap="square" lIns="0" tIns="0" rIns="0" bIns="0" anchor="ctr"/>
          <a:lstStyle/>
          <a:p>
            <a:pPr algn="ctr">
              <a:buNone/>
            </a:pPr>
            <a:r>
              <a:rPr lang="en-US" sz="1000" b="1" dirty="0">
                <a:solidFill>
                  <a:srgbClr val="07BCD6"/>
                </a:solidFill>
                <a:latin typeface="Calibri"/>
              </a:rPr>
              <a:t>T</a:t>
            </a:r>
          </a:p>
        </p:txBody>
      </p:sp>
      <p:sp>
        <p:nvSpPr>
          <p:cNvPr id="117" name="Mem_T"/>
          <p:cNvSpPr/>
          <p:nvPr/>
        </p:nvSpPr>
        <p:spPr>
          <a:xfrm>
            <a:off x="5257800" y="2336800"/>
            <a:ext cx="3352800" cy="4826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Tate Swanson</a:t>
            </a:r>
            <a:r>
              <a:rPr lang="en-US" sz="1100" dirty="0">
                <a:solidFill>
                  <a:srgbClr val="9CA3AF"/>
                </a:solidFill>
                <a:latin typeface="Calibri"/>
              </a:rPr>
              <a:t>  ·  Sr. Domain Data Architect</a:t>
            </a:r>
          </a:p>
          <a:p>
            <a:pPr>
              <a:lnSpc>
                <a:spcPts val="1100"/>
              </a:lnSpc>
              <a:spcBef>
                <a:spcPts val="0"/>
              </a:spcBef>
              <a:buNone/>
            </a:pPr>
            <a:r>
              <a:rPr lang="en-US" sz="1000" dirty="0">
                <a:solidFill>
                  <a:srgbClr val="9CA3AF"/>
                </a:solidFill>
                <a:latin typeface="Calibri"/>
              </a:rPr>
              <a:t>tateswanson@lovesac.com</a:t>
            </a:r>
          </a:p>
        </p:txBody>
      </p:sp>
      <p:sp>
        <p:nvSpPr>
          <p:cNvPr id="200" name="Footer"/>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ottomBar"/>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Tree>
    <p:extLst>
      <p:ext uri="{BB962C8B-B14F-4D97-AF65-F5344CB8AC3E}">
        <p14:creationId xmlns:p14="http://schemas.microsoft.com/office/powerpoint/2010/main" val="41073278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113"/>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r>
              <a:rPr lang="en-GB" sz="2400" b="1" dirty="0" err="1">
                <a:solidFill>
                  <a:srgbClr val="111827"/>
                </a:solidFill>
                <a:latin typeface="Calibri"/>
              </a:rPr>
              <a:t>Conscia</a:t>
            </a:r>
            <a:r>
              <a:rPr lang="en-GB" sz="2400" b="1" dirty="0">
                <a:solidFill>
                  <a:srgbClr val="111827"/>
                </a:solidFill>
                <a:latin typeface="Calibri"/>
              </a:rPr>
              <a:t> Platform Overview</a:t>
            </a:r>
            <a:endParaRPr lang="en-US" sz="2400" b="1" dirty="0">
              <a:solidFill>
                <a:srgbClr val="111827"/>
              </a:solidFill>
              <a:latin typeface="Calibri"/>
            </a:endParaRP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13" name="Banner"/>
          <p:cNvSpPr/>
          <p:nvPr/>
        </p:nvSpPr>
        <p:spPr>
          <a:xfrm>
            <a:off x="355600" y="787400"/>
            <a:ext cx="8432800" cy="304800"/>
          </a:xfrm>
          <a:prstGeom prst="roundRect">
            <a:avLst>
              <a:gd name="adj" fmla="val 50000"/>
            </a:avLst>
          </a:prstGeom>
          <a:solidFill>
            <a:srgbClr val="EB1A63"/>
          </a:solidFill>
          <a:ln>
            <a:noFill/>
          </a:ln>
        </p:spPr>
        <p:txBody>
          <a:bodyPr wrap="square" lIns="91440" tIns="0" rIns="91440" bIns="0" anchor="ctr"/>
          <a:lstStyle/>
          <a:p>
            <a:pPr algn="ctr">
              <a:buNone/>
            </a:pPr>
            <a:r>
              <a:rPr lang="en-US" sz="1000" b="1" spc="150" dirty="0">
                <a:solidFill>
                  <a:srgbClr val="FFFFFF"/>
                </a:solidFill>
                <a:latin typeface="Calibri"/>
              </a:rPr>
              <a:t>CONSCIA: BEYOND TRADITIONAL PIM  —  A GOVERNED SEMANTIC FOUNDATION FOR COMMERCE</a:t>
            </a:r>
          </a:p>
        </p:txBody>
      </p:sp>
      <p:sp>
        <p:nvSpPr>
          <p:cNvPr id="100" name="C0"/>
          <p:cNvSpPr/>
          <p:nvPr/>
        </p:nvSpPr>
        <p:spPr>
          <a:xfrm>
            <a:off x="355600" y="1219200"/>
            <a:ext cx="2667000" cy="34798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01" name="A0"/>
          <p:cNvSpPr/>
          <p:nvPr/>
        </p:nvSpPr>
        <p:spPr>
          <a:xfrm>
            <a:off x="355600" y="1219200"/>
            <a:ext cx="2667000" cy="50800"/>
          </a:xfrm>
          <a:prstGeom prst="roundRect">
            <a:avLst>
              <a:gd name="adj" fmla="val 50000"/>
            </a:avLst>
          </a:prstGeom>
          <a:solidFill>
            <a:srgbClr val="EB1A63"/>
          </a:solidFill>
          <a:ln>
            <a:noFill/>
          </a:ln>
        </p:spPr>
        <p:txBody>
          <a:bodyPr/>
          <a:lstStyle/>
          <a:p>
            <a:endParaRPr lang="en-US"/>
          </a:p>
        </p:txBody>
      </p:sp>
      <p:sp>
        <p:nvSpPr>
          <p:cNvPr id="102" name="N0"/>
          <p:cNvSpPr/>
          <p:nvPr/>
        </p:nvSpPr>
        <p:spPr>
          <a:xfrm>
            <a:off x="508000" y="1397000"/>
            <a:ext cx="2362200" cy="228600"/>
          </a:xfrm>
          <a:prstGeom prst="rect">
            <a:avLst/>
          </a:prstGeom>
          <a:noFill/>
          <a:ln>
            <a:noFill/>
          </a:ln>
        </p:spPr>
        <p:txBody>
          <a:bodyPr wrap="square" lIns="0" tIns="0" rIns="0" bIns="0" anchor="t"/>
          <a:lstStyle/>
          <a:p>
            <a:pPr>
              <a:buNone/>
            </a:pPr>
            <a:r>
              <a:rPr lang="en-US" sz="800" b="1" spc="150" dirty="0">
                <a:solidFill>
                  <a:srgbClr val="EB1A63"/>
                </a:solidFill>
                <a:latin typeface="Calibri"/>
              </a:rPr>
              <a:t>01  ·  DX GRAPH</a:t>
            </a:r>
          </a:p>
        </p:txBody>
      </p:sp>
      <p:sp>
        <p:nvSpPr>
          <p:cNvPr id="103" name="CT0"/>
          <p:cNvSpPr/>
          <p:nvPr/>
        </p:nvSpPr>
        <p:spPr>
          <a:xfrm>
            <a:off x="508000" y="1676400"/>
            <a:ext cx="2362200" cy="279400"/>
          </a:xfrm>
          <a:prstGeom prst="rect">
            <a:avLst/>
          </a:prstGeom>
          <a:noFill/>
          <a:ln>
            <a:noFill/>
          </a:ln>
        </p:spPr>
        <p:txBody>
          <a:bodyPr wrap="square" lIns="0" tIns="0" rIns="0" bIns="0" anchor="t"/>
          <a:lstStyle/>
          <a:p>
            <a:pPr>
              <a:buNone/>
            </a:pPr>
            <a:r>
              <a:rPr lang="en-US" sz="1600" b="1" dirty="0">
                <a:solidFill>
                  <a:srgbClr val="111827"/>
                </a:solidFill>
                <a:latin typeface="Calibri"/>
              </a:rPr>
              <a:t>Semantic Foundation</a:t>
            </a:r>
          </a:p>
        </p:txBody>
      </p:sp>
      <p:sp>
        <p:nvSpPr>
          <p:cNvPr id="104" name="CD0"/>
          <p:cNvSpPr/>
          <p:nvPr/>
        </p:nvSpPr>
        <p:spPr>
          <a:xfrm>
            <a:off x="508000" y="2032000"/>
            <a:ext cx="2362200" cy="12700"/>
          </a:xfrm>
          <a:prstGeom prst="rect">
            <a:avLst/>
          </a:prstGeom>
          <a:solidFill>
            <a:srgbClr val="E5E7EB"/>
          </a:solidFill>
          <a:ln>
            <a:noFill/>
          </a:ln>
        </p:spPr>
        <p:txBody>
          <a:bodyPr/>
          <a:lstStyle/>
          <a:p>
            <a:endParaRPr lang="en-US"/>
          </a:p>
        </p:txBody>
      </p:sp>
      <p:sp>
        <p:nvSpPr>
          <p:cNvPr id="105" name="CB0"/>
          <p:cNvSpPr/>
          <p:nvPr/>
        </p:nvSpPr>
        <p:spPr>
          <a:xfrm>
            <a:off x="508000" y="2133600"/>
            <a:ext cx="2362200" cy="2006600"/>
          </a:xfrm>
          <a:prstGeom prst="rect">
            <a:avLst/>
          </a:prstGeom>
          <a:noFill/>
          <a:ln>
            <a:noFill/>
          </a:ln>
        </p:spPr>
        <p:txBody>
          <a:bodyPr wrap="square" lIns="0" tIns="0" rIns="0" bIns="0" anchor="t"/>
          <a:lstStyle/>
          <a:p>
            <a:pPr marL="171450" indent="-171450">
              <a:lnSpc>
                <a:spcPts val="1500"/>
              </a:lnSpc>
              <a:spcBef>
                <a:spcPts val="200"/>
              </a:spcBef>
              <a:buFont typeface="Arial"/>
              <a:buChar char="•"/>
            </a:pPr>
            <a:r>
              <a:rPr lang="en-US" sz="900" dirty="0">
                <a:solidFill>
                  <a:srgbClr val="374151"/>
                </a:solidFill>
                <a:latin typeface="Calibri"/>
              </a:rPr>
              <a:t>Single SKU Collection unifying all brands, lines, and component roles</a:t>
            </a:r>
          </a:p>
          <a:p>
            <a:pPr marL="171450" indent="-171450">
              <a:lnSpc>
                <a:spcPts val="1500"/>
              </a:lnSpc>
              <a:spcBef>
                <a:spcPts val="200"/>
              </a:spcBef>
              <a:buFont typeface="Arial"/>
              <a:buChar char="•"/>
            </a:pPr>
            <a:r>
              <a:rPr lang="en-US" sz="900" dirty="0">
                <a:solidFill>
                  <a:srgbClr val="374151"/>
                </a:solidFill>
                <a:latin typeface="Calibri"/>
              </a:rPr>
              <a:t>Dynamic Relationships: COMPATIBLE_WITH, BUNDLES, CONTAINS, MAPS_TO</a:t>
            </a:r>
          </a:p>
          <a:p>
            <a:pPr marL="171450" indent="-171450">
              <a:lnSpc>
                <a:spcPts val="1500"/>
              </a:lnSpc>
              <a:spcBef>
                <a:spcPts val="200"/>
              </a:spcBef>
              <a:buFont typeface="Arial"/>
              <a:buChar char="•"/>
            </a:pPr>
            <a:r>
              <a:rPr lang="en-US" sz="900" dirty="0">
                <a:solidFill>
                  <a:srgbClr val="374151"/>
                </a:solidFill>
                <a:latin typeface="Calibri"/>
              </a:rPr>
              <a:t>Up to 3 parallel Taxonomy Collections via MAPS_TO</a:t>
            </a:r>
          </a:p>
          <a:p>
            <a:pPr marL="171450" indent="-171450">
              <a:lnSpc>
                <a:spcPts val="1500"/>
              </a:lnSpc>
              <a:spcBef>
                <a:spcPts val="200"/>
              </a:spcBef>
              <a:buFont typeface="Arial"/>
              <a:buChar char="•"/>
            </a:pPr>
            <a:r>
              <a:rPr lang="en-US" sz="900" dirty="0">
                <a:solidFill>
                  <a:srgbClr val="374151"/>
                </a:solidFill>
                <a:latin typeface="Calibri"/>
              </a:rPr>
              <a:t>Version-controlled, governed product data</a:t>
            </a:r>
          </a:p>
        </p:txBody>
      </p:sp>
      <p:sp>
        <p:nvSpPr>
          <p:cNvPr id="110" name="C1"/>
          <p:cNvSpPr/>
          <p:nvPr/>
        </p:nvSpPr>
        <p:spPr>
          <a:xfrm>
            <a:off x="3213100" y="1219200"/>
            <a:ext cx="2667000" cy="34798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11" name="A1"/>
          <p:cNvSpPr/>
          <p:nvPr/>
        </p:nvSpPr>
        <p:spPr>
          <a:xfrm>
            <a:off x="3213100" y="1219200"/>
            <a:ext cx="2667000" cy="50800"/>
          </a:xfrm>
          <a:prstGeom prst="roundRect">
            <a:avLst>
              <a:gd name="adj" fmla="val 50000"/>
            </a:avLst>
          </a:prstGeom>
          <a:solidFill>
            <a:srgbClr val="07BCD6"/>
          </a:solidFill>
          <a:ln>
            <a:noFill/>
          </a:ln>
        </p:spPr>
        <p:txBody>
          <a:bodyPr/>
          <a:lstStyle/>
          <a:p>
            <a:endParaRPr lang="en-US"/>
          </a:p>
        </p:txBody>
      </p:sp>
      <p:sp>
        <p:nvSpPr>
          <p:cNvPr id="112" name="N1"/>
          <p:cNvSpPr/>
          <p:nvPr/>
        </p:nvSpPr>
        <p:spPr>
          <a:xfrm>
            <a:off x="3365500" y="1397000"/>
            <a:ext cx="2362200" cy="228600"/>
          </a:xfrm>
          <a:prstGeom prst="rect">
            <a:avLst/>
          </a:prstGeom>
          <a:noFill/>
          <a:ln>
            <a:noFill/>
          </a:ln>
        </p:spPr>
        <p:txBody>
          <a:bodyPr wrap="square" lIns="0" tIns="0" rIns="0" bIns="0" anchor="t"/>
          <a:lstStyle/>
          <a:p>
            <a:pPr>
              <a:buNone/>
            </a:pPr>
            <a:r>
              <a:rPr lang="en-US" sz="800" b="1" spc="150" dirty="0">
                <a:solidFill>
                  <a:srgbClr val="07BCD6"/>
                </a:solidFill>
                <a:latin typeface="Calibri"/>
              </a:rPr>
              <a:t>02  ·  DX ENGINE</a:t>
            </a:r>
          </a:p>
        </p:txBody>
      </p:sp>
      <p:sp>
        <p:nvSpPr>
          <p:cNvPr id="113" name="CT1"/>
          <p:cNvSpPr/>
          <p:nvPr/>
        </p:nvSpPr>
        <p:spPr>
          <a:xfrm>
            <a:off x="3365500" y="1676400"/>
            <a:ext cx="2362200" cy="279400"/>
          </a:xfrm>
          <a:prstGeom prst="rect">
            <a:avLst/>
          </a:prstGeom>
          <a:noFill/>
          <a:ln>
            <a:noFill/>
          </a:ln>
        </p:spPr>
        <p:txBody>
          <a:bodyPr wrap="square" lIns="0" tIns="0" rIns="0" bIns="0" anchor="t"/>
          <a:lstStyle/>
          <a:p>
            <a:pPr>
              <a:buNone/>
            </a:pPr>
            <a:r>
              <a:rPr lang="en-US" sz="1600" b="1" dirty="0">
                <a:solidFill>
                  <a:srgbClr val="111827"/>
                </a:solidFill>
                <a:latin typeface="Calibri"/>
              </a:rPr>
              <a:t>Orchestration</a:t>
            </a:r>
          </a:p>
        </p:txBody>
      </p:sp>
      <p:sp>
        <p:nvSpPr>
          <p:cNvPr id="114" name="CD1"/>
          <p:cNvSpPr/>
          <p:nvPr/>
        </p:nvSpPr>
        <p:spPr>
          <a:xfrm>
            <a:off x="3365500" y="2032000"/>
            <a:ext cx="2362200" cy="12700"/>
          </a:xfrm>
          <a:prstGeom prst="rect">
            <a:avLst/>
          </a:prstGeom>
          <a:solidFill>
            <a:srgbClr val="E5E7EB"/>
          </a:solidFill>
          <a:ln>
            <a:noFill/>
          </a:ln>
        </p:spPr>
        <p:txBody>
          <a:bodyPr/>
          <a:lstStyle/>
          <a:p>
            <a:endParaRPr lang="en-US"/>
          </a:p>
        </p:txBody>
      </p:sp>
      <p:sp>
        <p:nvSpPr>
          <p:cNvPr id="115" name="CB1"/>
          <p:cNvSpPr/>
          <p:nvPr/>
        </p:nvSpPr>
        <p:spPr>
          <a:xfrm>
            <a:off x="3365500" y="2133600"/>
            <a:ext cx="2362200" cy="2006600"/>
          </a:xfrm>
          <a:prstGeom prst="rect">
            <a:avLst/>
          </a:prstGeom>
          <a:noFill/>
          <a:ln>
            <a:noFill/>
          </a:ln>
        </p:spPr>
        <p:txBody>
          <a:bodyPr wrap="square" lIns="0" tIns="0" rIns="0" bIns="0" anchor="t"/>
          <a:lstStyle/>
          <a:p>
            <a:pPr marL="171450" indent="-171450">
              <a:lnSpc>
                <a:spcPts val="1500"/>
              </a:lnSpc>
              <a:spcBef>
                <a:spcPts val="200"/>
              </a:spcBef>
              <a:buFont typeface="Arial"/>
              <a:buChar char="•"/>
            </a:pPr>
            <a:r>
              <a:rPr lang="en-US" sz="900" dirty="0">
                <a:solidFill>
                  <a:srgbClr val="374151"/>
                </a:solidFill>
                <a:latin typeface="Calibri"/>
              </a:rPr>
              <a:t>Real-time orchestration of business rules across channels</a:t>
            </a:r>
          </a:p>
          <a:p>
            <a:pPr marL="171450" indent="-171450">
              <a:lnSpc>
                <a:spcPts val="1500"/>
              </a:lnSpc>
              <a:spcBef>
                <a:spcPts val="200"/>
              </a:spcBef>
              <a:buFont typeface="Arial"/>
              <a:buChar char="•"/>
            </a:pPr>
            <a:r>
              <a:rPr lang="en-US" sz="900" dirty="0">
                <a:solidFill>
                  <a:srgbClr val="374151"/>
                </a:solidFill>
                <a:latin typeface="Calibri"/>
              </a:rPr>
              <a:t>Channel-aware Experience Rules (e.g. Outdoor restrictions, Quickship eligibility)</a:t>
            </a:r>
          </a:p>
          <a:p>
            <a:pPr marL="171450" indent="-171450">
              <a:lnSpc>
                <a:spcPts val="1500"/>
              </a:lnSpc>
              <a:spcBef>
                <a:spcPts val="200"/>
              </a:spcBef>
              <a:buFont typeface="Arial"/>
              <a:buChar char="•"/>
            </a:pPr>
            <a:r>
              <a:rPr lang="en-US" sz="900" dirty="0">
                <a:solidFill>
                  <a:srgbClr val="374151"/>
                </a:solidFill>
                <a:latin typeface="Calibri"/>
              </a:rPr>
              <a:t>Deterministic logic + AI-assisted decisioning where it adds value</a:t>
            </a:r>
          </a:p>
          <a:p>
            <a:pPr marL="171450" indent="-171450">
              <a:lnSpc>
                <a:spcPts val="1500"/>
              </a:lnSpc>
              <a:spcBef>
                <a:spcPts val="200"/>
              </a:spcBef>
              <a:buFont typeface="Arial"/>
              <a:buChar char="•"/>
            </a:pPr>
            <a:r>
              <a:rPr lang="en-US" sz="900" dirty="0">
                <a:solidFill>
                  <a:srgbClr val="374151"/>
                </a:solidFill>
                <a:latin typeface="Calibri"/>
              </a:rPr>
              <a:t>Zero-code configuration through Conscia UI</a:t>
            </a:r>
          </a:p>
        </p:txBody>
      </p:sp>
      <p:sp>
        <p:nvSpPr>
          <p:cNvPr id="120" name="C2"/>
          <p:cNvSpPr/>
          <p:nvPr/>
        </p:nvSpPr>
        <p:spPr>
          <a:xfrm>
            <a:off x="6070600" y="1219200"/>
            <a:ext cx="2667000" cy="34798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21" name="A2"/>
          <p:cNvSpPr/>
          <p:nvPr/>
        </p:nvSpPr>
        <p:spPr>
          <a:xfrm>
            <a:off x="6070600" y="1219200"/>
            <a:ext cx="2667000" cy="50800"/>
          </a:xfrm>
          <a:prstGeom prst="roundRect">
            <a:avLst>
              <a:gd name="adj" fmla="val 50000"/>
            </a:avLst>
          </a:prstGeom>
          <a:solidFill>
            <a:srgbClr val="8AC542"/>
          </a:solidFill>
          <a:ln>
            <a:noFill/>
          </a:ln>
        </p:spPr>
        <p:txBody>
          <a:bodyPr/>
          <a:lstStyle/>
          <a:p>
            <a:endParaRPr lang="en-US"/>
          </a:p>
        </p:txBody>
      </p:sp>
      <p:sp>
        <p:nvSpPr>
          <p:cNvPr id="122" name="N2"/>
          <p:cNvSpPr/>
          <p:nvPr/>
        </p:nvSpPr>
        <p:spPr>
          <a:xfrm>
            <a:off x="6223000" y="1397000"/>
            <a:ext cx="2362200" cy="228600"/>
          </a:xfrm>
          <a:prstGeom prst="rect">
            <a:avLst/>
          </a:prstGeom>
          <a:noFill/>
          <a:ln>
            <a:noFill/>
          </a:ln>
        </p:spPr>
        <p:txBody>
          <a:bodyPr wrap="square" lIns="0" tIns="0" rIns="0" bIns="0" anchor="t"/>
          <a:lstStyle/>
          <a:p>
            <a:pPr>
              <a:buNone/>
            </a:pPr>
            <a:r>
              <a:rPr lang="en-US" sz="800" b="1" spc="150" dirty="0">
                <a:solidFill>
                  <a:srgbClr val="8AC542"/>
                </a:solidFill>
                <a:latin typeface="Calibri"/>
              </a:rPr>
              <a:t>03  ·  EXPERIENCE APIs</a:t>
            </a:r>
          </a:p>
        </p:txBody>
      </p:sp>
      <p:sp>
        <p:nvSpPr>
          <p:cNvPr id="123" name="CT2"/>
          <p:cNvSpPr/>
          <p:nvPr/>
        </p:nvSpPr>
        <p:spPr>
          <a:xfrm>
            <a:off x="6223000" y="1676400"/>
            <a:ext cx="2362200" cy="279400"/>
          </a:xfrm>
          <a:prstGeom prst="rect">
            <a:avLst/>
          </a:prstGeom>
          <a:noFill/>
          <a:ln>
            <a:noFill/>
          </a:ln>
        </p:spPr>
        <p:txBody>
          <a:bodyPr wrap="square" lIns="0" tIns="0" rIns="0" bIns="0" anchor="t"/>
          <a:lstStyle/>
          <a:p>
            <a:pPr>
              <a:buNone/>
            </a:pPr>
            <a:r>
              <a:rPr lang="en-US" sz="1600" b="1" dirty="0">
                <a:solidFill>
                  <a:srgbClr val="111827"/>
                </a:solidFill>
                <a:latin typeface="Calibri"/>
              </a:rPr>
              <a:t>Experience APIs</a:t>
            </a:r>
          </a:p>
        </p:txBody>
      </p:sp>
      <p:sp>
        <p:nvSpPr>
          <p:cNvPr id="124" name="CD2"/>
          <p:cNvSpPr/>
          <p:nvPr/>
        </p:nvSpPr>
        <p:spPr>
          <a:xfrm>
            <a:off x="6223000" y="2032000"/>
            <a:ext cx="2362200" cy="12700"/>
          </a:xfrm>
          <a:prstGeom prst="rect">
            <a:avLst/>
          </a:prstGeom>
          <a:solidFill>
            <a:srgbClr val="E5E7EB"/>
          </a:solidFill>
          <a:ln>
            <a:noFill/>
          </a:ln>
        </p:spPr>
        <p:txBody>
          <a:bodyPr/>
          <a:lstStyle/>
          <a:p>
            <a:endParaRPr lang="en-US"/>
          </a:p>
        </p:txBody>
      </p:sp>
      <p:sp>
        <p:nvSpPr>
          <p:cNvPr id="125" name="CB2"/>
          <p:cNvSpPr/>
          <p:nvPr/>
        </p:nvSpPr>
        <p:spPr>
          <a:xfrm>
            <a:off x="6223000" y="2133600"/>
            <a:ext cx="2362200" cy="2006600"/>
          </a:xfrm>
          <a:prstGeom prst="rect">
            <a:avLst/>
          </a:prstGeom>
          <a:noFill/>
          <a:ln>
            <a:noFill/>
          </a:ln>
        </p:spPr>
        <p:txBody>
          <a:bodyPr wrap="square" lIns="0" tIns="0" rIns="0" bIns="0" anchor="t"/>
          <a:lstStyle/>
          <a:p>
            <a:pPr marL="171450" indent="-171450">
              <a:lnSpc>
                <a:spcPts val="1500"/>
              </a:lnSpc>
              <a:spcBef>
                <a:spcPts val="200"/>
              </a:spcBef>
              <a:buFont typeface="Arial"/>
              <a:buChar char="•"/>
            </a:pPr>
            <a:r>
              <a:rPr lang="en-US" sz="900" dirty="0">
                <a:solidFill>
                  <a:srgbClr val="374151"/>
                </a:solidFill>
                <a:latin typeface="Calibri"/>
              </a:rPr>
              <a:t>One Experience API serving POS, web, mobile, agents, and feeds</a:t>
            </a:r>
          </a:p>
          <a:p>
            <a:pPr marL="171450" indent="-171450">
              <a:lnSpc>
                <a:spcPts val="1500"/>
              </a:lnSpc>
              <a:spcBef>
                <a:spcPts val="200"/>
              </a:spcBef>
              <a:buFont typeface="Arial"/>
              <a:buChar char="•"/>
            </a:pPr>
            <a:r>
              <a:rPr lang="en-US" sz="900" dirty="0">
                <a:solidFill>
                  <a:srgbClr val="374151"/>
                </a:solidFill>
                <a:latin typeface="Calibri"/>
              </a:rPr>
              <a:t>Sub-second responses at the edge</a:t>
            </a:r>
          </a:p>
          <a:p>
            <a:pPr marL="171450" indent="-171450">
              <a:lnSpc>
                <a:spcPts val="1500"/>
              </a:lnSpc>
              <a:spcBef>
                <a:spcPts val="200"/>
              </a:spcBef>
              <a:buFont typeface="Arial"/>
              <a:buChar char="•"/>
            </a:pPr>
            <a:r>
              <a:rPr lang="en-US" sz="900" dirty="0">
                <a:solidFill>
                  <a:srgbClr val="374151"/>
                </a:solidFill>
                <a:latin typeface="Calibri"/>
              </a:rPr>
              <a:t>Native MCP endpoint — agent-ready by design</a:t>
            </a:r>
          </a:p>
          <a:p>
            <a:pPr marL="171450" indent="-171450">
              <a:lnSpc>
                <a:spcPts val="1500"/>
              </a:lnSpc>
              <a:spcBef>
                <a:spcPts val="200"/>
              </a:spcBef>
              <a:buFont typeface="Arial"/>
              <a:buChar char="•"/>
            </a:pPr>
            <a:r>
              <a:rPr lang="en-US" sz="900" dirty="0">
                <a:solidFill>
                  <a:srgbClr val="374151"/>
                </a:solidFill>
                <a:latin typeface="Calibri"/>
              </a:rPr>
              <a:t>No frontend glue code; no per-channel reimplementation</a:t>
            </a:r>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300" name="SO0"/>
          <p:cNvSpPr/>
          <p:nvPr/>
        </p:nvSpPr>
        <p:spPr>
          <a:xfrm>
            <a:off x="355600" y="4191000"/>
            <a:ext cx="2667000" cy="304800"/>
          </a:xfrm>
          <a:prstGeom prst="rect">
            <a:avLst/>
          </a:prstGeom>
          <a:solidFill>
            <a:srgbClr val="FFF0F5"/>
          </a:solidFill>
          <a:ln>
            <a:noFill/>
          </a:ln>
        </p:spPr>
        <p:txBody>
          <a:bodyPr wrap="square" lIns="91440" tIns="0" rIns="91440" bIns="0" anchor="ctr"/>
          <a:lstStyle/>
          <a:p>
            <a:pPr algn="ctr">
              <a:buNone/>
            </a:pPr>
            <a:r>
              <a:rPr lang="en-US" sz="850" b="1" i="1" dirty="0">
                <a:solidFill>
                  <a:srgbClr val="9B0038"/>
                </a:solidFill>
                <a:latin typeface="Calibri"/>
              </a:rPr>
              <a:t>One model. One source of truth.</a:t>
            </a:r>
          </a:p>
        </p:txBody>
      </p:sp>
      <p:sp>
        <p:nvSpPr>
          <p:cNvPr id="301" name="SO1"/>
          <p:cNvSpPr/>
          <p:nvPr/>
        </p:nvSpPr>
        <p:spPr>
          <a:xfrm>
            <a:off x="3213100" y="4191000"/>
            <a:ext cx="2667000" cy="304800"/>
          </a:xfrm>
          <a:prstGeom prst="rect">
            <a:avLst/>
          </a:prstGeom>
          <a:solidFill>
            <a:srgbClr val="F0FAFC"/>
          </a:solidFill>
          <a:ln>
            <a:noFill/>
          </a:ln>
        </p:spPr>
        <p:txBody>
          <a:bodyPr wrap="square" lIns="91440" tIns="0" rIns="91440" bIns="0" anchor="ctr"/>
          <a:lstStyle/>
          <a:p>
            <a:pPr algn="ctr">
              <a:buNone/>
            </a:pPr>
            <a:r>
              <a:rPr lang="en-US" sz="850" b="1" i="1" dirty="0">
                <a:solidFill>
                  <a:srgbClr val="0A6B80"/>
                </a:solidFill>
                <a:latin typeface="Calibri"/>
              </a:rPr>
              <a:t>Rules in one place — not duplicated per channel.</a:t>
            </a:r>
          </a:p>
        </p:txBody>
      </p:sp>
      <p:sp>
        <p:nvSpPr>
          <p:cNvPr id="302" name="SO2"/>
          <p:cNvSpPr/>
          <p:nvPr/>
        </p:nvSpPr>
        <p:spPr>
          <a:xfrm>
            <a:off x="6070600" y="4191000"/>
            <a:ext cx="2667000" cy="304800"/>
          </a:xfrm>
          <a:prstGeom prst="rect">
            <a:avLst/>
          </a:prstGeom>
          <a:solidFill>
            <a:srgbClr val="F4FAE8"/>
          </a:solidFill>
          <a:ln>
            <a:noFill/>
          </a:ln>
        </p:spPr>
        <p:txBody>
          <a:bodyPr wrap="square" lIns="91440" tIns="0" rIns="91440" bIns="0" anchor="ctr"/>
          <a:lstStyle/>
          <a:p>
            <a:pPr algn="ctr">
              <a:buNone/>
            </a:pPr>
            <a:r>
              <a:rPr lang="en-US" sz="850" b="1" i="1" dirty="0">
                <a:solidFill>
                  <a:srgbClr val="3D6B12"/>
                </a:solidFill>
                <a:latin typeface="Calibri"/>
              </a:rPr>
              <a:t>New channels go live in days, not quarters.</a:t>
            </a:r>
          </a:p>
        </p:txBody>
      </p:sp>
    </p:spTree>
    <p:extLst>
      <p:ext uri="{BB962C8B-B14F-4D97-AF65-F5344CB8AC3E}">
        <p14:creationId xmlns:p14="http://schemas.microsoft.com/office/powerpoint/2010/main" val="879215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201"/>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Proposed Architecture Fit</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13" name="Sub"/>
          <p:cNvSpPr/>
          <p:nvPr/>
        </p:nvSpPr>
        <p:spPr>
          <a:xfrm>
            <a:off x="355600" y="762000"/>
            <a:ext cx="8432800" cy="203200"/>
          </a:xfrm>
          <a:prstGeom prst="rect">
            <a:avLst/>
          </a:prstGeom>
          <a:noFill/>
          <a:ln>
            <a:noFill/>
          </a:ln>
        </p:spPr>
        <p:txBody>
          <a:bodyPr wrap="square" lIns="0" tIns="0" rIns="0" bIns="0" anchor="ctr"/>
          <a:lstStyle/>
          <a:p>
            <a:pPr>
              <a:buNone/>
            </a:pPr>
            <a:r>
              <a:rPr lang="en-US" sz="900" dirty="0">
                <a:solidFill>
                  <a:srgbClr val="6B7280"/>
                </a:solidFill>
                <a:latin typeface="Calibri"/>
              </a:rPr>
              <a:t>Two complementary platform capabilities that together make Conscia the governed product master for Lovesac.</a:t>
            </a:r>
          </a:p>
        </p:txBody>
      </p:sp>
      <p:sp>
        <p:nvSpPr>
          <p:cNvPr id="100" name="CC0"/>
          <p:cNvSpPr/>
          <p:nvPr/>
        </p:nvSpPr>
        <p:spPr>
          <a:xfrm>
            <a:off x="355600" y="1041400"/>
            <a:ext cx="4064000" cy="36830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01" name="CA0"/>
          <p:cNvSpPr/>
          <p:nvPr/>
        </p:nvSpPr>
        <p:spPr>
          <a:xfrm>
            <a:off x="355600" y="1041400"/>
            <a:ext cx="4064000" cy="50800"/>
          </a:xfrm>
          <a:prstGeom prst="roundRect">
            <a:avLst>
              <a:gd name="adj" fmla="val 50000"/>
            </a:avLst>
          </a:prstGeom>
          <a:solidFill>
            <a:srgbClr val="EB1A63"/>
          </a:solidFill>
          <a:ln>
            <a:noFill/>
          </a:ln>
        </p:spPr>
        <p:txBody>
          <a:bodyPr/>
          <a:lstStyle/>
          <a:p>
            <a:endParaRPr lang="en-US"/>
          </a:p>
        </p:txBody>
      </p:sp>
      <p:sp>
        <p:nvSpPr>
          <p:cNvPr id="102" name="CL0"/>
          <p:cNvSpPr/>
          <p:nvPr/>
        </p:nvSpPr>
        <p:spPr>
          <a:xfrm>
            <a:off x="533400" y="1193800"/>
            <a:ext cx="1524000" cy="177800"/>
          </a:xfrm>
          <a:prstGeom prst="rect">
            <a:avLst/>
          </a:prstGeom>
          <a:noFill/>
          <a:ln>
            <a:noFill/>
          </a:ln>
        </p:spPr>
        <p:txBody>
          <a:bodyPr wrap="square" lIns="0" tIns="0" rIns="0" bIns="0" anchor="t"/>
          <a:lstStyle/>
          <a:p>
            <a:pPr>
              <a:buNone/>
            </a:pPr>
            <a:r>
              <a:rPr lang="en-US" sz="800" b="1" spc="150" dirty="0">
                <a:solidFill>
                  <a:srgbClr val="EB1A63"/>
                </a:solidFill>
                <a:latin typeface="Calibri"/>
              </a:rPr>
              <a:t>DX GRAPH</a:t>
            </a:r>
          </a:p>
        </p:txBody>
      </p:sp>
      <p:sp>
        <p:nvSpPr>
          <p:cNvPr id="103" name="CT0"/>
          <p:cNvSpPr/>
          <p:nvPr/>
        </p:nvSpPr>
        <p:spPr>
          <a:xfrm>
            <a:off x="533400" y="1422400"/>
            <a:ext cx="3683000" cy="279400"/>
          </a:xfrm>
          <a:prstGeom prst="rect">
            <a:avLst/>
          </a:prstGeom>
          <a:noFill/>
          <a:ln>
            <a:noFill/>
          </a:ln>
        </p:spPr>
        <p:txBody>
          <a:bodyPr wrap="square" lIns="0" tIns="0" rIns="0" bIns="0" anchor="t"/>
          <a:lstStyle/>
          <a:p>
            <a:pPr>
              <a:buNone/>
            </a:pPr>
            <a:r>
              <a:rPr lang="en-US" sz="1400" b="1" dirty="0">
                <a:solidFill>
                  <a:srgbClr val="111827"/>
                </a:solidFill>
                <a:latin typeface="Calibri"/>
              </a:rPr>
              <a:t>Governed Product Data Layer</a:t>
            </a:r>
          </a:p>
        </p:txBody>
      </p:sp>
      <p:sp>
        <p:nvSpPr>
          <p:cNvPr id="104" name="CTag0"/>
          <p:cNvSpPr/>
          <p:nvPr/>
        </p:nvSpPr>
        <p:spPr>
          <a:xfrm>
            <a:off x="533400" y="1739900"/>
            <a:ext cx="3683000" cy="203200"/>
          </a:xfrm>
          <a:prstGeom prst="rect">
            <a:avLst/>
          </a:prstGeom>
          <a:noFill/>
          <a:ln>
            <a:noFill/>
          </a:ln>
        </p:spPr>
        <p:txBody>
          <a:bodyPr wrap="square" lIns="0" tIns="0" rIns="0" bIns="0" anchor="t"/>
          <a:lstStyle/>
          <a:p>
            <a:pPr>
              <a:buNone/>
            </a:pPr>
            <a:r>
              <a:rPr lang="en-US" sz="1000" i="1" dirty="0">
                <a:solidFill>
                  <a:srgbClr val="9CA3AF"/>
                </a:solidFill>
                <a:latin typeface="Calibri"/>
              </a:rPr>
              <a:t>"What is true?"</a:t>
            </a:r>
          </a:p>
        </p:txBody>
      </p:sp>
      <p:sp>
        <p:nvSpPr>
          <p:cNvPr id="105" name="CD0"/>
          <p:cNvSpPr/>
          <p:nvPr/>
        </p:nvSpPr>
        <p:spPr>
          <a:xfrm>
            <a:off x="533400" y="2006600"/>
            <a:ext cx="3683000" cy="12700"/>
          </a:xfrm>
          <a:prstGeom prst="rect">
            <a:avLst/>
          </a:prstGeom>
          <a:solidFill>
            <a:srgbClr val="E5E7EB"/>
          </a:solidFill>
          <a:ln>
            <a:noFill/>
          </a:ln>
        </p:spPr>
        <p:txBody>
          <a:bodyPr/>
          <a:lstStyle/>
          <a:p>
            <a:endParaRPr lang="en-US"/>
          </a:p>
        </p:txBody>
      </p:sp>
      <p:sp>
        <p:nvSpPr>
          <p:cNvPr id="106" name="CB0"/>
          <p:cNvSpPr/>
          <p:nvPr/>
        </p:nvSpPr>
        <p:spPr>
          <a:xfrm>
            <a:off x="533400" y="2108200"/>
            <a:ext cx="3683000" cy="2476500"/>
          </a:xfrm>
          <a:prstGeom prst="rect">
            <a:avLst/>
          </a:prstGeom>
          <a:noFill/>
          <a:ln>
            <a:noFill/>
          </a:ln>
        </p:spPr>
        <p:txBody>
          <a:bodyPr wrap="square" lIns="0" tIns="0" rIns="0" bIns="0" anchor="t"/>
          <a:lstStyle/>
          <a:p>
            <a:pPr marL="171450" indent="-171450">
              <a:lnSpc>
                <a:spcPts val="1300"/>
              </a:lnSpc>
              <a:spcBef>
                <a:spcPts val="200"/>
              </a:spcBef>
              <a:buFont typeface="Arial"/>
              <a:buChar char="•"/>
            </a:pPr>
            <a:r>
              <a:rPr lang="en-US" sz="850" b="1" dirty="0">
                <a:solidFill>
                  <a:srgbClr val="111827"/>
                </a:solidFill>
                <a:latin typeface="Calibri"/>
              </a:rPr>
              <a:t>Unified SKU Collection</a:t>
            </a:r>
            <a:r>
              <a:rPr lang="en-US" sz="850" dirty="0">
                <a:solidFill>
                  <a:srgbClr val="6B7280"/>
                </a:solidFill>
                <a:latin typeface="Calibri"/>
              </a:rPr>
              <a:t> — Sactional, Sac, Snugg, and Accessories — 28,089 SKUs in one model</a:t>
            </a:r>
          </a:p>
          <a:p>
            <a:pPr marL="171450" indent="-171450">
              <a:lnSpc>
                <a:spcPts val="1300"/>
              </a:lnSpc>
              <a:spcBef>
                <a:spcPts val="200"/>
              </a:spcBef>
              <a:buFont typeface="Arial"/>
              <a:buChar char="•"/>
            </a:pPr>
            <a:r>
              <a:rPr lang="en-US" sz="850" b="1" dirty="0">
                <a:solidFill>
                  <a:srgbClr val="111827"/>
                </a:solidFill>
                <a:latin typeface="Calibri"/>
              </a:rPr>
              <a:t>Cover ↔ Insert compatibility</a:t>
            </a:r>
            <a:r>
              <a:rPr lang="en-US" sz="850" dirty="0">
                <a:solidFill>
                  <a:srgbClr val="6B7280"/>
                </a:solidFill>
                <a:latin typeface="Calibri"/>
              </a:rPr>
              <a:t> encoded as a Dynamic Relationship (no manual tagging — covers all 15,506 Covers automatically)</a:t>
            </a:r>
          </a:p>
          <a:p>
            <a:pPr marL="171450" indent="-171450">
              <a:lnSpc>
                <a:spcPts val="1300"/>
              </a:lnSpc>
              <a:spcBef>
                <a:spcPts val="200"/>
              </a:spcBef>
              <a:buFont typeface="Arial"/>
              <a:buChar char="•"/>
            </a:pPr>
            <a:r>
              <a:rPr lang="en-US" sz="850" b="1" dirty="0">
                <a:solidFill>
                  <a:srgbClr val="111827"/>
                </a:solidFill>
                <a:latin typeface="Calibri"/>
              </a:rPr>
              <a:t>Up to 3 parallel Taxonomies</a:t>
            </a:r>
            <a:r>
              <a:rPr lang="en-US" sz="850" dirty="0">
                <a:solidFill>
                  <a:srgbClr val="6B7280"/>
                </a:solidFill>
                <a:latin typeface="Calibri"/>
              </a:rPr>
              <a:t> — internal ops, Lovesac.com, and marketplace feeds</a:t>
            </a:r>
          </a:p>
          <a:p>
            <a:pPr marL="171450" indent="-171450">
              <a:lnSpc>
                <a:spcPts val="1300"/>
              </a:lnSpc>
              <a:spcBef>
                <a:spcPts val="200"/>
              </a:spcBef>
              <a:buFont typeface="Arial"/>
              <a:buChar char="•"/>
            </a:pPr>
            <a:r>
              <a:rPr lang="en-US" sz="850" dirty="0">
                <a:solidFill>
                  <a:srgbClr val="6B7280"/>
                </a:solidFill>
                <a:latin typeface="Calibri"/>
              </a:rPr>
              <a:t>Version-controlled and audit-ready</a:t>
            </a:r>
          </a:p>
        </p:txBody>
      </p:sp>
      <p:sp>
        <p:nvSpPr>
          <p:cNvPr id="110" name="CC1"/>
          <p:cNvSpPr/>
          <p:nvPr/>
        </p:nvSpPr>
        <p:spPr>
          <a:xfrm>
            <a:off x="4699000" y="1041400"/>
            <a:ext cx="4064000" cy="36830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11" name="CA1"/>
          <p:cNvSpPr/>
          <p:nvPr/>
        </p:nvSpPr>
        <p:spPr>
          <a:xfrm>
            <a:off x="4699000" y="1041400"/>
            <a:ext cx="4064000" cy="50800"/>
          </a:xfrm>
          <a:prstGeom prst="roundRect">
            <a:avLst>
              <a:gd name="adj" fmla="val 50000"/>
            </a:avLst>
          </a:prstGeom>
          <a:solidFill>
            <a:srgbClr val="07BCD6"/>
          </a:solidFill>
          <a:ln>
            <a:noFill/>
          </a:ln>
        </p:spPr>
        <p:txBody>
          <a:bodyPr/>
          <a:lstStyle/>
          <a:p>
            <a:endParaRPr lang="en-US"/>
          </a:p>
        </p:txBody>
      </p:sp>
      <p:sp>
        <p:nvSpPr>
          <p:cNvPr id="112" name="CL1"/>
          <p:cNvSpPr/>
          <p:nvPr/>
        </p:nvSpPr>
        <p:spPr>
          <a:xfrm>
            <a:off x="4876800" y="1193800"/>
            <a:ext cx="1524000" cy="177800"/>
          </a:xfrm>
          <a:prstGeom prst="rect">
            <a:avLst/>
          </a:prstGeom>
          <a:noFill/>
          <a:ln>
            <a:noFill/>
          </a:ln>
        </p:spPr>
        <p:txBody>
          <a:bodyPr wrap="square" lIns="0" tIns="0" rIns="0" bIns="0" anchor="t"/>
          <a:lstStyle/>
          <a:p>
            <a:pPr>
              <a:buNone/>
            </a:pPr>
            <a:r>
              <a:rPr lang="en-US" sz="800" b="1" spc="150" dirty="0">
                <a:solidFill>
                  <a:srgbClr val="07BCD6"/>
                </a:solidFill>
                <a:latin typeface="Calibri"/>
              </a:rPr>
              <a:t>DX ENGINE</a:t>
            </a:r>
          </a:p>
        </p:txBody>
      </p:sp>
      <p:sp>
        <p:nvSpPr>
          <p:cNvPr id="113" name="CT1"/>
          <p:cNvSpPr/>
          <p:nvPr/>
        </p:nvSpPr>
        <p:spPr>
          <a:xfrm>
            <a:off x="4876800" y="1422400"/>
            <a:ext cx="3683000" cy="279400"/>
          </a:xfrm>
          <a:prstGeom prst="rect">
            <a:avLst/>
          </a:prstGeom>
          <a:noFill/>
          <a:ln>
            <a:noFill/>
          </a:ln>
        </p:spPr>
        <p:txBody>
          <a:bodyPr wrap="square" lIns="0" tIns="0" rIns="0" bIns="0" anchor="t"/>
          <a:lstStyle/>
          <a:p>
            <a:pPr>
              <a:buNone/>
            </a:pPr>
            <a:r>
              <a:rPr lang="en-US" sz="1400" b="1" dirty="0">
                <a:solidFill>
                  <a:srgbClr val="111827"/>
                </a:solidFill>
                <a:latin typeface="Calibri"/>
              </a:rPr>
              <a:t>Real-Time Orchestration Layer</a:t>
            </a:r>
          </a:p>
        </p:txBody>
      </p:sp>
      <p:sp>
        <p:nvSpPr>
          <p:cNvPr id="114" name="CTag1"/>
          <p:cNvSpPr/>
          <p:nvPr/>
        </p:nvSpPr>
        <p:spPr>
          <a:xfrm>
            <a:off x="4876800" y="1739900"/>
            <a:ext cx="3683000" cy="203200"/>
          </a:xfrm>
          <a:prstGeom prst="rect">
            <a:avLst/>
          </a:prstGeom>
          <a:noFill/>
          <a:ln>
            <a:noFill/>
          </a:ln>
        </p:spPr>
        <p:txBody>
          <a:bodyPr wrap="square" lIns="0" tIns="0" rIns="0" bIns="0" anchor="t"/>
          <a:lstStyle/>
          <a:p>
            <a:pPr>
              <a:buNone/>
            </a:pPr>
            <a:r>
              <a:rPr lang="en-US" sz="1000" i="1" dirty="0">
                <a:solidFill>
                  <a:srgbClr val="9CA3AF"/>
                </a:solidFill>
                <a:latin typeface="Calibri"/>
              </a:rPr>
              <a:t>"What should happen?"</a:t>
            </a:r>
          </a:p>
        </p:txBody>
      </p:sp>
      <p:sp>
        <p:nvSpPr>
          <p:cNvPr id="115" name="CD1"/>
          <p:cNvSpPr/>
          <p:nvPr/>
        </p:nvSpPr>
        <p:spPr>
          <a:xfrm>
            <a:off x="4876800" y="2006600"/>
            <a:ext cx="3683000" cy="12700"/>
          </a:xfrm>
          <a:prstGeom prst="rect">
            <a:avLst/>
          </a:prstGeom>
          <a:solidFill>
            <a:srgbClr val="E5E7EB"/>
          </a:solidFill>
          <a:ln>
            <a:noFill/>
          </a:ln>
        </p:spPr>
        <p:txBody>
          <a:bodyPr/>
          <a:lstStyle/>
          <a:p>
            <a:endParaRPr lang="en-US"/>
          </a:p>
        </p:txBody>
      </p:sp>
      <p:sp>
        <p:nvSpPr>
          <p:cNvPr id="116" name="CB1"/>
          <p:cNvSpPr/>
          <p:nvPr/>
        </p:nvSpPr>
        <p:spPr>
          <a:xfrm>
            <a:off x="4876800" y="2108200"/>
            <a:ext cx="3683000" cy="2476500"/>
          </a:xfrm>
          <a:prstGeom prst="rect">
            <a:avLst/>
          </a:prstGeom>
          <a:noFill/>
          <a:ln>
            <a:noFill/>
          </a:ln>
        </p:spPr>
        <p:txBody>
          <a:bodyPr wrap="square" lIns="0" tIns="0" rIns="0" bIns="0" anchor="t"/>
          <a:lstStyle/>
          <a:p>
            <a:pPr marL="171450" indent="-171450">
              <a:lnSpc>
                <a:spcPts val="1300"/>
              </a:lnSpc>
              <a:spcBef>
                <a:spcPts val="200"/>
              </a:spcBef>
              <a:buFont typeface="Arial"/>
              <a:buChar char="•"/>
            </a:pPr>
            <a:r>
              <a:rPr lang="en-US" sz="850" b="1" dirty="0">
                <a:solidFill>
                  <a:srgbClr val="111827"/>
                </a:solidFill>
                <a:latin typeface="Calibri"/>
              </a:rPr>
              <a:t>Config Validation</a:t>
            </a:r>
            <a:r>
              <a:rPr lang="en-US" sz="850" dirty="0">
                <a:solidFill>
                  <a:srgbClr val="6B7280"/>
                </a:solidFill>
                <a:latin typeface="Calibri"/>
              </a:rPr>
              <a:t> — does this combination obey all the rules?</a:t>
            </a:r>
          </a:p>
          <a:p>
            <a:pPr marL="171450" indent="-171450">
              <a:lnSpc>
                <a:spcPts val="1300"/>
              </a:lnSpc>
              <a:spcBef>
                <a:spcPts val="200"/>
              </a:spcBef>
              <a:buFont typeface="Arial"/>
              <a:buChar char="•"/>
            </a:pPr>
            <a:r>
              <a:rPr lang="en-US" sz="850" b="1" dirty="0">
                <a:solidFill>
                  <a:srgbClr val="111827"/>
                </a:solidFill>
                <a:latin typeface="Calibri"/>
              </a:rPr>
              <a:t>Wizard-Step Options</a:t>
            </a:r>
            <a:r>
              <a:rPr lang="en-US" sz="850" dirty="0">
                <a:solidFill>
                  <a:srgbClr val="6B7280"/>
                </a:solidFill>
                <a:latin typeface="Calibri"/>
              </a:rPr>
              <a:t> — what can the customer pick next, given what they've already chosen?</a:t>
            </a:r>
          </a:p>
          <a:p>
            <a:pPr marL="171450" indent="-171450">
              <a:lnSpc>
                <a:spcPts val="1300"/>
              </a:lnSpc>
              <a:spcBef>
                <a:spcPts val="200"/>
              </a:spcBef>
              <a:buFont typeface="Arial"/>
              <a:buChar char="•"/>
            </a:pPr>
            <a:r>
              <a:rPr lang="en-US" sz="850" b="1" dirty="0">
                <a:solidFill>
                  <a:srgbClr val="111827"/>
                </a:solidFill>
                <a:latin typeface="Calibri"/>
              </a:rPr>
              <a:t>Config ID Creation</a:t>
            </a:r>
            <a:r>
              <a:rPr lang="en-US" sz="850" dirty="0">
                <a:solidFill>
                  <a:srgbClr val="6B7280"/>
                </a:solidFill>
                <a:latin typeface="Calibri"/>
              </a:rPr>
              <a:t> — durable identifier for a saved configuration</a:t>
            </a:r>
          </a:p>
          <a:p>
            <a:pPr marL="171450" indent="-171450">
              <a:lnSpc>
                <a:spcPts val="1300"/>
              </a:lnSpc>
              <a:spcBef>
                <a:spcPts val="200"/>
              </a:spcBef>
              <a:buFont typeface="Arial"/>
              <a:buChar char="•"/>
            </a:pPr>
            <a:r>
              <a:rPr lang="en-US" sz="850" b="1" dirty="0">
                <a:solidFill>
                  <a:srgbClr val="111827"/>
                </a:solidFill>
                <a:latin typeface="Calibri"/>
              </a:rPr>
              <a:t>BOM Explosion</a:t>
            </a:r>
            <a:r>
              <a:rPr lang="en-US" sz="850" dirty="0">
                <a:solidFill>
                  <a:srgbClr val="6B7280"/>
                </a:solidFill>
                <a:latin typeface="Calibri"/>
              </a:rPr>
              <a:t> — turn a finished good into shippable components, shaped per channel (POS / OMS / warehouse pick list)</a:t>
            </a:r>
          </a:p>
          <a:p>
            <a:pPr marL="171450" indent="-171450">
              <a:lnSpc>
                <a:spcPts val="1300"/>
              </a:lnSpc>
              <a:spcBef>
                <a:spcPts val="200"/>
              </a:spcBef>
              <a:buFont typeface="Arial"/>
              <a:buChar char="•"/>
            </a:pPr>
            <a:r>
              <a:rPr lang="en-US" sz="850" dirty="0">
                <a:solidFill>
                  <a:srgbClr val="6B7280"/>
                </a:solidFill>
                <a:latin typeface="Calibri"/>
              </a:rPr>
              <a:t>One Experience API serving POS, web, agents, and feeds</a:t>
            </a:r>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Tree>
    <p:extLst>
      <p:ext uri="{BB962C8B-B14F-4D97-AF65-F5344CB8AC3E}">
        <p14:creationId xmlns:p14="http://schemas.microsoft.com/office/powerpoint/2010/main" val="1327403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264"/>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Success Metrics &amp; KPIs</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100" name="SC0"/>
          <p:cNvSpPr/>
          <p:nvPr/>
        </p:nvSpPr>
        <p:spPr>
          <a:xfrm>
            <a:off x="330200" y="838200"/>
            <a:ext cx="2730500" cy="3911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01" name="SA0"/>
          <p:cNvSpPr/>
          <p:nvPr/>
        </p:nvSpPr>
        <p:spPr>
          <a:xfrm>
            <a:off x="330200" y="838200"/>
            <a:ext cx="2730500" cy="50800"/>
          </a:xfrm>
          <a:prstGeom prst="roundRect">
            <a:avLst>
              <a:gd name="adj" fmla="val 50000"/>
            </a:avLst>
          </a:prstGeom>
          <a:solidFill>
            <a:srgbClr val="EB1A63"/>
          </a:solidFill>
          <a:ln>
            <a:noFill/>
          </a:ln>
        </p:spPr>
        <p:txBody>
          <a:bodyPr/>
          <a:lstStyle/>
          <a:p>
            <a:endParaRPr lang="en-US"/>
          </a:p>
        </p:txBody>
      </p:sp>
      <p:sp>
        <p:nvSpPr>
          <p:cNvPr id="102" name="ST0"/>
          <p:cNvSpPr/>
          <p:nvPr/>
        </p:nvSpPr>
        <p:spPr>
          <a:xfrm>
            <a:off x="482600" y="990600"/>
            <a:ext cx="2425700" cy="254000"/>
          </a:xfrm>
          <a:prstGeom prst="rect">
            <a:avLst/>
          </a:prstGeom>
          <a:noFill/>
          <a:ln>
            <a:noFill/>
          </a:ln>
        </p:spPr>
        <p:txBody>
          <a:bodyPr wrap="square" lIns="0" tIns="0" rIns="0" bIns="0" anchor="t"/>
          <a:lstStyle/>
          <a:p>
            <a:pPr>
              <a:buNone/>
            </a:pPr>
            <a:r>
              <a:rPr lang="en-US" sz="1300" b="1" dirty="0">
                <a:solidFill>
                  <a:srgbClr val="111827"/>
                </a:solidFill>
                <a:latin typeface="Calibri"/>
              </a:rPr>
              <a:t>Phase 1 Goals</a:t>
            </a:r>
          </a:p>
        </p:txBody>
      </p:sp>
      <p:sp>
        <p:nvSpPr>
          <p:cNvPr id="103" name="SD0"/>
          <p:cNvSpPr/>
          <p:nvPr/>
        </p:nvSpPr>
        <p:spPr>
          <a:xfrm>
            <a:off x="482600" y="1295400"/>
            <a:ext cx="2425700" cy="12700"/>
          </a:xfrm>
          <a:prstGeom prst="rect">
            <a:avLst/>
          </a:prstGeom>
          <a:solidFill>
            <a:srgbClr val="E5E7EB"/>
          </a:solidFill>
          <a:ln>
            <a:noFill/>
          </a:ln>
        </p:spPr>
        <p:txBody>
          <a:bodyPr/>
          <a:lstStyle/>
          <a:p>
            <a:endParaRPr lang="en-US"/>
          </a:p>
        </p:txBody>
      </p:sp>
      <p:sp>
        <p:nvSpPr>
          <p:cNvPr id="104" name="SB0"/>
          <p:cNvSpPr/>
          <p:nvPr/>
        </p:nvSpPr>
        <p:spPr>
          <a:xfrm>
            <a:off x="482600" y="1397000"/>
            <a:ext cx="2425700" cy="3251200"/>
          </a:xfrm>
          <a:prstGeom prst="rect">
            <a:avLst/>
          </a:prstGeom>
          <a:noFill/>
          <a:ln>
            <a:noFill/>
          </a:ln>
        </p:spPr>
        <p:txBody>
          <a:bodyPr wrap="square" lIns="0" tIns="0" rIns="0" bIns="0" anchor="t"/>
          <a:lstStyle/>
          <a:p>
            <a:pPr marL="171450" indent="-171450">
              <a:buChar char="·"/>
            </a:pPr>
            <a:r>
              <a:rPr lang="en-US" sz="1100" dirty="0">
                <a:solidFill>
                  <a:srgbClr val="374151"/>
                </a:solidFill>
                <a:latin typeface="Calibri"/>
              </a:rPr>
              <a:t>All 28,089 SKUs ingested into a single DX Graph SKU Collection</a:t>
            </a:r>
          </a:p>
          <a:p>
            <a:pPr marL="171450" indent="-171450">
              <a:buChar char="·"/>
            </a:pPr>
            <a:r>
              <a:rPr lang="en-US" sz="1100" b="1" dirty="0">
                <a:solidFill>
                  <a:srgbClr val="111827"/>
                </a:solidFill>
                <a:latin typeface="Calibri"/>
              </a:rPr>
              <a:t>COMPATIBLE_WITH</a:t>
            </a:r>
            <a:r>
              <a:rPr lang="en-US" sz="1100" dirty="0">
                <a:solidFill>
                  <a:srgbClr val="374151"/>
                </a:solidFill>
                <a:latin typeface="Calibri"/>
              </a:rPr>
              <a:t> Dynamic Relationship live across all 15,506 Cover SKUs</a:t>
            </a:r>
          </a:p>
          <a:p>
            <a:pPr marL="171450" indent="-171450">
              <a:buChar char="·"/>
            </a:pPr>
            <a:r>
              <a:rPr lang="en-US" sz="1100" dirty="0">
                <a:solidFill>
                  <a:srgbClr val="374151"/>
                </a:solidFill>
                <a:latin typeface="Calibri"/>
              </a:rPr>
              <a:t>Up to 3 Taxonomy Collections modelled and mapped via MAPS_TO</a:t>
            </a:r>
          </a:p>
          <a:p>
            <a:pPr marL="171450" indent="-171450">
              <a:buChar char="·"/>
            </a:pPr>
            <a:r>
              <a:rPr lang="en-US" sz="1100" dirty="0">
                <a:solidFill>
                  <a:srgbClr val="374151"/>
                </a:solidFill>
                <a:latin typeface="Calibri"/>
              </a:rPr>
              <a:t>All four DX Engine flows (Config Validation, Wizard Step Options, Config ID Creation, BOM Explosion) running end-to-end against Lovesac data</a:t>
            </a:r>
          </a:p>
        </p:txBody>
      </p:sp>
      <p:sp>
        <p:nvSpPr>
          <p:cNvPr id="110" name="SC1"/>
          <p:cNvSpPr/>
          <p:nvPr/>
        </p:nvSpPr>
        <p:spPr>
          <a:xfrm>
            <a:off x="3213100" y="838200"/>
            <a:ext cx="2730500" cy="3911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11" name="SA1"/>
          <p:cNvSpPr/>
          <p:nvPr/>
        </p:nvSpPr>
        <p:spPr>
          <a:xfrm>
            <a:off x="3213100" y="838200"/>
            <a:ext cx="2730500" cy="50800"/>
          </a:xfrm>
          <a:prstGeom prst="roundRect">
            <a:avLst>
              <a:gd name="adj" fmla="val 50000"/>
            </a:avLst>
          </a:prstGeom>
          <a:solidFill>
            <a:srgbClr val="07BCD6"/>
          </a:solidFill>
          <a:ln>
            <a:noFill/>
          </a:ln>
        </p:spPr>
        <p:txBody>
          <a:bodyPr/>
          <a:lstStyle/>
          <a:p>
            <a:endParaRPr lang="en-US"/>
          </a:p>
        </p:txBody>
      </p:sp>
      <p:sp>
        <p:nvSpPr>
          <p:cNvPr id="112" name="ST1"/>
          <p:cNvSpPr/>
          <p:nvPr/>
        </p:nvSpPr>
        <p:spPr>
          <a:xfrm>
            <a:off x="3365500" y="990600"/>
            <a:ext cx="2425700" cy="254000"/>
          </a:xfrm>
          <a:prstGeom prst="rect">
            <a:avLst/>
          </a:prstGeom>
          <a:noFill/>
          <a:ln>
            <a:noFill/>
          </a:ln>
        </p:spPr>
        <p:txBody>
          <a:bodyPr wrap="square" lIns="0" tIns="0" rIns="0" bIns="0" anchor="t"/>
          <a:lstStyle/>
          <a:p>
            <a:pPr>
              <a:buNone/>
            </a:pPr>
            <a:r>
              <a:rPr lang="en-US" sz="1300" b="1" dirty="0">
                <a:solidFill>
                  <a:srgbClr val="111827"/>
                </a:solidFill>
                <a:latin typeface="Calibri"/>
              </a:rPr>
              <a:t>Business Outcomes</a:t>
            </a:r>
          </a:p>
        </p:txBody>
      </p:sp>
      <p:sp>
        <p:nvSpPr>
          <p:cNvPr id="113" name="SD1"/>
          <p:cNvSpPr/>
          <p:nvPr/>
        </p:nvSpPr>
        <p:spPr>
          <a:xfrm>
            <a:off x="3365500" y="1295400"/>
            <a:ext cx="2425700" cy="12700"/>
          </a:xfrm>
          <a:prstGeom prst="rect">
            <a:avLst/>
          </a:prstGeom>
          <a:solidFill>
            <a:srgbClr val="E5E7EB"/>
          </a:solidFill>
          <a:ln>
            <a:noFill/>
          </a:ln>
        </p:spPr>
        <p:txBody>
          <a:bodyPr/>
          <a:lstStyle/>
          <a:p>
            <a:endParaRPr lang="en-US"/>
          </a:p>
        </p:txBody>
      </p:sp>
      <p:sp>
        <p:nvSpPr>
          <p:cNvPr id="114" name="SB1"/>
          <p:cNvSpPr/>
          <p:nvPr/>
        </p:nvSpPr>
        <p:spPr>
          <a:xfrm>
            <a:off x="3365500" y="1397000"/>
            <a:ext cx="2425700" cy="3251200"/>
          </a:xfrm>
          <a:prstGeom prst="rect">
            <a:avLst/>
          </a:prstGeom>
          <a:noFill/>
          <a:ln>
            <a:noFill/>
          </a:ln>
        </p:spPr>
        <p:txBody>
          <a:bodyPr wrap="square" lIns="0" tIns="0" rIns="0" bIns="0" anchor="t"/>
          <a:lstStyle/>
          <a:p>
            <a:pPr marL="171450" indent="-171450">
              <a:buChar char="·"/>
            </a:pPr>
            <a:r>
              <a:rPr lang="en-US" sz="1100" dirty="0">
                <a:solidFill>
                  <a:srgbClr val="374151"/>
                </a:solidFill>
                <a:latin typeface="Calibri"/>
              </a:rPr>
              <a:t>Single source of truth for Sactional compatibility</a:t>
            </a:r>
          </a:p>
          <a:p>
            <a:pPr marL="171450" indent="-171450">
              <a:buChar char="·"/>
            </a:pPr>
            <a:r>
              <a:rPr lang="en-US" sz="1100" dirty="0">
                <a:solidFill>
                  <a:srgbClr val="374151"/>
                </a:solidFill>
                <a:latin typeface="Calibri"/>
              </a:rPr>
              <a:t>POS associates can validate any configuration in real time</a:t>
            </a:r>
          </a:p>
          <a:p>
            <a:pPr marL="171450" indent="-171450">
              <a:buChar char="·"/>
            </a:pPr>
            <a:r>
              <a:rPr lang="en-US" sz="1100" dirty="0">
                <a:solidFill>
                  <a:srgbClr val="374151"/>
                </a:solidFill>
                <a:latin typeface="Calibri"/>
              </a:rPr>
              <a:t>New channels (kiosk, agent, feed) reuse the same Experience API instead of rebuilding logic</a:t>
            </a:r>
          </a:p>
          <a:p>
            <a:pPr marL="171450" indent="-171450">
              <a:buChar char="·"/>
            </a:pPr>
            <a:r>
              <a:rPr lang="en-US" sz="1100" dirty="0">
                <a:solidFill>
                  <a:srgbClr val="374151"/>
                </a:solidFill>
                <a:latin typeface="Calibri"/>
              </a:rPr>
              <a:t>Foundation in place for AgentForce / ChatGPT / Google Shopping integration</a:t>
            </a:r>
          </a:p>
        </p:txBody>
      </p:sp>
      <p:sp>
        <p:nvSpPr>
          <p:cNvPr id="120" name="SC2"/>
          <p:cNvSpPr/>
          <p:nvPr/>
        </p:nvSpPr>
        <p:spPr>
          <a:xfrm>
            <a:off x="6096000" y="838200"/>
            <a:ext cx="2730500" cy="3911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21" name="SA2"/>
          <p:cNvSpPr/>
          <p:nvPr/>
        </p:nvSpPr>
        <p:spPr>
          <a:xfrm>
            <a:off x="6096000" y="838200"/>
            <a:ext cx="2730500" cy="50800"/>
          </a:xfrm>
          <a:prstGeom prst="roundRect">
            <a:avLst>
              <a:gd name="adj" fmla="val 50000"/>
            </a:avLst>
          </a:prstGeom>
          <a:solidFill>
            <a:srgbClr val="9CA3AF"/>
          </a:solidFill>
          <a:ln>
            <a:noFill/>
          </a:ln>
        </p:spPr>
        <p:txBody>
          <a:bodyPr/>
          <a:lstStyle/>
          <a:p>
            <a:endParaRPr lang="en-US"/>
          </a:p>
        </p:txBody>
      </p:sp>
      <p:sp>
        <p:nvSpPr>
          <p:cNvPr id="122" name="ST2"/>
          <p:cNvSpPr/>
          <p:nvPr/>
        </p:nvSpPr>
        <p:spPr>
          <a:xfrm>
            <a:off x="6248400" y="990600"/>
            <a:ext cx="2425700" cy="254000"/>
          </a:xfrm>
          <a:prstGeom prst="rect">
            <a:avLst/>
          </a:prstGeom>
          <a:noFill/>
          <a:ln>
            <a:noFill/>
          </a:ln>
        </p:spPr>
        <p:txBody>
          <a:bodyPr wrap="square" lIns="0" tIns="0" rIns="0" bIns="0" anchor="t"/>
          <a:lstStyle/>
          <a:p>
            <a:pPr>
              <a:buNone/>
            </a:pPr>
            <a:r>
              <a:rPr lang="en-US" sz="1300" b="1" dirty="0">
                <a:solidFill>
                  <a:srgbClr val="111827"/>
                </a:solidFill>
                <a:latin typeface="Calibri"/>
              </a:rPr>
              <a:t>How We'll Measure</a:t>
            </a:r>
          </a:p>
        </p:txBody>
      </p:sp>
      <p:sp>
        <p:nvSpPr>
          <p:cNvPr id="123" name="SD2"/>
          <p:cNvSpPr/>
          <p:nvPr/>
        </p:nvSpPr>
        <p:spPr>
          <a:xfrm>
            <a:off x="6248400" y="1295400"/>
            <a:ext cx="2425700" cy="12700"/>
          </a:xfrm>
          <a:prstGeom prst="rect">
            <a:avLst/>
          </a:prstGeom>
          <a:solidFill>
            <a:srgbClr val="E5E7EB"/>
          </a:solidFill>
          <a:ln>
            <a:noFill/>
          </a:ln>
        </p:spPr>
        <p:txBody>
          <a:bodyPr/>
          <a:lstStyle/>
          <a:p>
            <a:endParaRPr lang="en-US"/>
          </a:p>
        </p:txBody>
      </p:sp>
      <p:sp>
        <p:nvSpPr>
          <p:cNvPr id="124" name="SB2"/>
          <p:cNvSpPr/>
          <p:nvPr/>
        </p:nvSpPr>
        <p:spPr>
          <a:xfrm>
            <a:off x="6248400" y="1397000"/>
            <a:ext cx="2425700" cy="3251200"/>
          </a:xfrm>
          <a:prstGeom prst="rect">
            <a:avLst/>
          </a:prstGeom>
          <a:noFill/>
          <a:ln>
            <a:noFill/>
          </a:ln>
        </p:spPr>
        <p:txBody>
          <a:bodyPr wrap="square" lIns="0" tIns="0" rIns="0" bIns="0" anchor="t"/>
          <a:lstStyle/>
          <a:p>
            <a:pPr marL="171450" indent="-171450">
              <a:buChar char="·"/>
            </a:pPr>
            <a:r>
              <a:rPr lang="en-US" sz="1100" b="1" dirty="0">
                <a:solidFill>
                  <a:srgbClr val="111827"/>
                </a:solidFill>
                <a:latin typeface="Calibri"/>
              </a:rPr>
              <a:t>API response time:</a:t>
            </a:r>
            <a:r>
              <a:rPr lang="en-US" sz="1100" dirty="0">
                <a:solidFill>
                  <a:srgbClr val="374151"/>
                </a:solidFill>
                <a:latin typeface="Calibri"/>
              </a:rPr>
              <a:t> &lt; 200ms p95 for configurator queries</a:t>
            </a:r>
          </a:p>
          <a:p>
            <a:pPr marL="171450" indent="-171450">
              <a:buChar char="·"/>
            </a:pPr>
            <a:r>
              <a:rPr lang="en-US" sz="1100" dirty="0">
                <a:solidFill>
                  <a:srgbClr val="374151"/>
                </a:solidFill>
                <a:latin typeface="Calibri"/>
              </a:rPr>
              <a:t>Zero data sync failures over a 30-day observation window</a:t>
            </a:r>
          </a:p>
          <a:p>
            <a:pPr marL="171450" indent="-171450">
              <a:buChar char="·"/>
            </a:pPr>
            <a:r>
              <a:rPr lang="en-US" sz="1100" dirty="0">
                <a:solidFill>
                  <a:srgbClr val="374151"/>
                </a:solidFill>
                <a:latin typeface="Calibri"/>
              </a:rPr>
              <a:t>All four DX Engine flows pass end-to-end UAT against Lovesac test cases</a:t>
            </a:r>
          </a:p>
          <a:p>
            <a:pPr marL="171450" indent="-171450">
              <a:buChar char="·"/>
            </a:pPr>
            <a:r>
              <a:rPr lang="en-US" sz="1100" dirty="0">
                <a:solidFill>
                  <a:srgbClr val="374151"/>
                </a:solidFill>
                <a:latin typeface="Calibri"/>
              </a:rPr>
              <a:t>Lovesac sign-off at each phase gate (4 gates over 12 weeks)</a:t>
            </a:r>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500" name="FN"/>
          <p:cNvSpPr/>
          <p:nvPr/>
        </p:nvSpPr>
        <p:spPr>
          <a:xfrm>
            <a:off x="355600" y="4673600"/>
            <a:ext cx="8432800" cy="152400"/>
          </a:xfrm>
          <a:prstGeom prst="rect">
            <a:avLst/>
          </a:prstGeom>
          <a:noFill/>
          <a:ln>
            <a:noFill/>
          </a:ln>
        </p:spPr>
        <p:txBody>
          <a:bodyPr wrap="square" lIns="0" tIns="0" rIns="0" bIns="0" anchor="ctr"/>
          <a:lstStyle/>
          <a:p>
            <a:pPr algn="ctr">
              <a:buNone/>
            </a:pPr>
            <a:r>
              <a:rPr lang="en-US" sz="700" i="1" dirty="0">
                <a:solidFill>
                  <a:srgbClr val="9CA3AF"/>
                </a:solidFill>
                <a:latin typeface="Calibri"/>
              </a:rPr>
              <a:t>Latency and volume targets to be confirmed with Lovesac at first technical review.</a:t>
            </a:r>
          </a:p>
        </p:txBody>
      </p:sp>
    </p:spTree>
    <p:extLst>
      <p:ext uri="{BB962C8B-B14F-4D97-AF65-F5344CB8AC3E}">
        <p14:creationId xmlns:p14="http://schemas.microsoft.com/office/powerpoint/2010/main" val="562310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168"/>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Early Findings from Your Data</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20" name="StatCard"/>
          <p:cNvSpPr/>
          <p:nvPr/>
        </p:nvSpPr>
        <p:spPr>
          <a:xfrm>
            <a:off x="355600" y="838200"/>
            <a:ext cx="2667000" cy="3911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21" name="StatAcc"/>
          <p:cNvSpPr/>
          <p:nvPr/>
        </p:nvSpPr>
        <p:spPr>
          <a:xfrm>
            <a:off x="355600" y="838200"/>
            <a:ext cx="2667000" cy="50800"/>
          </a:xfrm>
          <a:prstGeom prst="roundRect">
            <a:avLst>
              <a:gd name="adj" fmla="val 50000"/>
            </a:avLst>
          </a:prstGeom>
          <a:solidFill>
            <a:srgbClr val="EB1A63"/>
          </a:solidFill>
          <a:ln>
            <a:noFill/>
          </a:ln>
        </p:spPr>
        <p:txBody>
          <a:bodyPr/>
          <a:lstStyle/>
          <a:p>
            <a:endParaRPr lang="en-US"/>
          </a:p>
        </p:txBody>
      </p:sp>
      <p:sp>
        <p:nvSpPr>
          <p:cNvPr id="22" name="StatNum"/>
          <p:cNvSpPr/>
          <p:nvPr/>
        </p:nvSpPr>
        <p:spPr>
          <a:xfrm>
            <a:off x="508000" y="1092200"/>
            <a:ext cx="2362200" cy="736600"/>
          </a:xfrm>
          <a:prstGeom prst="rect">
            <a:avLst/>
          </a:prstGeom>
          <a:noFill/>
          <a:ln>
            <a:noFill/>
          </a:ln>
        </p:spPr>
        <p:txBody>
          <a:bodyPr wrap="square" lIns="0" tIns="0" rIns="0" bIns="0" anchor="ctr"/>
          <a:lstStyle/>
          <a:p>
            <a:pPr algn="ctr">
              <a:buNone/>
            </a:pPr>
            <a:r>
              <a:rPr lang="en-US" sz="6600" b="1" dirty="0">
                <a:solidFill>
                  <a:srgbClr val="EB1A63"/>
                </a:solidFill>
                <a:latin typeface="Calibri"/>
              </a:rPr>
              <a:t>28,089</a:t>
            </a:r>
          </a:p>
        </p:txBody>
      </p:sp>
      <p:sp>
        <p:nvSpPr>
          <p:cNvPr id="23" name="StatDesc"/>
          <p:cNvSpPr/>
          <p:nvPr/>
        </p:nvSpPr>
        <p:spPr>
          <a:xfrm>
            <a:off x="508000" y="1879600"/>
            <a:ext cx="2362200" cy="355600"/>
          </a:xfrm>
          <a:prstGeom prst="rect">
            <a:avLst/>
          </a:prstGeom>
          <a:noFill/>
          <a:ln>
            <a:noFill/>
          </a:ln>
        </p:spPr>
        <p:txBody>
          <a:bodyPr wrap="square" lIns="0" tIns="0" rIns="0" bIns="0" anchor="ctr"/>
          <a:lstStyle/>
          <a:p>
            <a:pPr algn="ctr">
              <a:buNone/>
            </a:pPr>
            <a:r>
              <a:rPr lang="en-US" sz="1100" b="1" dirty="0">
                <a:solidFill>
                  <a:srgbClr val="111827"/>
                </a:solidFill>
                <a:latin typeface="Calibri"/>
              </a:rPr>
              <a:t>Active SKUs analysed</a:t>
            </a:r>
          </a:p>
          <a:p>
            <a:pPr algn="ctr">
              <a:buNone/>
            </a:pPr>
            <a:r>
              <a:rPr lang="en-US" sz="900" dirty="0">
                <a:solidFill>
                  <a:srgbClr val="6B7280"/>
                </a:solidFill>
                <a:latin typeface="Calibri"/>
              </a:rPr>
              <a:t>across the full Lovesac catalogue</a:t>
            </a:r>
          </a:p>
        </p:txBody>
      </p:sp>
      <p:sp>
        <p:nvSpPr>
          <p:cNvPr id="24" name="Challenge"/>
          <p:cNvSpPr/>
          <p:nvPr/>
        </p:nvSpPr>
        <p:spPr>
          <a:xfrm>
            <a:off x="508000" y="2336800"/>
            <a:ext cx="2362200" cy="2260600"/>
          </a:xfrm>
          <a:prstGeom prst="rect">
            <a:avLst/>
          </a:prstGeom>
          <a:noFill/>
          <a:ln>
            <a:noFill/>
          </a:ln>
        </p:spPr>
        <p:txBody>
          <a:bodyPr wrap="square" lIns="0" tIns="0" rIns="0" bIns="0" anchor="t"/>
          <a:lstStyle/>
          <a:p>
            <a:pPr>
              <a:lnSpc>
                <a:spcPts val="1100"/>
              </a:lnSpc>
              <a:spcBef>
                <a:spcPts val="300"/>
              </a:spcBef>
              <a:buNone/>
            </a:pPr>
            <a:r>
              <a:rPr lang="en-US" sz="800" b="1" spc="100" dirty="0">
                <a:solidFill>
                  <a:srgbClr val="9CA3AF"/>
                </a:solidFill>
                <a:latin typeface="Calibri"/>
              </a:rPr>
              <a:t>BREAKDOWN</a:t>
            </a:r>
          </a:p>
          <a:p>
            <a:pPr>
              <a:lnSpc>
                <a:spcPts val="1200"/>
              </a:lnSpc>
              <a:spcBef>
                <a:spcPts val="200"/>
              </a:spcBef>
              <a:buNone/>
            </a:pPr>
            <a:r>
              <a:rPr lang="en-US" sz="950" b="1" dirty="0">
                <a:solidFill>
                  <a:srgbClr val="111827"/>
                </a:solidFill>
                <a:latin typeface="Calibri"/>
              </a:rPr>
              <a:t>15,906</a:t>
            </a:r>
            <a:r>
              <a:rPr lang="en-US" sz="950" dirty="0">
                <a:solidFill>
                  <a:srgbClr val="6B7280"/>
                </a:solidFill>
                <a:latin typeface="Calibri"/>
              </a:rPr>
              <a:t>  Sactional</a:t>
            </a:r>
          </a:p>
          <a:p>
            <a:pPr>
              <a:lnSpc>
                <a:spcPts val="1100"/>
              </a:lnSpc>
              <a:spcBef>
                <a:spcPts val="0"/>
              </a:spcBef>
              <a:buNone/>
            </a:pPr>
            <a:r>
              <a:rPr lang="en-US" sz="850" dirty="0">
                <a:solidFill>
                  <a:srgbClr val="6B7280"/>
                </a:solidFill>
                <a:latin typeface="Calibri"/>
              </a:rPr>
              <a:t>15,506 Covers  ·  151 Inserts  ·  249 other</a:t>
            </a:r>
          </a:p>
          <a:p>
            <a:pPr>
              <a:lnSpc>
                <a:spcPts val="1200"/>
              </a:lnSpc>
              <a:spcBef>
                <a:spcPts val="300"/>
              </a:spcBef>
              <a:buNone/>
            </a:pPr>
            <a:r>
              <a:rPr lang="en-US" sz="950" b="1" dirty="0">
                <a:solidFill>
                  <a:srgbClr val="111827"/>
                </a:solidFill>
                <a:latin typeface="Calibri"/>
              </a:rPr>
              <a:t>~6,000</a:t>
            </a:r>
            <a:r>
              <a:rPr lang="en-US" sz="950" dirty="0">
                <a:solidFill>
                  <a:srgbClr val="6B7280"/>
                </a:solidFill>
                <a:latin typeface="Calibri"/>
              </a:rPr>
              <a:t>  Sac &amp; Snugg</a:t>
            </a:r>
          </a:p>
          <a:p>
            <a:pPr>
              <a:lnSpc>
                <a:spcPts val="1200"/>
              </a:lnSpc>
              <a:spcBef>
                <a:spcPts val="300"/>
              </a:spcBef>
              <a:buNone/>
            </a:pPr>
            <a:r>
              <a:rPr lang="en-US" sz="950" b="1" dirty="0">
                <a:solidFill>
                  <a:srgbClr val="111827"/>
                </a:solidFill>
                <a:latin typeface="Calibri"/>
              </a:rPr>
              <a:t>~6,000</a:t>
            </a:r>
            <a:r>
              <a:rPr lang="en-US" sz="950" dirty="0">
                <a:solidFill>
                  <a:srgbClr val="6B7280"/>
                </a:solidFill>
                <a:latin typeface="Calibri"/>
              </a:rPr>
              <a:t>  Accessories &amp; spare parts</a:t>
            </a:r>
          </a:p>
          <a:p>
            <a:pPr>
              <a:lnSpc>
                <a:spcPts val="1200"/>
              </a:lnSpc>
              <a:spcBef>
                <a:spcPts val="400"/>
              </a:spcBef>
              <a:buNone/>
            </a:pPr>
            <a:r>
              <a:rPr lang="en-US" sz="850" dirty="0">
                <a:solidFill>
                  <a:srgbClr val="9CA3AF"/>
                </a:solidFill>
                <a:latin typeface="Calibri"/>
              </a:rPr>
              <a:t>Across 3 brands:  Sactional  ·  Sac  ·  Snugg</a:t>
            </a:r>
          </a:p>
        </p:txBody>
      </p:sp>
      <p:sp>
        <p:nvSpPr>
          <p:cNvPr id="100" name="PC0"/>
          <p:cNvSpPr/>
          <p:nvPr/>
        </p:nvSpPr>
        <p:spPr>
          <a:xfrm>
            <a:off x="3175000" y="838200"/>
            <a:ext cx="5867400" cy="1244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01" name="PA0"/>
          <p:cNvSpPr/>
          <p:nvPr/>
        </p:nvSpPr>
        <p:spPr>
          <a:xfrm>
            <a:off x="3175000" y="838200"/>
            <a:ext cx="50800" cy="1244600"/>
          </a:xfrm>
          <a:prstGeom prst="roundRect">
            <a:avLst>
              <a:gd name="adj" fmla="val 50000"/>
            </a:avLst>
          </a:prstGeom>
          <a:solidFill>
            <a:srgbClr val="EB1A63"/>
          </a:solidFill>
          <a:ln>
            <a:noFill/>
          </a:ln>
        </p:spPr>
        <p:txBody>
          <a:bodyPr/>
          <a:lstStyle/>
          <a:p>
            <a:endParaRPr lang="en-US"/>
          </a:p>
        </p:txBody>
      </p:sp>
      <p:sp>
        <p:nvSpPr>
          <p:cNvPr id="102" name="PL0"/>
          <p:cNvSpPr/>
          <p:nvPr/>
        </p:nvSpPr>
        <p:spPr>
          <a:xfrm>
            <a:off x="3378200" y="965200"/>
            <a:ext cx="5613400" cy="177800"/>
          </a:xfrm>
          <a:prstGeom prst="rect">
            <a:avLst/>
          </a:prstGeom>
          <a:noFill/>
          <a:ln>
            <a:noFill/>
          </a:ln>
        </p:spPr>
        <p:txBody>
          <a:bodyPr wrap="square" lIns="0" tIns="0" rIns="0" bIns="0" anchor="t"/>
          <a:lstStyle/>
          <a:p>
            <a:pPr>
              <a:buNone/>
            </a:pPr>
            <a:r>
              <a:rPr lang="en-US" sz="800" b="1" spc="100" dirty="0">
                <a:solidFill>
                  <a:srgbClr val="EB1A63"/>
                </a:solidFill>
                <a:latin typeface="Calibri"/>
              </a:rPr>
              <a:t>CATALOG STRUCTURE</a:t>
            </a:r>
          </a:p>
        </p:txBody>
      </p:sp>
      <p:sp>
        <p:nvSpPr>
          <p:cNvPr id="103" name="PT0"/>
          <p:cNvSpPr/>
          <p:nvPr/>
        </p:nvSpPr>
        <p:spPr>
          <a:xfrm>
            <a:off x="3378200" y="1168400"/>
            <a:ext cx="5613400" cy="254000"/>
          </a:xfrm>
          <a:prstGeom prst="rect">
            <a:avLst/>
          </a:prstGeom>
          <a:noFill/>
          <a:ln>
            <a:noFill/>
          </a:ln>
        </p:spPr>
        <p:txBody>
          <a:bodyPr wrap="square" lIns="0" tIns="0" rIns="0" bIns="0" anchor="t"/>
          <a:lstStyle/>
          <a:p>
            <a:pPr>
              <a:buNone/>
            </a:pPr>
            <a:r>
              <a:rPr lang="en-US" sz="1100" b="1" dirty="0">
                <a:solidFill>
                  <a:srgbClr val="111827"/>
                </a:solidFill>
                <a:latin typeface="Calibri"/>
              </a:rPr>
              <a:t>Compatibility is encodable from two fields</a:t>
            </a:r>
          </a:p>
        </p:txBody>
      </p:sp>
      <p:sp>
        <p:nvSpPr>
          <p:cNvPr id="104" name="PD0"/>
          <p:cNvSpPr/>
          <p:nvPr/>
        </p:nvSpPr>
        <p:spPr>
          <a:xfrm>
            <a:off x="3378200" y="1447800"/>
            <a:ext cx="5613400" cy="609600"/>
          </a:xfrm>
          <a:prstGeom prst="rect">
            <a:avLst/>
          </a:prstGeom>
          <a:noFill/>
          <a:ln>
            <a:noFill/>
          </a:ln>
        </p:spPr>
        <p:txBody>
          <a:bodyPr wrap="square" lIns="0" tIns="0" rIns="0" bIns="0" anchor="t"/>
          <a:lstStyle/>
          <a:p>
            <a:pPr>
              <a:lnSpc>
                <a:spcPts val="1200"/>
              </a:lnSpc>
              <a:buNone/>
            </a:pPr>
            <a:r>
              <a:rPr lang="en-US" sz="1000" dirty="0">
                <a:solidFill>
                  <a:srgbClr val="6B7280"/>
                </a:solidFill>
                <a:latin typeface="Calibri"/>
              </a:rPr>
              <a:t>Across all 15,506 Cover SKUs, Cover ↔ Insert compatibility resolves from Product == Product AND Sactional_Size == Sactional_Size. A single Dynamic Relationship in DX Graph replaces tens of thousands of manual mappings — and new SKUs are covered automatically.</a:t>
            </a:r>
          </a:p>
        </p:txBody>
      </p:sp>
      <p:sp>
        <p:nvSpPr>
          <p:cNvPr id="110" name="PC1"/>
          <p:cNvSpPr/>
          <p:nvPr/>
        </p:nvSpPr>
        <p:spPr>
          <a:xfrm>
            <a:off x="3175000" y="2171700"/>
            <a:ext cx="5867400" cy="1244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11" name="PA1"/>
          <p:cNvSpPr/>
          <p:nvPr/>
        </p:nvSpPr>
        <p:spPr>
          <a:xfrm>
            <a:off x="3175000" y="2171700"/>
            <a:ext cx="50800" cy="1244600"/>
          </a:xfrm>
          <a:prstGeom prst="roundRect">
            <a:avLst>
              <a:gd name="adj" fmla="val 50000"/>
            </a:avLst>
          </a:prstGeom>
          <a:solidFill>
            <a:srgbClr val="07BCD6"/>
          </a:solidFill>
          <a:ln>
            <a:noFill/>
          </a:ln>
        </p:spPr>
        <p:txBody>
          <a:bodyPr/>
          <a:lstStyle/>
          <a:p>
            <a:endParaRPr lang="en-US"/>
          </a:p>
        </p:txBody>
      </p:sp>
      <p:sp>
        <p:nvSpPr>
          <p:cNvPr id="112" name="PL1"/>
          <p:cNvSpPr/>
          <p:nvPr/>
        </p:nvSpPr>
        <p:spPr>
          <a:xfrm>
            <a:off x="3378200" y="2298700"/>
            <a:ext cx="5613400" cy="177800"/>
          </a:xfrm>
          <a:prstGeom prst="rect">
            <a:avLst/>
          </a:prstGeom>
          <a:noFill/>
          <a:ln>
            <a:noFill/>
          </a:ln>
        </p:spPr>
        <p:txBody>
          <a:bodyPr wrap="square" lIns="0" tIns="0" rIns="0" bIns="0" anchor="t"/>
          <a:lstStyle/>
          <a:p>
            <a:pPr>
              <a:buNone/>
            </a:pPr>
            <a:r>
              <a:rPr lang="en-US" sz="800" b="1" spc="100" dirty="0">
                <a:solidFill>
                  <a:srgbClr val="07BCD6"/>
                </a:solidFill>
                <a:latin typeface="Calibri"/>
              </a:rPr>
              <a:t>DATA QUALITY</a:t>
            </a:r>
          </a:p>
        </p:txBody>
      </p:sp>
      <p:sp>
        <p:nvSpPr>
          <p:cNvPr id="113" name="PT1"/>
          <p:cNvSpPr/>
          <p:nvPr/>
        </p:nvSpPr>
        <p:spPr>
          <a:xfrm>
            <a:off x="3378200" y="2501900"/>
            <a:ext cx="5613400" cy="254000"/>
          </a:xfrm>
          <a:prstGeom prst="rect">
            <a:avLst/>
          </a:prstGeom>
          <a:noFill/>
          <a:ln>
            <a:noFill/>
          </a:ln>
        </p:spPr>
        <p:txBody>
          <a:bodyPr wrap="square" lIns="0" tIns="0" rIns="0" bIns="0" anchor="t"/>
          <a:lstStyle/>
          <a:p>
            <a:pPr>
              <a:buNone/>
            </a:pPr>
            <a:r>
              <a:rPr lang="en-US" sz="1100" b="1" dirty="0">
                <a:solidFill>
                  <a:srgbClr val="111827"/>
                </a:solidFill>
                <a:latin typeface="Calibri"/>
              </a:rPr>
              <a:t>Inconsistent attribute naming across product families</a:t>
            </a:r>
          </a:p>
        </p:txBody>
      </p:sp>
      <p:sp>
        <p:nvSpPr>
          <p:cNvPr id="114" name="PD1"/>
          <p:cNvSpPr/>
          <p:nvPr/>
        </p:nvSpPr>
        <p:spPr>
          <a:xfrm>
            <a:off x="3378200" y="2781300"/>
            <a:ext cx="5613400" cy="609600"/>
          </a:xfrm>
          <a:prstGeom prst="rect">
            <a:avLst/>
          </a:prstGeom>
          <a:noFill/>
          <a:ln>
            <a:noFill/>
          </a:ln>
        </p:spPr>
        <p:txBody>
          <a:bodyPr wrap="square" lIns="0" tIns="0" rIns="0" bIns="0" anchor="t"/>
          <a:lstStyle/>
          <a:p>
            <a:pPr>
              <a:lnSpc>
                <a:spcPts val="1200"/>
              </a:lnSpc>
              <a:buNone/>
            </a:pPr>
            <a:r>
              <a:rPr lang="en-US" sz="1000" dirty="0">
                <a:solidFill>
                  <a:srgbClr val="6B7280"/>
                </a:solidFill>
                <a:latin typeface="Calibri"/>
              </a:rPr>
              <a:t>Color, fabric, and dimension fields use different naming conventions across Sactional, Sac, and Snugg. Recommend a normalisation pass during ingest to establish canonical attribute keys. Also observed: ~18 attribute fields per SKU; multiple legacy naming conventions; some product-line ambiguity (e.g. Squattoman: Sac or Ottoman?).</a:t>
            </a:r>
          </a:p>
        </p:txBody>
      </p:sp>
      <p:sp>
        <p:nvSpPr>
          <p:cNvPr id="120" name="PC2"/>
          <p:cNvSpPr/>
          <p:nvPr/>
        </p:nvSpPr>
        <p:spPr>
          <a:xfrm>
            <a:off x="3175000" y="3505200"/>
            <a:ext cx="5867400" cy="1244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21" name="PA2"/>
          <p:cNvSpPr/>
          <p:nvPr/>
        </p:nvSpPr>
        <p:spPr>
          <a:xfrm>
            <a:off x="3175000" y="3505200"/>
            <a:ext cx="50800" cy="1244600"/>
          </a:xfrm>
          <a:prstGeom prst="roundRect">
            <a:avLst>
              <a:gd name="adj" fmla="val 50000"/>
            </a:avLst>
          </a:prstGeom>
          <a:solidFill>
            <a:srgbClr val="8AC542"/>
          </a:solidFill>
          <a:ln>
            <a:noFill/>
          </a:ln>
        </p:spPr>
        <p:txBody>
          <a:bodyPr/>
          <a:lstStyle/>
          <a:p>
            <a:endParaRPr lang="en-US"/>
          </a:p>
        </p:txBody>
      </p:sp>
      <p:sp>
        <p:nvSpPr>
          <p:cNvPr id="122" name="PL2"/>
          <p:cNvSpPr/>
          <p:nvPr/>
        </p:nvSpPr>
        <p:spPr>
          <a:xfrm>
            <a:off x="3378200" y="3632200"/>
            <a:ext cx="5613400" cy="177800"/>
          </a:xfrm>
          <a:prstGeom prst="rect">
            <a:avLst/>
          </a:prstGeom>
          <a:noFill/>
          <a:ln>
            <a:noFill/>
          </a:ln>
        </p:spPr>
        <p:txBody>
          <a:bodyPr wrap="square" lIns="0" tIns="0" rIns="0" bIns="0" anchor="t"/>
          <a:lstStyle/>
          <a:p>
            <a:pPr>
              <a:buNone/>
            </a:pPr>
            <a:r>
              <a:rPr lang="en-US" sz="800" b="1" spc="100" dirty="0">
                <a:solidFill>
                  <a:srgbClr val="8AC542"/>
                </a:solidFill>
                <a:latin typeface="Calibri"/>
              </a:rPr>
              <a:t>INTEGRATION READINESS</a:t>
            </a:r>
          </a:p>
        </p:txBody>
      </p:sp>
      <p:sp>
        <p:nvSpPr>
          <p:cNvPr id="123" name="PT2"/>
          <p:cNvSpPr/>
          <p:nvPr/>
        </p:nvSpPr>
        <p:spPr>
          <a:xfrm>
            <a:off x="3378200" y="3835400"/>
            <a:ext cx="5613400" cy="254000"/>
          </a:xfrm>
          <a:prstGeom prst="rect">
            <a:avLst/>
          </a:prstGeom>
          <a:noFill/>
          <a:ln>
            <a:noFill/>
          </a:ln>
        </p:spPr>
        <p:txBody>
          <a:bodyPr wrap="square" lIns="0" tIns="0" rIns="0" bIns="0" anchor="t"/>
          <a:lstStyle/>
          <a:p>
            <a:pPr>
              <a:buNone/>
            </a:pPr>
            <a:r>
              <a:rPr lang="en-US" sz="1100" b="1" dirty="0">
                <a:solidFill>
                  <a:srgbClr val="111827"/>
                </a:solidFill>
                <a:latin typeface="Calibri"/>
              </a:rPr>
              <a:t>The big question is data access, not data shape</a:t>
            </a:r>
          </a:p>
        </p:txBody>
      </p:sp>
      <p:sp>
        <p:nvSpPr>
          <p:cNvPr id="124" name="PD2"/>
          <p:cNvSpPr/>
          <p:nvPr/>
        </p:nvSpPr>
        <p:spPr>
          <a:xfrm>
            <a:off x="3378200" y="4114800"/>
            <a:ext cx="5613400" cy="609600"/>
          </a:xfrm>
          <a:prstGeom prst="rect">
            <a:avLst/>
          </a:prstGeom>
          <a:noFill/>
          <a:ln>
            <a:noFill/>
          </a:ln>
        </p:spPr>
        <p:txBody>
          <a:bodyPr wrap="square" lIns="0" tIns="0" rIns="0" bIns="0" anchor="t"/>
          <a:lstStyle/>
          <a:p>
            <a:pPr>
              <a:lnSpc>
                <a:spcPts val="1200"/>
              </a:lnSpc>
              <a:buNone/>
            </a:pPr>
            <a:r>
              <a:rPr lang="en-US" sz="1000" dirty="0">
                <a:solidFill>
                  <a:srgbClr val="6B7280"/>
                </a:solidFill>
                <a:latin typeface="Calibri"/>
              </a:rPr>
              <a:t>The product catalogue models cleanly. The open question is how data reaches Conscia from each source backend — API pull, file export via Celigo, or direct database. Confirming this for each of the 3 source systems is the first dependency on the timeline.</a:t>
            </a:r>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Tree>
    <p:extLst>
      <p:ext uri="{BB962C8B-B14F-4D97-AF65-F5344CB8AC3E}">
        <p14:creationId xmlns:p14="http://schemas.microsoft.com/office/powerpoint/2010/main" val="2191922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6858000" cy="457200"/>
          </a:xfrm>
          <a:prstGeom prst="rect">
            <a:avLst/>
          </a:prstGeom>
          <a:noFill/>
          <a:ln>
            <a:noFill/>
          </a:ln>
        </p:spPr>
        <p:txBody>
          <a:bodyPr wrap="square" lIns="0" tIns="0" rIns="0" bIns="0" anchor="b"/>
          <a:lstStyle/>
          <a:p>
            <a:pPr>
              <a:buNone/>
            </a:pPr>
            <a:r>
              <a:rPr lang="en-US" sz="2000" b="1" dirty="0">
                <a:solidFill>
                  <a:srgbClr val="111827"/>
                </a:solidFill>
              </a:rPr>
              <a:t>Ways of Working</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6" name="TeamCardBG"/>
          <p:cNvSpPr/>
          <p:nvPr/>
        </p:nvSpPr>
        <p:spPr>
          <a:xfrm>
            <a:off x="254000" y="914400"/>
            <a:ext cx="5334000" cy="3200400"/>
          </a:xfrm>
          <a:prstGeom prst="roundRect">
            <a:avLst>
              <a:gd name="adj" fmla="val 4000"/>
            </a:avLst>
          </a:prstGeom>
          <a:solidFill>
            <a:srgbClr val="FFFFFF"/>
          </a:solidFill>
          <a:ln w="6350">
            <a:solidFill>
              <a:srgbClr val="E5E7EB"/>
            </a:solidFill>
          </a:ln>
          <a:effectLst>
            <a:outerShdw blurRad="50800" dist="12700" dir="5400000" algn="t" rotWithShape="0">
              <a:srgbClr val="000000">
                <a:alpha val="8000"/>
              </a:srgbClr>
            </a:outerShdw>
          </a:effectLst>
        </p:spPr>
        <p:txBody>
          <a:bodyPr/>
          <a:lstStyle/>
          <a:p>
            <a:endParaRPr lang="en-US"/>
          </a:p>
        </p:txBody>
      </p:sp>
      <p:sp>
        <p:nvSpPr>
          <p:cNvPr id="7" name="TeamAccent"/>
          <p:cNvSpPr/>
          <p:nvPr/>
        </p:nvSpPr>
        <p:spPr>
          <a:xfrm>
            <a:off x="254000" y="914400"/>
            <a:ext cx="5334000" cy="50800"/>
          </a:xfrm>
          <a:prstGeom prst="roundRect">
            <a:avLst>
              <a:gd name="adj" fmla="val 4000"/>
            </a:avLst>
          </a:prstGeom>
          <a:solidFill>
            <a:srgbClr val="EB1A63"/>
          </a:solidFill>
          <a:ln>
            <a:noFill/>
          </a:ln>
        </p:spPr>
        <p:txBody>
          <a:bodyPr/>
          <a:lstStyle/>
          <a:p>
            <a:endParaRPr lang="en-US"/>
          </a:p>
        </p:txBody>
      </p:sp>
      <p:sp>
        <p:nvSpPr>
          <p:cNvPr id="8" name="TeamLabel"/>
          <p:cNvSpPr/>
          <p:nvPr/>
        </p:nvSpPr>
        <p:spPr>
          <a:xfrm>
            <a:off x="355600" y="990600"/>
            <a:ext cx="2000000" cy="228600"/>
          </a:xfrm>
          <a:prstGeom prst="rect">
            <a:avLst/>
          </a:prstGeom>
          <a:noFill/>
          <a:ln>
            <a:noFill/>
          </a:ln>
        </p:spPr>
        <p:txBody>
          <a:bodyPr wrap="square" lIns="0" tIns="0" rIns="0" bIns="0" anchor="ctr"/>
          <a:lstStyle/>
          <a:p>
            <a:pPr>
              <a:buNone/>
            </a:pPr>
            <a:r>
              <a:rPr lang="en-US" sz="900" b="1" dirty="0">
                <a:solidFill>
                  <a:srgbClr val="EB1A63"/>
                </a:solidFill>
              </a:rPr>
              <a:t>TEAM STRUCTURE</a:t>
            </a:r>
          </a:p>
        </p:txBody>
      </p:sp>
      <p:graphicFrame>
        <p:nvGraphicFramePr>
          <p:cNvPr id="9" name="TeamTable"/>
          <p:cNvGraphicFramePr>
            <a:graphicFrameLocks noGrp="1"/>
          </p:cNvGraphicFramePr>
          <p:nvPr/>
        </p:nvGraphicFramePr>
        <p:xfrm>
          <a:off x="355600" y="1219200"/>
          <a:ext cx="5029200" cy="2844800"/>
        </p:xfrm>
        <a:graphic>
          <a:graphicData uri="http://schemas.openxmlformats.org/drawingml/2006/table">
            <a:tbl>
              <a:tblPr firstRow="1" bandRow="1">
                <a:noFill/>
              </a:tblPr>
              <a:tblGrid>
                <a:gridCol w="2057400">
                  <a:extLst>
                    <a:ext uri="{9D8B030D-6E8A-4147-A177-3AD203B41FA5}">
                      <a16:colId xmlns:a16="http://schemas.microsoft.com/office/drawing/2014/main" val="20000"/>
                    </a:ext>
                  </a:extLst>
                </a:gridCol>
                <a:gridCol w="1485900">
                  <a:extLst>
                    <a:ext uri="{9D8B030D-6E8A-4147-A177-3AD203B41FA5}">
                      <a16:colId xmlns:a16="http://schemas.microsoft.com/office/drawing/2014/main" val="20001"/>
                    </a:ext>
                  </a:extLst>
                </a:gridCol>
                <a:gridCol w="1485900">
                  <a:extLst>
                    <a:ext uri="{9D8B030D-6E8A-4147-A177-3AD203B41FA5}">
                      <a16:colId xmlns:a16="http://schemas.microsoft.com/office/drawing/2014/main" val="20002"/>
                    </a:ext>
                  </a:extLst>
                </a:gridCol>
              </a:tblGrid>
              <a:tr h="482600">
                <a:tc>
                  <a:txBody>
                    <a:bodyPr/>
                    <a:lstStyle/>
                    <a:p>
                      <a:pPr algn="l">
                        <a:buNone/>
                      </a:pPr>
                      <a:r>
                        <a:rPr lang="en-US" sz="900" b="1" dirty="0">
                          <a:solidFill>
                            <a:srgbClr val="FFFFFF"/>
                          </a:solidFill>
                        </a:rPr>
                        <a:t>Role</a:t>
                      </a:r>
                    </a:p>
                  </a:txBody>
                  <a:tcPr>
                    <a:solidFill>
                      <a:srgbClr val="EB1A63"/>
                    </a:solidFill>
                  </a:tcPr>
                </a:tc>
                <a:tc>
                  <a:txBody>
                    <a:bodyPr/>
                    <a:lstStyle/>
                    <a:p>
                      <a:pPr algn="ctr">
                        <a:buNone/>
                      </a:pPr>
                      <a:r>
                        <a:rPr lang="en-US" sz="900" b="1" dirty="0">
                          <a:solidFill>
                            <a:srgbClr val="FFFFFF"/>
                          </a:solidFill>
                        </a:rPr>
                        <a:t>Conscia</a:t>
                      </a:r>
                    </a:p>
                  </a:txBody>
                  <a:tcPr>
                    <a:solidFill>
                      <a:srgbClr val="EB1A63"/>
                    </a:solidFill>
                  </a:tcPr>
                </a:tc>
                <a:tc>
                  <a:txBody>
                    <a:bodyPr/>
                    <a:lstStyle/>
                    <a:p>
                      <a:pPr algn="ctr">
                        <a:buNone/>
                      </a:pPr>
                      <a:r>
                        <a:rPr lang="en-US" sz="900" b="1" dirty="0">
                          <a:solidFill>
                            <a:srgbClr val="FFFFFF"/>
                          </a:solidFill>
                        </a:rPr>
                        <a:t>Lovesac</a:t>
                      </a:r>
                    </a:p>
                  </a:txBody>
                  <a:tcPr>
                    <a:solidFill>
                      <a:srgbClr val="EB1A63"/>
                    </a:solidFill>
                  </a:tcPr>
                </a:tc>
                <a:extLst>
                  <a:ext uri="{0D108BD9-81ED-4DB2-BD59-A6C34878D82A}">
                    <a16:rowId xmlns:a16="http://schemas.microsoft.com/office/drawing/2014/main" val="10000"/>
                  </a:ext>
                </a:extLst>
              </a:tr>
              <a:tr h="393700">
                <a:tc>
                  <a:txBody>
                    <a:bodyPr/>
                    <a:lstStyle/>
                    <a:p>
                      <a:pPr algn="l">
                        <a:buNone/>
                      </a:pPr>
                      <a:r>
                        <a:rPr lang="en-US" sz="850" dirty="0">
                          <a:solidFill>
                            <a:srgbClr val="374151"/>
                          </a:solidFill>
                        </a:rPr>
                        <a:t>Executive Sponsor</a:t>
                      </a:r>
                    </a:p>
                  </a:txBody>
                  <a:tcPr>
                    <a:solidFill>
                      <a:srgbClr val="FFFFFF"/>
                    </a:solidFill>
                  </a:tcPr>
                </a:tc>
                <a:tc>
                  <a:txBody>
                    <a:bodyPr/>
                    <a:lstStyle/>
                    <a:p>
                      <a:pPr algn="ctr">
                        <a:buNone/>
                      </a:pPr>
                      <a:r>
                        <a:rPr lang="en-US" sz="850" dirty="0">
                          <a:solidFill>
                            <a:srgbClr val="374151"/>
                          </a:solidFill>
                        </a:rPr>
                        <a:t>Sana</a:t>
                      </a:r>
                    </a:p>
                  </a:txBody>
                  <a:tcPr>
                    <a:solidFill>
                      <a:srgbClr val="F9FAFB"/>
                    </a:solidFill>
                  </a:tcPr>
                </a:tc>
                <a:tc>
                  <a:txBody>
                    <a:bodyPr/>
                    <a:lstStyle/>
                    <a:p>
                      <a:pPr algn="ctr">
                        <a:buNone/>
                      </a:pPr>
                      <a:r>
                        <a:rPr lang="en-US" sz="850" dirty="0">
                          <a:solidFill>
                            <a:srgbClr val="374151"/>
                          </a:solidFill>
                        </a:rPr>
                        <a:t>Emilia</a:t>
                      </a:r>
                    </a:p>
                  </a:txBody>
                  <a:tcPr>
                    <a:solidFill>
                      <a:srgbClr val="F9FAFB"/>
                    </a:solidFill>
                  </a:tcPr>
                </a:tc>
                <a:extLst>
                  <a:ext uri="{0D108BD9-81ED-4DB2-BD59-A6C34878D82A}">
                    <a16:rowId xmlns:a16="http://schemas.microsoft.com/office/drawing/2014/main" val="10001"/>
                  </a:ext>
                </a:extLst>
              </a:tr>
              <a:tr h="393700">
                <a:tc>
                  <a:txBody>
                    <a:bodyPr/>
                    <a:lstStyle/>
                    <a:p>
                      <a:pPr algn="l">
                        <a:buNone/>
                      </a:pPr>
                      <a:r>
                        <a:rPr lang="en-US" sz="850" dirty="0">
                          <a:solidFill>
                            <a:srgbClr val="374151"/>
                          </a:solidFill>
                        </a:rPr>
                        <a:t>Project Lead</a:t>
                      </a:r>
                    </a:p>
                  </a:txBody>
                  <a:tcPr>
                    <a:solidFill>
                      <a:srgbClr val="F9FAFB"/>
                    </a:solidFill>
                  </a:tcPr>
                </a:tc>
                <a:tc>
                  <a:txBody>
                    <a:bodyPr/>
                    <a:lstStyle/>
                    <a:p>
                      <a:pPr algn="ctr">
                        <a:buNone/>
                      </a:pPr>
                      <a:r>
                        <a:rPr lang="en-US" sz="850" dirty="0">
                          <a:solidFill>
                            <a:srgbClr val="374151"/>
                          </a:solidFill>
                        </a:rPr>
                        <a:t>Morgan</a:t>
                      </a:r>
                    </a:p>
                  </a:txBody>
                  <a:tcPr>
                    <a:solidFill>
                      <a:srgbClr val="FFFFFF"/>
                    </a:solidFill>
                  </a:tcPr>
                </a:tc>
                <a:tc>
                  <a:txBody>
                    <a:bodyPr/>
                    <a:lstStyle/>
                    <a:p>
                      <a:pPr algn="ctr">
                        <a:buNone/>
                      </a:pPr>
                      <a:r>
                        <a:rPr lang="en-US" sz="850" i="1" dirty="0">
                          <a:solidFill>
                            <a:srgbClr val="9CA3AF"/>
                          </a:solidFill>
                        </a:rPr>
                        <a:t>TBC at kickoff</a:t>
                      </a:r>
                    </a:p>
                  </a:txBody>
                  <a:tcPr>
                    <a:solidFill>
                      <a:srgbClr val="F5F6F7"/>
                    </a:solidFill>
                  </a:tcPr>
                </a:tc>
                <a:extLst>
                  <a:ext uri="{0D108BD9-81ED-4DB2-BD59-A6C34878D82A}">
                    <a16:rowId xmlns:a16="http://schemas.microsoft.com/office/drawing/2014/main" val="10002"/>
                  </a:ext>
                </a:extLst>
              </a:tr>
              <a:tr h="393700">
                <a:tc>
                  <a:txBody>
                    <a:bodyPr/>
                    <a:lstStyle/>
                    <a:p>
                      <a:pPr algn="l">
                        <a:buNone/>
                      </a:pPr>
                      <a:r>
                        <a:rPr lang="en-US" sz="850" dirty="0">
                          <a:solidFill>
                            <a:srgbClr val="374151"/>
                          </a:solidFill>
                        </a:rPr>
                        <a:t>Solution Architect</a:t>
                      </a:r>
                    </a:p>
                  </a:txBody>
                  <a:tcPr>
                    <a:solidFill>
                      <a:srgbClr val="FFFFFF"/>
                    </a:solidFill>
                  </a:tcPr>
                </a:tc>
                <a:tc>
                  <a:txBody>
                    <a:bodyPr/>
                    <a:lstStyle/>
                    <a:p>
                      <a:pPr algn="ctr">
                        <a:buNone/>
                      </a:pPr>
                      <a:r>
                        <a:rPr lang="en-US" sz="850" dirty="0">
                          <a:solidFill>
                            <a:srgbClr val="374151"/>
                          </a:solidFill>
                        </a:rPr>
                        <a:t>David</a:t>
                      </a:r>
                    </a:p>
                  </a:txBody>
                  <a:tcPr>
                    <a:solidFill>
                      <a:srgbClr val="F9FAFB"/>
                    </a:solidFill>
                  </a:tcPr>
                </a:tc>
                <a:tc>
                  <a:txBody>
                    <a:bodyPr/>
                    <a:lstStyle/>
                    <a:p>
                      <a:pPr algn="ctr">
                        <a:buNone/>
                      </a:pPr>
                      <a:r>
                        <a:rPr lang="en-US" sz="850" dirty="0">
                          <a:solidFill>
                            <a:srgbClr val="374151"/>
                          </a:solidFill>
                        </a:rPr>
                        <a:t>Tate Swanson</a:t>
                      </a:r>
                    </a:p>
                  </a:txBody>
                  <a:tcPr>
                    <a:solidFill>
                      <a:srgbClr val="F9FAFB"/>
                    </a:solidFill>
                  </a:tcPr>
                </a:tc>
                <a:extLst>
                  <a:ext uri="{0D108BD9-81ED-4DB2-BD59-A6C34878D82A}">
                    <a16:rowId xmlns:a16="http://schemas.microsoft.com/office/drawing/2014/main" val="10003"/>
                  </a:ext>
                </a:extLst>
              </a:tr>
              <a:tr h="393700">
                <a:tc>
                  <a:txBody>
                    <a:bodyPr/>
                    <a:lstStyle/>
                    <a:p>
                      <a:pPr algn="l">
                        <a:buNone/>
                      </a:pPr>
                      <a:r>
                        <a:rPr lang="en-US" sz="850" dirty="0">
                          <a:solidFill>
                            <a:srgbClr val="374151"/>
                          </a:solidFill>
                        </a:rPr>
                        <a:t>Solution Engineer</a:t>
                      </a:r>
                    </a:p>
                  </a:txBody>
                  <a:tcPr>
                    <a:solidFill>
                      <a:srgbClr val="F9FAFB"/>
                    </a:solidFill>
                  </a:tcPr>
                </a:tc>
                <a:tc>
                  <a:txBody>
                    <a:bodyPr/>
                    <a:lstStyle/>
                    <a:p>
                      <a:pPr algn="ctr">
                        <a:buNone/>
                      </a:pPr>
                      <a:r>
                        <a:rPr lang="en-US" sz="850" dirty="0">
                          <a:solidFill>
                            <a:srgbClr val="374151"/>
                          </a:solidFill>
                        </a:rPr>
                        <a:t>Laurel</a:t>
                      </a:r>
                    </a:p>
                  </a:txBody>
                  <a:tcPr>
                    <a:solidFill>
                      <a:srgbClr val="FFFFFF"/>
                    </a:solidFill>
                  </a:tcPr>
                </a:tc>
                <a:tc>
                  <a:txBody>
                    <a:bodyPr/>
                    <a:lstStyle/>
                    <a:p>
                      <a:pPr algn="ctr">
                        <a:buNone/>
                      </a:pPr>
                      <a:r>
                        <a:rPr lang="en-US" sz="850" i="1" dirty="0">
                          <a:solidFill>
                            <a:srgbClr val="9CA3AF"/>
                          </a:solidFill>
                        </a:rPr>
                        <a:t>Data owner — TBC</a:t>
                      </a:r>
                    </a:p>
                  </a:txBody>
                  <a:tcPr>
                    <a:solidFill>
                      <a:srgbClr val="F5F6F7"/>
                    </a:solidFill>
                  </a:tcPr>
                </a:tc>
                <a:extLst>
                  <a:ext uri="{0D108BD9-81ED-4DB2-BD59-A6C34878D82A}">
                    <a16:rowId xmlns:a16="http://schemas.microsoft.com/office/drawing/2014/main" val="10004"/>
                  </a:ext>
                </a:extLst>
              </a:tr>
              <a:tr h="393700">
                <a:tc>
                  <a:txBody>
                    <a:bodyPr/>
                    <a:lstStyle/>
                    <a:p>
                      <a:pPr algn="l">
                        <a:buNone/>
                      </a:pPr>
                      <a:r>
                        <a:rPr lang="en-US" sz="850" dirty="0">
                          <a:solidFill>
                            <a:srgbClr val="374151"/>
                          </a:solidFill>
                        </a:rPr>
                        <a:t>Platform Engineer</a:t>
                      </a:r>
                    </a:p>
                  </a:txBody>
                  <a:tcPr>
                    <a:solidFill>
                      <a:srgbClr val="FFFFFF"/>
                    </a:solidFill>
                  </a:tcPr>
                </a:tc>
                <a:tc>
                  <a:txBody>
                    <a:bodyPr/>
                    <a:lstStyle/>
                    <a:p>
                      <a:pPr algn="ctr">
                        <a:buNone/>
                      </a:pPr>
                      <a:r>
                        <a:rPr lang="en-US" sz="850" dirty="0">
                          <a:solidFill>
                            <a:srgbClr val="374151"/>
                          </a:solidFill>
                        </a:rPr>
                        <a:t>Harshil</a:t>
                      </a:r>
                    </a:p>
                  </a:txBody>
                  <a:tcPr>
                    <a:solidFill>
                      <a:srgbClr val="F9FAFB"/>
                    </a:solidFill>
                  </a:tcPr>
                </a:tc>
                <a:tc>
                  <a:txBody>
                    <a:bodyPr/>
                    <a:lstStyle/>
                    <a:p>
                      <a:pPr algn="ctr">
                        <a:buNone/>
                      </a:pPr>
                      <a:r>
                        <a:rPr lang="en-US" sz="850" i="1" dirty="0">
                          <a:solidFill>
                            <a:srgbClr val="9CA3AF"/>
                          </a:solidFill>
                        </a:rPr>
                        <a:t>Tech lead — TBC</a:t>
                      </a:r>
                    </a:p>
                  </a:txBody>
                  <a:tcPr>
                    <a:solidFill>
                      <a:srgbClr val="EDF0F2"/>
                    </a:solidFill>
                  </a:tcPr>
                </a:tc>
                <a:extLst>
                  <a:ext uri="{0D108BD9-81ED-4DB2-BD59-A6C34878D82A}">
                    <a16:rowId xmlns:a16="http://schemas.microsoft.com/office/drawing/2014/main" val="10005"/>
                  </a:ext>
                </a:extLst>
              </a:tr>
              <a:tr h="393700">
                <a:tc>
                  <a:txBody>
                    <a:bodyPr/>
                    <a:lstStyle/>
                    <a:p>
                      <a:pPr algn="l">
                        <a:buNone/>
                      </a:pPr>
                      <a:r>
                        <a:rPr lang="en-US" sz="850" dirty="0">
                          <a:solidFill>
                            <a:srgbClr val="374151"/>
                          </a:solidFill>
                        </a:rPr>
                        <a:t>QA / Testing</a:t>
                      </a:r>
                    </a:p>
                  </a:txBody>
                  <a:tcPr>
                    <a:solidFill>
                      <a:srgbClr val="F9FAFB"/>
                    </a:solidFill>
                  </a:tcPr>
                </a:tc>
                <a:tc>
                  <a:txBody>
                    <a:bodyPr/>
                    <a:lstStyle/>
                    <a:p>
                      <a:pPr algn="ctr">
                        <a:buNone/>
                      </a:pPr>
                      <a:r>
                        <a:rPr lang="en-US" sz="850" dirty="0">
                          <a:solidFill>
                            <a:srgbClr val="374151"/>
                          </a:solidFill>
                        </a:rPr>
                        <a:t>Laurel &amp; Harshil</a:t>
                      </a:r>
                    </a:p>
                  </a:txBody>
                  <a:tcPr>
                    <a:solidFill>
                      <a:srgbClr val="FFFFFF"/>
                    </a:solidFill>
                  </a:tcPr>
                </a:tc>
                <a:tc>
                  <a:txBody>
                    <a:bodyPr/>
                    <a:lstStyle/>
                    <a:p>
                      <a:pPr algn="ctr">
                        <a:buNone/>
                      </a:pPr>
                      <a:r>
                        <a:rPr lang="en-US" sz="850" i="1" dirty="0">
                          <a:solidFill>
                            <a:srgbClr val="9CA3AF"/>
                          </a:solidFill>
                        </a:rPr>
                        <a:t>TBC</a:t>
                      </a:r>
                    </a:p>
                  </a:txBody>
                  <a:tcPr>
                    <a:solidFill>
                      <a:srgbClr val="F5F6F7"/>
                    </a:solidFill>
                  </a:tcPr>
                </a:tc>
                <a:extLst>
                  <a:ext uri="{0D108BD9-81ED-4DB2-BD59-A6C34878D82A}">
                    <a16:rowId xmlns:a16="http://schemas.microsoft.com/office/drawing/2014/main" val="10006"/>
                  </a:ext>
                </a:extLst>
              </a:tr>
            </a:tbl>
          </a:graphicData>
        </a:graphic>
      </p:graphicFrame>
      <p:sp>
        <p:nvSpPr>
          <p:cNvPr id="40" name="CadCardBG"/>
          <p:cNvSpPr/>
          <p:nvPr/>
        </p:nvSpPr>
        <p:spPr>
          <a:xfrm>
            <a:off x="5715000" y="914400"/>
            <a:ext cx="3175000" cy="3200400"/>
          </a:xfrm>
          <a:prstGeom prst="roundRect">
            <a:avLst>
              <a:gd name="adj" fmla="val 4000"/>
            </a:avLst>
          </a:prstGeom>
          <a:solidFill>
            <a:srgbClr val="FFFFFF"/>
          </a:solidFill>
          <a:ln w="6350">
            <a:solidFill>
              <a:srgbClr val="E5E7EB"/>
            </a:solidFill>
          </a:ln>
          <a:effectLst>
            <a:outerShdw blurRad="50800" dist="12700" dir="5400000" algn="t" rotWithShape="0">
              <a:srgbClr val="000000">
                <a:alpha val="8000"/>
              </a:srgbClr>
            </a:outerShdw>
          </a:effectLst>
        </p:spPr>
        <p:txBody>
          <a:bodyPr/>
          <a:lstStyle/>
          <a:p>
            <a:endParaRPr lang="en-US"/>
          </a:p>
        </p:txBody>
      </p:sp>
      <p:sp>
        <p:nvSpPr>
          <p:cNvPr id="41" name="CadAccent"/>
          <p:cNvSpPr/>
          <p:nvPr/>
        </p:nvSpPr>
        <p:spPr>
          <a:xfrm>
            <a:off x="5715000" y="914400"/>
            <a:ext cx="3175000" cy="50800"/>
          </a:xfrm>
          <a:prstGeom prst="roundRect">
            <a:avLst>
              <a:gd name="adj" fmla="val 4000"/>
            </a:avLst>
          </a:prstGeom>
          <a:solidFill>
            <a:srgbClr val="07BCD6"/>
          </a:solidFill>
          <a:ln>
            <a:noFill/>
          </a:ln>
        </p:spPr>
        <p:txBody>
          <a:bodyPr/>
          <a:lstStyle/>
          <a:p>
            <a:endParaRPr lang="en-US"/>
          </a:p>
        </p:txBody>
      </p:sp>
      <p:sp>
        <p:nvSpPr>
          <p:cNvPr id="42" name="CadLabel"/>
          <p:cNvSpPr/>
          <p:nvPr/>
        </p:nvSpPr>
        <p:spPr>
          <a:xfrm>
            <a:off x="5816600" y="990600"/>
            <a:ext cx="2000000" cy="228600"/>
          </a:xfrm>
          <a:prstGeom prst="rect">
            <a:avLst/>
          </a:prstGeom>
          <a:noFill/>
          <a:ln>
            <a:noFill/>
          </a:ln>
        </p:spPr>
        <p:txBody>
          <a:bodyPr wrap="square" lIns="0" tIns="0" rIns="0" bIns="0" anchor="ctr"/>
          <a:lstStyle/>
          <a:p>
            <a:pPr>
              <a:buNone/>
            </a:pPr>
            <a:r>
              <a:rPr lang="en-US" sz="900" b="1" dirty="0">
                <a:solidFill>
                  <a:srgbClr val="07BCD6"/>
                </a:solidFill>
              </a:rPr>
              <a:t>WORKING CADENCE</a:t>
            </a:r>
          </a:p>
        </p:txBody>
      </p:sp>
      <p:sp>
        <p:nvSpPr>
          <p:cNvPr id="50" name="Cad0BG"/>
          <p:cNvSpPr/>
          <p:nvPr/>
        </p:nvSpPr>
        <p:spPr>
          <a:xfrm>
            <a:off x="5715000" y="1041400"/>
            <a:ext cx="3175000" cy="508000"/>
          </a:xfrm>
          <a:prstGeom prst="roundRect">
            <a:avLst>
              <a:gd name="adj" fmla="val 6000"/>
            </a:avLst>
          </a:prstGeom>
          <a:solidFill>
            <a:srgbClr val="FFFFFF"/>
          </a:solidFill>
          <a:ln w="6350">
            <a:solidFill>
              <a:srgbClr val="E5E7EB"/>
            </a:solidFill>
          </a:ln>
        </p:spPr>
        <p:txBody>
          <a:bodyPr/>
          <a:lstStyle/>
          <a:p>
            <a:endParaRPr lang="en-US"/>
          </a:p>
        </p:txBody>
      </p:sp>
      <p:sp>
        <p:nvSpPr>
          <p:cNvPr id="51" name="Cad0Dot"/>
          <p:cNvSpPr/>
          <p:nvPr/>
        </p:nvSpPr>
        <p:spPr>
          <a:xfrm>
            <a:off x="5816600" y="1244600"/>
            <a:ext cx="101600" cy="101600"/>
          </a:xfrm>
          <a:prstGeom prst="ellipse">
            <a:avLst/>
          </a:prstGeom>
          <a:solidFill>
            <a:srgbClr val="EB1A63"/>
          </a:solidFill>
          <a:ln>
            <a:noFill/>
          </a:ln>
        </p:spPr>
        <p:txBody>
          <a:bodyPr/>
          <a:lstStyle/>
          <a:p>
            <a:endParaRPr lang="en-US"/>
          </a:p>
        </p:txBody>
      </p:sp>
      <p:sp>
        <p:nvSpPr>
          <p:cNvPr id="52" name="Cad0Text"/>
          <p:cNvSpPr/>
          <p:nvPr/>
        </p:nvSpPr>
        <p:spPr>
          <a:xfrm>
            <a:off x="5994400" y="1092200"/>
            <a:ext cx="2794000" cy="406400"/>
          </a:xfrm>
          <a:prstGeom prst="rect">
            <a:avLst/>
          </a:prstGeom>
          <a:noFill/>
          <a:ln>
            <a:noFill/>
          </a:ln>
        </p:spPr>
        <p:txBody>
          <a:bodyPr wrap="square" lIns="0" tIns="0" rIns="0" bIns="0" anchor="ctr"/>
          <a:lstStyle/>
          <a:p>
            <a:pPr>
              <a:buNone/>
            </a:pPr>
            <a:r>
              <a:rPr lang="en-US" sz="750" b="1" dirty="0">
                <a:solidFill>
                  <a:srgbClr val="EB1A63"/>
                </a:solidFill>
              </a:rPr>
              <a:t>Weekly</a:t>
            </a:r>
            <a:r>
              <a:rPr lang="en-US" sz="900" b="1" dirty="0">
                <a:solidFill>
                  <a:srgbClr val="111827"/>
                </a:solidFill>
              </a:rPr>
              <a:t>  Project Standup</a:t>
            </a:r>
          </a:p>
          <a:p>
            <a:pPr>
              <a:buNone/>
            </a:pPr>
            <a:r>
              <a:rPr lang="en-US" sz="750" dirty="0">
                <a:solidFill>
                  <a:srgbClr val="6B7280"/>
                </a:solidFill>
              </a:rPr>
              <a:t>30 min · Both teams · Status, blockers, decisions</a:t>
            </a:r>
          </a:p>
        </p:txBody>
      </p:sp>
      <p:sp>
        <p:nvSpPr>
          <p:cNvPr id="53" name="Cad1BG"/>
          <p:cNvSpPr/>
          <p:nvPr/>
        </p:nvSpPr>
        <p:spPr>
          <a:xfrm>
            <a:off x="5715000" y="1625600"/>
            <a:ext cx="3175000" cy="508000"/>
          </a:xfrm>
          <a:prstGeom prst="roundRect">
            <a:avLst>
              <a:gd name="adj" fmla="val 6000"/>
            </a:avLst>
          </a:prstGeom>
          <a:solidFill>
            <a:srgbClr val="FFFFFF"/>
          </a:solidFill>
          <a:ln w="6350">
            <a:solidFill>
              <a:srgbClr val="E5E7EB"/>
            </a:solidFill>
          </a:ln>
        </p:spPr>
        <p:txBody>
          <a:bodyPr/>
          <a:lstStyle/>
          <a:p>
            <a:endParaRPr lang="en-US"/>
          </a:p>
        </p:txBody>
      </p:sp>
      <p:sp>
        <p:nvSpPr>
          <p:cNvPr id="54" name="Cad1Dot"/>
          <p:cNvSpPr/>
          <p:nvPr/>
        </p:nvSpPr>
        <p:spPr>
          <a:xfrm>
            <a:off x="5816600" y="1828800"/>
            <a:ext cx="101600" cy="101600"/>
          </a:xfrm>
          <a:prstGeom prst="ellipse">
            <a:avLst/>
          </a:prstGeom>
          <a:solidFill>
            <a:srgbClr val="07BCD6"/>
          </a:solidFill>
          <a:ln>
            <a:noFill/>
          </a:ln>
        </p:spPr>
        <p:txBody>
          <a:bodyPr/>
          <a:lstStyle/>
          <a:p>
            <a:endParaRPr lang="en-US"/>
          </a:p>
        </p:txBody>
      </p:sp>
      <p:sp>
        <p:nvSpPr>
          <p:cNvPr id="55" name="Cad1Text"/>
          <p:cNvSpPr/>
          <p:nvPr/>
        </p:nvSpPr>
        <p:spPr>
          <a:xfrm>
            <a:off x="5994400" y="1676400"/>
            <a:ext cx="2794000" cy="406400"/>
          </a:xfrm>
          <a:prstGeom prst="rect">
            <a:avLst/>
          </a:prstGeom>
          <a:noFill/>
          <a:ln>
            <a:noFill/>
          </a:ln>
        </p:spPr>
        <p:txBody>
          <a:bodyPr wrap="square" lIns="0" tIns="0" rIns="0" bIns="0" anchor="ctr"/>
          <a:lstStyle/>
          <a:p>
            <a:pPr>
              <a:buNone/>
            </a:pPr>
            <a:r>
              <a:rPr lang="en-US" sz="750" b="1" dirty="0">
                <a:solidFill>
                  <a:srgbClr val="07BCD6"/>
                </a:solidFill>
              </a:rPr>
              <a:t>Bi-weekly</a:t>
            </a:r>
            <a:r>
              <a:rPr lang="en-US" sz="900" b="1" dirty="0">
                <a:solidFill>
                  <a:srgbClr val="111827"/>
                </a:solidFill>
              </a:rPr>
              <a:t>  Steering Check-in</a:t>
            </a:r>
          </a:p>
          <a:p>
            <a:pPr>
              <a:buNone/>
            </a:pPr>
            <a:r>
              <a:rPr lang="en-US" sz="750" dirty="0">
                <a:solidFill>
                  <a:srgbClr val="6B7280"/>
                </a:solidFill>
              </a:rPr>
              <a:t>60 min · Leads only · Scope, risks, milestones</a:t>
            </a:r>
          </a:p>
        </p:txBody>
      </p:sp>
      <p:sp>
        <p:nvSpPr>
          <p:cNvPr id="56" name="Cad2BG"/>
          <p:cNvSpPr/>
          <p:nvPr/>
        </p:nvSpPr>
        <p:spPr>
          <a:xfrm>
            <a:off x="5715000" y="2209800"/>
            <a:ext cx="3175000" cy="508000"/>
          </a:xfrm>
          <a:prstGeom prst="roundRect">
            <a:avLst>
              <a:gd name="adj" fmla="val 6000"/>
            </a:avLst>
          </a:prstGeom>
          <a:solidFill>
            <a:srgbClr val="FFFFFF"/>
          </a:solidFill>
          <a:ln w="6350">
            <a:solidFill>
              <a:srgbClr val="E5E7EB"/>
            </a:solidFill>
          </a:ln>
        </p:spPr>
        <p:txBody>
          <a:bodyPr/>
          <a:lstStyle/>
          <a:p>
            <a:endParaRPr lang="en-US"/>
          </a:p>
        </p:txBody>
      </p:sp>
      <p:sp>
        <p:nvSpPr>
          <p:cNvPr id="57" name="Cad2Dot"/>
          <p:cNvSpPr/>
          <p:nvPr/>
        </p:nvSpPr>
        <p:spPr>
          <a:xfrm>
            <a:off x="5816600" y="2413000"/>
            <a:ext cx="101600" cy="101600"/>
          </a:xfrm>
          <a:prstGeom prst="ellipse">
            <a:avLst/>
          </a:prstGeom>
          <a:solidFill>
            <a:srgbClr val="8AC542"/>
          </a:solidFill>
          <a:ln>
            <a:noFill/>
          </a:ln>
        </p:spPr>
        <p:txBody>
          <a:bodyPr/>
          <a:lstStyle/>
          <a:p>
            <a:endParaRPr lang="en-US"/>
          </a:p>
        </p:txBody>
      </p:sp>
      <p:sp>
        <p:nvSpPr>
          <p:cNvPr id="58" name="Cad2Text"/>
          <p:cNvSpPr/>
          <p:nvPr/>
        </p:nvSpPr>
        <p:spPr>
          <a:xfrm>
            <a:off x="5994400" y="2260600"/>
            <a:ext cx="2794000" cy="406400"/>
          </a:xfrm>
          <a:prstGeom prst="rect">
            <a:avLst/>
          </a:prstGeom>
          <a:noFill/>
          <a:ln>
            <a:noFill/>
          </a:ln>
        </p:spPr>
        <p:txBody>
          <a:bodyPr wrap="square" lIns="0" tIns="0" rIns="0" bIns="0" anchor="ctr"/>
          <a:lstStyle/>
          <a:p>
            <a:pPr>
              <a:buNone/>
            </a:pPr>
            <a:r>
              <a:rPr lang="en-US" sz="750" b="1" dirty="0">
                <a:solidFill>
                  <a:srgbClr val="8AC542"/>
                </a:solidFill>
              </a:rPr>
              <a:t>As-needed</a:t>
            </a:r>
            <a:r>
              <a:rPr lang="en-US" sz="900" b="1" dirty="0">
                <a:solidFill>
                  <a:srgbClr val="111827"/>
                </a:solidFill>
              </a:rPr>
              <a:t>  Technical Review</a:t>
            </a:r>
          </a:p>
          <a:p>
            <a:pPr>
              <a:buNone/>
            </a:pPr>
            <a:r>
              <a:rPr lang="en-US" sz="750" dirty="0">
                <a:solidFill>
                  <a:srgbClr val="6B7280"/>
                </a:solidFill>
              </a:rPr>
              <a:t>Data model, API design, integration reviews</a:t>
            </a:r>
          </a:p>
        </p:txBody>
      </p:sp>
      <p:sp>
        <p:nvSpPr>
          <p:cNvPr id="59" name="Cad3BG"/>
          <p:cNvSpPr/>
          <p:nvPr/>
        </p:nvSpPr>
        <p:spPr>
          <a:xfrm>
            <a:off x="5715000" y="2794000"/>
            <a:ext cx="3175000" cy="508000"/>
          </a:xfrm>
          <a:prstGeom prst="roundRect">
            <a:avLst>
              <a:gd name="adj" fmla="val 6000"/>
            </a:avLst>
          </a:prstGeom>
          <a:solidFill>
            <a:srgbClr val="FFFFFF"/>
          </a:solidFill>
          <a:ln w="6350">
            <a:solidFill>
              <a:srgbClr val="E5E7EB"/>
            </a:solidFill>
          </a:ln>
        </p:spPr>
        <p:txBody>
          <a:bodyPr/>
          <a:lstStyle/>
          <a:p>
            <a:endParaRPr lang="en-US"/>
          </a:p>
        </p:txBody>
      </p:sp>
      <p:sp>
        <p:nvSpPr>
          <p:cNvPr id="60" name="Cad3Dot"/>
          <p:cNvSpPr/>
          <p:nvPr/>
        </p:nvSpPr>
        <p:spPr>
          <a:xfrm>
            <a:off x="5816600" y="2997200"/>
            <a:ext cx="101600" cy="101600"/>
          </a:xfrm>
          <a:prstGeom prst="ellipse">
            <a:avLst/>
          </a:prstGeom>
          <a:solidFill>
            <a:srgbClr val="458CCB"/>
          </a:solidFill>
          <a:ln>
            <a:noFill/>
          </a:ln>
        </p:spPr>
        <p:txBody>
          <a:bodyPr/>
          <a:lstStyle/>
          <a:p>
            <a:endParaRPr lang="en-US"/>
          </a:p>
        </p:txBody>
      </p:sp>
      <p:sp>
        <p:nvSpPr>
          <p:cNvPr id="61" name="Cad3Text"/>
          <p:cNvSpPr/>
          <p:nvPr/>
        </p:nvSpPr>
        <p:spPr>
          <a:xfrm>
            <a:off x="5994400" y="2844800"/>
            <a:ext cx="2794000" cy="406400"/>
          </a:xfrm>
          <a:prstGeom prst="rect">
            <a:avLst/>
          </a:prstGeom>
          <a:noFill/>
          <a:ln>
            <a:noFill/>
          </a:ln>
        </p:spPr>
        <p:txBody>
          <a:bodyPr wrap="square" lIns="0" tIns="0" rIns="0" bIns="0" anchor="ctr"/>
          <a:lstStyle/>
          <a:p>
            <a:pPr>
              <a:buNone/>
            </a:pPr>
            <a:r>
              <a:rPr lang="en-US" sz="750" b="1" dirty="0">
                <a:solidFill>
                  <a:srgbClr val="458CCB"/>
                </a:solidFill>
              </a:rPr>
              <a:t>End of Phase</a:t>
            </a:r>
            <a:r>
              <a:rPr lang="en-US" sz="900" b="1" dirty="0">
                <a:solidFill>
                  <a:srgbClr val="111827"/>
                </a:solidFill>
              </a:rPr>
              <a:t>  Phase Gate Review</a:t>
            </a:r>
          </a:p>
          <a:p>
            <a:pPr>
              <a:buNone/>
            </a:pPr>
            <a:r>
              <a:rPr lang="en-US" sz="750" dirty="0">
                <a:solidFill>
                  <a:srgbClr val="6B7280"/>
                </a:solidFill>
              </a:rPr>
              <a:t>Demo, sign-off, and next phase kick-off</a:t>
            </a:r>
          </a:p>
        </p:txBody>
      </p:sp>
      <p:sp>
        <p:nvSpPr>
          <p:cNvPr id="62" name="Cad4BG"/>
          <p:cNvSpPr/>
          <p:nvPr/>
        </p:nvSpPr>
        <p:spPr>
          <a:xfrm>
            <a:off x="5715000" y="3378200"/>
            <a:ext cx="3175000" cy="508000"/>
          </a:xfrm>
          <a:prstGeom prst="roundRect">
            <a:avLst>
              <a:gd name="adj" fmla="val 6000"/>
            </a:avLst>
          </a:prstGeom>
          <a:solidFill>
            <a:srgbClr val="FFFFFF"/>
          </a:solidFill>
          <a:ln w="6350">
            <a:solidFill>
              <a:srgbClr val="E5E7EB"/>
            </a:solidFill>
          </a:ln>
        </p:spPr>
        <p:txBody>
          <a:bodyPr/>
          <a:lstStyle/>
          <a:p>
            <a:endParaRPr lang="en-US"/>
          </a:p>
        </p:txBody>
      </p:sp>
      <p:sp>
        <p:nvSpPr>
          <p:cNvPr id="63" name="Cad4Dot"/>
          <p:cNvSpPr/>
          <p:nvPr/>
        </p:nvSpPr>
        <p:spPr>
          <a:xfrm>
            <a:off x="5816600" y="3581400"/>
            <a:ext cx="101600" cy="101600"/>
          </a:xfrm>
          <a:prstGeom prst="ellipse">
            <a:avLst/>
          </a:prstGeom>
          <a:solidFill>
            <a:srgbClr val="F8981D"/>
          </a:solidFill>
          <a:ln>
            <a:noFill/>
          </a:ln>
        </p:spPr>
        <p:txBody>
          <a:bodyPr/>
          <a:lstStyle/>
          <a:p>
            <a:endParaRPr lang="en-US"/>
          </a:p>
        </p:txBody>
      </p:sp>
      <p:sp>
        <p:nvSpPr>
          <p:cNvPr id="64" name="Cad4Text"/>
          <p:cNvSpPr/>
          <p:nvPr/>
        </p:nvSpPr>
        <p:spPr>
          <a:xfrm>
            <a:off x="5994400" y="3429000"/>
            <a:ext cx="2794000" cy="406400"/>
          </a:xfrm>
          <a:prstGeom prst="rect">
            <a:avLst/>
          </a:prstGeom>
          <a:noFill/>
          <a:ln>
            <a:noFill/>
          </a:ln>
        </p:spPr>
        <p:txBody>
          <a:bodyPr wrap="square" lIns="0" tIns="0" rIns="0" bIns="0" anchor="ctr"/>
          <a:lstStyle/>
          <a:p>
            <a:pPr>
              <a:buNone/>
            </a:pPr>
            <a:r>
              <a:rPr lang="en-US" sz="750" b="1" dirty="0">
                <a:solidFill>
                  <a:srgbClr val="F8981D"/>
                </a:solidFill>
              </a:rPr>
              <a:t>Ongoing</a:t>
            </a:r>
            <a:r>
              <a:rPr lang="en-US" sz="900" b="1" dirty="0">
                <a:solidFill>
                  <a:srgbClr val="111827"/>
                </a:solidFill>
              </a:rPr>
              <a:t>  Slack / async comms</a:t>
            </a:r>
          </a:p>
          <a:p>
            <a:pPr>
              <a:buNone/>
            </a:pPr>
            <a:r>
              <a:rPr lang="en-US" sz="750" dirty="0">
                <a:solidFill>
                  <a:srgbClr val="6B7280"/>
                </a:solidFill>
              </a:rPr>
              <a:t>Shared channel for day-to-day coordination</a:t>
            </a:r>
          </a:p>
        </p:txBody>
      </p:sp>
      <p:sp>
        <p:nvSpPr>
          <p:cNvPr id="9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Tree>
    <p:extLst>
      <p:ext uri="{BB962C8B-B14F-4D97-AF65-F5344CB8AC3E}">
        <p14:creationId xmlns:p14="http://schemas.microsoft.com/office/powerpoint/2010/main" val="28964761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6858000" cy="381000"/>
          </a:xfrm>
          <a:prstGeom prst="rect">
            <a:avLst/>
          </a:prstGeom>
          <a:noFill/>
          <a:ln>
            <a:noFill/>
          </a:ln>
        </p:spPr>
        <p:txBody>
          <a:bodyPr wrap="square" lIns="0" tIns="0" rIns="0" bIns="0" anchor="b"/>
          <a:lstStyle/>
          <a:p>
            <a:pPr>
              <a:buNone/>
            </a:pPr>
            <a:r>
              <a:rPr lang="en-US" sz="2000" b="1" dirty="0">
                <a:solidFill>
                  <a:srgbClr val="111827"/>
                </a:solidFill>
              </a:rPr>
              <a:t>Open Questions</a:t>
            </a:r>
          </a:p>
        </p:txBody>
      </p:sp>
      <p:sp>
        <p:nvSpPr>
          <p:cNvPr id="7" name="Subtitle"/>
          <p:cNvSpPr/>
          <p:nvPr/>
        </p:nvSpPr>
        <p:spPr>
          <a:xfrm>
            <a:off x="355600" y="533400"/>
            <a:ext cx="8432800" cy="254000"/>
          </a:xfrm>
          <a:prstGeom prst="rect">
            <a:avLst/>
          </a:prstGeom>
          <a:noFill/>
          <a:ln>
            <a:noFill/>
          </a:ln>
        </p:spPr>
        <p:txBody>
          <a:bodyPr wrap="square" lIns="0" tIns="0" rIns="0" bIns="0" anchor="t"/>
          <a:lstStyle/>
          <a:p>
            <a:pPr>
              <a:buNone/>
            </a:pPr>
            <a:r>
              <a:rPr lang="en-US" sz="1050" dirty="0">
                <a:solidFill>
                  <a:srgbClr val="6B7280"/>
                </a:solidFill>
                <a:latin typeface="Calibri"/>
              </a:rPr>
              <a:t>We've shared a full questions document with your team ahead of today (32 questions across 5 areas). This slide is the shape of that conversation — we'll go deeper on the items most likely to shape Phase 1.</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9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100" name="C100BG"/>
          <p:cNvSpPr/>
          <p:nvPr/>
        </p:nvSpPr>
        <p:spPr>
          <a:xfrm>
            <a:off x="254000" y="914400"/>
            <a:ext cx="2806700" cy="1727200"/>
          </a:xfrm>
          <a:prstGeom prst="roundRect">
            <a:avLst>
              <a:gd name="adj" fmla="val 12000"/>
            </a:avLst>
          </a:prstGeom>
          <a:solidFill>
            <a:srgbClr val="FFFFFF"/>
          </a:solidFill>
          <a:ln>
            <a:noFill/>
          </a:ln>
          <a:effectLst>
            <a:outerShdw blurRad="38100" dist="12700" dir="5400000" algn="ctr" rotWithShape="0">
              <a:srgbClr val="000000">
                <a:alpha val="8000"/>
              </a:srgbClr>
            </a:outerShdw>
          </a:effectLst>
        </p:spPr>
        <p:txBody>
          <a:bodyPr/>
          <a:lstStyle/>
          <a:p>
            <a:endParaRPr lang="en-US"/>
          </a:p>
        </p:txBody>
      </p:sp>
      <p:sp>
        <p:nvSpPr>
          <p:cNvPr id="101" name="C100Bar"/>
          <p:cNvSpPr/>
          <p:nvPr/>
        </p:nvSpPr>
        <p:spPr>
          <a:xfrm>
            <a:off x="254000" y="914400"/>
            <a:ext cx="63500" cy="1727200"/>
          </a:xfrm>
          <a:prstGeom prst="rect">
            <a:avLst/>
          </a:prstGeom>
          <a:solidFill>
            <a:srgbClr val="EB1A63"/>
          </a:solidFill>
          <a:ln>
            <a:noFill/>
          </a:ln>
        </p:spPr>
        <p:txBody>
          <a:bodyPr/>
          <a:lstStyle/>
          <a:p>
            <a:endParaRPr lang="en-US"/>
          </a:p>
        </p:txBody>
      </p:sp>
      <p:sp>
        <p:nvSpPr>
          <p:cNvPr id="102" name="C100Badge"/>
          <p:cNvSpPr/>
          <p:nvPr/>
        </p:nvSpPr>
        <p:spPr>
          <a:xfrm>
            <a:off x="431800" y="1079500"/>
            <a:ext cx="660400" cy="304800"/>
          </a:xfrm>
          <a:prstGeom prst="roundRect">
            <a:avLst>
              <a:gd name="adj" fmla="val 16000"/>
            </a:avLst>
          </a:prstGeom>
          <a:solidFill>
            <a:srgbClr val="EB1A63"/>
          </a:solidFill>
          <a:ln>
            <a:noFill/>
          </a:ln>
        </p:spPr>
        <p:txBody>
          <a:bodyPr/>
          <a:lstStyle/>
          <a:p>
            <a:endParaRPr lang="en-US"/>
          </a:p>
        </p:txBody>
      </p:sp>
      <p:sp>
        <p:nvSpPr>
          <p:cNvPr id="602" name="C100BadgeNum"/>
          <p:cNvSpPr/>
          <p:nvPr/>
        </p:nvSpPr>
        <p:spPr>
          <a:xfrm>
            <a:off x="431800" y="1079500"/>
            <a:ext cx="660400" cy="304800"/>
          </a:xfrm>
          <a:prstGeom prst="rect">
            <a:avLst/>
          </a:prstGeom>
          <a:noFill/>
          <a:ln>
            <a:noFill/>
          </a:ln>
        </p:spPr>
        <p:txBody>
          <a:bodyPr wrap="square" lIns="0" tIns="0" rIns="0" bIns="0" anchor="ctr"/>
          <a:lstStyle/>
          <a:p>
            <a:pPr algn="ctr">
              <a:buNone/>
            </a:pPr>
            <a:r>
              <a:rPr lang="en-US" sz="1200" b="1" dirty="0">
                <a:solidFill>
                  <a:srgbClr val="FFFFFF"/>
                </a:solidFill>
                <a:latin typeface="Calibri"/>
              </a:rPr>
              <a:t>12</a:t>
            </a:r>
            <a:r>
              <a:rPr lang="en-US" sz="900" dirty="0">
                <a:solidFill>
                  <a:srgbClr val="FFFFFF"/>
                </a:solidFill>
                <a:latin typeface="Calibri"/>
              </a:rPr>
              <a:t> </a:t>
            </a:r>
            <a:r>
              <a:rPr lang="en-US" sz="900" b="1" dirty="0">
                <a:solidFill>
                  <a:srgbClr val="FFFFFF"/>
                </a:solidFill>
                <a:latin typeface="Calibri"/>
              </a:rPr>
              <a:t>Qs</a:t>
            </a:r>
          </a:p>
        </p:txBody>
      </p:sp>
      <p:sp>
        <p:nvSpPr>
          <p:cNvPr id="702" name="C100Label"/>
          <p:cNvSpPr/>
          <p:nvPr/>
        </p:nvSpPr>
        <p:spPr>
          <a:xfrm>
            <a:off x="1168400" y="1079500"/>
            <a:ext cx="1790700" cy="304800"/>
          </a:xfrm>
          <a:prstGeom prst="rect">
            <a:avLst/>
          </a:prstGeom>
          <a:noFill/>
          <a:ln>
            <a:noFill/>
          </a:ln>
        </p:spPr>
        <p:txBody>
          <a:bodyPr wrap="square" lIns="0" tIns="0" rIns="0" bIns="0" anchor="ctr"/>
          <a:lstStyle/>
          <a:p>
            <a:pPr>
              <a:buNone/>
            </a:pPr>
            <a:r>
              <a:rPr lang="en-US" sz="1000" b="1" spc="80" dirty="0">
                <a:solidFill>
                  <a:srgbClr val="EB1A63"/>
                </a:solidFill>
                <a:latin typeface="Calibri"/>
              </a:rPr>
              <a:t>DATA</a:t>
            </a:r>
          </a:p>
        </p:txBody>
      </p:sp>
      <p:sp>
        <p:nvSpPr>
          <p:cNvPr id="4" name="C100Div"/>
          <p:cNvSpPr/>
          <p:nvPr/>
        </p:nvSpPr>
        <p:spPr>
          <a:xfrm>
            <a:off x="431800" y="1473200"/>
            <a:ext cx="2552700" cy="12700"/>
          </a:xfrm>
          <a:prstGeom prst="rect">
            <a:avLst/>
          </a:prstGeom>
          <a:solidFill>
            <a:srgbClr val="E5E7EB"/>
          </a:solidFill>
          <a:ln>
            <a:noFill/>
          </a:ln>
        </p:spPr>
        <p:txBody>
          <a:bodyPr/>
          <a:lstStyle/>
          <a:p>
            <a:endParaRPr lang="en-US"/>
          </a:p>
        </p:txBody>
      </p:sp>
      <p:sp>
        <p:nvSpPr>
          <p:cNvPr id="103" name="C100Text"/>
          <p:cNvSpPr/>
          <p:nvPr/>
        </p:nvSpPr>
        <p:spPr>
          <a:xfrm>
            <a:off x="431800" y="1549400"/>
            <a:ext cx="2552700" cy="1016000"/>
          </a:xfrm>
          <a:prstGeom prst="rect">
            <a:avLst/>
          </a:prstGeom>
          <a:noFill/>
          <a:ln>
            <a:noFill/>
          </a:ln>
        </p:spPr>
        <p:txBody>
          <a:bodyPr wrap="square" lIns="0" tIns="0" rIns="0" bIns="0" anchor="t"/>
          <a:lstStyle/>
          <a:p>
            <a:pPr>
              <a:lnSpc>
                <a:spcPts val="1300"/>
              </a:lnSpc>
              <a:spcBef>
                <a:spcPts val="0"/>
              </a:spcBef>
              <a:buNone/>
            </a:pPr>
            <a:r>
              <a:rPr lang="en-US" sz="1000" i="1" dirty="0">
                <a:solidFill>
                  <a:srgbClr val="6B7280"/>
                </a:solidFill>
                <a:latin typeface="Calibri"/>
              </a:rPr>
              <a:t>· Where did each product file come from, and which is authoritative?</a:t>
            </a:r>
          </a:p>
          <a:p>
            <a:pPr>
              <a:lnSpc>
                <a:spcPts val="1300"/>
              </a:lnSpc>
              <a:spcBef>
                <a:spcPts val="300"/>
              </a:spcBef>
              <a:buNone/>
            </a:pPr>
            <a:r>
              <a:rPr lang="en-US" sz="1000" i="1" dirty="0">
                <a:solidFill>
                  <a:srgbClr val="6B7280"/>
                </a:solidFill>
                <a:latin typeface="Calibri"/>
              </a:rPr>
              <a:t>· Will product data flow via Celigo, or directly from source?</a:t>
            </a:r>
          </a:p>
        </p:txBody>
      </p:sp>
      <p:sp>
        <p:nvSpPr>
          <p:cNvPr id="110" name="C110BG"/>
          <p:cNvSpPr/>
          <p:nvPr/>
        </p:nvSpPr>
        <p:spPr>
          <a:xfrm>
            <a:off x="3162300" y="914400"/>
            <a:ext cx="2806700" cy="1727200"/>
          </a:xfrm>
          <a:prstGeom prst="roundRect">
            <a:avLst>
              <a:gd name="adj" fmla="val 12000"/>
            </a:avLst>
          </a:prstGeom>
          <a:solidFill>
            <a:srgbClr val="FFFFFF"/>
          </a:solidFill>
          <a:ln>
            <a:noFill/>
          </a:ln>
          <a:effectLst>
            <a:outerShdw blurRad="38100" dist="12700" dir="5400000" algn="ctr" rotWithShape="0">
              <a:srgbClr val="000000">
                <a:alpha val="8000"/>
              </a:srgbClr>
            </a:outerShdw>
          </a:effectLst>
        </p:spPr>
        <p:txBody>
          <a:bodyPr/>
          <a:lstStyle/>
          <a:p>
            <a:endParaRPr lang="en-US"/>
          </a:p>
        </p:txBody>
      </p:sp>
      <p:sp>
        <p:nvSpPr>
          <p:cNvPr id="111" name="C110Bar"/>
          <p:cNvSpPr/>
          <p:nvPr/>
        </p:nvSpPr>
        <p:spPr>
          <a:xfrm>
            <a:off x="3162300" y="914400"/>
            <a:ext cx="63500" cy="1727200"/>
          </a:xfrm>
          <a:prstGeom prst="rect">
            <a:avLst/>
          </a:prstGeom>
          <a:solidFill>
            <a:srgbClr val="07BCD6"/>
          </a:solidFill>
          <a:ln>
            <a:noFill/>
          </a:ln>
        </p:spPr>
        <p:txBody>
          <a:bodyPr/>
          <a:lstStyle/>
          <a:p>
            <a:endParaRPr lang="en-US"/>
          </a:p>
        </p:txBody>
      </p:sp>
      <p:sp>
        <p:nvSpPr>
          <p:cNvPr id="112" name="C110Badge"/>
          <p:cNvSpPr/>
          <p:nvPr/>
        </p:nvSpPr>
        <p:spPr>
          <a:xfrm>
            <a:off x="3340100" y="1079500"/>
            <a:ext cx="660400" cy="304800"/>
          </a:xfrm>
          <a:prstGeom prst="roundRect">
            <a:avLst>
              <a:gd name="adj" fmla="val 16000"/>
            </a:avLst>
          </a:prstGeom>
          <a:solidFill>
            <a:srgbClr val="07BCD6"/>
          </a:solidFill>
          <a:ln>
            <a:noFill/>
          </a:ln>
        </p:spPr>
        <p:txBody>
          <a:bodyPr/>
          <a:lstStyle/>
          <a:p>
            <a:endParaRPr lang="en-US"/>
          </a:p>
        </p:txBody>
      </p:sp>
      <p:sp>
        <p:nvSpPr>
          <p:cNvPr id="612" name="C110BadgeNum"/>
          <p:cNvSpPr/>
          <p:nvPr/>
        </p:nvSpPr>
        <p:spPr>
          <a:xfrm>
            <a:off x="3340100" y="1079500"/>
            <a:ext cx="660400" cy="304800"/>
          </a:xfrm>
          <a:prstGeom prst="rect">
            <a:avLst/>
          </a:prstGeom>
          <a:noFill/>
          <a:ln>
            <a:noFill/>
          </a:ln>
        </p:spPr>
        <p:txBody>
          <a:bodyPr wrap="square" lIns="0" tIns="0" rIns="0" bIns="0" anchor="ctr"/>
          <a:lstStyle/>
          <a:p>
            <a:pPr algn="ctr">
              <a:buNone/>
            </a:pPr>
            <a:r>
              <a:rPr lang="en-US" sz="1200" b="1" dirty="0">
                <a:solidFill>
                  <a:srgbClr val="FFFFFF"/>
                </a:solidFill>
                <a:latin typeface="Calibri"/>
              </a:rPr>
              <a:t>6</a:t>
            </a:r>
            <a:r>
              <a:rPr lang="en-US" sz="900" dirty="0">
                <a:solidFill>
                  <a:srgbClr val="FFFFFF"/>
                </a:solidFill>
                <a:latin typeface="Calibri"/>
              </a:rPr>
              <a:t> </a:t>
            </a:r>
            <a:r>
              <a:rPr lang="en-US" sz="900" b="1" dirty="0">
                <a:solidFill>
                  <a:srgbClr val="FFFFFF"/>
                </a:solidFill>
                <a:latin typeface="Calibri"/>
              </a:rPr>
              <a:t>Qs</a:t>
            </a:r>
          </a:p>
        </p:txBody>
      </p:sp>
      <p:sp>
        <p:nvSpPr>
          <p:cNvPr id="712" name="C110Label"/>
          <p:cNvSpPr/>
          <p:nvPr/>
        </p:nvSpPr>
        <p:spPr>
          <a:xfrm>
            <a:off x="4076700" y="1079500"/>
            <a:ext cx="1790700" cy="304800"/>
          </a:xfrm>
          <a:prstGeom prst="rect">
            <a:avLst/>
          </a:prstGeom>
          <a:noFill/>
          <a:ln>
            <a:noFill/>
          </a:ln>
        </p:spPr>
        <p:txBody>
          <a:bodyPr wrap="square" lIns="0" tIns="0" rIns="0" bIns="0" anchor="ctr"/>
          <a:lstStyle/>
          <a:p>
            <a:pPr>
              <a:buNone/>
            </a:pPr>
            <a:r>
              <a:rPr lang="en-US" sz="1000" b="1" spc="80" dirty="0">
                <a:solidFill>
                  <a:srgbClr val="07BCD6"/>
                </a:solidFill>
                <a:latin typeface="Calibri"/>
              </a:rPr>
              <a:t>INTEGRATION</a:t>
            </a:r>
          </a:p>
        </p:txBody>
      </p:sp>
      <p:sp>
        <p:nvSpPr>
          <p:cNvPr id="6" name="C110Div"/>
          <p:cNvSpPr/>
          <p:nvPr/>
        </p:nvSpPr>
        <p:spPr>
          <a:xfrm>
            <a:off x="3340100" y="1473200"/>
            <a:ext cx="2552700" cy="12700"/>
          </a:xfrm>
          <a:prstGeom prst="rect">
            <a:avLst/>
          </a:prstGeom>
          <a:solidFill>
            <a:srgbClr val="E5E7EB"/>
          </a:solidFill>
          <a:ln>
            <a:noFill/>
          </a:ln>
        </p:spPr>
        <p:txBody>
          <a:bodyPr/>
          <a:lstStyle/>
          <a:p>
            <a:endParaRPr lang="en-US"/>
          </a:p>
        </p:txBody>
      </p:sp>
      <p:sp>
        <p:nvSpPr>
          <p:cNvPr id="113" name="C110Text"/>
          <p:cNvSpPr/>
          <p:nvPr/>
        </p:nvSpPr>
        <p:spPr>
          <a:xfrm>
            <a:off x="3340100" y="1549400"/>
            <a:ext cx="2552700" cy="1016000"/>
          </a:xfrm>
          <a:prstGeom prst="rect">
            <a:avLst/>
          </a:prstGeom>
          <a:noFill/>
          <a:ln>
            <a:noFill/>
          </a:ln>
        </p:spPr>
        <p:txBody>
          <a:bodyPr wrap="square" lIns="0" tIns="0" rIns="0" bIns="0" anchor="t"/>
          <a:lstStyle/>
          <a:p>
            <a:pPr>
              <a:lnSpc>
                <a:spcPts val="1300"/>
              </a:lnSpc>
              <a:spcBef>
                <a:spcPts val="0"/>
              </a:spcBef>
              <a:buNone/>
            </a:pPr>
            <a:r>
              <a:rPr lang="en-US" sz="1000" i="1" dirty="0">
                <a:solidFill>
                  <a:srgbClr val="6B7280"/>
                </a:solidFill>
                <a:latin typeface="Calibri"/>
              </a:rPr>
              <a:t>· PLM (TBD) vs DX Graph — who is the product master?</a:t>
            </a:r>
          </a:p>
          <a:p>
            <a:pPr>
              <a:lnSpc>
                <a:spcPts val="1300"/>
              </a:lnSpc>
              <a:spcBef>
                <a:spcPts val="300"/>
              </a:spcBef>
              <a:buNone/>
            </a:pPr>
            <a:r>
              <a:rPr lang="en-US" sz="1000" i="1" dirty="0">
                <a:solidFill>
                  <a:srgbClr val="6B7280"/>
                </a:solidFill>
                <a:latin typeface="Calibri"/>
              </a:rPr>
              <a:t>· How does a validated config reach Manhattan Active Omni today?</a:t>
            </a:r>
          </a:p>
        </p:txBody>
      </p:sp>
      <p:sp>
        <p:nvSpPr>
          <p:cNvPr id="120" name="C120BG"/>
          <p:cNvSpPr/>
          <p:nvPr/>
        </p:nvSpPr>
        <p:spPr>
          <a:xfrm>
            <a:off x="6070600" y="914400"/>
            <a:ext cx="2806700" cy="1727200"/>
          </a:xfrm>
          <a:prstGeom prst="roundRect">
            <a:avLst>
              <a:gd name="adj" fmla="val 12000"/>
            </a:avLst>
          </a:prstGeom>
          <a:solidFill>
            <a:srgbClr val="FFFFFF"/>
          </a:solidFill>
          <a:ln>
            <a:noFill/>
          </a:ln>
          <a:effectLst>
            <a:outerShdw blurRad="38100" dist="12700" dir="5400000" algn="ctr" rotWithShape="0">
              <a:srgbClr val="000000">
                <a:alpha val="8000"/>
              </a:srgbClr>
            </a:outerShdw>
          </a:effectLst>
        </p:spPr>
        <p:txBody>
          <a:bodyPr/>
          <a:lstStyle/>
          <a:p>
            <a:endParaRPr lang="en-US"/>
          </a:p>
        </p:txBody>
      </p:sp>
      <p:sp>
        <p:nvSpPr>
          <p:cNvPr id="121" name="C120Bar"/>
          <p:cNvSpPr/>
          <p:nvPr/>
        </p:nvSpPr>
        <p:spPr>
          <a:xfrm>
            <a:off x="6070600" y="914400"/>
            <a:ext cx="63500" cy="1727200"/>
          </a:xfrm>
          <a:prstGeom prst="rect">
            <a:avLst/>
          </a:prstGeom>
          <a:solidFill>
            <a:srgbClr val="8AC542"/>
          </a:solidFill>
          <a:ln>
            <a:noFill/>
          </a:ln>
        </p:spPr>
        <p:txBody>
          <a:bodyPr/>
          <a:lstStyle/>
          <a:p>
            <a:endParaRPr lang="en-US"/>
          </a:p>
        </p:txBody>
      </p:sp>
      <p:sp>
        <p:nvSpPr>
          <p:cNvPr id="122" name="C120Badge"/>
          <p:cNvSpPr/>
          <p:nvPr/>
        </p:nvSpPr>
        <p:spPr>
          <a:xfrm>
            <a:off x="6248400" y="1079500"/>
            <a:ext cx="660400" cy="304800"/>
          </a:xfrm>
          <a:prstGeom prst="roundRect">
            <a:avLst>
              <a:gd name="adj" fmla="val 16000"/>
            </a:avLst>
          </a:prstGeom>
          <a:solidFill>
            <a:srgbClr val="8AC542"/>
          </a:solidFill>
          <a:ln>
            <a:noFill/>
          </a:ln>
        </p:spPr>
        <p:txBody>
          <a:bodyPr/>
          <a:lstStyle/>
          <a:p>
            <a:endParaRPr lang="en-US"/>
          </a:p>
        </p:txBody>
      </p:sp>
      <p:sp>
        <p:nvSpPr>
          <p:cNvPr id="622" name="C120BadgeNum"/>
          <p:cNvSpPr/>
          <p:nvPr/>
        </p:nvSpPr>
        <p:spPr>
          <a:xfrm>
            <a:off x="6248400" y="1079500"/>
            <a:ext cx="660400" cy="304800"/>
          </a:xfrm>
          <a:prstGeom prst="rect">
            <a:avLst/>
          </a:prstGeom>
          <a:noFill/>
          <a:ln>
            <a:noFill/>
          </a:ln>
        </p:spPr>
        <p:txBody>
          <a:bodyPr wrap="square" lIns="0" tIns="0" rIns="0" bIns="0" anchor="ctr"/>
          <a:lstStyle/>
          <a:p>
            <a:pPr algn="ctr">
              <a:buNone/>
            </a:pPr>
            <a:r>
              <a:rPr lang="en-US" sz="1200" b="1" dirty="0">
                <a:solidFill>
                  <a:srgbClr val="FFFFFF"/>
                </a:solidFill>
                <a:latin typeface="Calibri"/>
              </a:rPr>
              <a:t>9</a:t>
            </a:r>
            <a:r>
              <a:rPr lang="en-US" sz="900" dirty="0">
                <a:solidFill>
                  <a:srgbClr val="FFFFFF"/>
                </a:solidFill>
                <a:latin typeface="Calibri"/>
              </a:rPr>
              <a:t> </a:t>
            </a:r>
            <a:r>
              <a:rPr lang="en-US" sz="900" b="1" dirty="0">
                <a:solidFill>
                  <a:srgbClr val="FFFFFF"/>
                </a:solidFill>
                <a:latin typeface="Calibri"/>
              </a:rPr>
              <a:t>Qs</a:t>
            </a:r>
          </a:p>
        </p:txBody>
      </p:sp>
      <p:sp>
        <p:nvSpPr>
          <p:cNvPr id="722" name="C120Label"/>
          <p:cNvSpPr/>
          <p:nvPr/>
        </p:nvSpPr>
        <p:spPr>
          <a:xfrm>
            <a:off x="6985000" y="1079500"/>
            <a:ext cx="1790700" cy="304800"/>
          </a:xfrm>
          <a:prstGeom prst="rect">
            <a:avLst/>
          </a:prstGeom>
          <a:noFill/>
          <a:ln>
            <a:noFill/>
          </a:ln>
        </p:spPr>
        <p:txBody>
          <a:bodyPr wrap="square" lIns="0" tIns="0" rIns="0" bIns="0" anchor="ctr"/>
          <a:lstStyle/>
          <a:p>
            <a:pPr>
              <a:buNone/>
            </a:pPr>
            <a:r>
              <a:rPr lang="en-US" sz="1000" b="1" spc="80" dirty="0">
                <a:solidFill>
                  <a:srgbClr val="8AC542"/>
                </a:solidFill>
                <a:latin typeface="Calibri"/>
              </a:rPr>
              <a:t>CONFIG &amp; RULES</a:t>
            </a:r>
          </a:p>
        </p:txBody>
      </p:sp>
      <p:sp>
        <p:nvSpPr>
          <p:cNvPr id="8" name="C120Div"/>
          <p:cNvSpPr/>
          <p:nvPr/>
        </p:nvSpPr>
        <p:spPr>
          <a:xfrm>
            <a:off x="6248400" y="1473200"/>
            <a:ext cx="2552700" cy="12700"/>
          </a:xfrm>
          <a:prstGeom prst="rect">
            <a:avLst/>
          </a:prstGeom>
          <a:solidFill>
            <a:srgbClr val="E5E7EB"/>
          </a:solidFill>
          <a:ln>
            <a:noFill/>
          </a:ln>
        </p:spPr>
        <p:txBody>
          <a:bodyPr/>
          <a:lstStyle/>
          <a:p>
            <a:endParaRPr lang="en-US"/>
          </a:p>
        </p:txBody>
      </p:sp>
      <p:sp>
        <p:nvSpPr>
          <p:cNvPr id="123" name="C120Text"/>
          <p:cNvSpPr/>
          <p:nvPr/>
        </p:nvSpPr>
        <p:spPr>
          <a:xfrm>
            <a:off x="6248400" y="1549400"/>
            <a:ext cx="2552700" cy="1016000"/>
          </a:xfrm>
          <a:prstGeom prst="rect">
            <a:avLst/>
          </a:prstGeom>
          <a:noFill/>
          <a:ln>
            <a:noFill/>
          </a:ln>
        </p:spPr>
        <p:txBody>
          <a:bodyPr wrap="square" lIns="0" tIns="0" rIns="0" bIns="0" anchor="t"/>
          <a:lstStyle/>
          <a:p>
            <a:pPr>
              <a:lnSpc>
                <a:spcPts val="1300"/>
              </a:lnSpc>
              <a:spcBef>
                <a:spcPts val="0"/>
              </a:spcBef>
              <a:buNone/>
            </a:pPr>
            <a:r>
              <a:rPr lang="en-US" sz="1000" i="1" dirty="0">
                <a:solidFill>
                  <a:srgbClr val="6B7280"/>
                </a:solidFill>
                <a:latin typeface="Calibri"/>
              </a:rPr>
              <a:t>· Quickship — product type or live inventory?</a:t>
            </a:r>
          </a:p>
          <a:p>
            <a:pPr>
              <a:lnSpc>
                <a:spcPts val="1300"/>
              </a:lnSpc>
              <a:spcBef>
                <a:spcPts val="300"/>
              </a:spcBef>
              <a:buNone/>
            </a:pPr>
            <a:r>
              <a:rPr lang="en-US" sz="1000" i="1" dirty="0">
                <a:solidFill>
                  <a:srgbClr val="6B7280"/>
                </a:solidFill>
                <a:latin typeface="Calibri"/>
              </a:rPr>
              <a:t>· Adjacency rules — please validate our proposed table.</a:t>
            </a:r>
          </a:p>
        </p:txBody>
      </p:sp>
      <p:sp>
        <p:nvSpPr>
          <p:cNvPr id="130" name="C130BG"/>
          <p:cNvSpPr/>
          <p:nvPr/>
        </p:nvSpPr>
        <p:spPr>
          <a:xfrm>
            <a:off x="254000" y="2743200"/>
            <a:ext cx="4267200" cy="1727200"/>
          </a:xfrm>
          <a:prstGeom prst="roundRect">
            <a:avLst>
              <a:gd name="adj" fmla="val 12000"/>
            </a:avLst>
          </a:prstGeom>
          <a:solidFill>
            <a:srgbClr val="FFFFFF"/>
          </a:solidFill>
          <a:ln>
            <a:noFill/>
          </a:ln>
          <a:effectLst>
            <a:outerShdw blurRad="38100" dist="12700" dir="5400000" algn="ctr" rotWithShape="0">
              <a:srgbClr val="000000">
                <a:alpha val="8000"/>
              </a:srgbClr>
            </a:outerShdw>
          </a:effectLst>
        </p:spPr>
        <p:txBody>
          <a:bodyPr/>
          <a:lstStyle/>
          <a:p>
            <a:endParaRPr lang="en-US"/>
          </a:p>
        </p:txBody>
      </p:sp>
      <p:sp>
        <p:nvSpPr>
          <p:cNvPr id="131" name="C130Bar"/>
          <p:cNvSpPr/>
          <p:nvPr/>
        </p:nvSpPr>
        <p:spPr>
          <a:xfrm>
            <a:off x="254000" y="2743200"/>
            <a:ext cx="63500" cy="1727200"/>
          </a:xfrm>
          <a:prstGeom prst="rect">
            <a:avLst/>
          </a:prstGeom>
          <a:solidFill>
            <a:srgbClr val="458CCB"/>
          </a:solidFill>
          <a:ln>
            <a:noFill/>
          </a:ln>
        </p:spPr>
        <p:txBody>
          <a:bodyPr/>
          <a:lstStyle/>
          <a:p>
            <a:endParaRPr lang="en-US"/>
          </a:p>
        </p:txBody>
      </p:sp>
      <p:sp>
        <p:nvSpPr>
          <p:cNvPr id="132" name="C130Badge"/>
          <p:cNvSpPr/>
          <p:nvPr/>
        </p:nvSpPr>
        <p:spPr>
          <a:xfrm>
            <a:off x="431800" y="2908300"/>
            <a:ext cx="660400" cy="304800"/>
          </a:xfrm>
          <a:prstGeom prst="roundRect">
            <a:avLst>
              <a:gd name="adj" fmla="val 16000"/>
            </a:avLst>
          </a:prstGeom>
          <a:solidFill>
            <a:srgbClr val="458CCB"/>
          </a:solidFill>
          <a:ln>
            <a:noFill/>
          </a:ln>
        </p:spPr>
        <p:txBody>
          <a:bodyPr/>
          <a:lstStyle/>
          <a:p>
            <a:endParaRPr lang="en-US"/>
          </a:p>
        </p:txBody>
      </p:sp>
      <p:sp>
        <p:nvSpPr>
          <p:cNvPr id="632" name="C130BadgeNum"/>
          <p:cNvSpPr/>
          <p:nvPr/>
        </p:nvSpPr>
        <p:spPr>
          <a:xfrm>
            <a:off x="431800" y="2908300"/>
            <a:ext cx="660400" cy="304800"/>
          </a:xfrm>
          <a:prstGeom prst="rect">
            <a:avLst/>
          </a:prstGeom>
          <a:noFill/>
          <a:ln>
            <a:noFill/>
          </a:ln>
        </p:spPr>
        <p:txBody>
          <a:bodyPr wrap="square" lIns="0" tIns="0" rIns="0" bIns="0" anchor="ctr"/>
          <a:lstStyle/>
          <a:p>
            <a:pPr algn="ctr">
              <a:buNone/>
            </a:pPr>
            <a:r>
              <a:rPr lang="en-US" sz="1200" b="1" dirty="0">
                <a:solidFill>
                  <a:srgbClr val="FFFFFF"/>
                </a:solidFill>
                <a:latin typeface="Calibri"/>
              </a:rPr>
              <a:t>3</a:t>
            </a:r>
            <a:r>
              <a:rPr lang="en-US" sz="900" dirty="0">
                <a:solidFill>
                  <a:srgbClr val="FFFFFF"/>
                </a:solidFill>
                <a:latin typeface="Calibri"/>
              </a:rPr>
              <a:t> </a:t>
            </a:r>
            <a:r>
              <a:rPr lang="en-US" sz="900" b="1" dirty="0">
                <a:solidFill>
                  <a:srgbClr val="FFFFFF"/>
                </a:solidFill>
                <a:latin typeface="Calibri"/>
              </a:rPr>
              <a:t>Qs</a:t>
            </a:r>
          </a:p>
        </p:txBody>
      </p:sp>
      <p:sp>
        <p:nvSpPr>
          <p:cNvPr id="732" name="C130Label"/>
          <p:cNvSpPr/>
          <p:nvPr/>
        </p:nvSpPr>
        <p:spPr>
          <a:xfrm>
            <a:off x="1168400" y="2908300"/>
            <a:ext cx="3251200" cy="304800"/>
          </a:xfrm>
          <a:prstGeom prst="rect">
            <a:avLst/>
          </a:prstGeom>
          <a:noFill/>
          <a:ln>
            <a:noFill/>
          </a:ln>
        </p:spPr>
        <p:txBody>
          <a:bodyPr wrap="square" lIns="0" tIns="0" rIns="0" bIns="0" anchor="ctr"/>
          <a:lstStyle/>
          <a:p>
            <a:pPr>
              <a:buNone/>
            </a:pPr>
            <a:r>
              <a:rPr lang="en-US" sz="1000" b="1" spc="80" dirty="0">
                <a:solidFill>
                  <a:srgbClr val="458CCB"/>
                </a:solidFill>
                <a:latin typeface="Calibri"/>
              </a:rPr>
              <a:t>USER STORIES</a:t>
            </a:r>
          </a:p>
        </p:txBody>
      </p:sp>
      <p:sp>
        <p:nvSpPr>
          <p:cNvPr id="9" name="C130Div"/>
          <p:cNvSpPr/>
          <p:nvPr/>
        </p:nvSpPr>
        <p:spPr>
          <a:xfrm>
            <a:off x="431800" y="3302000"/>
            <a:ext cx="4013200" cy="12700"/>
          </a:xfrm>
          <a:prstGeom prst="rect">
            <a:avLst/>
          </a:prstGeom>
          <a:solidFill>
            <a:srgbClr val="E5E7EB"/>
          </a:solidFill>
          <a:ln>
            <a:noFill/>
          </a:ln>
        </p:spPr>
        <p:txBody>
          <a:bodyPr/>
          <a:lstStyle/>
          <a:p>
            <a:endParaRPr lang="en-US"/>
          </a:p>
        </p:txBody>
      </p:sp>
      <p:sp>
        <p:nvSpPr>
          <p:cNvPr id="133" name="C130Text"/>
          <p:cNvSpPr/>
          <p:nvPr/>
        </p:nvSpPr>
        <p:spPr>
          <a:xfrm>
            <a:off x="431800" y="3378200"/>
            <a:ext cx="4013200" cy="1016000"/>
          </a:xfrm>
          <a:prstGeom prst="rect">
            <a:avLst/>
          </a:prstGeom>
          <a:noFill/>
          <a:ln>
            <a:noFill/>
          </a:ln>
        </p:spPr>
        <p:txBody>
          <a:bodyPr wrap="square" lIns="0" tIns="0" rIns="0" bIns="0" anchor="t"/>
          <a:lstStyle/>
          <a:p>
            <a:pPr>
              <a:lnSpc>
                <a:spcPts val="1300"/>
              </a:lnSpc>
              <a:spcBef>
                <a:spcPts val="0"/>
              </a:spcBef>
              <a:buNone/>
            </a:pPr>
            <a:r>
              <a:rPr lang="en-US" sz="1000" i="1" dirty="0">
                <a:solidFill>
                  <a:srgbClr val="6B7280"/>
                </a:solidFill>
                <a:latin typeface="Calibri"/>
              </a:rPr>
              <a:t>· What does the in-store POS configuration workflow look like today?</a:t>
            </a:r>
          </a:p>
          <a:p>
            <a:pPr>
              <a:lnSpc>
                <a:spcPts val="1300"/>
              </a:lnSpc>
              <a:spcBef>
                <a:spcPts val="300"/>
              </a:spcBef>
              <a:buNone/>
            </a:pPr>
            <a:r>
              <a:rPr lang="en-US" sz="1000" i="1" dirty="0">
                <a:solidFill>
                  <a:srgbClr val="6B7280"/>
                </a:solidFill>
                <a:latin typeface="Calibri"/>
              </a:rPr>
              <a:t>· Are there planned changes to the lovesac.com configurator UX?</a:t>
            </a:r>
          </a:p>
        </p:txBody>
      </p:sp>
      <p:sp>
        <p:nvSpPr>
          <p:cNvPr id="140" name="C140BG"/>
          <p:cNvSpPr/>
          <p:nvPr/>
        </p:nvSpPr>
        <p:spPr>
          <a:xfrm>
            <a:off x="4622800" y="2743200"/>
            <a:ext cx="4267200" cy="1727200"/>
          </a:xfrm>
          <a:prstGeom prst="roundRect">
            <a:avLst>
              <a:gd name="adj" fmla="val 12000"/>
            </a:avLst>
          </a:prstGeom>
          <a:solidFill>
            <a:srgbClr val="FFFFFF"/>
          </a:solidFill>
          <a:ln>
            <a:noFill/>
          </a:ln>
          <a:effectLst>
            <a:outerShdw blurRad="38100" dist="12700" dir="5400000" algn="ctr" rotWithShape="0">
              <a:srgbClr val="000000">
                <a:alpha val="8000"/>
              </a:srgbClr>
            </a:outerShdw>
          </a:effectLst>
        </p:spPr>
        <p:txBody>
          <a:bodyPr/>
          <a:lstStyle/>
          <a:p>
            <a:endParaRPr lang="en-US"/>
          </a:p>
        </p:txBody>
      </p:sp>
      <p:sp>
        <p:nvSpPr>
          <p:cNvPr id="141" name="C140Bar"/>
          <p:cNvSpPr/>
          <p:nvPr/>
        </p:nvSpPr>
        <p:spPr>
          <a:xfrm>
            <a:off x="4622800" y="2743200"/>
            <a:ext cx="63500" cy="1727200"/>
          </a:xfrm>
          <a:prstGeom prst="rect">
            <a:avLst/>
          </a:prstGeom>
          <a:solidFill>
            <a:srgbClr val="F8981D"/>
          </a:solidFill>
          <a:ln>
            <a:noFill/>
          </a:ln>
        </p:spPr>
        <p:txBody>
          <a:bodyPr/>
          <a:lstStyle/>
          <a:p>
            <a:endParaRPr lang="en-US"/>
          </a:p>
        </p:txBody>
      </p:sp>
      <p:sp>
        <p:nvSpPr>
          <p:cNvPr id="142" name="C140Badge"/>
          <p:cNvSpPr/>
          <p:nvPr/>
        </p:nvSpPr>
        <p:spPr>
          <a:xfrm>
            <a:off x="4800600" y="2908300"/>
            <a:ext cx="660400" cy="304800"/>
          </a:xfrm>
          <a:prstGeom prst="roundRect">
            <a:avLst>
              <a:gd name="adj" fmla="val 16000"/>
            </a:avLst>
          </a:prstGeom>
          <a:solidFill>
            <a:srgbClr val="F8981D"/>
          </a:solidFill>
          <a:ln>
            <a:noFill/>
          </a:ln>
        </p:spPr>
        <p:txBody>
          <a:bodyPr/>
          <a:lstStyle/>
          <a:p>
            <a:endParaRPr lang="en-US"/>
          </a:p>
        </p:txBody>
      </p:sp>
      <p:sp>
        <p:nvSpPr>
          <p:cNvPr id="642" name="C140BadgeNum"/>
          <p:cNvSpPr/>
          <p:nvPr/>
        </p:nvSpPr>
        <p:spPr>
          <a:xfrm>
            <a:off x="4800600" y="2908300"/>
            <a:ext cx="660400" cy="304800"/>
          </a:xfrm>
          <a:prstGeom prst="rect">
            <a:avLst/>
          </a:prstGeom>
          <a:noFill/>
          <a:ln>
            <a:noFill/>
          </a:ln>
        </p:spPr>
        <p:txBody>
          <a:bodyPr wrap="square" lIns="0" tIns="0" rIns="0" bIns="0" anchor="ctr"/>
          <a:lstStyle/>
          <a:p>
            <a:pPr algn="ctr">
              <a:buNone/>
            </a:pPr>
            <a:r>
              <a:rPr lang="en-US" sz="1200" b="1" dirty="0">
                <a:solidFill>
                  <a:srgbClr val="FFFFFF"/>
                </a:solidFill>
                <a:latin typeface="Calibri"/>
              </a:rPr>
              <a:t>2</a:t>
            </a:r>
            <a:r>
              <a:rPr lang="en-US" sz="900" dirty="0">
                <a:solidFill>
                  <a:srgbClr val="FFFFFF"/>
                </a:solidFill>
                <a:latin typeface="Calibri"/>
              </a:rPr>
              <a:t> </a:t>
            </a:r>
            <a:r>
              <a:rPr lang="en-US" sz="900" b="1" dirty="0">
                <a:solidFill>
                  <a:srgbClr val="FFFFFF"/>
                </a:solidFill>
                <a:latin typeface="Calibri"/>
              </a:rPr>
              <a:t>Qs</a:t>
            </a:r>
          </a:p>
        </p:txBody>
      </p:sp>
      <p:sp>
        <p:nvSpPr>
          <p:cNvPr id="742" name="C140Label"/>
          <p:cNvSpPr/>
          <p:nvPr/>
        </p:nvSpPr>
        <p:spPr>
          <a:xfrm>
            <a:off x="5537200" y="2908300"/>
            <a:ext cx="3251200" cy="304800"/>
          </a:xfrm>
          <a:prstGeom prst="rect">
            <a:avLst/>
          </a:prstGeom>
          <a:noFill/>
          <a:ln>
            <a:noFill/>
          </a:ln>
        </p:spPr>
        <p:txBody>
          <a:bodyPr wrap="square" lIns="0" tIns="0" rIns="0" bIns="0" anchor="ctr"/>
          <a:lstStyle/>
          <a:p>
            <a:pPr>
              <a:buNone/>
            </a:pPr>
            <a:r>
              <a:rPr lang="en-US" sz="1000" b="1" spc="80" dirty="0">
                <a:solidFill>
                  <a:srgbClr val="F8981D"/>
                </a:solidFill>
                <a:latin typeface="Calibri"/>
              </a:rPr>
              <a:t>PROJECT &amp; GOVERNANCE</a:t>
            </a:r>
          </a:p>
        </p:txBody>
      </p:sp>
      <p:sp>
        <p:nvSpPr>
          <p:cNvPr id="10" name="C140Div"/>
          <p:cNvSpPr/>
          <p:nvPr/>
        </p:nvSpPr>
        <p:spPr>
          <a:xfrm>
            <a:off x="4800600" y="3302000"/>
            <a:ext cx="4013200" cy="12700"/>
          </a:xfrm>
          <a:prstGeom prst="rect">
            <a:avLst/>
          </a:prstGeom>
          <a:solidFill>
            <a:srgbClr val="E5E7EB"/>
          </a:solidFill>
          <a:ln>
            <a:noFill/>
          </a:ln>
        </p:spPr>
        <p:txBody>
          <a:bodyPr/>
          <a:lstStyle/>
          <a:p>
            <a:endParaRPr lang="en-US"/>
          </a:p>
        </p:txBody>
      </p:sp>
      <p:sp>
        <p:nvSpPr>
          <p:cNvPr id="143" name="C140Text"/>
          <p:cNvSpPr/>
          <p:nvPr/>
        </p:nvSpPr>
        <p:spPr>
          <a:xfrm>
            <a:off x="4800600" y="3378200"/>
            <a:ext cx="4013200" cy="1016000"/>
          </a:xfrm>
          <a:prstGeom prst="rect">
            <a:avLst/>
          </a:prstGeom>
          <a:noFill/>
          <a:ln>
            <a:noFill/>
          </a:ln>
        </p:spPr>
        <p:txBody>
          <a:bodyPr wrap="square" lIns="0" tIns="0" rIns="0" bIns="0" anchor="t"/>
          <a:lstStyle/>
          <a:p>
            <a:pPr>
              <a:lnSpc>
                <a:spcPts val="1300"/>
              </a:lnSpc>
              <a:spcBef>
                <a:spcPts val="0"/>
              </a:spcBef>
              <a:buNone/>
            </a:pPr>
            <a:r>
              <a:rPr lang="en-US" sz="1000" i="1" dirty="0">
                <a:solidFill>
                  <a:srgbClr val="6B7280"/>
                </a:solidFill>
                <a:latin typeface="Calibri"/>
              </a:rPr>
              <a:t>· Who is the named Lovesac PM?</a:t>
            </a:r>
          </a:p>
          <a:p>
            <a:pPr>
              <a:lnSpc>
                <a:spcPts val="1300"/>
              </a:lnSpc>
              <a:spcBef>
                <a:spcPts val="300"/>
              </a:spcBef>
              <a:buNone/>
            </a:pPr>
            <a:r>
              <a:rPr lang="en-US" sz="1000" i="1" dirty="0">
                <a:solidFill>
                  <a:srgbClr val="6B7280"/>
                </a:solidFill>
                <a:latin typeface="Calibri"/>
              </a:rPr>
              <a:t>· What are the POS volume and latency expectations?</a:t>
            </a:r>
          </a:p>
        </p:txBody>
      </p:sp>
      <p:sp>
        <p:nvSpPr>
          <p:cNvPr id="300" name="RefLine"/>
          <p:cNvSpPr/>
          <p:nvPr/>
        </p:nvSpPr>
        <p:spPr>
          <a:xfrm>
            <a:off x="254000" y="4546600"/>
            <a:ext cx="8636000" cy="177800"/>
          </a:xfrm>
          <a:prstGeom prst="rect">
            <a:avLst/>
          </a:prstGeom>
          <a:noFill/>
          <a:ln>
            <a:noFill/>
          </a:ln>
        </p:spPr>
        <p:txBody>
          <a:bodyPr wrap="square" lIns="0" tIns="0" rIns="0" bIns="0" anchor="ctr"/>
          <a:lstStyle/>
          <a:p>
            <a:pPr algn="ctr">
              <a:buNone/>
            </a:pPr>
            <a:r>
              <a:rPr lang="en-US" sz="850" dirty="0">
                <a:solidFill>
                  <a:srgbClr val="9CA3AF"/>
                </a:solidFill>
                <a:latin typeface="Calibri"/>
              </a:rPr>
              <a:t>Full document: </a:t>
            </a:r>
            <a:r>
              <a:rPr lang="en-US" sz="850" b="1" dirty="0">
                <a:solidFill>
                  <a:srgbClr val="6B7280"/>
                </a:solidFill>
                <a:latin typeface="Calibri"/>
              </a:rPr>
              <a:t>Questions_for_Lovesac_EXT_Conscia.docx</a:t>
            </a:r>
            <a:r>
              <a:rPr lang="en-US" sz="850" dirty="0">
                <a:solidFill>
                  <a:srgbClr val="9CA3AF"/>
                </a:solidFill>
                <a:latin typeface="Calibri"/>
              </a:rPr>
              <a:t> — sent April 2</a:t>
            </a:r>
          </a:p>
        </p:txBody>
      </p:sp>
    </p:spTree>
    <p:extLst>
      <p:ext uri="{BB962C8B-B14F-4D97-AF65-F5344CB8AC3E}">
        <p14:creationId xmlns:p14="http://schemas.microsoft.com/office/powerpoint/2010/main" val="42066726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6858000" cy="381000"/>
          </a:xfrm>
          <a:prstGeom prst="rect">
            <a:avLst/>
          </a:prstGeom>
          <a:noFill/>
          <a:ln>
            <a:noFill/>
          </a:ln>
        </p:spPr>
        <p:txBody>
          <a:bodyPr wrap="square" lIns="0" tIns="0" rIns="0" bIns="0" anchor="b"/>
          <a:lstStyle/>
          <a:p>
            <a:pPr>
              <a:buNone/>
            </a:pPr>
            <a:r>
              <a:rPr lang="en-US" sz="2000" b="1" dirty="0">
                <a:solidFill>
                  <a:srgbClr val="111827"/>
                </a:solidFill>
              </a:rPr>
              <a:t>Next Steps</a:t>
            </a:r>
          </a:p>
        </p:txBody>
      </p:sp>
      <p:sp>
        <p:nvSpPr>
          <p:cNvPr id="7" name="Subtitle"/>
          <p:cNvSpPr/>
          <p:nvPr/>
        </p:nvSpPr>
        <p:spPr>
          <a:xfrm>
            <a:off x="381000" y="533400"/>
            <a:ext cx="7772400" cy="228600"/>
          </a:xfrm>
          <a:prstGeom prst="rect">
            <a:avLst/>
          </a:prstGeom>
          <a:noFill/>
          <a:ln>
            <a:noFill/>
          </a:ln>
        </p:spPr>
        <p:txBody>
          <a:bodyPr wrap="square" lIns="0" tIns="0" rIns="0" bIns="0" anchor="t"/>
          <a:lstStyle/>
          <a:p>
            <a:pPr>
              <a:buNone/>
            </a:pPr>
            <a:r>
              <a:rPr lang="en-US" sz="1000" dirty="0">
                <a:solidFill>
                  <a:srgbClr val="6B7280"/>
                </a:solidFill>
              </a:rPr>
              <a:t>Actions coming out of today's session — owners and target dates for both teams.</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10" name="Row0BG"/>
          <p:cNvSpPr/>
          <p:nvPr/>
        </p:nvSpPr>
        <p:spPr>
          <a:xfrm>
            <a:off x="254000" y="1016000"/>
            <a:ext cx="8636000" cy="419100"/>
          </a:xfrm>
          <a:prstGeom prst="roundRect">
            <a:avLst>
              <a:gd name="adj" fmla="val 6000"/>
            </a:avLst>
          </a:prstGeom>
          <a:solidFill>
            <a:srgbClr val="FFFFFF"/>
          </a:solidFill>
          <a:ln w="6350">
            <a:solidFill>
              <a:srgbClr val="E5E7EB"/>
            </a:solidFill>
          </a:ln>
        </p:spPr>
        <p:txBody>
          <a:bodyPr/>
          <a:lstStyle/>
          <a:p>
            <a:endParaRPr lang="en-US"/>
          </a:p>
        </p:txBody>
      </p:sp>
      <p:sp>
        <p:nvSpPr>
          <p:cNvPr id="11" name="Row0Date"/>
          <p:cNvSpPr/>
          <p:nvPr/>
        </p:nvSpPr>
        <p:spPr>
          <a:xfrm>
            <a:off x="406400" y="10160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9</a:t>
            </a:r>
          </a:p>
        </p:txBody>
      </p:sp>
      <p:sp>
        <p:nvSpPr>
          <p:cNvPr id="12" name="Row0Owner"/>
          <p:cNvSpPr/>
          <p:nvPr/>
        </p:nvSpPr>
        <p:spPr>
          <a:xfrm>
            <a:off x="1625600" y="1104900"/>
            <a:ext cx="914400" cy="228600"/>
          </a:xfrm>
          <a:prstGeom prst="roundRect">
            <a:avLst>
              <a:gd name="adj" fmla="val 50000"/>
            </a:avLst>
          </a:prstGeom>
          <a:solidFill>
            <a:srgbClr val="8AC542"/>
          </a:solidFill>
          <a:ln>
            <a:noFill/>
          </a:ln>
        </p:spPr>
        <p:txBody>
          <a:bodyPr wrap="square" lIns="0" tIns="0" rIns="0" bIns="0" anchor="ctr"/>
          <a:lstStyle/>
          <a:p>
            <a:pPr algn="ctr">
              <a:buNone/>
            </a:pPr>
            <a:r>
              <a:rPr lang="en-US" sz="800" b="1" dirty="0">
                <a:solidFill>
                  <a:srgbClr val="FFFFFF"/>
                </a:solidFill>
                <a:latin typeface="Calibri"/>
              </a:rPr>
              <a:t>Both</a:t>
            </a:r>
          </a:p>
        </p:txBody>
      </p:sp>
      <p:sp>
        <p:nvSpPr>
          <p:cNvPr id="13" name="Row0Desc"/>
          <p:cNvSpPr/>
          <p:nvPr/>
        </p:nvSpPr>
        <p:spPr>
          <a:xfrm>
            <a:off x="2641600" y="10160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Distribute kickoff notes, decisions log, and open-question owners</a:t>
            </a:r>
          </a:p>
        </p:txBody>
      </p:sp>
      <p:sp>
        <p:nvSpPr>
          <p:cNvPr id="14" name="Row1BG"/>
          <p:cNvSpPr/>
          <p:nvPr/>
        </p:nvSpPr>
        <p:spPr>
          <a:xfrm>
            <a:off x="254000" y="1435100"/>
            <a:ext cx="8636000" cy="419100"/>
          </a:xfrm>
          <a:prstGeom prst="roundRect">
            <a:avLst>
              <a:gd name="adj" fmla="val 6000"/>
            </a:avLst>
          </a:prstGeom>
          <a:solidFill>
            <a:srgbClr val="F9FAFB"/>
          </a:solidFill>
          <a:ln w="6350">
            <a:solidFill>
              <a:srgbClr val="E5E7EB"/>
            </a:solidFill>
          </a:ln>
        </p:spPr>
        <p:txBody>
          <a:bodyPr/>
          <a:lstStyle/>
          <a:p>
            <a:endParaRPr lang="en-US"/>
          </a:p>
        </p:txBody>
      </p:sp>
      <p:sp>
        <p:nvSpPr>
          <p:cNvPr id="15" name="Row1Date"/>
          <p:cNvSpPr/>
          <p:nvPr/>
        </p:nvSpPr>
        <p:spPr>
          <a:xfrm>
            <a:off x="406400" y="14351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11</a:t>
            </a:r>
          </a:p>
        </p:txBody>
      </p:sp>
      <p:sp>
        <p:nvSpPr>
          <p:cNvPr id="16" name="Row1Owner"/>
          <p:cNvSpPr/>
          <p:nvPr/>
        </p:nvSpPr>
        <p:spPr>
          <a:xfrm>
            <a:off x="1625600" y="1524000"/>
            <a:ext cx="914400" cy="228600"/>
          </a:xfrm>
          <a:prstGeom prst="roundRect">
            <a:avLst>
              <a:gd name="adj" fmla="val 50000"/>
            </a:avLst>
          </a:prstGeom>
          <a:solidFill>
            <a:srgbClr val="EB1A63"/>
          </a:solidFill>
          <a:ln>
            <a:noFill/>
          </a:ln>
        </p:spPr>
        <p:txBody>
          <a:bodyPr wrap="square" lIns="0" tIns="0" rIns="0" bIns="0" anchor="ctr"/>
          <a:lstStyle/>
          <a:p>
            <a:pPr algn="ctr">
              <a:buNone/>
            </a:pPr>
            <a:r>
              <a:rPr lang="en-US" sz="800" b="1" dirty="0">
                <a:solidFill>
                  <a:srgbClr val="FFFFFF"/>
                </a:solidFill>
                <a:latin typeface="Calibri"/>
              </a:rPr>
              <a:t>Lovesac</a:t>
            </a:r>
          </a:p>
        </p:txBody>
      </p:sp>
      <p:sp>
        <p:nvSpPr>
          <p:cNvPr id="17" name="Row1Desc"/>
          <p:cNvSpPr/>
          <p:nvPr/>
        </p:nvSpPr>
        <p:spPr>
          <a:xfrm>
            <a:off x="2641600" y="14351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Confirm the 3 source backends — name, access method (API / file via Celigo / direct), refresh cadence</a:t>
            </a:r>
          </a:p>
        </p:txBody>
      </p:sp>
      <p:sp>
        <p:nvSpPr>
          <p:cNvPr id="18" name="Row2BG"/>
          <p:cNvSpPr/>
          <p:nvPr/>
        </p:nvSpPr>
        <p:spPr>
          <a:xfrm>
            <a:off x="254000" y="1854200"/>
            <a:ext cx="8636000" cy="419100"/>
          </a:xfrm>
          <a:prstGeom prst="roundRect">
            <a:avLst>
              <a:gd name="adj" fmla="val 6000"/>
            </a:avLst>
          </a:prstGeom>
          <a:solidFill>
            <a:srgbClr val="FFFFFF"/>
          </a:solidFill>
          <a:ln w="6350">
            <a:solidFill>
              <a:srgbClr val="E5E7EB"/>
            </a:solidFill>
          </a:ln>
        </p:spPr>
        <p:txBody>
          <a:bodyPr/>
          <a:lstStyle/>
          <a:p>
            <a:endParaRPr lang="en-US"/>
          </a:p>
        </p:txBody>
      </p:sp>
      <p:sp>
        <p:nvSpPr>
          <p:cNvPr id="19" name="Row2Date"/>
          <p:cNvSpPr/>
          <p:nvPr/>
        </p:nvSpPr>
        <p:spPr>
          <a:xfrm>
            <a:off x="406400" y="18542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11</a:t>
            </a:r>
          </a:p>
        </p:txBody>
      </p:sp>
      <p:sp>
        <p:nvSpPr>
          <p:cNvPr id="20" name="Row2Owner"/>
          <p:cNvSpPr/>
          <p:nvPr/>
        </p:nvSpPr>
        <p:spPr>
          <a:xfrm>
            <a:off x="1625600" y="1943100"/>
            <a:ext cx="914400" cy="228600"/>
          </a:xfrm>
          <a:prstGeom prst="roundRect">
            <a:avLst>
              <a:gd name="adj" fmla="val 50000"/>
            </a:avLst>
          </a:prstGeom>
          <a:solidFill>
            <a:srgbClr val="EB1A63"/>
          </a:solidFill>
          <a:ln>
            <a:noFill/>
          </a:ln>
        </p:spPr>
        <p:txBody>
          <a:bodyPr wrap="square" lIns="0" tIns="0" rIns="0" bIns="0" anchor="ctr"/>
          <a:lstStyle/>
          <a:p>
            <a:pPr algn="ctr">
              <a:buNone/>
            </a:pPr>
            <a:r>
              <a:rPr lang="en-US" sz="800" b="1" dirty="0">
                <a:solidFill>
                  <a:srgbClr val="FFFFFF"/>
                </a:solidFill>
                <a:latin typeface="Calibri"/>
              </a:rPr>
              <a:t>Lovesac</a:t>
            </a:r>
          </a:p>
        </p:txBody>
      </p:sp>
      <p:sp>
        <p:nvSpPr>
          <p:cNvPr id="21" name="Row2Desc"/>
          <p:cNvSpPr/>
          <p:nvPr/>
        </p:nvSpPr>
        <p:spPr>
          <a:xfrm>
            <a:off x="2641600" y="18542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Confirm which of the 3 hierarchy proposals from the March 12 review will be adopted</a:t>
            </a:r>
          </a:p>
        </p:txBody>
      </p:sp>
      <p:sp>
        <p:nvSpPr>
          <p:cNvPr id="22" name="Row3BG"/>
          <p:cNvSpPr/>
          <p:nvPr/>
        </p:nvSpPr>
        <p:spPr>
          <a:xfrm>
            <a:off x="254000" y="2273300"/>
            <a:ext cx="8636000" cy="419100"/>
          </a:xfrm>
          <a:prstGeom prst="roundRect">
            <a:avLst>
              <a:gd name="adj" fmla="val 6000"/>
            </a:avLst>
          </a:prstGeom>
          <a:solidFill>
            <a:srgbClr val="F9FAFB"/>
          </a:solidFill>
          <a:ln w="6350">
            <a:solidFill>
              <a:srgbClr val="E5E7EB"/>
            </a:solidFill>
          </a:ln>
        </p:spPr>
        <p:txBody>
          <a:bodyPr/>
          <a:lstStyle/>
          <a:p>
            <a:endParaRPr lang="en-US"/>
          </a:p>
        </p:txBody>
      </p:sp>
      <p:sp>
        <p:nvSpPr>
          <p:cNvPr id="23" name="Row3Date"/>
          <p:cNvSpPr/>
          <p:nvPr/>
        </p:nvSpPr>
        <p:spPr>
          <a:xfrm>
            <a:off x="406400" y="22733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14</a:t>
            </a:r>
          </a:p>
        </p:txBody>
      </p:sp>
      <p:sp>
        <p:nvSpPr>
          <p:cNvPr id="24" name="Row3Owner"/>
          <p:cNvSpPr/>
          <p:nvPr/>
        </p:nvSpPr>
        <p:spPr>
          <a:xfrm>
            <a:off x="1625600" y="2362200"/>
            <a:ext cx="914400" cy="228600"/>
          </a:xfrm>
          <a:prstGeom prst="roundRect">
            <a:avLst>
              <a:gd name="adj" fmla="val 50000"/>
            </a:avLst>
          </a:prstGeom>
          <a:solidFill>
            <a:srgbClr val="EB1A63"/>
          </a:solidFill>
          <a:ln>
            <a:noFill/>
          </a:ln>
        </p:spPr>
        <p:txBody>
          <a:bodyPr wrap="square" lIns="0" tIns="0" rIns="0" bIns="0" anchor="ctr"/>
          <a:lstStyle/>
          <a:p>
            <a:pPr algn="ctr">
              <a:buNone/>
            </a:pPr>
            <a:r>
              <a:rPr lang="en-US" sz="800" b="1" dirty="0">
                <a:solidFill>
                  <a:srgbClr val="FFFFFF"/>
                </a:solidFill>
                <a:latin typeface="Calibri"/>
              </a:rPr>
              <a:t>Lovesac</a:t>
            </a:r>
          </a:p>
        </p:txBody>
      </p:sp>
      <p:sp>
        <p:nvSpPr>
          <p:cNvPr id="25" name="Row3Desc"/>
          <p:cNvSpPr/>
          <p:nvPr/>
        </p:nvSpPr>
        <p:spPr>
          <a:xfrm>
            <a:off x="2641600" y="22733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Validate the proposed component adjacency table (resolves Q5)</a:t>
            </a:r>
          </a:p>
        </p:txBody>
      </p:sp>
      <p:sp>
        <p:nvSpPr>
          <p:cNvPr id="26" name="Row4BG"/>
          <p:cNvSpPr/>
          <p:nvPr/>
        </p:nvSpPr>
        <p:spPr>
          <a:xfrm>
            <a:off x="254000" y="2692400"/>
            <a:ext cx="8636000" cy="419100"/>
          </a:xfrm>
          <a:prstGeom prst="roundRect">
            <a:avLst>
              <a:gd name="adj" fmla="val 6000"/>
            </a:avLst>
          </a:prstGeom>
          <a:solidFill>
            <a:srgbClr val="FFFFFF"/>
          </a:solidFill>
          <a:ln w="6350">
            <a:solidFill>
              <a:srgbClr val="E5E7EB"/>
            </a:solidFill>
          </a:ln>
        </p:spPr>
        <p:txBody>
          <a:bodyPr/>
          <a:lstStyle/>
          <a:p>
            <a:endParaRPr lang="en-US"/>
          </a:p>
        </p:txBody>
      </p:sp>
      <p:sp>
        <p:nvSpPr>
          <p:cNvPr id="27" name="Row4Date"/>
          <p:cNvSpPr/>
          <p:nvPr/>
        </p:nvSpPr>
        <p:spPr>
          <a:xfrm>
            <a:off x="406400" y="26924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9</a:t>
            </a:r>
          </a:p>
        </p:txBody>
      </p:sp>
      <p:sp>
        <p:nvSpPr>
          <p:cNvPr id="28" name="Row4Owner"/>
          <p:cNvSpPr/>
          <p:nvPr/>
        </p:nvSpPr>
        <p:spPr>
          <a:xfrm>
            <a:off x="1625600" y="2781300"/>
            <a:ext cx="914400" cy="228600"/>
          </a:xfrm>
          <a:prstGeom prst="roundRect">
            <a:avLst>
              <a:gd name="adj" fmla="val 50000"/>
            </a:avLst>
          </a:prstGeom>
          <a:solidFill>
            <a:srgbClr val="EB1A63"/>
          </a:solidFill>
          <a:ln>
            <a:noFill/>
          </a:ln>
        </p:spPr>
        <p:txBody>
          <a:bodyPr wrap="square" lIns="0" tIns="0" rIns="0" bIns="0" anchor="ctr"/>
          <a:lstStyle/>
          <a:p>
            <a:pPr algn="ctr">
              <a:buNone/>
            </a:pPr>
            <a:r>
              <a:rPr lang="en-US" sz="800" b="1" dirty="0">
                <a:solidFill>
                  <a:srgbClr val="FFFFFF"/>
                </a:solidFill>
                <a:latin typeface="Calibri"/>
              </a:rPr>
              <a:t>Lovesac</a:t>
            </a:r>
          </a:p>
        </p:txBody>
      </p:sp>
      <p:sp>
        <p:nvSpPr>
          <p:cNvPr id="29" name="Row4Desc"/>
          <p:cNvSpPr/>
          <p:nvPr/>
        </p:nvSpPr>
        <p:spPr>
          <a:xfrm>
            <a:off x="2641600" y="26924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Name the Lovesac Project Manager and Data Owner</a:t>
            </a:r>
          </a:p>
        </p:txBody>
      </p:sp>
      <p:sp>
        <p:nvSpPr>
          <p:cNvPr id="30" name="Row5BG"/>
          <p:cNvSpPr/>
          <p:nvPr/>
        </p:nvSpPr>
        <p:spPr>
          <a:xfrm>
            <a:off x="254000" y="3111500"/>
            <a:ext cx="8636000" cy="419100"/>
          </a:xfrm>
          <a:prstGeom prst="roundRect">
            <a:avLst>
              <a:gd name="adj" fmla="val 6000"/>
            </a:avLst>
          </a:prstGeom>
          <a:solidFill>
            <a:srgbClr val="F9FAFB"/>
          </a:solidFill>
          <a:ln w="6350">
            <a:solidFill>
              <a:srgbClr val="E5E7EB"/>
            </a:solidFill>
          </a:ln>
        </p:spPr>
        <p:txBody>
          <a:bodyPr/>
          <a:lstStyle/>
          <a:p>
            <a:endParaRPr lang="en-US"/>
          </a:p>
        </p:txBody>
      </p:sp>
      <p:sp>
        <p:nvSpPr>
          <p:cNvPr id="31" name="Row5Date"/>
          <p:cNvSpPr/>
          <p:nvPr/>
        </p:nvSpPr>
        <p:spPr>
          <a:xfrm>
            <a:off x="406400" y="31115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11</a:t>
            </a:r>
          </a:p>
        </p:txBody>
      </p:sp>
      <p:sp>
        <p:nvSpPr>
          <p:cNvPr id="32" name="Row5Owner"/>
          <p:cNvSpPr/>
          <p:nvPr/>
        </p:nvSpPr>
        <p:spPr>
          <a:xfrm>
            <a:off x="1625600" y="3200400"/>
            <a:ext cx="914400" cy="228600"/>
          </a:xfrm>
          <a:prstGeom prst="roundRect">
            <a:avLst>
              <a:gd name="adj" fmla="val 50000"/>
            </a:avLst>
          </a:prstGeom>
          <a:solidFill>
            <a:srgbClr val="07BCD6"/>
          </a:solidFill>
          <a:ln>
            <a:noFill/>
          </a:ln>
        </p:spPr>
        <p:txBody>
          <a:bodyPr wrap="square" lIns="0" tIns="0" rIns="0" bIns="0" anchor="ctr"/>
          <a:lstStyle/>
          <a:p>
            <a:pPr algn="ctr">
              <a:buNone/>
            </a:pPr>
            <a:r>
              <a:rPr lang="en-US" sz="800" b="1" dirty="0">
                <a:solidFill>
                  <a:srgbClr val="FFFFFF"/>
                </a:solidFill>
                <a:latin typeface="Calibri"/>
              </a:rPr>
              <a:t>Conscia</a:t>
            </a:r>
          </a:p>
        </p:txBody>
      </p:sp>
      <p:sp>
        <p:nvSpPr>
          <p:cNvPr id="33" name="Row5Desc"/>
          <p:cNvSpPr/>
          <p:nvPr/>
        </p:nvSpPr>
        <p:spPr>
          <a:xfrm>
            <a:off x="2641600" y="31115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Provision DX Graph sandbox environment and share credentials</a:t>
            </a:r>
          </a:p>
        </p:txBody>
      </p:sp>
      <p:sp>
        <p:nvSpPr>
          <p:cNvPr id="9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100" name="NRow6BG"/>
          <p:cNvSpPr/>
          <p:nvPr/>
        </p:nvSpPr>
        <p:spPr>
          <a:xfrm>
            <a:off x="254000" y="3530600"/>
            <a:ext cx="8636000" cy="419100"/>
          </a:xfrm>
          <a:prstGeom prst="rect">
            <a:avLst/>
          </a:prstGeom>
          <a:solidFill>
            <a:srgbClr val="FFFFFF"/>
          </a:solidFill>
          <a:ln>
            <a:noFill/>
          </a:ln>
        </p:spPr>
        <p:txBody>
          <a:bodyPr/>
          <a:lstStyle/>
          <a:p>
            <a:endParaRPr lang="en-US"/>
          </a:p>
        </p:txBody>
      </p:sp>
      <p:sp>
        <p:nvSpPr>
          <p:cNvPr id="101" name="NRow6Date"/>
          <p:cNvSpPr/>
          <p:nvPr/>
        </p:nvSpPr>
        <p:spPr>
          <a:xfrm>
            <a:off x="406400" y="35306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9</a:t>
            </a:r>
          </a:p>
        </p:txBody>
      </p:sp>
      <p:sp>
        <p:nvSpPr>
          <p:cNvPr id="102" name="NRow6Owner"/>
          <p:cNvSpPr/>
          <p:nvPr/>
        </p:nvSpPr>
        <p:spPr>
          <a:xfrm>
            <a:off x="1625600" y="3619500"/>
            <a:ext cx="914400" cy="228600"/>
          </a:xfrm>
          <a:prstGeom prst="roundRect">
            <a:avLst>
              <a:gd name="adj" fmla="val 50000"/>
            </a:avLst>
          </a:prstGeom>
          <a:solidFill>
            <a:srgbClr val="07BCD6"/>
          </a:solidFill>
          <a:ln>
            <a:noFill/>
          </a:ln>
        </p:spPr>
        <p:txBody>
          <a:bodyPr wrap="square" lIns="0" tIns="0" rIns="0" bIns="0" anchor="ctr"/>
          <a:lstStyle/>
          <a:p>
            <a:pPr algn="ctr">
              <a:buNone/>
            </a:pPr>
            <a:r>
              <a:rPr lang="en-US" sz="800" b="1" dirty="0">
                <a:solidFill>
                  <a:srgbClr val="FFFFFF"/>
                </a:solidFill>
                <a:latin typeface="Calibri"/>
              </a:rPr>
              <a:t>Conscia</a:t>
            </a:r>
          </a:p>
        </p:txBody>
      </p:sp>
      <p:sp>
        <p:nvSpPr>
          <p:cNvPr id="103" name="NRow6Desc"/>
          <p:cNvSpPr/>
          <p:nvPr/>
        </p:nvSpPr>
        <p:spPr>
          <a:xfrm>
            <a:off x="2641600" y="35306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Share the AI-derived compatibility rules document for product-team review</a:t>
            </a:r>
          </a:p>
        </p:txBody>
      </p:sp>
      <p:sp>
        <p:nvSpPr>
          <p:cNvPr id="104" name="NRow7BG"/>
          <p:cNvSpPr/>
          <p:nvPr/>
        </p:nvSpPr>
        <p:spPr>
          <a:xfrm>
            <a:off x="254000" y="3949700"/>
            <a:ext cx="8636000" cy="419100"/>
          </a:xfrm>
          <a:prstGeom prst="rect">
            <a:avLst/>
          </a:prstGeom>
          <a:solidFill>
            <a:srgbClr val="F9FAFB"/>
          </a:solidFill>
          <a:ln>
            <a:noFill/>
          </a:ln>
        </p:spPr>
        <p:txBody>
          <a:bodyPr/>
          <a:lstStyle/>
          <a:p>
            <a:endParaRPr lang="en-US"/>
          </a:p>
        </p:txBody>
      </p:sp>
      <p:sp>
        <p:nvSpPr>
          <p:cNvPr id="105" name="NRow7Date"/>
          <p:cNvSpPr/>
          <p:nvPr/>
        </p:nvSpPr>
        <p:spPr>
          <a:xfrm>
            <a:off x="406400" y="39497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15</a:t>
            </a:r>
          </a:p>
        </p:txBody>
      </p:sp>
      <p:sp>
        <p:nvSpPr>
          <p:cNvPr id="106" name="NRow7Owner"/>
          <p:cNvSpPr/>
          <p:nvPr/>
        </p:nvSpPr>
        <p:spPr>
          <a:xfrm>
            <a:off x="1625600" y="4038600"/>
            <a:ext cx="914400" cy="228600"/>
          </a:xfrm>
          <a:prstGeom prst="roundRect">
            <a:avLst>
              <a:gd name="adj" fmla="val 50000"/>
            </a:avLst>
          </a:prstGeom>
          <a:solidFill>
            <a:srgbClr val="8AC542"/>
          </a:solidFill>
          <a:ln>
            <a:noFill/>
          </a:ln>
        </p:spPr>
        <p:txBody>
          <a:bodyPr wrap="square" lIns="0" tIns="0" rIns="0" bIns="0" anchor="ctr"/>
          <a:lstStyle/>
          <a:p>
            <a:pPr algn="ctr">
              <a:buNone/>
            </a:pPr>
            <a:r>
              <a:rPr lang="en-US" sz="800" b="1" dirty="0">
                <a:solidFill>
                  <a:srgbClr val="FFFFFF"/>
                </a:solidFill>
                <a:latin typeface="Calibri"/>
              </a:rPr>
              <a:t>Both</a:t>
            </a:r>
          </a:p>
        </p:txBody>
      </p:sp>
      <p:sp>
        <p:nvSpPr>
          <p:cNvPr id="107" name="NRow7Desc"/>
          <p:cNvSpPr/>
          <p:nvPr/>
        </p:nvSpPr>
        <p:spPr>
          <a:xfrm>
            <a:off x="2641600" y="39497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First weekly project standup — review readiness, lock Phase 1 sprint plan</a:t>
            </a:r>
          </a:p>
        </p:txBody>
      </p:sp>
    </p:spTree>
    <p:extLst>
      <p:ext uri="{BB962C8B-B14F-4D97-AF65-F5344CB8AC3E}">
        <p14:creationId xmlns:p14="http://schemas.microsoft.com/office/powerpoint/2010/main" val="22344159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230"/>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pPr>
              <a:buNone/>
            </a:pPr>
            <a:r>
              <a:rPr lang="en-US" sz="1800" b="1" dirty="0">
                <a:solidFill>
                  <a:srgbClr val="111827"/>
                </a:solidFill>
                <a:latin typeface="Calibri"/>
              </a:rPr>
              <a:t>End-to-End Architecture</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300" name="BG0"/>
          <p:cNvSpPr>
            <a:spLocks noGrp="1"/>
          </p:cNvSpPr>
          <p:nvPr/>
        </p:nvSpPr>
        <p:spPr>
          <a:xfrm>
            <a:off x="266700" y="762000"/>
            <a:ext cx="1498600" cy="3759200"/>
          </a:xfrm>
          <a:prstGeom prst="roundRect">
            <a:avLst>
              <a:gd name="adj" fmla="val 2000"/>
            </a:avLst>
          </a:prstGeom>
          <a:solidFill>
            <a:srgbClr val="F9FAFB"/>
          </a:solidFill>
          <a:ln w="9525">
            <a:solidFill>
              <a:srgbClr val="D1D5DB"/>
            </a:solidFill>
          </a:ln>
        </p:spPr>
        <p:txBody>
          <a:bodyPr/>
          <a:lstStyle/>
          <a:p>
            <a:endParaRPr lang="en-GB"/>
          </a:p>
        </p:txBody>
      </p:sp>
      <p:sp>
        <p:nvSpPr>
          <p:cNvPr id="305" name="Hdr0"/>
          <p:cNvSpPr>
            <a:spLocks noGrp="1"/>
          </p:cNvSpPr>
          <p:nvPr/>
        </p:nvSpPr>
        <p:spPr>
          <a:xfrm>
            <a:off x="266700" y="762000"/>
            <a:ext cx="1498600" cy="203200"/>
          </a:xfrm>
          <a:prstGeom prst="roundRect">
            <a:avLst>
              <a:gd name="adj" fmla="val 2000"/>
            </a:avLst>
          </a:prstGeom>
          <a:solidFill>
            <a:srgbClr val="EAECF0"/>
          </a:solidFill>
          <a:ln w="9525">
            <a:solidFill>
              <a:srgbClr val="D1D5DB"/>
            </a:solidFill>
          </a:ln>
        </p:spPr>
        <p:txBody>
          <a:bodyPr wrap="square" lIns="25400" tIns="25400" rIns="25400" bIns="25400" anchor="ctr"/>
          <a:lstStyle/>
          <a:p>
            <a:pPr algn="ctr">
              <a:buNone/>
            </a:pPr>
            <a:r>
              <a:rPr lang="en-US" sz="700" b="1" spc="150" dirty="0">
                <a:solidFill>
                  <a:srgbClr val="5B6370"/>
                </a:solidFill>
                <a:latin typeface="Calibri"/>
              </a:rPr>
              <a:t>SOURCE SYSTEMS</a:t>
            </a:r>
          </a:p>
        </p:txBody>
      </p:sp>
      <p:sp>
        <p:nvSpPr>
          <p:cNvPr id="310" name="C00"/>
          <p:cNvSpPr>
            <a:spLocks noGrp="1"/>
          </p:cNvSpPr>
          <p:nvPr/>
        </p:nvSpPr>
        <p:spPr>
          <a:xfrm>
            <a:off x="292100" y="990600"/>
            <a:ext cx="14478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NetSuite</a:t>
            </a:r>
          </a:p>
          <a:p>
            <a:pPr>
              <a:spcBef>
                <a:spcPts val="30"/>
              </a:spcBef>
              <a:buNone/>
            </a:pPr>
            <a:r>
              <a:rPr lang="en-US" sz="575" b="1" spc="75" dirty="0">
                <a:solidFill>
                  <a:srgbClr val="6B7280"/>
                </a:solidFill>
                <a:latin typeface="Calibri"/>
              </a:rPr>
              <a:t>ERP</a:t>
            </a:r>
          </a:p>
          <a:p>
            <a:pPr>
              <a:lnSpc>
                <a:spcPts val="1000"/>
              </a:lnSpc>
              <a:spcBef>
                <a:spcPts val="40"/>
              </a:spcBef>
              <a:buNone/>
            </a:pPr>
            <a:r>
              <a:rPr lang="en-US" sz="600" dirty="0">
                <a:solidFill>
                  <a:srgbClr val="4B5563"/>
                </a:solidFill>
                <a:latin typeface="Calibri"/>
              </a:rPr>
              <a:t>Financial master for pricing, cost &amp; SKU lifecycle. Source of record for commercial attributes.</a:t>
            </a:r>
          </a:p>
        </p:txBody>
      </p:sp>
      <p:sp>
        <p:nvSpPr>
          <p:cNvPr id="311" name="C01"/>
          <p:cNvSpPr>
            <a:spLocks noGrp="1"/>
          </p:cNvSpPr>
          <p:nvPr/>
        </p:nvSpPr>
        <p:spPr>
          <a:xfrm>
            <a:off x="292100" y="2171700"/>
            <a:ext cx="14478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Adobe Commerce</a:t>
            </a:r>
          </a:p>
          <a:p>
            <a:pPr>
              <a:spcBef>
                <a:spcPts val="30"/>
              </a:spcBef>
              <a:buNone/>
            </a:pPr>
            <a:r>
              <a:rPr lang="en-US" sz="575" b="1" spc="75" dirty="0">
                <a:solidFill>
                  <a:srgbClr val="6B7280"/>
                </a:solidFill>
                <a:latin typeface="Calibri"/>
              </a:rPr>
              <a:t>ECOMMERCE</a:t>
            </a:r>
          </a:p>
          <a:p>
            <a:pPr>
              <a:lnSpc>
                <a:spcPts val="1000"/>
              </a:lnSpc>
              <a:spcBef>
                <a:spcPts val="40"/>
              </a:spcBef>
              <a:buNone/>
            </a:pPr>
            <a:r>
              <a:rPr lang="en-US" sz="600" dirty="0">
                <a:solidFill>
                  <a:srgbClr val="4B5563"/>
                </a:solidFill>
                <a:latin typeface="Calibri"/>
              </a:rPr>
              <a:t>Web-facing product content, merchandising &amp; storefront metadata.</a:t>
            </a:r>
          </a:p>
        </p:txBody>
      </p:sp>
      <p:sp>
        <p:nvSpPr>
          <p:cNvPr id="312" name="C02"/>
          <p:cNvSpPr>
            <a:spLocks noGrp="1"/>
          </p:cNvSpPr>
          <p:nvPr/>
        </p:nvSpPr>
        <p:spPr>
          <a:xfrm>
            <a:off x="292100" y="3352800"/>
            <a:ext cx="14478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Threekit</a:t>
            </a:r>
          </a:p>
          <a:p>
            <a:pPr>
              <a:spcBef>
                <a:spcPts val="30"/>
              </a:spcBef>
              <a:buNone/>
            </a:pPr>
            <a:r>
              <a:rPr lang="en-US" sz="575" b="1" spc="75" dirty="0">
                <a:solidFill>
                  <a:srgbClr val="6B7280"/>
                </a:solidFill>
                <a:latin typeface="Calibri"/>
              </a:rPr>
              <a:t>VISUAL CONFIGURATOR</a:t>
            </a:r>
          </a:p>
          <a:p>
            <a:pPr>
              <a:lnSpc>
                <a:spcPts val="1000"/>
              </a:lnSpc>
              <a:spcBef>
                <a:spcPts val="40"/>
              </a:spcBef>
              <a:buNone/>
            </a:pPr>
            <a:r>
              <a:rPr lang="en-US" sz="600" dirty="0">
                <a:solidFill>
                  <a:srgbClr val="4B5563"/>
                </a:solidFill>
                <a:latin typeface="Calibri"/>
              </a:rPr>
              <a:t>Compatibility rules migrating to DX Graph.</a:t>
            </a:r>
          </a:p>
        </p:txBody>
      </p:sp>
      <p:sp>
        <p:nvSpPr>
          <p:cNvPr id="350" name="Arr01"/>
          <p:cNvSpPr>
            <a:spLocks noGrp="1"/>
          </p:cNvSpPr>
          <p:nvPr/>
        </p:nvSpPr>
        <p:spPr>
          <a:xfrm>
            <a:off x="1790700" y="2590800"/>
            <a:ext cx="127000" cy="101600"/>
          </a:xfrm>
          <a:prstGeom prst="rightArrow">
            <a:avLst>
              <a:gd name="adj1" fmla="val 50000"/>
              <a:gd name="adj2" fmla="val 50000"/>
            </a:avLst>
          </a:prstGeom>
          <a:solidFill>
            <a:srgbClr val="D1D5DB"/>
          </a:solidFill>
          <a:ln>
            <a:noFill/>
          </a:ln>
        </p:spPr>
        <p:txBody>
          <a:bodyPr/>
          <a:lstStyle/>
          <a:p>
            <a:endParaRPr lang="en-GB"/>
          </a:p>
        </p:txBody>
      </p:sp>
      <p:sp>
        <p:nvSpPr>
          <p:cNvPr id="360" name="BG1"/>
          <p:cNvSpPr>
            <a:spLocks noGrp="1"/>
          </p:cNvSpPr>
          <p:nvPr/>
        </p:nvSpPr>
        <p:spPr>
          <a:xfrm>
            <a:off x="1943100" y="762000"/>
            <a:ext cx="965200" cy="3759200"/>
          </a:xfrm>
          <a:prstGeom prst="roundRect">
            <a:avLst>
              <a:gd name="adj" fmla="val 2000"/>
            </a:avLst>
          </a:prstGeom>
          <a:solidFill>
            <a:srgbClr val="F9FAFB"/>
          </a:solidFill>
          <a:ln w="9525">
            <a:solidFill>
              <a:srgbClr val="D1D5DB"/>
            </a:solidFill>
          </a:ln>
        </p:spPr>
        <p:txBody>
          <a:bodyPr/>
          <a:lstStyle/>
          <a:p>
            <a:endParaRPr lang="en-GB"/>
          </a:p>
        </p:txBody>
      </p:sp>
      <p:sp>
        <p:nvSpPr>
          <p:cNvPr id="365" name="Hdr1"/>
          <p:cNvSpPr>
            <a:spLocks noGrp="1"/>
          </p:cNvSpPr>
          <p:nvPr/>
        </p:nvSpPr>
        <p:spPr>
          <a:xfrm>
            <a:off x="1943100" y="762000"/>
            <a:ext cx="965200" cy="203200"/>
          </a:xfrm>
          <a:prstGeom prst="roundRect">
            <a:avLst>
              <a:gd name="adj" fmla="val 2000"/>
            </a:avLst>
          </a:prstGeom>
          <a:solidFill>
            <a:srgbClr val="EAECF0"/>
          </a:solidFill>
          <a:ln w="9525">
            <a:solidFill>
              <a:srgbClr val="D1D5DB"/>
            </a:solidFill>
          </a:ln>
        </p:spPr>
        <p:txBody>
          <a:bodyPr wrap="square" lIns="25400" tIns="25400" rIns="25400" bIns="25400" anchor="ctr"/>
          <a:lstStyle/>
          <a:p>
            <a:pPr algn="ctr">
              <a:buNone/>
            </a:pPr>
            <a:r>
              <a:rPr lang="en-US" sz="700" b="1" spc="150" dirty="0">
                <a:solidFill>
                  <a:srgbClr val="5B6370"/>
                </a:solidFill>
                <a:latin typeface="Calibri"/>
              </a:rPr>
              <a:t>INTEGRATION HUB</a:t>
            </a:r>
          </a:p>
        </p:txBody>
      </p:sp>
      <p:sp>
        <p:nvSpPr>
          <p:cNvPr id="366" name="Celigo"/>
          <p:cNvSpPr>
            <a:spLocks noGrp="1"/>
          </p:cNvSpPr>
          <p:nvPr/>
        </p:nvSpPr>
        <p:spPr>
          <a:xfrm>
            <a:off x="1968500" y="990600"/>
            <a:ext cx="914400" cy="35052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Celigo</a:t>
            </a:r>
          </a:p>
          <a:p>
            <a:pPr>
              <a:spcBef>
                <a:spcPts val="30"/>
              </a:spcBef>
              <a:buNone/>
            </a:pPr>
            <a:r>
              <a:rPr lang="en-US" sz="575" b="1" spc="75" dirty="0">
                <a:solidFill>
                  <a:srgbClr val="6B7280"/>
                </a:solidFill>
                <a:latin typeface="Calibri"/>
              </a:rPr>
              <a:t>INTEGRATION PLATFORM</a:t>
            </a:r>
          </a:p>
          <a:p>
            <a:pPr>
              <a:lnSpc>
                <a:spcPts val="1000"/>
              </a:lnSpc>
              <a:spcBef>
                <a:spcPts val="40"/>
              </a:spcBef>
              <a:buNone/>
            </a:pPr>
            <a:r>
              <a:rPr lang="en-US" sz="600" dirty="0">
                <a:solidFill>
                  <a:srgbClr val="4B5563"/>
                </a:solidFill>
                <a:latin typeface="Calibri"/>
              </a:rPr>
              <a:t>Connects NetSuite, Adobe Commerce, Manhattan Active Omni &amp; Conscia Layer via scheduled and event-driven flows.</a:t>
            </a:r>
          </a:p>
        </p:txBody>
      </p:sp>
      <p:sp>
        <p:nvSpPr>
          <p:cNvPr id="370" name="Arr12"/>
          <p:cNvSpPr>
            <a:spLocks noGrp="1"/>
          </p:cNvSpPr>
          <p:nvPr/>
        </p:nvSpPr>
        <p:spPr>
          <a:xfrm>
            <a:off x="2933700" y="2590800"/>
            <a:ext cx="127000" cy="101600"/>
          </a:xfrm>
          <a:prstGeom prst="rightArrow">
            <a:avLst>
              <a:gd name="adj1" fmla="val 50000"/>
              <a:gd name="adj2" fmla="val 50000"/>
            </a:avLst>
          </a:prstGeom>
          <a:solidFill>
            <a:srgbClr val="D1D5DB"/>
          </a:solidFill>
          <a:ln>
            <a:noFill/>
          </a:ln>
        </p:spPr>
        <p:txBody>
          <a:bodyPr/>
          <a:lstStyle/>
          <a:p>
            <a:endParaRPr lang="en-GB"/>
          </a:p>
        </p:txBody>
      </p:sp>
      <p:sp>
        <p:nvSpPr>
          <p:cNvPr id="380" name="BG2"/>
          <p:cNvSpPr>
            <a:spLocks noGrp="1"/>
          </p:cNvSpPr>
          <p:nvPr/>
        </p:nvSpPr>
        <p:spPr>
          <a:xfrm>
            <a:off x="3086100" y="762000"/>
            <a:ext cx="1968500" cy="3759200"/>
          </a:xfrm>
          <a:prstGeom prst="roundRect">
            <a:avLst>
              <a:gd name="adj" fmla="val 2000"/>
            </a:avLst>
          </a:prstGeom>
          <a:solidFill>
            <a:srgbClr val="FDF2F8"/>
          </a:solidFill>
          <a:ln w="19050">
            <a:solidFill>
              <a:srgbClr val="C2185B"/>
            </a:solidFill>
          </a:ln>
        </p:spPr>
        <p:txBody>
          <a:bodyPr/>
          <a:lstStyle/>
          <a:p>
            <a:endParaRPr lang="en-GB"/>
          </a:p>
        </p:txBody>
      </p:sp>
      <p:sp>
        <p:nvSpPr>
          <p:cNvPr id="385" name="Hdr2"/>
          <p:cNvSpPr>
            <a:spLocks noGrp="1"/>
          </p:cNvSpPr>
          <p:nvPr/>
        </p:nvSpPr>
        <p:spPr>
          <a:xfrm>
            <a:off x="3086100" y="762000"/>
            <a:ext cx="1968500" cy="203200"/>
          </a:xfrm>
          <a:prstGeom prst="roundRect">
            <a:avLst>
              <a:gd name="adj" fmla="val 2000"/>
            </a:avLst>
          </a:prstGeom>
          <a:solidFill>
            <a:srgbClr val="C2185B"/>
          </a:solidFill>
          <a:ln w="19050">
            <a:solidFill>
              <a:srgbClr val="C2185B"/>
            </a:solidFill>
          </a:ln>
        </p:spPr>
        <p:txBody>
          <a:bodyPr wrap="square" lIns="25400" tIns="25400" rIns="25400" bIns="25400" anchor="ctr"/>
          <a:lstStyle/>
          <a:p>
            <a:pPr algn="ctr">
              <a:buNone/>
            </a:pPr>
            <a:r>
              <a:rPr lang="en-US" sz="700" b="1" spc="150" dirty="0">
                <a:solidFill>
                  <a:srgbClr val="FFFFFF"/>
                </a:solidFill>
                <a:latin typeface="Calibri"/>
              </a:rPr>
              <a:t>CONSCIA PLATFORM</a:t>
            </a:r>
          </a:p>
        </p:txBody>
      </p:sp>
      <p:sp>
        <p:nvSpPr>
          <p:cNvPr id="386" name="DXGraph"/>
          <p:cNvSpPr>
            <a:spLocks noGrp="1"/>
          </p:cNvSpPr>
          <p:nvPr/>
        </p:nvSpPr>
        <p:spPr>
          <a:xfrm>
            <a:off x="3111500" y="990600"/>
            <a:ext cx="1917700" cy="1663700"/>
          </a:xfrm>
          <a:prstGeom prst="roundRect">
            <a:avLst>
              <a:gd name="adj" fmla="val 2000"/>
            </a:avLst>
          </a:prstGeom>
          <a:solidFill>
            <a:srgbClr val="FFFFFF"/>
          </a:solidFill>
          <a:ln w="12700">
            <a:solidFill>
              <a:srgbClr val="C2185B"/>
            </a:solidFill>
          </a:ln>
        </p:spPr>
        <p:txBody>
          <a:bodyPr wrap="square" lIns="63500" tIns="63500" rIns="63500" bIns="63500" anchor="t"/>
          <a:lstStyle/>
          <a:p>
            <a:pPr>
              <a:buNone/>
            </a:pPr>
            <a:r>
              <a:rPr lang="en-US" sz="800" b="1" dirty="0">
                <a:solidFill>
                  <a:srgbClr val="111827"/>
                </a:solidFill>
                <a:latin typeface="Calibri"/>
              </a:rPr>
              <a:t>DX Graph</a:t>
            </a:r>
          </a:p>
          <a:p>
            <a:pPr>
              <a:spcBef>
                <a:spcPts val="30"/>
              </a:spcBef>
              <a:buNone/>
            </a:pPr>
            <a:r>
              <a:rPr lang="en-US" sz="575" b="1" spc="75" dirty="0">
                <a:solidFill>
                  <a:srgbClr val="374151"/>
                </a:solidFill>
                <a:latin typeface="Calibri"/>
              </a:rPr>
              <a:t>GOVERNED PRODUCT MASTER</a:t>
            </a:r>
          </a:p>
          <a:p>
            <a:pPr>
              <a:lnSpc>
                <a:spcPts val="1000"/>
              </a:lnSpc>
              <a:spcBef>
                <a:spcPts val="40"/>
              </a:spcBef>
              <a:buNone/>
            </a:pPr>
            <a:r>
              <a:rPr lang="en-US" sz="600" dirty="0">
                <a:solidFill>
                  <a:srgbClr val="4B5563"/>
                </a:solidFill>
                <a:latin typeface="Calibri"/>
              </a:rPr>
              <a:t>Semantic data layer &amp; system of record for configurable products. Holds unified SKU collection, compatibility relationships, taxonomy hierarchies &amp; governed entities.</a:t>
            </a:r>
          </a:p>
        </p:txBody>
      </p:sp>
      <p:sp>
        <p:nvSpPr>
          <p:cNvPr id="387" name="ArrDn"/>
          <p:cNvSpPr>
            <a:spLocks noGrp="1"/>
          </p:cNvSpPr>
          <p:nvPr/>
        </p:nvSpPr>
        <p:spPr>
          <a:xfrm>
            <a:off x="4000500" y="2667000"/>
            <a:ext cx="127000" cy="127000"/>
          </a:xfrm>
          <a:prstGeom prst="downArrow">
            <a:avLst>
              <a:gd name="adj1" fmla="val 50000"/>
              <a:gd name="adj2" fmla="val 50000"/>
            </a:avLst>
          </a:prstGeom>
          <a:solidFill>
            <a:srgbClr val="C2185B"/>
          </a:solidFill>
          <a:ln>
            <a:noFill/>
          </a:ln>
        </p:spPr>
        <p:txBody>
          <a:bodyPr/>
          <a:lstStyle/>
          <a:p>
            <a:endParaRPr lang="en-GB"/>
          </a:p>
        </p:txBody>
      </p:sp>
      <p:sp>
        <p:nvSpPr>
          <p:cNvPr id="389" name="DXEngine"/>
          <p:cNvSpPr>
            <a:spLocks noGrp="1"/>
          </p:cNvSpPr>
          <p:nvPr/>
        </p:nvSpPr>
        <p:spPr>
          <a:xfrm>
            <a:off x="3111500" y="2832100"/>
            <a:ext cx="1917700" cy="1663700"/>
          </a:xfrm>
          <a:prstGeom prst="roundRect">
            <a:avLst>
              <a:gd name="adj" fmla="val 2000"/>
            </a:avLst>
          </a:prstGeom>
          <a:solidFill>
            <a:srgbClr val="FFFFFF"/>
          </a:solidFill>
          <a:ln w="12700">
            <a:solidFill>
              <a:srgbClr val="C2185B"/>
            </a:solidFill>
          </a:ln>
        </p:spPr>
        <p:txBody>
          <a:bodyPr wrap="square" lIns="63500" tIns="63500" rIns="63500" bIns="63500" anchor="t"/>
          <a:lstStyle/>
          <a:p>
            <a:pPr>
              <a:buNone/>
            </a:pPr>
            <a:r>
              <a:rPr lang="en-US" sz="800" b="1" dirty="0">
                <a:solidFill>
                  <a:srgbClr val="111827"/>
                </a:solidFill>
                <a:latin typeface="Calibri"/>
              </a:rPr>
              <a:t>DX Engine</a:t>
            </a:r>
          </a:p>
          <a:p>
            <a:pPr>
              <a:spcBef>
                <a:spcPts val="30"/>
              </a:spcBef>
              <a:buNone/>
            </a:pPr>
            <a:r>
              <a:rPr lang="en-US" sz="575" b="1" spc="75" dirty="0">
                <a:solidFill>
                  <a:srgbClr val="374151"/>
                </a:solidFill>
                <a:latin typeface="Calibri"/>
              </a:rPr>
              <a:t>REAL-TIME ORCHESTRATION</a:t>
            </a:r>
          </a:p>
          <a:p>
            <a:pPr>
              <a:lnSpc>
                <a:spcPts val="1000"/>
              </a:lnSpc>
              <a:spcBef>
                <a:spcPts val="40"/>
              </a:spcBef>
              <a:buNone/>
            </a:pPr>
            <a:r>
              <a:rPr lang="en-US" sz="600" dirty="0">
                <a:solidFill>
                  <a:srgbClr val="4B5563"/>
                </a:solidFill>
                <a:latin typeface="Calibri"/>
              </a:rPr>
              <a:t>Experience API: config validation, wizard steps, Config IDs, BOM explosion &amp; channel feeds. MCP-exposable for agentic commerce.</a:t>
            </a:r>
          </a:p>
        </p:txBody>
      </p:sp>
      <p:sp>
        <p:nvSpPr>
          <p:cNvPr id="390" name="Arr23"/>
          <p:cNvSpPr>
            <a:spLocks noGrp="1"/>
          </p:cNvSpPr>
          <p:nvPr/>
        </p:nvSpPr>
        <p:spPr>
          <a:xfrm>
            <a:off x="5080000" y="2590800"/>
            <a:ext cx="127000" cy="101600"/>
          </a:xfrm>
          <a:prstGeom prst="rightArrow">
            <a:avLst>
              <a:gd name="adj1" fmla="val 50000"/>
              <a:gd name="adj2" fmla="val 50000"/>
            </a:avLst>
          </a:prstGeom>
          <a:solidFill>
            <a:srgbClr val="C2185B"/>
          </a:solidFill>
          <a:ln>
            <a:noFill/>
          </a:ln>
        </p:spPr>
        <p:txBody>
          <a:bodyPr/>
          <a:lstStyle/>
          <a:p>
            <a:endParaRPr lang="en-GB"/>
          </a:p>
        </p:txBody>
      </p:sp>
      <p:sp>
        <p:nvSpPr>
          <p:cNvPr id="400" name="BG3"/>
          <p:cNvSpPr>
            <a:spLocks noGrp="1"/>
          </p:cNvSpPr>
          <p:nvPr/>
        </p:nvSpPr>
        <p:spPr>
          <a:xfrm>
            <a:off x="5232400" y="762000"/>
            <a:ext cx="1562100" cy="3759200"/>
          </a:xfrm>
          <a:prstGeom prst="roundRect">
            <a:avLst>
              <a:gd name="adj" fmla="val 2000"/>
            </a:avLst>
          </a:prstGeom>
          <a:solidFill>
            <a:srgbClr val="F9FAFB"/>
          </a:solidFill>
          <a:ln w="9525">
            <a:solidFill>
              <a:srgbClr val="D1D5DB"/>
            </a:solidFill>
          </a:ln>
        </p:spPr>
        <p:txBody>
          <a:bodyPr/>
          <a:lstStyle/>
          <a:p>
            <a:endParaRPr lang="en-GB"/>
          </a:p>
        </p:txBody>
      </p:sp>
      <p:sp>
        <p:nvSpPr>
          <p:cNvPr id="405" name="Hdr3"/>
          <p:cNvSpPr>
            <a:spLocks noGrp="1"/>
          </p:cNvSpPr>
          <p:nvPr/>
        </p:nvSpPr>
        <p:spPr>
          <a:xfrm>
            <a:off x="5232400" y="762000"/>
            <a:ext cx="1562100" cy="203200"/>
          </a:xfrm>
          <a:prstGeom prst="roundRect">
            <a:avLst>
              <a:gd name="adj" fmla="val 2000"/>
            </a:avLst>
          </a:prstGeom>
          <a:solidFill>
            <a:srgbClr val="EAECF0"/>
          </a:solidFill>
          <a:ln w="9525">
            <a:solidFill>
              <a:srgbClr val="D1D5DB"/>
            </a:solidFill>
          </a:ln>
        </p:spPr>
        <p:txBody>
          <a:bodyPr wrap="square" lIns="25400" tIns="25400" rIns="25400" bIns="25400" anchor="ctr"/>
          <a:lstStyle/>
          <a:p>
            <a:pPr algn="ctr">
              <a:buNone/>
            </a:pPr>
            <a:r>
              <a:rPr lang="en-US" sz="700" b="1" spc="150" dirty="0">
                <a:solidFill>
                  <a:srgbClr val="5B6370"/>
                </a:solidFill>
                <a:latin typeface="Calibri"/>
              </a:rPr>
              <a:t>DOWNSTREAM</a:t>
            </a:r>
          </a:p>
        </p:txBody>
      </p:sp>
      <p:sp>
        <p:nvSpPr>
          <p:cNvPr id="406" name="C30"/>
          <p:cNvSpPr>
            <a:spLocks noGrp="1"/>
          </p:cNvSpPr>
          <p:nvPr/>
        </p:nvSpPr>
        <p:spPr>
          <a:xfrm>
            <a:off x="5257800" y="990600"/>
            <a:ext cx="15113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Manhattan Active Omni</a:t>
            </a:r>
          </a:p>
          <a:p>
            <a:pPr>
              <a:spcBef>
                <a:spcPts val="30"/>
              </a:spcBef>
              <a:buNone/>
            </a:pPr>
            <a:r>
              <a:rPr lang="en-US" sz="575" b="1" spc="75" dirty="0">
                <a:solidFill>
                  <a:srgbClr val="6B7280"/>
                </a:solidFill>
                <a:latin typeface="Calibri"/>
              </a:rPr>
              <a:t>OMS</a:t>
            </a:r>
          </a:p>
          <a:p>
            <a:pPr>
              <a:lnSpc>
                <a:spcPts val="1000"/>
              </a:lnSpc>
              <a:spcBef>
                <a:spcPts val="40"/>
              </a:spcBef>
              <a:buNone/>
            </a:pPr>
            <a:r>
              <a:rPr lang="en-US" sz="600" dirty="0">
                <a:solidFill>
                  <a:srgbClr val="4B5563"/>
                </a:solidFill>
                <a:latin typeface="Calibri"/>
              </a:rPr>
              <a:t>Order master; receives exploded BOMs from DX Engine for fulfilment.</a:t>
            </a:r>
          </a:p>
        </p:txBody>
      </p:sp>
      <p:sp>
        <p:nvSpPr>
          <p:cNvPr id="407" name="C31"/>
          <p:cNvSpPr>
            <a:spLocks noGrp="1"/>
          </p:cNvSpPr>
          <p:nvPr/>
        </p:nvSpPr>
        <p:spPr>
          <a:xfrm>
            <a:off x="5257800" y="2171700"/>
            <a:ext cx="15113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Lovesac.com</a:t>
            </a:r>
          </a:p>
          <a:p>
            <a:pPr>
              <a:spcBef>
                <a:spcPts val="30"/>
              </a:spcBef>
              <a:buNone/>
            </a:pPr>
            <a:r>
              <a:rPr lang="en-US" sz="575" b="1" spc="75" dirty="0">
                <a:solidFill>
                  <a:srgbClr val="6B7280"/>
                </a:solidFill>
                <a:latin typeface="Calibri"/>
              </a:rPr>
              <a:t>STOREFRONT</a:t>
            </a:r>
          </a:p>
          <a:p>
            <a:pPr>
              <a:lnSpc>
                <a:spcPts val="1000"/>
              </a:lnSpc>
              <a:spcBef>
                <a:spcPts val="40"/>
              </a:spcBef>
              <a:buNone/>
            </a:pPr>
            <a:r>
              <a:rPr lang="en-US" sz="600" dirty="0">
                <a:solidFill>
                  <a:srgbClr val="4B5563"/>
                </a:solidFill>
                <a:latin typeface="Calibri"/>
              </a:rPr>
              <a:t>Adobe Commerce; consumes validated Config IDs via Experience API.</a:t>
            </a:r>
          </a:p>
        </p:txBody>
      </p:sp>
      <p:sp>
        <p:nvSpPr>
          <p:cNvPr id="408" name="C32"/>
          <p:cNvSpPr>
            <a:spLocks noGrp="1"/>
          </p:cNvSpPr>
          <p:nvPr/>
        </p:nvSpPr>
        <p:spPr>
          <a:xfrm>
            <a:off x="5257800" y="3352800"/>
            <a:ext cx="15113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Salesforce Retail Cloud</a:t>
            </a:r>
          </a:p>
          <a:p>
            <a:pPr>
              <a:spcBef>
                <a:spcPts val="30"/>
              </a:spcBef>
              <a:buNone/>
            </a:pPr>
            <a:r>
              <a:rPr lang="en-US" sz="575" b="1" spc="75" dirty="0">
                <a:solidFill>
                  <a:srgbClr val="6B7280"/>
                </a:solidFill>
                <a:latin typeface="Calibri"/>
              </a:rPr>
              <a:t>POS</a:t>
            </a:r>
          </a:p>
          <a:p>
            <a:pPr>
              <a:lnSpc>
                <a:spcPts val="1000"/>
              </a:lnSpc>
              <a:spcBef>
                <a:spcPts val="40"/>
              </a:spcBef>
              <a:buNone/>
            </a:pPr>
            <a:r>
              <a:rPr lang="en-US" sz="600" dirty="0">
                <a:solidFill>
                  <a:srgbClr val="4B5563"/>
                </a:solidFill>
                <a:latin typeface="Calibri"/>
              </a:rPr>
              <a:t>In-store config validation &amp; Config ID lookup at the register.</a:t>
            </a:r>
          </a:p>
        </p:txBody>
      </p:sp>
      <p:sp>
        <p:nvSpPr>
          <p:cNvPr id="410" name="Arr34"/>
          <p:cNvSpPr>
            <a:spLocks noGrp="1"/>
          </p:cNvSpPr>
          <p:nvPr/>
        </p:nvSpPr>
        <p:spPr>
          <a:xfrm>
            <a:off x="6819900" y="2590800"/>
            <a:ext cx="127000" cy="101600"/>
          </a:xfrm>
          <a:prstGeom prst="rightArrow">
            <a:avLst>
              <a:gd name="adj1" fmla="val 50000"/>
              <a:gd name="adj2" fmla="val 50000"/>
            </a:avLst>
          </a:prstGeom>
          <a:solidFill>
            <a:srgbClr val="D1D5DB"/>
          </a:solidFill>
          <a:ln>
            <a:noFill/>
          </a:ln>
        </p:spPr>
        <p:txBody>
          <a:bodyPr/>
          <a:lstStyle/>
          <a:p>
            <a:endParaRPr lang="en-GB"/>
          </a:p>
        </p:txBody>
      </p:sp>
      <p:sp>
        <p:nvSpPr>
          <p:cNvPr id="420" name="BG4"/>
          <p:cNvSpPr>
            <a:spLocks noGrp="1"/>
          </p:cNvSpPr>
          <p:nvPr/>
        </p:nvSpPr>
        <p:spPr>
          <a:xfrm>
            <a:off x="6972300" y="762000"/>
            <a:ext cx="1778000" cy="3759200"/>
          </a:xfrm>
          <a:prstGeom prst="roundRect">
            <a:avLst>
              <a:gd name="adj" fmla="val 2000"/>
            </a:avLst>
          </a:prstGeom>
          <a:solidFill>
            <a:srgbClr val="F9FAFB"/>
          </a:solidFill>
          <a:ln w="9525">
            <a:solidFill>
              <a:srgbClr val="D1D5DB"/>
            </a:solidFill>
          </a:ln>
        </p:spPr>
        <p:txBody>
          <a:bodyPr/>
          <a:lstStyle/>
          <a:p>
            <a:endParaRPr lang="en-GB"/>
          </a:p>
        </p:txBody>
      </p:sp>
      <p:sp>
        <p:nvSpPr>
          <p:cNvPr id="425" name="Hdr4"/>
          <p:cNvSpPr>
            <a:spLocks noGrp="1"/>
          </p:cNvSpPr>
          <p:nvPr/>
        </p:nvSpPr>
        <p:spPr>
          <a:xfrm>
            <a:off x="6972300" y="762000"/>
            <a:ext cx="1778000" cy="203200"/>
          </a:xfrm>
          <a:prstGeom prst="roundRect">
            <a:avLst>
              <a:gd name="adj" fmla="val 2000"/>
            </a:avLst>
          </a:prstGeom>
          <a:solidFill>
            <a:srgbClr val="EAECF0"/>
          </a:solidFill>
          <a:ln w="9525">
            <a:solidFill>
              <a:srgbClr val="D1D5DB"/>
            </a:solidFill>
          </a:ln>
        </p:spPr>
        <p:txBody>
          <a:bodyPr wrap="square" lIns="25400" tIns="25400" rIns="25400" bIns="25400" anchor="ctr"/>
          <a:lstStyle/>
          <a:p>
            <a:pPr algn="ctr">
              <a:buNone/>
            </a:pPr>
            <a:r>
              <a:rPr lang="en-US" sz="700" b="1" spc="150" dirty="0">
                <a:solidFill>
                  <a:srgbClr val="5B6370"/>
                </a:solidFill>
                <a:latin typeface="Calibri"/>
              </a:rPr>
              <a:t>CHANNELS &amp; AGENTS</a:t>
            </a:r>
          </a:p>
        </p:txBody>
      </p:sp>
      <p:sp>
        <p:nvSpPr>
          <p:cNvPr id="426" name="C40"/>
          <p:cNvSpPr>
            <a:spLocks noGrp="1"/>
          </p:cNvSpPr>
          <p:nvPr/>
        </p:nvSpPr>
        <p:spPr>
          <a:xfrm>
            <a:off x="6997700" y="9906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POS Terminals</a:t>
            </a:r>
          </a:p>
          <a:p>
            <a:pPr>
              <a:spcBef>
                <a:spcPts val="30"/>
              </a:spcBef>
              <a:buNone/>
            </a:pPr>
            <a:r>
              <a:rPr lang="en-US" sz="575" b="1" spc="75" dirty="0">
                <a:solidFill>
                  <a:srgbClr val="6B7280"/>
                </a:solidFill>
                <a:latin typeface="Calibri"/>
              </a:rPr>
              <a:t>IN-STORE</a:t>
            </a:r>
          </a:p>
        </p:txBody>
      </p:sp>
      <p:sp>
        <p:nvSpPr>
          <p:cNvPr id="427" name="C41"/>
          <p:cNvSpPr>
            <a:spLocks noGrp="1"/>
          </p:cNvSpPr>
          <p:nvPr/>
        </p:nvSpPr>
        <p:spPr>
          <a:xfrm>
            <a:off x="6997700" y="15748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Lovesac.com</a:t>
            </a:r>
          </a:p>
          <a:p>
            <a:pPr>
              <a:spcBef>
                <a:spcPts val="30"/>
              </a:spcBef>
              <a:buNone/>
            </a:pPr>
            <a:r>
              <a:rPr lang="en-US" sz="575" b="1" spc="75" dirty="0">
                <a:solidFill>
                  <a:srgbClr val="6B7280"/>
                </a:solidFill>
                <a:latin typeface="Calibri"/>
              </a:rPr>
              <a:t>WEB</a:t>
            </a:r>
          </a:p>
        </p:txBody>
      </p:sp>
      <p:sp>
        <p:nvSpPr>
          <p:cNvPr id="428" name="C42"/>
          <p:cNvSpPr>
            <a:spLocks noGrp="1"/>
          </p:cNvSpPr>
          <p:nvPr/>
        </p:nvSpPr>
        <p:spPr>
          <a:xfrm>
            <a:off x="6997700" y="21590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Mobile Apps</a:t>
            </a:r>
          </a:p>
          <a:p>
            <a:pPr>
              <a:spcBef>
                <a:spcPts val="30"/>
              </a:spcBef>
              <a:buNone/>
            </a:pPr>
            <a:r>
              <a:rPr lang="en-US" sz="575" b="1" spc="75" dirty="0">
                <a:solidFill>
                  <a:srgbClr val="6B7280"/>
                </a:solidFill>
                <a:latin typeface="Calibri"/>
              </a:rPr>
              <a:t>STEALTHTECH V2.0</a:t>
            </a:r>
          </a:p>
        </p:txBody>
      </p:sp>
      <p:sp>
        <p:nvSpPr>
          <p:cNvPr id="429" name="C43"/>
          <p:cNvSpPr>
            <a:spLocks noGrp="1"/>
          </p:cNvSpPr>
          <p:nvPr/>
        </p:nvSpPr>
        <p:spPr>
          <a:xfrm>
            <a:off x="6997700" y="27432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AgentForce</a:t>
            </a:r>
          </a:p>
          <a:p>
            <a:pPr>
              <a:spcBef>
                <a:spcPts val="30"/>
              </a:spcBef>
              <a:buNone/>
            </a:pPr>
            <a:r>
              <a:rPr lang="en-US" sz="575" b="1" spc="75" dirty="0">
                <a:solidFill>
                  <a:srgbClr val="6B7280"/>
                </a:solidFill>
                <a:latin typeface="Calibri"/>
              </a:rPr>
              <a:t>AI AGENT</a:t>
            </a:r>
          </a:p>
        </p:txBody>
      </p:sp>
      <p:sp>
        <p:nvSpPr>
          <p:cNvPr id="430" name="C44"/>
          <p:cNvSpPr>
            <a:spLocks noGrp="1"/>
          </p:cNvSpPr>
          <p:nvPr/>
        </p:nvSpPr>
        <p:spPr>
          <a:xfrm>
            <a:off x="6997700" y="33274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Google Shopping</a:t>
            </a:r>
          </a:p>
          <a:p>
            <a:pPr>
              <a:spcBef>
                <a:spcPts val="30"/>
              </a:spcBef>
              <a:buNone/>
            </a:pPr>
            <a:r>
              <a:rPr lang="en-US" sz="575" b="1" spc="75" dirty="0">
                <a:solidFill>
                  <a:srgbClr val="6B7280"/>
                </a:solidFill>
                <a:latin typeface="Calibri"/>
              </a:rPr>
              <a:t>3RD-PARTY AGENTIC</a:t>
            </a:r>
          </a:p>
        </p:txBody>
      </p:sp>
      <p:sp>
        <p:nvSpPr>
          <p:cNvPr id="431" name="C45"/>
          <p:cNvSpPr>
            <a:spLocks noGrp="1"/>
          </p:cNvSpPr>
          <p:nvPr/>
        </p:nvSpPr>
        <p:spPr>
          <a:xfrm>
            <a:off x="6997700" y="39116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ChatGPT / 3rd-Party AI</a:t>
            </a:r>
          </a:p>
          <a:p>
            <a:pPr>
              <a:spcBef>
                <a:spcPts val="30"/>
              </a:spcBef>
              <a:buNone/>
            </a:pPr>
            <a:r>
              <a:rPr lang="en-US" sz="575" b="1" spc="75" dirty="0">
                <a:solidFill>
                  <a:srgbClr val="6B7280"/>
                </a:solidFill>
                <a:latin typeface="Calibri"/>
              </a:rPr>
              <a:t>EMERGING AI</a:t>
            </a:r>
          </a:p>
        </p:txBody>
      </p:sp>
      <p:sp>
        <p:nvSpPr>
          <p:cNvPr id="440" name="Footnote"/>
          <p:cNvSpPr>
            <a:spLocks noGrp="1"/>
          </p:cNvSpPr>
          <p:nvPr/>
        </p:nvSpPr>
        <p:spPr>
          <a:xfrm>
            <a:off x="266700" y="4572000"/>
            <a:ext cx="8864600" cy="152400"/>
          </a:xfrm>
          <a:prstGeom prst="rect">
            <a:avLst/>
          </a:prstGeom>
          <a:noFill/>
          <a:ln>
            <a:noFill/>
          </a:ln>
        </p:spPr>
        <p:txBody>
          <a:bodyPr wrap="square" lIns="12700" tIns="12700" rIns="12700" bIns="12700" anchor="ctr"/>
          <a:lstStyle/>
          <a:p>
            <a:pPr>
              <a:buNone/>
            </a:pPr>
            <a:r>
              <a:rPr lang="en-US" sz="575" i="1" dirty="0">
                <a:solidFill>
                  <a:srgbClr val="6B7280"/>
                </a:solidFill>
                <a:latin typeface="Calibri"/>
              </a:rPr>
              <a:t>System names and integration paths from Lovesac Enterprise Applications Architecture, Target State, January 2026.</a:t>
            </a:r>
          </a:p>
        </p:txBody>
      </p:sp>
    </p:spTree>
    <p:extLst>
      <p:ext uri="{BB962C8B-B14F-4D97-AF65-F5344CB8AC3E}">
        <p14:creationId xmlns:p14="http://schemas.microsoft.com/office/powerpoint/2010/main" val="40172446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264"/>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pPr>
              <a:buNone/>
            </a:pPr>
            <a:r>
              <a:rPr lang="en-US" sz="1800" b="1" dirty="0">
                <a:solidFill>
                  <a:srgbClr val="111827"/>
                </a:solidFill>
                <a:latin typeface="Calibri"/>
              </a:rPr>
              <a:t>Project Scope — Phase 1</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100" name="SC0"/>
          <p:cNvSpPr/>
          <p:nvPr/>
        </p:nvSpPr>
        <p:spPr>
          <a:xfrm>
            <a:off x="330200" y="838200"/>
            <a:ext cx="2730500" cy="3810000"/>
          </a:xfrm>
          <a:prstGeom prst="roundRect">
            <a:avLst>
              <a:gd name="adj" fmla="val 3000"/>
            </a:avLst>
          </a:prstGeom>
          <a:solidFill>
            <a:srgbClr val="FFF8FB"/>
          </a:solidFill>
          <a:ln w="9525">
            <a:solidFill>
              <a:srgbClr val="FBD0DF"/>
            </a:solidFill>
          </a:ln>
          <a:effectLst>
            <a:outerShdw blurRad="50800" dist="12700" dir="5400000" algn="tl" rotWithShape="0">
              <a:srgbClr val="000000">
                <a:alpha val="8000"/>
              </a:srgbClr>
            </a:outerShdw>
          </a:effectLst>
        </p:spPr>
        <p:txBody>
          <a:bodyPr/>
          <a:lstStyle/>
          <a:p>
            <a:endParaRPr lang="en-US"/>
          </a:p>
        </p:txBody>
      </p:sp>
      <p:sp>
        <p:nvSpPr>
          <p:cNvPr id="101" name="SA0"/>
          <p:cNvSpPr/>
          <p:nvPr/>
        </p:nvSpPr>
        <p:spPr>
          <a:xfrm>
            <a:off x="330200" y="838200"/>
            <a:ext cx="2730500" cy="63500"/>
          </a:xfrm>
          <a:prstGeom prst="roundRect">
            <a:avLst>
              <a:gd name="adj" fmla="val 50000"/>
            </a:avLst>
          </a:prstGeom>
          <a:solidFill>
            <a:srgbClr val="EB1A63"/>
          </a:solidFill>
          <a:ln>
            <a:noFill/>
          </a:ln>
        </p:spPr>
        <p:txBody>
          <a:bodyPr/>
          <a:lstStyle/>
          <a:p>
            <a:endParaRPr lang="en-US"/>
          </a:p>
        </p:txBody>
      </p:sp>
      <p:sp>
        <p:nvSpPr>
          <p:cNvPr id="102" name="ST0"/>
          <p:cNvSpPr/>
          <p:nvPr/>
        </p:nvSpPr>
        <p:spPr>
          <a:xfrm>
            <a:off x="482600" y="990600"/>
            <a:ext cx="2425700" cy="279400"/>
          </a:xfrm>
          <a:prstGeom prst="rect">
            <a:avLst/>
          </a:prstGeom>
          <a:noFill/>
          <a:ln>
            <a:noFill/>
          </a:ln>
        </p:spPr>
        <p:txBody>
          <a:bodyPr wrap="square" lIns="0" tIns="0" rIns="0" bIns="0" anchor="t"/>
          <a:lstStyle/>
          <a:p>
            <a:pPr>
              <a:buNone/>
            </a:pPr>
            <a:r>
              <a:rPr lang="en-US" sz="900" b="1" spc="150" dirty="0">
                <a:solidFill>
                  <a:srgbClr val="EB1A63"/>
                </a:solidFill>
                <a:latin typeface="Calibri"/>
              </a:rPr>
              <a:t>DX GRAPH</a:t>
            </a:r>
          </a:p>
          <a:p>
            <a:pPr>
              <a:buNone/>
            </a:pPr>
            <a:r>
              <a:rPr lang="en-US" sz="750" i="1" dirty="0">
                <a:solidFill>
                  <a:srgbClr val="EB1A63"/>
                </a:solidFill>
                <a:latin typeface="Calibri"/>
              </a:rPr>
              <a:t>in scope</a:t>
            </a:r>
          </a:p>
        </p:txBody>
      </p:sp>
      <p:sp>
        <p:nvSpPr>
          <p:cNvPr id="103" name="SD0"/>
          <p:cNvSpPr/>
          <p:nvPr/>
        </p:nvSpPr>
        <p:spPr>
          <a:xfrm>
            <a:off x="482600" y="1320800"/>
            <a:ext cx="2425700" cy="12700"/>
          </a:xfrm>
          <a:prstGeom prst="rect">
            <a:avLst/>
          </a:prstGeom>
          <a:solidFill>
            <a:srgbClr val="E5E7EB"/>
          </a:solidFill>
          <a:ln>
            <a:noFill/>
          </a:ln>
        </p:spPr>
        <p:txBody>
          <a:bodyPr/>
          <a:lstStyle/>
          <a:p>
            <a:endParaRPr lang="en-US"/>
          </a:p>
        </p:txBody>
      </p:sp>
      <p:sp>
        <p:nvSpPr>
          <p:cNvPr id="104" name="SB0"/>
          <p:cNvSpPr/>
          <p:nvPr/>
        </p:nvSpPr>
        <p:spPr>
          <a:xfrm>
            <a:off x="482600" y="1397000"/>
            <a:ext cx="2425700" cy="2921000"/>
          </a:xfrm>
          <a:prstGeom prst="rect">
            <a:avLst/>
          </a:prstGeom>
          <a:noFill/>
          <a:ln>
            <a:noFill/>
          </a:ln>
        </p:spPr>
        <p:txBody>
          <a:bodyPr wrap="square" lIns="0" tIns="0" rIns="0" bIns="0" anchor="t"/>
          <a:lstStyle/>
          <a:p>
            <a:pPr marL="171450" indent="-171450">
              <a:lnSpc>
                <a:spcPts val="1200"/>
              </a:lnSpc>
              <a:spcBef>
                <a:spcPts val="180"/>
              </a:spcBef>
              <a:buFont typeface="Arial"/>
              <a:buChar char="·"/>
            </a:pPr>
            <a:r>
              <a:rPr lang="en-US" sz="820" dirty="0">
                <a:solidFill>
                  <a:srgbClr val="374151"/>
                </a:solidFill>
                <a:latin typeface="Calibri"/>
              </a:rPr>
              <a:t>DX Graph application provisioning and environment setup</a:t>
            </a:r>
          </a:p>
          <a:p>
            <a:pPr marL="171450" indent="-171450">
              <a:lnSpc>
                <a:spcPts val="1200"/>
              </a:lnSpc>
              <a:spcBef>
                <a:spcPts val="180"/>
              </a:spcBef>
              <a:buFont typeface="Arial"/>
              <a:buChar char="·"/>
            </a:pPr>
            <a:r>
              <a:rPr lang="en-US" sz="820" dirty="0">
                <a:solidFill>
                  <a:srgbClr val="374151"/>
                </a:solidFill>
                <a:latin typeface="Calibri"/>
              </a:rPr>
              <a:t>SKU Collection — all 28,089 SKUs (Sactional, Sac, Snugg, Accessories) in one unified collection</a:t>
            </a:r>
          </a:p>
          <a:p>
            <a:pPr marL="171450" indent="-171450">
              <a:lnSpc>
                <a:spcPts val="1200"/>
              </a:lnSpc>
              <a:spcBef>
                <a:spcPts val="180"/>
              </a:spcBef>
              <a:buFont typeface="Arial"/>
              <a:buChar char="·"/>
            </a:pPr>
            <a:r>
              <a:rPr lang="en-US" sz="820" dirty="0">
                <a:solidFill>
                  <a:srgbClr val="374151"/>
                </a:solidFill>
                <a:latin typeface="Calibri"/>
              </a:rPr>
              <a:t>Configuration Collection for saved configs</a:t>
            </a:r>
          </a:p>
          <a:p>
            <a:pPr marL="171450" indent="-171450">
              <a:lnSpc>
                <a:spcPts val="1200"/>
              </a:lnSpc>
              <a:spcBef>
                <a:spcPts val="180"/>
              </a:spcBef>
              <a:buFont typeface="Arial"/>
              <a:buChar char="·"/>
            </a:pPr>
            <a:r>
              <a:rPr lang="en-US" sz="820" dirty="0">
                <a:solidFill>
                  <a:srgbClr val="374151"/>
                </a:solidFill>
                <a:latin typeface="Calibri"/>
              </a:rPr>
              <a:t>Up to 3 Taxonomy Collections</a:t>
            </a:r>
          </a:p>
          <a:p>
            <a:pPr marL="171450" indent="-171450">
              <a:lnSpc>
                <a:spcPts val="1200"/>
              </a:lnSpc>
              <a:spcBef>
                <a:spcPts val="180"/>
              </a:spcBef>
              <a:buFont typeface="Arial"/>
              <a:buChar char="·"/>
            </a:pPr>
            <a:r>
              <a:rPr lang="en-US" sz="820" dirty="0">
                <a:solidFill>
                  <a:srgbClr val="374151"/>
                </a:solidFill>
                <a:latin typeface="Calibri"/>
              </a:rPr>
              <a:t>Relationships: COMPATIBLE_WITH (Dynamic), BUNDLES (1:M), CONTAINS (1:M), MAPS_TO (1:M)</a:t>
            </a:r>
          </a:p>
          <a:p>
            <a:pPr marL="171450" indent="-171450">
              <a:lnSpc>
                <a:spcPts val="1200"/>
              </a:lnSpc>
              <a:spcBef>
                <a:spcPts val="180"/>
              </a:spcBef>
              <a:buFont typeface="Arial"/>
              <a:buChar char="·"/>
            </a:pPr>
            <a:r>
              <a:rPr lang="en-US" sz="820" dirty="0">
                <a:solidFill>
                  <a:srgbClr val="374151"/>
                </a:solidFill>
                <a:latin typeface="Calibri"/>
              </a:rPr>
              <a:t>Data ingest from up to 3 source backends via Jobs (likely via Celigo)</a:t>
            </a:r>
          </a:p>
        </p:txBody>
      </p:sp>
      <p:sp>
        <p:nvSpPr>
          <p:cNvPr id="110" name="SC1"/>
          <p:cNvSpPr/>
          <p:nvPr/>
        </p:nvSpPr>
        <p:spPr>
          <a:xfrm>
            <a:off x="3213100" y="838200"/>
            <a:ext cx="2730500" cy="3810000"/>
          </a:xfrm>
          <a:prstGeom prst="roundRect">
            <a:avLst>
              <a:gd name="adj" fmla="val 3000"/>
            </a:avLst>
          </a:prstGeom>
          <a:solidFill>
            <a:srgbClr val="F0FBFD"/>
          </a:solidFill>
          <a:ln w="9525">
            <a:solidFill>
              <a:srgbClr val="B8EDF5"/>
            </a:solidFill>
          </a:ln>
          <a:effectLst>
            <a:outerShdw blurRad="50800" dist="12700" dir="5400000" algn="tl" rotWithShape="0">
              <a:srgbClr val="000000">
                <a:alpha val="8000"/>
              </a:srgbClr>
            </a:outerShdw>
          </a:effectLst>
        </p:spPr>
        <p:txBody>
          <a:bodyPr/>
          <a:lstStyle/>
          <a:p>
            <a:endParaRPr lang="en-US"/>
          </a:p>
        </p:txBody>
      </p:sp>
      <p:sp>
        <p:nvSpPr>
          <p:cNvPr id="111" name="SA1"/>
          <p:cNvSpPr/>
          <p:nvPr/>
        </p:nvSpPr>
        <p:spPr>
          <a:xfrm>
            <a:off x="3213100" y="838200"/>
            <a:ext cx="2730500" cy="63500"/>
          </a:xfrm>
          <a:prstGeom prst="roundRect">
            <a:avLst>
              <a:gd name="adj" fmla="val 50000"/>
            </a:avLst>
          </a:prstGeom>
          <a:solidFill>
            <a:srgbClr val="07BCD6"/>
          </a:solidFill>
          <a:ln>
            <a:noFill/>
          </a:ln>
        </p:spPr>
        <p:txBody>
          <a:bodyPr/>
          <a:lstStyle/>
          <a:p>
            <a:endParaRPr lang="en-US"/>
          </a:p>
        </p:txBody>
      </p:sp>
      <p:sp>
        <p:nvSpPr>
          <p:cNvPr id="112" name="ST1"/>
          <p:cNvSpPr/>
          <p:nvPr/>
        </p:nvSpPr>
        <p:spPr>
          <a:xfrm>
            <a:off x="3365500" y="990600"/>
            <a:ext cx="2425700" cy="279400"/>
          </a:xfrm>
          <a:prstGeom prst="rect">
            <a:avLst/>
          </a:prstGeom>
          <a:noFill/>
          <a:ln>
            <a:noFill/>
          </a:ln>
        </p:spPr>
        <p:txBody>
          <a:bodyPr wrap="square" lIns="0" tIns="0" rIns="0" bIns="0" anchor="t"/>
          <a:lstStyle/>
          <a:p>
            <a:pPr>
              <a:buNone/>
            </a:pPr>
            <a:r>
              <a:rPr lang="en-US" sz="900" b="1" spc="150" dirty="0">
                <a:solidFill>
                  <a:srgbClr val="07BCD6"/>
                </a:solidFill>
                <a:latin typeface="Calibri"/>
              </a:rPr>
              <a:t>DX ENGINE POC</a:t>
            </a:r>
          </a:p>
          <a:p>
            <a:pPr>
              <a:buNone/>
            </a:pPr>
            <a:r>
              <a:rPr lang="en-US" sz="750" i="1" dirty="0">
                <a:solidFill>
                  <a:srgbClr val="07BCD6"/>
                </a:solidFill>
                <a:latin typeface="Calibri"/>
              </a:rPr>
              <a:t>in scope</a:t>
            </a:r>
          </a:p>
        </p:txBody>
      </p:sp>
      <p:sp>
        <p:nvSpPr>
          <p:cNvPr id="113" name="SD1"/>
          <p:cNvSpPr/>
          <p:nvPr/>
        </p:nvSpPr>
        <p:spPr>
          <a:xfrm>
            <a:off x="3365500" y="1320800"/>
            <a:ext cx="2425700" cy="12700"/>
          </a:xfrm>
          <a:prstGeom prst="rect">
            <a:avLst/>
          </a:prstGeom>
          <a:solidFill>
            <a:srgbClr val="E5E7EB"/>
          </a:solidFill>
          <a:ln>
            <a:noFill/>
          </a:ln>
        </p:spPr>
        <p:txBody>
          <a:bodyPr/>
          <a:lstStyle/>
          <a:p>
            <a:endParaRPr lang="en-US"/>
          </a:p>
        </p:txBody>
      </p:sp>
      <p:sp>
        <p:nvSpPr>
          <p:cNvPr id="114" name="SB1"/>
          <p:cNvSpPr/>
          <p:nvPr/>
        </p:nvSpPr>
        <p:spPr>
          <a:xfrm>
            <a:off x="3365500" y="1397000"/>
            <a:ext cx="2425700" cy="2921000"/>
          </a:xfrm>
          <a:prstGeom prst="rect">
            <a:avLst/>
          </a:prstGeom>
          <a:noFill/>
          <a:ln>
            <a:noFill/>
          </a:ln>
        </p:spPr>
        <p:txBody>
          <a:bodyPr wrap="square" lIns="0" tIns="0" rIns="0" bIns="0" anchor="t"/>
          <a:lstStyle/>
          <a:p>
            <a:pPr marL="171450" indent="-171450">
              <a:lnSpc>
                <a:spcPts val="1200"/>
              </a:lnSpc>
              <a:spcBef>
                <a:spcPts val="180"/>
              </a:spcBef>
              <a:buFont typeface="Arial"/>
              <a:buChar char="·"/>
            </a:pPr>
            <a:r>
              <a:rPr lang="en-US" sz="820" dirty="0">
                <a:solidFill>
                  <a:srgbClr val="374151"/>
                </a:solidFill>
                <a:latin typeface="Calibri"/>
              </a:rPr>
              <a:t>Config Validation orchestration flow</a:t>
            </a:r>
          </a:p>
          <a:p>
            <a:pPr marL="171450" indent="-171450">
              <a:lnSpc>
                <a:spcPts val="1200"/>
              </a:lnSpc>
              <a:spcBef>
                <a:spcPts val="180"/>
              </a:spcBef>
              <a:buFont typeface="Arial"/>
              <a:buChar char="·"/>
            </a:pPr>
            <a:r>
              <a:rPr lang="en-US" sz="820" dirty="0">
                <a:solidFill>
                  <a:srgbClr val="374151"/>
                </a:solidFill>
                <a:latin typeface="Calibri"/>
              </a:rPr>
              <a:t>Visual Configurator wizard step options flow</a:t>
            </a:r>
          </a:p>
          <a:p>
            <a:pPr marL="171450" indent="-171450">
              <a:lnSpc>
                <a:spcPts val="1200"/>
              </a:lnSpc>
              <a:spcBef>
                <a:spcPts val="180"/>
              </a:spcBef>
              <a:buFont typeface="Arial"/>
              <a:buChar char="·"/>
            </a:pPr>
            <a:r>
              <a:rPr lang="en-US" sz="820" dirty="0">
                <a:solidFill>
                  <a:srgbClr val="374151"/>
                </a:solidFill>
                <a:latin typeface="Calibri"/>
              </a:rPr>
              <a:t>Config ID Creation flow (with API write-back to DX Graph)</a:t>
            </a:r>
          </a:p>
          <a:p>
            <a:pPr marL="171450" indent="-171450">
              <a:lnSpc>
                <a:spcPts val="1200"/>
              </a:lnSpc>
              <a:spcBef>
                <a:spcPts val="180"/>
              </a:spcBef>
              <a:buFont typeface="Arial"/>
              <a:buChar char="·"/>
            </a:pPr>
            <a:r>
              <a:rPr lang="en-US" sz="820" dirty="0">
                <a:solidFill>
                  <a:srgbClr val="374151"/>
                </a:solidFill>
                <a:latin typeface="Calibri"/>
              </a:rPr>
              <a:t>Config ID → BOM Explosion flow (POS / OMS / warehouse output shapes)</a:t>
            </a:r>
          </a:p>
          <a:p>
            <a:pPr marL="171450" indent="-171450">
              <a:lnSpc>
                <a:spcPts val="1200"/>
              </a:lnSpc>
              <a:spcBef>
                <a:spcPts val="180"/>
              </a:spcBef>
              <a:buFont typeface="Arial"/>
              <a:buChar char="·"/>
            </a:pPr>
            <a:r>
              <a:rPr lang="en-US" sz="820" dirty="0">
                <a:solidFill>
                  <a:srgbClr val="374151"/>
                </a:solidFill>
                <a:latin typeface="Calibri"/>
              </a:rPr>
              <a:t>Experience Rules for series, Outdoor restrictions, and channel-specific constraints</a:t>
            </a:r>
          </a:p>
        </p:txBody>
      </p:sp>
      <p:sp>
        <p:nvSpPr>
          <p:cNvPr id="120" name="SC2"/>
          <p:cNvSpPr/>
          <p:nvPr/>
        </p:nvSpPr>
        <p:spPr>
          <a:xfrm>
            <a:off x="6096000" y="838200"/>
            <a:ext cx="2730500" cy="3810000"/>
          </a:xfrm>
          <a:prstGeom prst="roundRect">
            <a:avLst>
              <a:gd name="adj" fmla="val 3000"/>
            </a:avLst>
          </a:prstGeom>
          <a:solidFill>
            <a:srgbClr val="F9FAFB"/>
          </a:solidFill>
          <a:ln w="9525">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21" name="SA2"/>
          <p:cNvSpPr/>
          <p:nvPr/>
        </p:nvSpPr>
        <p:spPr>
          <a:xfrm>
            <a:off x="6096000" y="838200"/>
            <a:ext cx="2730500" cy="63500"/>
          </a:xfrm>
          <a:prstGeom prst="roundRect">
            <a:avLst>
              <a:gd name="adj" fmla="val 50000"/>
            </a:avLst>
          </a:prstGeom>
          <a:solidFill>
            <a:srgbClr val="9CA3AF"/>
          </a:solidFill>
          <a:ln>
            <a:noFill/>
          </a:ln>
        </p:spPr>
        <p:txBody>
          <a:bodyPr/>
          <a:lstStyle/>
          <a:p>
            <a:endParaRPr lang="en-US"/>
          </a:p>
        </p:txBody>
      </p:sp>
      <p:sp>
        <p:nvSpPr>
          <p:cNvPr id="122" name="ST2"/>
          <p:cNvSpPr/>
          <p:nvPr/>
        </p:nvSpPr>
        <p:spPr>
          <a:xfrm>
            <a:off x="6248400" y="990600"/>
            <a:ext cx="2425700" cy="279400"/>
          </a:xfrm>
          <a:prstGeom prst="rect">
            <a:avLst/>
          </a:prstGeom>
          <a:noFill/>
          <a:ln>
            <a:noFill/>
          </a:ln>
        </p:spPr>
        <p:txBody>
          <a:bodyPr wrap="square" lIns="0" tIns="0" rIns="0" bIns="0" anchor="t"/>
          <a:lstStyle/>
          <a:p>
            <a:pPr>
              <a:buNone/>
            </a:pPr>
            <a:r>
              <a:rPr lang="en-US" sz="900" b="1" spc="150" dirty="0">
                <a:solidFill>
                  <a:srgbClr val="6B7280"/>
                </a:solidFill>
                <a:latin typeface="Calibri"/>
              </a:rPr>
              <a:t>OUT OF SCOPE — PHASE 1</a:t>
            </a:r>
          </a:p>
          <a:p>
            <a:pPr>
              <a:buNone/>
            </a:pPr>
            <a:r>
              <a:rPr lang="en-US" sz="750" i="1" dirty="0">
                <a:solidFill>
                  <a:srgbClr val="9CA3AF"/>
                </a:solidFill>
                <a:latin typeface="Calibri"/>
              </a:rPr>
              <a:t>not in Phase 1</a:t>
            </a:r>
          </a:p>
        </p:txBody>
      </p:sp>
      <p:sp>
        <p:nvSpPr>
          <p:cNvPr id="123" name="SD2"/>
          <p:cNvSpPr/>
          <p:nvPr/>
        </p:nvSpPr>
        <p:spPr>
          <a:xfrm>
            <a:off x="6248400" y="1320800"/>
            <a:ext cx="2425700" cy="12700"/>
          </a:xfrm>
          <a:prstGeom prst="rect">
            <a:avLst/>
          </a:prstGeom>
          <a:solidFill>
            <a:srgbClr val="E5E7EB"/>
          </a:solidFill>
          <a:ln>
            <a:noFill/>
          </a:ln>
        </p:spPr>
        <p:txBody>
          <a:bodyPr/>
          <a:lstStyle/>
          <a:p>
            <a:endParaRPr lang="en-US"/>
          </a:p>
        </p:txBody>
      </p:sp>
      <p:sp>
        <p:nvSpPr>
          <p:cNvPr id="124" name="SB2"/>
          <p:cNvSpPr/>
          <p:nvPr/>
        </p:nvSpPr>
        <p:spPr>
          <a:xfrm>
            <a:off x="6248400" y="1397000"/>
            <a:ext cx="2425700" cy="2921000"/>
          </a:xfrm>
          <a:prstGeom prst="rect">
            <a:avLst/>
          </a:prstGeom>
          <a:noFill/>
          <a:ln>
            <a:noFill/>
          </a:ln>
        </p:spPr>
        <p:txBody>
          <a:bodyPr wrap="square" lIns="0" tIns="0" rIns="0" bIns="0" anchor="t"/>
          <a:lstStyle/>
          <a:p>
            <a:pPr marL="171450" indent="-171450">
              <a:lnSpc>
                <a:spcPts val="1200"/>
              </a:lnSpc>
              <a:spcBef>
                <a:spcPts val="180"/>
              </a:spcBef>
              <a:buFont typeface="Arial"/>
              <a:buChar char="·"/>
            </a:pPr>
            <a:r>
              <a:rPr lang="en-US" sz="820" dirty="0">
                <a:solidFill>
                  <a:srgbClr val="6B7280"/>
                </a:solidFill>
                <a:latin typeface="Calibri"/>
              </a:rPr>
              <a:t>Lovesac.com frontend integration (handled by Lovesac team)</a:t>
            </a:r>
          </a:p>
          <a:p>
            <a:pPr marL="171450" indent="-171450">
              <a:lnSpc>
                <a:spcPts val="1200"/>
              </a:lnSpc>
              <a:spcBef>
                <a:spcPts val="180"/>
              </a:spcBef>
              <a:buFont typeface="Arial"/>
              <a:buChar char="·"/>
            </a:pPr>
            <a:r>
              <a:rPr lang="en-US" sz="820" dirty="0">
                <a:solidFill>
                  <a:srgbClr val="6B7280"/>
                </a:solidFill>
                <a:latin typeface="Calibri"/>
              </a:rPr>
              <a:t>Real-time inventory availability (depends on Q4 — Quickship resolution)</a:t>
            </a:r>
          </a:p>
          <a:p>
            <a:pPr marL="171450" indent="-171450">
              <a:lnSpc>
                <a:spcPts val="1200"/>
              </a:lnSpc>
              <a:spcBef>
                <a:spcPts val="180"/>
              </a:spcBef>
              <a:buFont typeface="Arial"/>
              <a:buChar char="·"/>
            </a:pPr>
            <a:r>
              <a:rPr lang="en-US" sz="820" dirty="0">
                <a:solidFill>
                  <a:srgbClr val="6B7280"/>
                </a:solidFill>
                <a:latin typeface="Calibri"/>
              </a:rPr>
              <a:t>Production deployment to AgentForce / ChatGPT / Google Shopping (POC only)</a:t>
            </a:r>
          </a:p>
          <a:p>
            <a:pPr marL="171450" indent="-171450">
              <a:lnSpc>
                <a:spcPts val="1200"/>
              </a:lnSpc>
              <a:spcBef>
                <a:spcPts val="180"/>
              </a:spcBef>
              <a:buFont typeface="Arial"/>
              <a:buChar char="·"/>
            </a:pPr>
            <a:r>
              <a:rPr lang="en-US" sz="820" dirty="0">
                <a:solidFill>
                  <a:srgbClr val="6B7280"/>
                </a:solidFill>
                <a:latin typeface="Calibri"/>
              </a:rPr>
              <a:t>Pricing engine integration (NetSuite continues as pricing master)</a:t>
            </a:r>
          </a:p>
          <a:p>
            <a:pPr marL="171450" indent="-171450">
              <a:lnSpc>
                <a:spcPts val="1200"/>
              </a:lnSpc>
              <a:spcBef>
                <a:spcPts val="180"/>
              </a:spcBef>
              <a:buFont typeface="Arial"/>
              <a:buChar char="·"/>
            </a:pPr>
            <a:r>
              <a:rPr lang="en-US" sz="820" dirty="0">
                <a:solidFill>
                  <a:srgbClr val="6B7280"/>
                </a:solidFill>
                <a:latin typeface="Calibri"/>
              </a:rPr>
              <a:t>Manhattan Active Omni / OMS integration (downstream of BOM explosion)</a:t>
            </a:r>
          </a:p>
          <a:p>
            <a:pPr marL="171450" indent="-171450">
              <a:lnSpc>
                <a:spcPts val="1200"/>
              </a:lnSpc>
              <a:spcBef>
                <a:spcPts val="180"/>
              </a:spcBef>
              <a:buFont typeface="Arial"/>
              <a:buChar char="·"/>
            </a:pPr>
            <a:r>
              <a:rPr lang="en-US" sz="820" dirty="0">
                <a:solidFill>
                  <a:srgbClr val="6B7280"/>
                </a:solidFill>
                <a:latin typeface="Calibri"/>
              </a:rPr>
              <a:t>PLM integration (TBD — depends on Q2)</a:t>
            </a:r>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500" name="ScopeBadge500"/>
          <p:cNvSpPr/>
          <p:nvPr/>
        </p:nvSpPr>
        <p:spPr>
          <a:xfrm>
            <a:off x="482600" y="4368800"/>
            <a:ext cx="2425700" cy="203200"/>
          </a:xfrm>
          <a:prstGeom prst="roundRect">
            <a:avLst>
              <a:gd name="adj" fmla="val 50000"/>
            </a:avLst>
          </a:prstGeom>
          <a:solidFill>
            <a:srgbClr val="EB1A63"/>
          </a:solidFill>
          <a:ln>
            <a:noFill/>
          </a:ln>
        </p:spPr>
        <p:txBody>
          <a:bodyPr wrap="square" lIns="0" tIns="0" rIns="0" bIns="0" anchor="ctr"/>
          <a:lstStyle/>
          <a:p>
            <a:pPr algn="ctr">
              <a:buNone/>
            </a:pPr>
            <a:r>
              <a:rPr lang="en-US" sz="700" b="1" spc="100" dirty="0">
                <a:solidFill>
                  <a:srgbClr val="FFFFFF"/>
                </a:solidFill>
                <a:latin typeface="Calibri"/>
              </a:rPr>
              <a:t>✓  IN SCOPE</a:t>
            </a:r>
          </a:p>
        </p:txBody>
      </p:sp>
      <p:sp>
        <p:nvSpPr>
          <p:cNvPr id="501" name="ScopeBadge501"/>
          <p:cNvSpPr/>
          <p:nvPr/>
        </p:nvSpPr>
        <p:spPr>
          <a:xfrm>
            <a:off x="3365500" y="4368800"/>
            <a:ext cx="2425700" cy="203200"/>
          </a:xfrm>
          <a:prstGeom prst="roundRect">
            <a:avLst>
              <a:gd name="adj" fmla="val 50000"/>
            </a:avLst>
          </a:prstGeom>
          <a:solidFill>
            <a:srgbClr val="07BCD6"/>
          </a:solidFill>
          <a:ln>
            <a:noFill/>
          </a:ln>
        </p:spPr>
        <p:txBody>
          <a:bodyPr wrap="square" lIns="0" tIns="0" rIns="0" bIns="0" anchor="ctr"/>
          <a:lstStyle/>
          <a:p>
            <a:pPr algn="ctr">
              <a:buNone/>
            </a:pPr>
            <a:r>
              <a:rPr lang="en-US" sz="700" b="1" spc="100" dirty="0">
                <a:solidFill>
                  <a:srgbClr val="FFFFFF"/>
                </a:solidFill>
                <a:latin typeface="Calibri"/>
              </a:rPr>
              <a:t>✓  IN SCOPE</a:t>
            </a:r>
          </a:p>
        </p:txBody>
      </p:sp>
      <p:sp>
        <p:nvSpPr>
          <p:cNvPr id="502" name="ScopeBadge502"/>
          <p:cNvSpPr/>
          <p:nvPr/>
        </p:nvSpPr>
        <p:spPr>
          <a:xfrm>
            <a:off x="6248400" y="4368800"/>
            <a:ext cx="2425700" cy="203200"/>
          </a:xfrm>
          <a:prstGeom prst="roundRect">
            <a:avLst>
              <a:gd name="adj" fmla="val 50000"/>
            </a:avLst>
          </a:prstGeom>
          <a:solidFill>
            <a:srgbClr val="6B7280"/>
          </a:solidFill>
          <a:ln>
            <a:noFill/>
          </a:ln>
        </p:spPr>
        <p:txBody>
          <a:bodyPr wrap="square" lIns="0" tIns="0" rIns="0" bIns="0" anchor="ctr"/>
          <a:lstStyle/>
          <a:p>
            <a:pPr algn="ctr">
              <a:buNone/>
            </a:pPr>
            <a:r>
              <a:rPr lang="en-US" sz="700" b="1" spc="100" dirty="0">
                <a:solidFill>
                  <a:srgbClr val="FFFFFF"/>
                </a:solidFill>
                <a:latin typeface="Calibri"/>
              </a:rPr>
              <a:t>✕  OUT OF SCOPE</a:t>
            </a:r>
          </a:p>
        </p:txBody>
      </p:sp>
    </p:spTree>
    <p:extLst>
      <p:ext uri="{BB962C8B-B14F-4D97-AF65-F5344CB8AC3E}">
        <p14:creationId xmlns:p14="http://schemas.microsoft.com/office/powerpoint/2010/main" val="14663926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7772400" cy="457200"/>
          </a:xfrm>
          <a:prstGeom prst="rect">
            <a:avLst/>
          </a:prstGeom>
          <a:noFill/>
          <a:ln>
            <a:noFill/>
          </a:ln>
        </p:spPr>
        <p:txBody>
          <a:bodyPr wrap="square" lIns="0" tIns="0" rIns="0" bIns="0" anchor="ctr"/>
          <a:lstStyle/>
          <a:p>
            <a:pPr>
              <a:lnSpc>
                <a:spcPts val="1200"/>
              </a:lnSpc>
              <a:buNone/>
            </a:pPr>
            <a:r>
              <a:rPr lang="en-US" sz="1800" b="1" dirty="0">
                <a:solidFill>
                  <a:srgbClr val="111827"/>
                </a:solidFill>
                <a:latin typeface="Calibri"/>
              </a:rPr>
              <a:t>Collections, Hierarchies, Taxonomies</a:t>
            </a:r>
          </a:p>
        </p:txBody>
      </p:sp>
      <p:sp>
        <p:nvSpPr>
          <p:cNvPr id="4" name="Subtitle"/>
          <p:cNvSpPr/>
          <p:nvPr/>
        </p:nvSpPr>
        <p:spPr>
          <a:xfrm>
            <a:off x="381000" y="533400"/>
            <a:ext cx="7772400" cy="228600"/>
          </a:xfrm>
          <a:prstGeom prst="rect">
            <a:avLst/>
          </a:prstGeom>
          <a:noFill/>
          <a:ln>
            <a:noFill/>
          </a:ln>
        </p:spPr>
        <p:txBody>
          <a:bodyPr wrap="square" lIns="0" tIns="0" rIns="0" bIns="0" anchor="ctr"/>
          <a:lstStyle/>
          <a:p>
            <a:pPr>
              <a:lnSpc>
                <a:spcPts val="1100"/>
              </a:lnSpc>
              <a:buNone/>
            </a:pPr>
            <a:r>
              <a:rPr lang="en-US" sz="1000" dirty="0">
                <a:solidFill>
                  <a:srgbClr val="6B7280"/>
                </a:solidFill>
                <a:latin typeface="Calibri"/>
              </a:rPr>
              <a:t>How DX Graph models Lovesac’s configurable catalogue</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3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3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cxnSp>
        <p:nvCxnSpPr>
          <p:cNvPr id="342" name="LineRel"/>
          <p:cNvCxnSpPr/>
          <p:nvPr/>
        </p:nvCxnSpPr>
        <p:spPr>
          <a:xfrm flipH="1" flipV="1">
            <a:off x="4241800" y="2400300"/>
            <a:ext cx="177800" cy="101600"/>
          </a:xfrm>
          <a:prstGeom prst="line">
            <a:avLst/>
          </a:prstGeom>
          <a:ln w="9525" cap="flat">
            <a:solidFill>
              <a:srgbClr val="C2185B"/>
            </a:solidFill>
            <a:prstDash val="dash"/>
          </a:ln>
        </p:spPr>
      </p:cxnSp>
      <p:sp>
        <p:nvSpPr>
          <p:cNvPr id="600" name="ColDiv"/>
          <p:cNvSpPr>
            <a:spLocks noGrp="1"/>
          </p:cNvSpPr>
          <p:nvPr/>
        </p:nvSpPr>
        <p:spPr>
          <a:xfrm>
            <a:off x="5524500" y="889000"/>
            <a:ext cx="12700" cy="3886200"/>
          </a:xfrm>
          <a:prstGeom prst="rect">
            <a:avLst/>
          </a:prstGeom>
          <a:solidFill>
            <a:srgbClr val="E5E7EB"/>
          </a:solidFill>
          <a:ln>
            <a:noFill/>
          </a:ln>
        </p:spPr>
        <p:txBody>
          <a:bodyPr/>
          <a:lstStyle/>
          <a:p>
            <a:endParaRPr lang="en-GB"/>
          </a:p>
        </p:txBody>
      </p:sp>
      <p:sp>
        <p:nvSpPr>
          <p:cNvPr id="200" name="CollBG"/>
          <p:cNvSpPr>
            <a:spLocks noGrp="1"/>
          </p:cNvSpPr>
          <p:nvPr/>
        </p:nvSpPr>
        <p:spPr>
          <a:xfrm>
            <a:off x="1143000" y="1079500"/>
            <a:ext cx="2667000" cy="2438400"/>
          </a:xfrm>
          <a:prstGeom prst="roundRect">
            <a:avLst>
              <a:gd name="adj" fmla="val 1500"/>
            </a:avLst>
          </a:prstGeom>
          <a:solidFill>
            <a:srgbClr val="FDF2F8"/>
          </a:solidFill>
          <a:ln w="19050">
            <a:solidFill>
              <a:srgbClr val="EB1A63"/>
            </a:solidFill>
          </a:ln>
        </p:spPr>
        <p:txBody>
          <a:bodyPr/>
          <a:lstStyle/>
          <a:p>
            <a:endParaRPr lang="en-GB"/>
          </a:p>
        </p:txBody>
      </p:sp>
      <p:sp>
        <p:nvSpPr>
          <p:cNvPr id="201" name="CollHdr"/>
          <p:cNvSpPr>
            <a:spLocks noGrp="1"/>
          </p:cNvSpPr>
          <p:nvPr/>
        </p:nvSpPr>
        <p:spPr>
          <a:xfrm>
            <a:off x="1143000" y="1079500"/>
            <a:ext cx="2667000" cy="254000"/>
          </a:xfrm>
          <a:prstGeom prst="roundRect">
            <a:avLst>
              <a:gd name="adj" fmla="val 1500"/>
            </a:avLst>
          </a:prstGeom>
          <a:solidFill>
            <a:srgbClr val="EB1A63"/>
          </a:solidFill>
          <a:ln>
            <a:noFill/>
          </a:ln>
        </p:spPr>
        <p:txBody>
          <a:bodyPr wrap="square" lIns="88900" tIns="0" rIns="50800" bIns="0" anchor="ctr"/>
          <a:lstStyle/>
          <a:p>
            <a:pPr>
              <a:lnSpc>
                <a:spcPts val="1100"/>
              </a:lnSpc>
              <a:buNone/>
            </a:pPr>
            <a:r>
              <a:rPr lang="en-US" sz="825" b="1" dirty="0">
                <a:solidFill>
                  <a:srgbClr val="FFFFFF"/>
                </a:solidFill>
                <a:latin typeface="Calibri"/>
              </a:rPr>
              <a:t>SKU Collection</a:t>
            </a:r>
            <a:r>
              <a:rPr lang="en-US" sz="700" dirty="0">
                <a:solidFill>
                  <a:srgbClr val="FFE4F0"/>
                </a:solidFill>
                <a:latin typeface="Calibri"/>
              </a:rPr>
              <a:t>  ·  28,089 records</a:t>
            </a:r>
          </a:p>
        </p:txBody>
      </p:sp>
      <p:sp>
        <p:nvSpPr>
          <p:cNvPr id="202" name="CollHdrFix"/>
          <p:cNvSpPr>
            <a:spLocks noGrp="1"/>
          </p:cNvSpPr>
          <p:nvPr/>
        </p:nvSpPr>
        <p:spPr>
          <a:xfrm>
            <a:off x="1143000" y="1244600"/>
            <a:ext cx="2667000" cy="101600"/>
          </a:xfrm>
          <a:prstGeom prst="rect">
            <a:avLst/>
          </a:prstGeom>
          <a:solidFill>
            <a:srgbClr val="EB1A63"/>
          </a:solidFill>
          <a:ln>
            <a:noFill/>
          </a:ln>
        </p:spPr>
        <p:txBody>
          <a:bodyPr/>
          <a:lstStyle/>
          <a:p>
            <a:endParaRPr lang="en-GB"/>
          </a:p>
        </p:txBody>
      </p:sp>
      <p:sp>
        <p:nvSpPr>
          <p:cNvPr id="203" name="CollFlds"/>
          <p:cNvSpPr>
            <a:spLocks noGrp="1"/>
          </p:cNvSpPr>
          <p:nvPr/>
        </p:nvSpPr>
        <p:spPr>
          <a:xfrm>
            <a:off x="1168400" y="1333500"/>
            <a:ext cx="2616200" cy="152400"/>
          </a:xfrm>
          <a:prstGeom prst="rect">
            <a:avLst/>
          </a:prstGeom>
          <a:solidFill>
            <a:srgbClr val="FFEDF5"/>
          </a:solidFill>
          <a:ln>
            <a:noFill/>
          </a:ln>
        </p:spPr>
        <p:txBody>
          <a:bodyPr wrap="square" lIns="63500" tIns="25400" rIns="63500" bIns="25400" anchor="ctr"/>
          <a:lstStyle/>
          <a:p>
            <a:pPr>
              <a:lnSpc>
                <a:spcPts val="1050"/>
              </a:lnSpc>
              <a:buNone/>
            </a:pPr>
            <a:r>
              <a:rPr lang="en-US" sz="570" dirty="0">
                <a:solidFill>
                  <a:srgbClr val="6B7280"/>
                </a:solidFill>
                <a:latin typeface="Calibri"/>
              </a:rPr>
              <a:t>SKU ID  ·  Line  ·  Product  ·  Size  ·  Color</a:t>
            </a:r>
          </a:p>
        </p:txBody>
      </p:sp>
      <p:sp>
        <p:nvSpPr>
          <p:cNvPr id="210" name="TH0"/>
          <p:cNvSpPr>
            <a:spLocks noGrp="1"/>
          </p:cNvSpPr>
          <p:nvPr/>
        </p:nvSpPr>
        <p:spPr>
          <a:xfrm>
            <a:off x="1168400" y="1498600"/>
            <a:ext cx="939800" cy="139700"/>
          </a:xfrm>
          <a:prstGeom prst="rect">
            <a:avLst/>
          </a:prstGeom>
          <a:solidFill>
            <a:srgbClr val="F3F4F6"/>
          </a:solidFill>
          <a:ln w="5080">
            <a:solidFill>
              <a:srgbClr val="D1D5DB"/>
            </a:solidFill>
          </a:ln>
        </p:spPr>
        <p:txBody>
          <a:bodyPr wrap="square" lIns="12700" tIns="12700" rIns="12700" bIns="12700" anchor="ctr"/>
          <a:lstStyle/>
          <a:p>
            <a:pPr algn="ctr">
              <a:lnSpc>
                <a:spcPts val="1050"/>
              </a:lnSpc>
              <a:buNone/>
            </a:pPr>
            <a:r>
              <a:rPr lang="en-US" sz="550" b="1" dirty="0">
                <a:solidFill>
                  <a:srgbClr val="374151"/>
                </a:solidFill>
                <a:latin typeface="Calibri"/>
              </a:rPr>
              <a:t>SKU ID</a:t>
            </a:r>
          </a:p>
        </p:txBody>
      </p:sp>
      <p:sp>
        <p:nvSpPr>
          <p:cNvPr id="211" name="TH1"/>
          <p:cNvSpPr>
            <a:spLocks noGrp="1"/>
          </p:cNvSpPr>
          <p:nvPr/>
        </p:nvSpPr>
        <p:spPr>
          <a:xfrm>
            <a:off x="2108200" y="1498600"/>
            <a:ext cx="330200" cy="139700"/>
          </a:xfrm>
          <a:prstGeom prst="rect">
            <a:avLst/>
          </a:prstGeom>
          <a:solidFill>
            <a:srgbClr val="F3F4F6"/>
          </a:solidFill>
          <a:ln w="5080">
            <a:solidFill>
              <a:srgbClr val="D1D5DB"/>
            </a:solidFill>
          </a:ln>
        </p:spPr>
        <p:txBody>
          <a:bodyPr wrap="square" lIns="12700" tIns="12700" rIns="12700" bIns="12700" anchor="ctr"/>
          <a:lstStyle/>
          <a:p>
            <a:pPr algn="ctr">
              <a:lnSpc>
                <a:spcPts val="1050"/>
              </a:lnSpc>
              <a:buNone/>
            </a:pPr>
            <a:r>
              <a:rPr lang="en-US" sz="550" b="1" dirty="0">
                <a:solidFill>
                  <a:srgbClr val="374151"/>
                </a:solidFill>
                <a:latin typeface="Calibri"/>
              </a:rPr>
              <a:t>Line</a:t>
            </a:r>
          </a:p>
        </p:txBody>
      </p:sp>
      <p:sp>
        <p:nvSpPr>
          <p:cNvPr id="212" name="TH2"/>
          <p:cNvSpPr>
            <a:spLocks noGrp="1"/>
          </p:cNvSpPr>
          <p:nvPr/>
        </p:nvSpPr>
        <p:spPr>
          <a:xfrm>
            <a:off x="2438400" y="1498600"/>
            <a:ext cx="558800" cy="139700"/>
          </a:xfrm>
          <a:prstGeom prst="rect">
            <a:avLst/>
          </a:prstGeom>
          <a:solidFill>
            <a:srgbClr val="F3F4F6"/>
          </a:solidFill>
          <a:ln w="5080">
            <a:solidFill>
              <a:srgbClr val="D1D5DB"/>
            </a:solidFill>
          </a:ln>
        </p:spPr>
        <p:txBody>
          <a:bodyPr wrap="square" lIns="12700" tIns="12700" rIns="12700" bIns="12700" anchor="ctr"/>
          <a:lstStyle/>
          <a:p>
            <a:pPr algn="ctr">
              <a:lnSpc>
                <a:spcPts val="1050"/>
              </a:lnSpc>
              <a:buNone/>
            </a:pPr>
            <a:r>
              <a:rPr lang="en-US" sz="550" b="1" dirty="0">
                <a:solidFill>
                  <a:srgbClr val="374151"/>
                </a:solidFill>
                <a:latin typeface="Calibri"/>
              </a:rPr>
              <a:t>Product</a:t>
            </a:r>
          </a:p>
        </p:txBody>
      </p:sp>
      <p:sp>
        <p:nvSpPr>
          <p:cNvPr id="213" name="TH3"/>
          <p:cNvSpPr>
            <a:spLocks noGrp="1"/>
          </p:cNvSpPr>
          <p:nvPr/>
        </p:nvSpPr>
        <p:spPr>
          <a:xfrm>
            <a:off x="2997200" y="1498600"/>
            <a:ext cx="787400" cy="139700"/>
          </a:xfrm>
          <a:prstGeom prst="rect">
            <a:avLst/>
          </a:prstGeom>
          <a:solidFill>
            <a:srgbClr val="F3F4F6"/>
          </a:solidFill>
          <a:ln w="5080">
            <a:solidFill>
              <a:srgbClr val="D1D5DB"/>
            </a:solidFill>
          </a:ln>
        </p:spPr>
        <p:txBody>
          <a:bodyPr wrap="square" lIns="12700" tIns="12700" rIns="12700" bIns="12700" anchor="ctr"/>
          <a:lstStyle/>
          <a:p>
            <a:pPr algn="ctr">
              <a:lnSpc>
                <a:spcPts val="1050"/>
              </a:lnSpc>
              <a:buNone/>
            </a:pPr>
            <a:r>
              <a:rPr lang="en-US" sz="550" b="1" dirty="0">
                <a:solidFill>
                  <a:srgbClr val="374151"/>
                </a:solidFill>
                <a:latin typeface="Calibri"/>
              </a:rPr>
              <a:t>Color / Fabric</a:t>
            </a:r>
          </a:p>
        </p:txBody>
      </p:sp>
      <p:sp>
        <p:nvSpPr>
          <p:cNvPr id="220" name="TD0C0"/>
          <p:cNvSpPr>
            <a:spLocks noGrp="1"/>
          </p:cNvSpPr>
          <p:nvPr/>
        </p:nvSpPr>
        <p:spPr>
          <a:xfrm>
            <a:off x="1168400" y="1638300"/>
            <a:ext cx="9398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b="1" dirty="0">
                <a:solidFill>
                  <a:srgbClr val="EB1A63"/>
                </a:solidFill>
                <a:latin typeface="Calibri"/>
              </a:rPr>
              <a:t>SAC-5S-COV</a:t>
            </a:r>
          </a:p>
        </p:txBody>
      </p:sp>
      <p:sp>
        <p:nvSpPr>
          <p:cNvPr id="221" name="TD0C1"/>
          <p:cNvSpPr>
            <a:spLocks noGrp="1"/>
          </p:cNvSpPr>
          <p:nvPr/>
        </p:nvSpPr>
        <p:spPr>
          <a:xfrm>
            <a:off x="2108200" y="1638300"/>
            <a:ext cx="3302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Cover</a:t>
            </a:r>
          </a:p>
        </p:txBody>
      </p:sp>
      <p:sp>
        <p:nvSpPr>
          <p:cNvPr id="222" name="TD0C2"/>
          <p:cNvSpPr>
            <a:spLocks noGrp="1"/>
          </p:cNvSpPr>
          <p:nvPr/>
        </p:nvSpPr>
        <p:spPr>
          <a:xfrm>
            <a:off x="2438400" y="1638300"/>
            <a:ext cx="5588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Seat</a:t>
            </a:r>
          </a:p>
        </p:txBody>
      </p:sp>
      <p:sp>
        <p:nvSpPr>
          <p:cNvPr id="223" name="TD0C3"/>
          <p:cNvSpPr>
            <a:spLocks noGrp="1"/>
          </p:cNvSpPr>
          <p:nvPr/>
        </p:nvSpPr>
        <p:spPr>
          <a:xfrm>
            <a:off x="2997200" y="1638300"/>
            <a:ext cx="7874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Charcoal Chenille</a:t>
            </a:r>
          </a:p>
        </p:txBody>
      </p:sp>
      <p:sp>
        <p:nvSpPr>
          <p:cNvPr id="224" name="TD1C0"/>
          <p:cNvSpPr>
            <a:spLocks noGrp="1"/>
          </p:cNvSpPr>
          <p:nvPr/>
        </p:nvSpPr>
        <p:spPr>
          <a:xfrm>
            <a:off x="1168400" y="1790700"/>
            <a:ext cx="9398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b="1" dirty="0">
                <a:solidFill>
                  <a:srgbClr val="EB1A63"/>
                </a:solidFill>
                <a:latin typeface="Calibri"/>
              </a:rPr>
              <a:t>SAC-5S-INS</a:t>
            </a:r>
          </a:p>
        </p:txBody>
      </p:sp>
      <p:sp>
        <p:nvSpPr>
          <p:cNvPr id="225" name="TD1C1"/>
          <p:cNvSpPr>
            <a:spLocks noGrp="1"/>
          </p:cNvSpPr>
          <p:nvPr/>
        </p:nvSpPr>
        <p:spPr>
          <a:xfrm>
            <a:off x="2108200" y="1790700"/>
            <a:ext cx="3302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Insert</a:t>
            </a:r>
          </a:p>
        </p:txBody>
      </p:sp>
      <p:sp>
        <p:nvSpPr>
          <p:cNvPr id="226" name="TD1C2"/>
          <p:cNvSpPr>
            <a:spLocks noGrp="1"/>
          </p:cNvSpPr>
          <p:nvPr/>
        </p:nvSpPr>
        <p:spPr>
          <a:xfrm>
            <a:off x="2438400" y="1790700"/>
            <a:ext cx="5588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Seat</a:t>
            </a:r>
          </a:p>
        </p:txBody>
      </p:sp>
      <p:sp>
        <p:nvSpPr>
          <p:cNvPr id="227" name="TD1C3"/>
          <p:cNvSpPr>
            <a:spLocks noGrp="1"/>
          </p:cNvSpPr>
          <p:nvPr/>
        </p:nvSpPr>
        <p:spPr>
          <a:xfrm>
            <a:off x="2997200" y="1790700"/>
            <a:ext cx="7874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Standard Fill</a:t>
            </a:r>
          </a:p>
        </p:txBody>
      </p:sp>
      <p:sp>
        <p:nvSpPr>
          <p:cNvPr id="228" name="TD2C0"/>
          <p:cNvSpPr>
            <a:spLocks noGrp="1"/>
          </p:cNvSpPr>
          <p:nvPr/>
        </p:nvSpPr>
        <p:spPr>
          <a:xfrm>
            <a:off x="1168400" y="1943100"/>
            <a:ext cx="9398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b="1" dirty="0">
                <a:solidFill>
                  <a:srgbClr val="EB1A63"/>
                </a:solidFill>
                <a:latin typeface="Calibri"/>
              </a:rPr>
              <a:t>SAC-6S-COV</a:t>
            </a:r>
          </a:p>
        </p:txBody>
      </p:sp>
      <p:sp>
        <p:nvSpPr>
          <p:cNvPr id="229" name="TD2C1"/>
          <p:cNvSpPr>
            <a:spLocks noGrp="1"/>
          </p:cNvSpPr>
          <p:nvPr/>
        </p:nvSpPr>
        <p:spPr>
          <a:xfrm>
            <a:off x="2108200" y="1943100"/>
            <a:ext cx="3302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Cover</a:t>
            </a:r>
          </a:p>
        </p:txBody>
      </p:sp>
      <p:sp>
        <p:nvSpPr>
          <p:cNvPr id="230" name="TD2C2"/>
          <p:cNvSpPr>
            <a:spLocks noGrp="1"/>
          </p:cNvSpPr>
          <p:nvPr/>
        </p:nvSpPr>
        <p:spPr>
          <a:xfrm>
            <a:off x="2438400" y="1943100"/>
            <a:ext cx="5588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Side</a:t>
            </a:r>
          </a:p>
        </p:txBody>
      </p:sp>
      <p:sp>
        <p:nvSpPr>
          <p:cNvPr id="231" name="TD2C3"/>
          <p:cNvSpPr>
            <a:spLocks noGrp="1"/>
          </p:cNvSpPr>
          <p:nvPr/>
        </p:nvSpPr>
        <p:spPr>
          <a:xfrm>
            <a:off x="2997200" y="1943100"/>
            <a:ext cx="7874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Oatmeal Linen</a:t>
            </a:r>
          </a:p>
        </p:txBody>
      </p:sp>
      <p:sp>
        <p:nvSpPr>
          <p:cNvPr id="232" name="TD3C0"/>
          <p:cNvSpPr>
            <a:spLocks noGrp="1"/>
          </p:cNvSpPr>
          <p:nvPr/>
        </p:nvSpPr>
        <p:spPr>
          <a:xfrm>
            <a:off x="1168400" y="2095500"/>
            <a:ext cx="9398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b="1" dirty="0">
                <a:solidFill>
                  <a:srgbClr val="EB1A63"/>
                </a:solidFill>
                <a:latin typeface="Calibri"/>
              </a:rPr>
              <a:t>SAC-FG-3S</a:t>
            </a:r>
          </a:p>
        </p:txBody>
      </p:sp>
      <p:sp>
        <p:nvSpPr>
          <p:cNvPr id="233" name="TD3C1"/>
          <p:cNvSpPr>
            <a:spLocks noGrp="1"/>
          </p:cNvSpPr>
          <p:nvPr/>
        </p:nvSpPr>
        <p:spPr>
          <a:xfrm>
            <a:off x="2108200" y="2095500"/>
            <a:ext cx="3302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Fin.Good</a:t>
            </a:r>
          </a:p>
        </p:txBody>
      </p:sp>
      <p:sp>
        <p:nvSpPr>
          <p:cNvPr id="234" name="TD3C2"/>
          <p:cNvSpPr>
            <a:spLocks noGrp="1"/>
          </p:cNvSpPr>
          <p:nvPr/>
        </p:nvSpPr>
        <p:spPr>
          <a:xfrm>
            <a:off x="2438400" y="2095500"/>
            <a:ext cx="5588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Covered</a:t>
            </a:r>
          </a:p>
        </p:txBody>
      </p:sp>
      <p:sp>
        <p:nvSpPr>
          <p:cNvPr id="235" name="TD3C3"/>
          <p:cNvSpPr>
            <a:spLocks noGrp="1"/>
          </p:cNvSpPr>
          <p:nvPr/>
        </p:nvSpPr>
        <p:spPr>
          <a:xfrm>
            <a:off x="2997200" y="2095500"/>
            <a:ext cx="7874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3-Seat Bundle</a:t>
            </a:r>
          </a:p>
        </p:txBody>
      </p:sp>
      <p:sp>
        <p:nvSpPr>
          <p:cNvPr id="250" name="CollCap"/>
          <p:cNvSpPr>
            <a:spLocks noGrp="1"/>
          </p:cNvSpPr>
          <p:nvPr/>
        </p:nvSpPr>
        <p:spPr>
          <a:xfrm>
            <a:off x="1168400" y="2273300"/>
            <a:ext cx="2616200" cy="228600"/>
          </a:xfrm>
          <a:prstGeom prst="rect">
            <a:avLst/>
          </a:prstGeom>
          <a:solidFill>
            <a:srgbClr val="FDF2F8"/>
          </a:solidFill>
          <a:ln w="6350">
            <a:solidFill>
              <a:srgbClr val="F9A8C9"/>
            </a:solidFill>
          </a:ln>
        </p:spPr>
        <p:txBody>
          <a:bodyPr wrap="square" lIns="50800" tIns="25400" rIns="50800" bIns="25400" anchor="ctr"/>
          <a:lstStyle/>
          <a:p>
            <a:pPr algn="ctr">
              <a:lnSpc>
                <a:spcPts val="1100"/>
              </a:lnSpc>
              <a:buNone/>
            </a:pPr>
            <a:r>
              <a:rPr lang="en-US" sz="590" i="1" dirty="0">
                <a:solidFill>
                  <a:srgbClr val="6B7280"/>
                </a:solidFill>
                <a:latin typeface="Calibri"/>
              </a:rPr>
              <a:t>One Collection  ·  Four relationship types  ·  Three parallel taxonomies</a:t>
            </a:r>
          </a:p>
        </p:txBody>
      </p:sp>
      <p:sp>
        <p:nvSpPr>
          <p:cNvPr id="300" name="HieBG"/>
          <p:cNvSpPr>
            <a:spLocks noGrp="1"/>
          </p:cNvSpPr>
          <p:nvPr/>
        </p:nvSpPr>
        <p:spPr>
          <a:xfrm>
            <a:off x="203200" y="939800"/>
            <a:ext cx="889000" cy="762000"/>
          </a:xfrm>
          <a:prstGeom prst="roundRect">
            <a:avLst>
              <a:gd name="adj" fmla="val 2000"/>
            </a:avLst>
          </a:prstGeom>
          <a:solidFill>
            <a:srgbClr val="F0FDFA"/>
          </a:solidFill>
          <a:ln w="9525">
            <a:solidFill>
              <a:srgbClr val="0D9488"/>
            </a:solidFill>
          </a:ln>
        </p:spPr>
        <p:txBody>
          <a:bodyPr/>
          <a:lstStyle/>
          <a:p>
            <a:endParaRPr lang="en-GB"/>
          </a:p>
        </p:txBody>
      </p:sp>
      <p:sp>
        <p:nvSpPr>
          <p:cNvPr id="301" name="HieLbl"/>
          <p:cNvSpPr>
            <a:spLocks noGrp="1"/>
          </p:cNvSpPr>
          <p:nvPr/>
        </p:nvSpPr>
        <p:spPr>
          <a:xfrm>
            <a:off x="254000" y="990600"/>
            <a:ext cx="787400" cy="152400"/>
          </a:xfrm>
          <a:prstGeom prst="rect">
            <a:avLst/>
          </a:prstGeom>
          <a:noFill/>
          <a:ln>
            <a:noFill/>
          </a:ln>
        </p:spPr>
        <p:txBody>
          <a:bodyPr wrap="square" lIns="50800" tIns="38100" rIns="50800" bIns="38100" anchor="t"/>
          <a:lstStyle/>
          <a:p>
            <a:pPr>
              <a:lnSpc>
                <a:spcPts val="1100"/>
              </a:lnSpc>
              <a:buNone/>
            </a:pPr>
            <a:r>
              <a:rPr lang="en-US" sz="625" b="1" dirty="0">
                <a:solidFill>
                  <a:srgbClr val="0D9488"/>
                </a:solidFill>
                <a:latin typeface="Calibri"/>
              </a:rPr>
              <a:t>HIERARCHIES</a:t>
            </a:r>
          </a:p>
        </p:txBody>
      </p:sp>
      <p:sp>
        <p:nvSpPr>
          <p:cNvPr id="302" name="HiePath"/>
          <p:cNvSpPr>
            <a:spLocks noGrp="1"/>
          </p:cNvSpPr>
          <p:nvPr/>
        </p:nvSpPr>
        <p:spPr>
          <a:xfrm>
            <a:off x="254000" y="1155700"/>
            <a:ext cx="787400" cy="495300"/>
          </a:xfrm>
          <a:prstGeom prst="rect">
            <a:avLst/>
          </a:prstGeom>
          <a:noFill/>
          <a:ln>
            <a:noFill/>
          </a:ln>
        </p:spPr>
        <p:txBody>
          <a:bodyPr wrap="square" lIns="50800" tIns="38100" rIns="50800" bIns="38100" anchor="t"/>
          <a:lstStyle/>
          <a:p>
            <a:pPr>
              <a:lnSpc>
                <a:spcPts val="1050"/>
              </a:lnSpc>
              <a:buNone/>
            </a:pPr>
            <a:r>
              <a:rPr lang="en-US" sz="575" dirty="0">
                <a:solidFill>
                  <a:srgbClr val="374151"/>
                </a:solidFill>
                <a:latin typeface="Calibri"/>
              </a:rPr>
              <a:t>Sactionals</a:t>
            </a:r>
          </a:p>
          <a:p>
            <a:pPr>
              <a:lnSpc>
                <a:spcPts val="1050"/>
              </a:lnSpc>
              <a:buNone/>
            </a:pPr>
            <a:r>
              <a:rPr lang="en-US" sz="575" dirty="0">
                <a:solidFill>
                  <a:srgbClr val="374151"/>
                </a:solidFill>
                <a:latin typeface="Calibri"/>
              </a:rPr>
              <a:t>  › Covers</a:t>
            </a:r>
          </a:p>
          <a:p>
            <a:pPr>
              <a:lnSpc>
                <a:spcPts val="1050"/>
              </a:lnSpc>
              <a:buNone/>
            </a:pPr>
            <a:r>
              <a:rPr lang="en-US" sz="575" dirty="0">
                <a:solidFill>
                  <a:srgbClr val="374151"/>
                </a:solidFill>
                <a:latin typeface="Calibri"/>
              </a:rPr>
              <a:t>    › 5 Series</a:t>
            </a:r>
          </a:p>
        </p:txBody>
      </p:sp>
      <p:sp>
        <p:nvSpPr>
          <p:cNvPr id="320" name="TaxBG"/>
          <p:cNvSpPr>
            <a:spLocks noGrp="1"/>
          </p:cNvSpPr>
          <p:nvPr/>
        </p:nvSpPr>
        <p:spPr>
          <a:xfrm>
            <a:off x="203200" y="3683000"/>
            <a:ext cx="889000" cy="1041400"/>
          </a:xfrm>
          <a:prstGeom prst="roundRect">
            <a:avLst>
              <a:gd name="adj" fmla="val 2000"/>
            </a:avLst>
          </a:prstGeom>
          <a:solidFill>
            <a:srgbClr val="EFF6FF"/>
          </a:solidFill>
          <a:ln w="9525">
            <a:solidFill>
              <a:srgbClr val="2563EB"/>
            </a:solidFill>
          </a:ln>
        </p:spPr>
        <p:txBody>
          <a:bodyPr/>
          <a:lstStyle/>
          <a:p>
            <a:endParaRPr lang="en-GB"/>
          </a:p>
        </p:txBody>
      </p:sp>
      <p:sp>
        <p:nvSpPr>
          <p:cNvPr id="321" name="TaxLbl"/>
          <p:cNvSpPr>
            <a:spLocks noGrp="1"/>
          </p:cNvSpPr>
          <p:nvPr/>
        </p:nvSpPr>
        <p:spPr>
          <a:xfrm>
            <a:off x="254000" y="3733800"/>
            <a:ext cx="787400" cy="152400"/>
          </a:xfrm>
          <a:prstGeom prst="rect">
            <a:avLst/>
          </a:prstGeom>
          <a:noFill/>
          <a:ln>
            <a:noFill/>
          </a:ln>
        </p:spPr>
        <p:txBody>
          <a:bodyPr wrap="square" lIns="50800" tIns="38100" rIns="50800" bIns="38100" anchor="t"/>
          <a:lstStyle/>
          <a:p>
            <a:pPr>
              <a:lnSpc>
                <a:spcPts val="1100"/>
              </a:lnSpc>
              <a:buNone/>
            </a:pPr>
            <a:r>
              <a:rPr lang="en-US" sz="625" b="1" dirty="0">
                <a:solidFill>
                  <a:srgbClr val="2563EB"/>
                </a:solidFill>
                <a:latin typeface="Calibri"/>
              </a:rPr>
              <a:t>TAXONOMIES</a:t>
            </a:r>
          </a:p>
        </p:txBody>
      </p:sp>
      <p:sp>
        <p:nvSpPr>
          <p:cNvPr id="322" name="TaxChip0"/>
          <p:cNvSpPr>
            <a:spLocks noGrp="1"/>
          </p:cNvSpPr>
          <p:nvPr/>
        </p:nvSpPr>
        <p:spPr>
          <a:xfrm>
            <a:off x="241300" y="3911600"/>
            <a:ext cx="812800" cy="165100"/>
          </a:xfrm>
          <a:prstGeom prst="roundRect">
            <a:avLst>
              <a:gd name="adj" fmla="val 2500"/>
            </a:avLst>
          </a:prstGeom>
          <a:solidFill>
            <a:srgbClr val="FFFFFF"/>
          </a:solidFill>
          <a:ln w="6350">
            <a:solidFill>
              <a:srgbClr val="374151"/>
            </a:solidFill>
          </a:ln>
        </p:spPr>
        <p:txBody>
          <a:bodyPr wrap="square" lIns="25400" tIns="12700" rIns="25400" bIns="12700" anchor="ctr"/>
          <a:lstStyle/>
          <a:p>
            <a:pPr algn="ctr">
              <a:lnSpc>
                <a:spcPts val="1050"/>
              </a:lnSpc>
              <a:buNone/>
            </a:pPr>
            <a:r>
              <a:rPr lang="en-US" sz="525" b="1" dirty="0">
                <a:solidFill>
                  <a:srgbClr val="374151"/>
                </a:solidFill>
                <a:latin typeface="Calibri"/>
              </a:rPr>
              <a:t>Internal Ops</a:t>
            </a:r>
          </a:p>
        </p:txBody>
      </p:sp>
      <p:sp>
        <p:nvSpPr>
          <p:cNvPr id="323" name="TaxChip1"/>
          <p:cNvSpPr>
            <a:spLocks noGrp="1"/>
          </p:cNvSpPr>
          <p:nvPr/>
        </p:nvSpPr>
        <p:spPr>
          <a:xfrm>
            <a:off x="241300" y="4127500"/>
            <a:ext cx="812800" cy="165100"/>
          </a:xfrm>
          <a:prstGeom prst="roundRect">
            <a:avLst>
              <a:gd name="adj" fmla="val 2500"/>
            </a:avLst>
          </a:prstGeom>
          <a:solidFill>
            <a:srgbClr val="FFFFFF"/>
          </a:solidFill>
          <a:ln w="6350">
            <a:solidFill>
              <a:srgbClr val="1D4ED8"/>
            </a:solidFill>
          </a:ln>
        </p:spPr>
        <p:txBody>
          <a:bodyPr wrap="square" lIns="25400" tIns="12700" rIns="25400" bIns="12700" anchor="ctr"/>
          <a:lstStyle/>
          <a:p>
            <a:pPr algn="ctr">
              <a:lnSpc>
                <a:spcPts val="1050"/>
              </a:lnSpc>
              <a:buNone/>
            </a:pPr>
            <a:r>
              <a:rPr lang="en-US" sz="525" b="1" dirty="0">
                <a:solidFill>
                  <a:srgbClr val="1D4ED8"/>
                </a:solidFill>
                <a:latin typeface="Calibri"/>
              </a:rPr>
              <a:t>Lovesac.com</a:t>
            </a:r>
          </a:p>
        </p:txBody>
      </p:sp>
      <p:sp>
        <p:nvSpPr>
          <p:cNvPr id="324" name="TaxChip2"/>
          <p:cNvSpPr>
            <a:spLocks noGrp="1"/>
          </p:cNvSpPr>
          <p:nvPr/>
        </p:nvSpPr>
        <p:spPr>
          <a:xfrm>
            <a:off x="241300" y="4343400"/>
            <a:ext cx="812800" cy="165100"/>
          </a:xfrm>
          <a:prstGeom prst="roundRect">
            <a:avLst>
              <a:gd name="adj" fmla="val 2500"/>
            </a:avLst>
          </a:prstGeom>
          <a:solidFill>
            <a:srgbClr val="FFFFFF"/>
          </a:solidFill>
          <a:ln w="6350">
            <a:solidFill>
              <a:srgbClr val="0F766E"/>
            </a:solidFill>
          </a:ln>
        </p:spPr>
        <p:txBody>
          <a:bodyPr wrap="square" lIns="25400" tIns="12700" rIns="25400" bIns="12700" anchor="ctr"/>
          <a:lstStyle/>
          <a:p>
            <a:pPr algn="ctr">
              <a:lnSpc>
                <a:spcPts val="1050"/>
              </a:lnSpc>
              <a:buNone/>
            </a:pPr>
            <a:r>
              <a:rPr lang="en-US" sz="525" b="1" dirty="0">
                <a:solidFill>
                  <a:srgbClr val="0F766E"/>
                </a:solidFill>
                <a:latin typeface="Calibri"/>
              </a:rPr>
              <a:t>Marketplace</a:t>
            </a:r>
          </a:p>
        </p:txBody>
      </p:sp>
      <p:sp>
        <p:nvSpPr>
          <p:cNvPr id="325" name="TaxNote"/>
          <p:cNvSpPr>
            <a:spLocks noGrp="1"/>
          </p:cNvSpPr>
          <p:nvPr/>
        </p:nvSpPr>
        <p:spPr>
          <a:xfrm>
            <a:off x="254000" y="4533900"/>
            <a:ext cx="787400" cy="139700"/>
          </a:xfrm>
          <a:prstGeom prst="rect">
            <a:avLst/>
          </a:prstGeom>
          <a:noFill/>
          <a:ln>
            <a:noFill/>
          </a:ln>
        </p:spPr>
        <p:txBody>
          <a:bodyPr wrap="square" lIns="50800" tIns="38100" rIns="50800" bIns="38100" anchor="t"/>
          <a:lstStyle/>
          <a:p>
            <a:pPr>
              <a:lnSpc>
                <a:spcPts val="1050"/>
              </a:lnSpc>
              <a:buNone/>
            </a:pPr>
            <a:r>
              <a:rPr lang="en-US" sz="575" i="1" dirty="0">
                <a:solidFill>
                  <a:srgbClr val="374151"/>
                </a:solidFill>
                <a:latin typeface="Calibri"/>
              </a:rPr>
              <a:t>via MAPS_TO</a:t>
            </a:r>
          </a:p>
        </p:txBody>
      </p:sp>
      <p:sp>
        <p:nvSpPr>
          <p:cNvPr id="340" name="RelBG"/>
          <p:cNvSpPr>
            <a:spLocks noGrp="1"/>
          </p:cNvSpPr>
          <p:nvPr/>
        </p:nvSpPr>
        <p:spPr>
          <a:xfrm>
            <a:off x="3898900" y="1181100"/>
            <a:ext cx="1536700" cy="2336800"/>
          </a:xfrm>
          <a:prstGeom prst="roundRect">
            <a:avLst>
              <a:gd name="adj" fmla="val 2000"/>
            </a:avLst>
          </a:prstGeom>
          <a:solidFill>
            <a:srgbClr val="F0FDF4"/>
          </a:solidFill>
          <a:ln w="9525">
            <a:solidFill>
              <a:srgbClr val="16A34A"/>
            </a:solidFill>
          </a:ln>
        </p:spPr>
        <p:txBody>
          <a:bodyPr/>
          <a:lstStyle/>
          <a:p>
            <a:endParaRPr lang="en-GB"/>
          </a:p>
        </p:txBody>
      </p:sp>
      <p:sp>
        <p:nvSpPr>
          <p:cNvPr id="341" name="RelLbl"/>
          <p:cNvSpPr>
            <a:spLocks noGrp="1"/>
          </p:cNvSpPr>
          <p:nvPr/>
        </p:nvSpPr>
        <p:spPr>
          <a:xfrm>
            <a:off x="3962400" y="1244600"/>
            <a:ext cx="1409700" cy="152400"/>
          </a:xfrm>
          <a:prstGeom prst="rect">
            <a:avLst/>
          </a:prstGeom>
          <a:noFill/>
          <a:ln>
            <a:noFill/>
          </a:ln>
        </p:spPr>
        <p:txBody>
          <a:bodyPr wrap="square" lIns="50800" tIns="38100" rIns="50800" bIns="38100" anchor="t"/>
          <a:lstStyle/>
          <a:p>
            <a:pPr>
              <a:lnSpc>
                <a:spcPts val="1100"/>
              </a:lnSpc>
              <a:buNone/>
            </a:pPr>
            <a:r>
              <a:rPr lang="en-US" sz="650" b="1" dirty="0">
                <a:solidFill>
                  <a:srgbClr val="16A34A"/>
                </a:solidFill>
                <a:latin typeface="Calibri"/>
              </a:rPr>
              <a:t>RELATIONSHIPS</a:t>
            </a:r>
          </a:p>
        </p:txBody>
      </p:sp>
      <p:sp>
        <p:nvSpPr>
          <p:cNvPr id="350" name="RDot0"/>
          <p:cNvSpPr>
            <a:spLocks noGrp="1"/>
          </p:cNvSpPr>
          <p:nvPr/>
        </p:nvSpPr>
        <p:spPr>
          <a:xfrm>
            <a:off x="3962400" y="1460500"/>
            <a:ext cx="50800" cy="50800"/>
          </a:xfrm>
          <a:prstGeom prst="roundRect">
            <a:avLst>
              <a:gd name="adj" fmla="val 50000"/>
            </a:avLst>
          </a:prstGeom>
          <a:solidFill>
            <a:srgbClr val="16A34A"/>
          </a:solidFill>
          <a:ln>
            <a:noFill/>
          </a:ln>
        </p:spPr>
        <p:txBody>
          <a:bodyPr/>
          <a:lstStyle/>
          <a:p>
            <a:endParaRPr lang="en-GB"/>
          </a:p>
        </p:txBody>
      </p:sp>
      <p:sp>
        <p:nvSpPr>
          <p:cNvPr id="351" name="RType0"/>
          <p:cNvSpPr>
            <a:spLocks noGrp="1"/>
          </p:cNvSpPr>
          <p:nvPr/>
        </p:nvSpPr>
        <p:spPr>
          <a:xfrm>
            <a:off x="4051300" y="1409700"/>
            <a:ext cx="1333500" cy="165100"/>
          </a:xfrm>
          <a:prstGeom prst="rect">
            <a:avLst/>
          </a:prstGeom>
          <a:noFill/>
          <a:ln>
            <a:noFill/>
          </a:ln>
        </p:spPr>
        <p:txBody>
          <a:bodyPr wrap="square" lIns="50800" tIns="38100" rIns="50800" bIns="38100" anchor="t"/>
          <a:lstStyle/>
          <a:p>
            <a:pPr>
              <a:lnSpc>
                <a:spcPts val="1050"/>
              </a:lnSpc>
              <a:buNone/>
            </a:pPr>
            <a:r>
              <a:rPr lang="en-US" sz="625" b="1" dirty="0">
                <a:solidFill>
                  <a:srgbClr val="16A34A"/>
                </a:solidFill>
                <a:latin typeface="Calibri"/>
              </a:rPr>
              <a:t>COMPATIBLE_WITH</a:t>
            </a:r>
            <a:r>
              <a:rPr lang="en-US" sz="550" i="1" dirty="0">
                <a:solidFill>
                  <a:srgbClr val="6B7280"/>
                </a:solidFill>
                <a:latin typeface="Calibri"/>
              </a:rPr>
              <a:t>  Dynamic</a:t>
            </a:r>
          </a:p>
        </p:txBody>
      </p:sp>
      <p:sp>
        <p:nvSpPr>
          <p:cNvPr id="352" name="REx0"/>
          <p:cNvSpPr>
            <a:spLocks noGrp="1"/>
          </p:cNvSpPr>
          <p:nvPr/>
        </p:nvSpPr>
        <p:spPr>
          <a:xfrm>
            <a:off x="4051300" y="1574800"/>
            <a:ext cx="1333500" cy="139700"/>
          </a:xfrm>
          <a:prstGeom prst="rect">
            <a:avLst/>
          </a:prstGeom>
          <a:noFill/>
          <a:ln>
            <a:noFill/>
          </a:ln>
        </p:spPr>
        <p:txBody>
          <a:bodyPr wrap="square" lIns="50800" tIns="38100" rIns="50800" bIns="38100" anchor="t"/>
          <a:lstStyle/>
          <a:p>
            <a:pPr>
              <a:lnSpc>
                <a:spcPts val="1050"/>
              </a:lnSpc>
              <a:buNone/>
            </a:pPr>
            <a:r>
              <a:rPr lang="en-US" sz="555" dirty="0">
                <a:solidFill>
                  <a:srgbClr val="374151"/>
                </a:solidFill>
                <a:latin typeface="Calibri"/>
              </a:rPr>
              <a:t>Cover ↔ Insert (Product + Size)</a:t>
            </a:r>
          </a:p>
        </p:txBody>
      </p:sp>
      <p:sp>
        <p:nvSpPr>
          <p:cNvPr id="353" name="RDiv0"/>
          <p:cNvSpPr>
            <a:spLocks noGrp="1"/>
          </p:cNvSpPr>
          <p:nvPr/>
        </p:nvSpPr>
        <p:spPr>
          <a:xfrm>
            <a:off x="3962400" y="1905000"/>
            <a:ext cx="1409700" cy="12700"/>
          </a:xfrm>
          <a:prstGeom prst="rect">
            <a:avLst/>
          </a:prstGeom>
          <a:solidFill>
            <a:srgbClr val="D1FAE5"/>
          </a:solidFill>
          <a:ln>
            <a:noFill/>
          </a:ln>
        </p:spPr>
        <p:txBody>
          <a:bodyPr/>
          <a:lstStyle/>
          <a:p>
            <a:endParaRPr lang="en-GB"/>
          </a:p>
        </p:txBody>
      </p:sp>
      <p:sp>
        <p:nvSpPr>
          <p:cNvPr id="354" name="RDot1"/>
          <p:cNvSpPr>
            <a:spLocks noGrp="1"/>
          </p:cNvSpPr>
          <p:nvPr/>
        </p:nvSpPr>
        <p:spPr>
          <a:xfrm>
            <a:off x="3962400" y="1981200"/>
            <a:ext cx="50800" cy="50800"/>
          </a:xfrm>
          <a:prstGeom prst="roundRect">
            <a:avLst>
              <a:gd name="adj" fmla="val 50000"/>
            </a:avLst>
          </a:prstGeom>
          <a:solidFill>
            <a:srgbClr val="16A34A"/>
          </a:solidFill>
          <a:ln>
            <a:noFill/>
          </a:ln>
        </p:spPr>
        <p:txBody>
          <a:bodyPr/>
          <a:lstStyle/>
          <a:p>
            <a:endParaRPr lang="en-GB"/>
          </a:p>
        </p:txBody>
      </p:sp>
      <p:sp>
        <p:nvSpPr>
          <p:cNvPr id="355" name="RType1"/>
          <p:cNvSpPr>
            <a:spLocks noGrp="1"/>
          </p:cNvSpPr>
          <p:nvPr/>
        </p:nvSpPr>
        <p:spPr>
          <a:xfrm>
            <a:off x="4051300" y="1930400"/>
            <a:ext cx="1333500" cy="165100"/>
          </a:xfrm>
          <a:prstGeom prst="rect">
            <a:avLst/>
          </a:prstGeom>
          <a:noFill/>
          <a:ln>
            <a:noFill/>
          </a:ln>
        </p:spPr>
        <p:txBody>
          <a:bodyPr wrap="square" lIns="50800" tIns="38100" rIns="50800" bIns="38100" anchor="t"/>
          <a:lstStyle/>
          <a:p>
            <a:pPr>
              <a:lnSpc>
                <a:spcPts val="1050"/>
              </a:lnSpc>
              <a:buNone/>
            </a:pPr>
            <a:r>
              <a:rPr lang="en-US" sz="625" b="1" dirty="0">
                <a:solidFill>
                  <a:srgbClr val="16A34A"/>
                </a:solidFill>
                <a:latin typeface="Calibri"/>
              </a:rPr>
              <a:t>BUNDLES</a:t>
            </a:r>
            <a:r>
              <a:rPr lang="en-US" sz="550" i="1" dirty="0">
                <a:solidFill>
                  <a:srgbClr val="6B7280"/>
                </a:solidFill>
                <a:latin typeface="Calibri"/>
              </a:rPr>
              <a:t>  1:M self-ref</a:t>
            </a:r>
          </a:p>
        </p:txBody>
      </p:sp>
      <p:sp>
        <p:nvSpPr>
          <p:cNvPr id="356" name="REx1"/>
          <p:cNvSpPr>
            <a:spLocks noGrp="1"/>
          </p:cNvSpPr>
          <p:nvPr/>
        </p:nvSpPr>
        <p:spPr>
          <a:xfrm>
            <a:off x="4051300" y="2095500"/>
            <a:ext cx="1333500" cy="139700"/>
          </a:xfrm>
          <a:prstGeom prst="rect">
            <a:avLst/>
          </a:prstGeom>
          <a:noFill/>
          <a:ln>
            <a:noFill/>
          </a:ln>
        </p:spPr>
        <p:txBody>
          <a:bodyPr wrap="square" lIns="50800" tIns="38100" rIns="50800" bIns="38100" anchor="t"/>
          <a:lstStyle/>
          <a:p>
            <a:pPr>
              <a:lnSpc>
                <a:spcPts val="1050"/>
              </a:lnSpc>
              <a:buNone/>
            </a:pPr>
            <a:r>
              <a:rPr lang="en-US" sz="555" dirty="0">
                <a:solidFill>
                  <a:srgbClr val="374151"/>
                </a:solidFill>
                <a:latin typeface="Calibri"/>
              </a:rPr>
              <a:t>Finished Good → component Covers + Inserts</a:t>
            </a:r>
          </a:p>
        </p:txBody>
      </p:sp>
      <p:sp>
        <p:nvSpPr>
          <p:cNvPr id="357" name="RDiv1"/>
          <p:cNvSpPr>
            <a:spLocks noGrp="1"/>
          </p:cNvSpPr>
          <p:nvPr/>
        </p:nvSpPr>
        <p:spPr>
          <a:xfrm>
            <a:off x="3962400" y="2425700"/>
            <a:ext cx="1409700" cy="12700"/>
          </a:xfrm>
          <a:prstGeom prst="rect">
            <a:avLst/>
          </a:prstGeom>
          <a:solidFill>
            <a:srgbClr val="D1FAE5"/>
          </a:solidFill>
          <a:ln>
            <a:noFill/>
          </a:ln>
        </p:spPr>
        <p:txBody>
          <a:bodyPr/>
          <a:lstStyle/>
          <a:p>
            <a:endParaRPr lang="en-GB"/>
          </a:p>
        </p:txBody>
      </p:sp>
      <p:sp>
        <p:nvSpPr>
          <p:cNvPr id="358" name="RDot2"/>
          <p:cNvSpPr>
            <a:spLocks noGrp="1"/>
          </p:cNvSpPr>
          <p:nvPr/>
        </p:nvSpPr>
        <p:spPr>
          <a:xfrm>
            <a:off x="3962400" y="2501900"/>
            <a:ext cx="50800" cy="50800"/>
          </a:xfrm>
          <a:prstGeom prst="roundRect">
            <a:avLst>
              <a:gd name="adj" fmla="val 50000"/>
            </a:avLst>
          </a:prstGeom>
          <a:solidFill>
            <a:srgbClr val="16A34A"/>
          </a:solidFill>
          <a:ln>
            <a:noFill/>
          </a:ln>
        </p:spPr>
        <p:txBody>
          <a:bodyPr/>
          <a:lstStyle/>
          <a:p>
            <a:endParaRPr lang="en-GB"/>
          </a:p>
        </p:txBody>
      </p:sp>
      <p:sp>
        <p:nvSpPr>
          <p:cNvPr id="359" name="RType2"/>
          <p:cNvSpPr>
            <a:spLocks noGrp="1"/>
          </p:cNvSpPr>
          <p:nvPr/>
        </p:nvSpPr>
        <p:spPr>
          <a:xfrm>
            <a:off x="4051300" y="2451100"/>
            <a:ext cx="1333500" cy="165100"/>
          </a:xfrm>
          <a:prstGeom prst="rect">
            <a:avLst/>
          </a:prstGeom>
          <a:noFill/>
          <a:ln>
            <a:noFill/>
          </a:ln>
        </p:spPr>
        <p:txBody>
          <a:bodyPr wrap="square" lIns="50800" tIns="38100" rIns="50800" bIns="38100" anchor="t"/>
          <a:lstStyle/>
          <a:p>
            <a:pPr>
              <a:lnSpc>
                <a:spcPts val="1050"/>
              </a:lnSpc>
              <a:buNone/>
            </a:pPr>
            <a:r>
              <a:rPr lang="en-US" sz="625" b="1" dirty="0">
                <a:solidFill>
                  <a:srgbClr val="16A34A"/>
                </a:solidFill>
                <a:latin typeface="Calibri"/>
              </a:rPr>
              <a:t>CONTAINS</a:t>
            </a:r>
            <a:r>
              <a:rPr lang="en-US" sz="550" i="1" dirty="0">
                <a:solidFill>
                  <a:srgbClr val="6B7280"/>
                </a:solidFill>
                <a:latin typeface="Calibri"/>
              </a:rPr>
              <a:t>  1:M</a:t>
            </a:r>
          </a:p>
        </p:txBody>
      </p:sp>
      <p:sp>
        <p:nvSpPr>
          <p:cNvPr id="360" name="REx2"/>
          <p:cNvSpPr>
            <a:spLocks noGrp="1"/>
          </p:cNvSpPr>
          <p:nvPr/>
        </p:nvSpPr>
        <p:spPr>
          <a:xfrm>
            <a:off x="4051300" y="2616200"/>
            <a:ext cx="1333500" cy="139700"/>
          </a:xfrm>
          <a:prstGeom prst="rect">
            <a:avLst/>
          </a:prstGeom>
          <a:noFill/>
          <a:ln>
            <a:noFill/>
          </a:ln>
        </p:spPr>
        <p:txBody>
          <a:bodyPr wrap="square" lIns="50800" tIns="38100" rIns="50800" bIns="38100" anchor="t"/>
          <a:lstStyle/>
          <a:p>
            <a:pPr>
              <a:lnSpc>
                <a:spcPts val="1050"/>
              </a:lnSpc>
              <a:buNone/>
            </a:pPr>
            <a:r>
              <a:rPr lang="en-US" sz="555" dirty="0">
                <a:solidFill>
                  <a:srgbClr val="374151"/>
                </a:solidFill>
                <a:latin typeface="Calibri"/>
              </a:rPr>
              <a:t>Composition relationships</a:t>
            </a:r>
          </a:p>
        </p:txBody>
      </p:sp>
      <p:sp>
        <p:nvSpPr>
          <p:cNvPr id="361" name="RDiv2"/>
          <p:cNvSpPr>
            <a:spLocks noGrp="1"/>
          </p:cNvSpPr>
          <p:nvPr/>
        </p:nvSpPr>
        <p:spPr>
          <a:xfrm>
            <a:off x="3962400" y="2946400"/>
            <a:ext cx="1409700" cy="12700"/>
          </a:xfrm>
          <a:prstGeom prst="rect">
            <a:avLst/>
          </a:prstGeom>
          <a:solidFill>
            <a:srgbClr val="D1FAE5"/>
          </a:solidFill>
          <a:ln>
            <a:noFill/>
          </a:ln>
        </p:spPr>
        <p:txBody>
          <a:bodyPr/>
          <a:lstStyle/>
          <a:p>
            <a:endParaRPr lang="en-GB"/>
          </a:p>
        </p:txBody>
      </p:sp>
      <p:sp>
        <p:nvSpPr>
          <p:cNvPr id="362" name="RDot3"/>
          <p:cNvSpPr>
            <a:spLocks noGrp="1"/>
          </p:cNvSpPr>
          <p:nvPr/>
        </p:nvSpPr>
        <p:spPr>
          <a:xfrm>
            <a:off x="3962400" y="3022600"/>
            <a:ext cx="50800" cy="50800"/>
          </a:xfrm>
          <a:prstGeom prst="roundRect">
            <a:avLst>
              <a:gd name="adj" fmla="val 50000"/>
            </a:avLst>
          </a:prstGeom>
          <a:solidFill>
            <a:srgbClr val="16A34A"/>
          </a:solidFill>
          <a:ln>
            <a:noFill/>
          </a:ln>
        </p:spPr>
        <p:txBody>
          <a:bodyPr/>
          <a:lstStyle/>
          <a:p>
            <a:endParaRPr lang="en-GB"/>
          </a:p>
        </p:txBody>
      </p:sp>
      <p:sp>
        <p:nvSpPr>
          <p:cNvPr id="363" name="RType3"/>
          <p:cNvSpPr>
            <a:spLocks noGrp="1"/>
          </p:cNvSpPr>
          <p:nvPr/>
        </p:nvSpPr>
        <p:spPr>
          <a:xfrm>
            <a:off x="4051300" y="2971800"/>
            <a:ext cx="1333500" cy="165100"/>
          </a:xfrm>
          <a:prstGeom prst="rect">
            <a:avLst/>
          </a:prstGeom>
          <a:noFill/>
          <a:ln>
            <a:noFill/>
          </a:ln>
        </p:spPr>
        <p:txBody>
          <a:bodyPr wrap="square" lIns="50800" tIns="38100" rIns="50800" bIns="38100" anchor="t"/>
          <a:lstStyle/>
          <a:p>
            <a:pPr>
              <a:lnSpc>
                <a:spcPts val="1050"/>
              </a:lnSpc>
              <a:buNone/>
            </a:pPr>
            <a:r>
              <a:rPr lang="en-US" sz="625" b="1" dirty="0">
                <a:solidFill>
                  <a:srgbClr val="16A34A"/>
                </a:solidFill>
                <a:latin typeface="Calibri"/>
              </a:rPr>
              <a:t>MAPS_TO</a:t>
            </a:r>
            <a:r>
              <a:rPr lang="en-US" sz="550" i="1" dirty="0">
                <a:solidFill>
                  <a:srgbClr val="6B7280"/>
                </a:solidFill>
                <a:latin typeface="Calibri"/>
              </a:rPr>
              <a:t>  cross-collection</a:t>
            </a:r>
          </a:p>
        </p:txBody>
      </p:sp>
      <p:sp>
        <p:nvSpPr>
          <p:cNvPr id="364" name="REx3"/>
          <p:cNvSpPr>
            <a:spLocks noGrp="1"/>
          </p:cNvSpPr>
          <p:nvPr/>
        </p:nvSpPr>
        <p:spPr>
          <a:xfrm>
            <a:off x="4051300" y="3136900"/>
            <a:ext cx="1333500" cy="139700"/>
          </a:xfrm>
          <a:prstGeom prst="rect">
            <a:avLst/>
          </a:prstGeom>
          <a:noFill/>
          <a:ln>
            <a:noFill/>
          </a:ln>
        </p:spPr>
        <p:txBody>
          <a:bodyPr wrap="square" lIns="50800" tIns="38100" rIns="50800" bIns="38100" anchor="t"/>
          <a:lstStyle/>
          <a:p>
            <a:pPr>
              <a:lnSpc>
                <a:spcPts val="1050"/>
              </a:lnSpc>
              <a:buNone/>
            </a:pPr>
            <a:r>
              <a:rPr lang="en-US" sz="555" dirty="0">
                <a:solidFill>
                  <a:srgbClr val="374151"/>
                </a:solidFill>
                <a:latin typeface="Calibri"/>
              </a:rPr>
              <a:t>SKU → Taxonomy node</a:t>
            </a:r>
          </a:p>
        </p:txBody>
      </p:sp>
      <p:sp>
        <p:nvSpPr>
          <p:cNvPr id="400" name="LBG0"/>
          <p:cNvSpPr>
            <a:spLocks noGrp="1"/>
          </p:cNvSpPr>
          <p:nvPr/>
        </p:nvSpPr>
        <p:spPr>
          <a:xfrm>
            <a:off x="5613400" y="889000"/>
            <a:ext cx="3327400" cy="939800"/>
          </a:xfrm>
          <a:prstGeom prst="roundRect">
            <a:avLst>
              <a:gd name="adj" fmla="val 1500"/>
            </a:avLst>
          </a:prstGeom>
          <a:solidFill>
            <a:srgbClr val="FAFAFA"/>
          </a:solidFill>
          <a:ln w="6350">
            <a:solidFill>
              <a:srgbClr val="D1D5DB"/>
            </a:solidFill>
          </a:ln>
        </p:spPr>
        <p:txBody>
          <a:bodyPr/>
          <a:lstStyle/>
          <a:p>
            <a:endParaRPr lang="en-GB"/>
          </a:p>
        </p:txBody>
      </p:sp>
      <p:sp>
        <p:nvSpPr>
          <p:cNvPr id="401" name="LAcc0"/>
          <p:cNvSpPr>
            <a:spLocks noGrp="1"/>
          </p:cNvSpPr>
          <p:nvPr/>
        </p:nvSpPr>
        <p:spPr>
          <a:xfrm>
            <a:off x="5613400" y="889000"/>
            <a:ext cx="50800" cy="939800"/>
          </a:xfrm>
          <a:prstGeom prst="roundRect">
            <a:avLst>
              <a:gd name="adj" fmla="val 2000"/>
            </a:avLst>
          </a:prstGeom>
          <a:solidFill>
            <a:srgbClr val="EB1A63"/>
          </a:solidFill>
          <a:ln>
            <a:noFill/>
          </a:ln>
        </p:spPr>
        <p:txBody>
          <a:bodyPr/>
          <a:lstStyle/>
          <a:p>
            <a:endParaRPr lang="en-GB"/>
          </a:p>
        </p:txBody>
      </p:sp>
      <p:sp>
        <p:nvSpPr>
          <p:cNvPr id="402" name="LTerm0"/>
          <p:cNvSpPr>
            <a:spLocks noGrp="1"/>
          </p:cNvSpPr>
          <p:nvPr/>
        </p:nvSpPr>
        <p:spPr>
          <a:xfrm>
            <a:off x="5727700" y="965200"/>
            <a:ext cx="3162300" cy="190500"/>
          </a:xfrm>
          <a:prstGeom prst="rect">
            <a:avLst/>
          </a:prstGeom>
          <a:noFill/>
          <a:ln>
            <a:noFill/>
          </a:ln>
        </p:spPr>
        <p:txBody>
          <a:bodyPr wrap="square" lIns="50800" tIns="38100" rIns="50800" bIns="38100" anchor="t"/>
          <a:lstStyle/>
          <a:p>
            <a:pPr>
              <a:lnSpc>
                <a:spcPts val="1200"/>
              </a:lnSpc>
              <a:buNone/>
            </a:pPr>
            <a:r>
              <a:rPr lang="en-US" sz="825" b="1" dirty="0">
                <a:solidFill>
                  <a:srgbClr val="EB1A63"/>
                </a:solidFill>
                <a:latin typeface="Calibri"/>
              </a:rPr>
              <a:t>Collections</a:t>
            </a:r>
          </a:p>
        </p:txBody>
      </p:sp>
      <p:sp>
        <p:nvSpPr>
          <p:cNvPr id="403" name="LBody0"/>
          <p:cNvSpPr>
            <a:spLocks noGrp="1"/>
          </p:cNvSpPr>
          <p:nvPr/>
        </p:nvSpPr>
        <p:spPr>
          <a:xfrm>
            <a:off x="5727700" y="1168400"/>
            <a:ext cx="3162300" cy="609600"/>
          </a:xfrm>
          <a:prstGeom prst="rect">
            <a:avLst/>
          </a:prstGeom>
          <a:noFill/>
          <a:ln>
            <a:noFill/>
          </a:ln>
        </p:spPr>
        <p:txBody>
          <a:bodyPr wrap="square" lIns="50800" tIns="38100" rIns="50800" bIns="38100" anchor="t"/>
          <a:lstStyle/>
          <a:p>
            <a:pPr>
              <a:lnSpc>
                <a:spcPts val="1150"/>
              </a:lnSpc>
              <a:buNone/>
            </a:pPr>
            <a:r>
              <a:rPr lang="en-US" sz="690" dirty="0">
                <a:solidFill>
                  <a:srgbClr val="374151"/>
                </a:solidFill>
                <a:latin typeface="Calibri"/>
              </a:rPr>
              <a:t>The foundation. Typed records with a defined schema. Lovesac’s SKU Collection holds 28,089 records across all brands and lines.</a:t>
            </a:r>
          </a:p>
        </p:txBody>
      </p:sp>
      <p:sp>
        <p:nvSpPr>
          <p:cNvPr id="410" name="LBG1"/>
          <p:cNvSpPr>
            <a:spLocks noGrp="1"/>
          </p:cNvSpPr>
          <p:nvPr/>
        </p:nvSpPr>
        <p:spPr>
          <a:xfrm>
            <a:off x="5613400" y="1866900"/>
            <a:ext cx="3327400" cy="939800"/>
          </a:xfrm>
          <a:prstGeom prst="roundRect">
            <a:avLst>
              <a:gd name="adj" fmla="val 1500"/>
            </a:avLst>
          </a:prstGeom>
          <a:solidFill>
            <a:srgbClr val="FAFAFA"/>
          </a:solidFill>
          <a:ln w="6350">
            <a:solidFill>
              <a:srgbClr val="D1D5DB"/>
            </a:solidFill>
          </a:ln>
        </p:spPr>
        <p:txBody>
          <a:bodyPr/>
          <a:lstStyle/>
          <a:p>
            <a:endParaRPr lang="en-GB"/>
          </a:p>
        </p:txBody>
      </p:sp>
      <p:sp>
        <p:nvSpPr>
          <p:cNvPr id="411" name="LAcc1"/>
          <p:cNvSpPr>
            <a:spLocks noGrp="1"/>
          </p:cNvSpPr>
          <p:nvPr/>
        </p:nvSpPr>
        <p:spPr>
          <a:xfrm>
            <a:off x="5613400" y="1866900"/>
            <a:ext cx="50800" cy="939800"/>
          </a:xfrm>
          <a:prstGeom prst="roundRect">
            <a:avLst>
              <a:gd name="adj" fmla="val 2000"/>
            </a:avLst>
          </a:prstGeom>
          <a:solidFill>
            <a:srgbClr val="16A34A"/>
          </a:solidFill>
          <a:ln>
            <a:noFill/>
          </a:ln>
        </p:spPr>
        <p:txBody>
          <a:bodyPr/>
          <a:lstStyle/>
          <a:p>
            <a:endParaRPr lang="en-GB"/>
          </a:p>
        </p:txBody>
      </p:sp>
      <p:sp>
        <p:nvSpPr>
          <p:cNvPr id="412" name="LTerm1"/>
          <p:cNvSpPr>
            <a:spLocks noGrp="1"/>
          </p:cNvSpPr>
          <p:nvPr/>
        </p:nvSpPr>
        <p:spPr>
          <a:xfrm>
            <a:off x="5727700" y="1943100"/>
            <a:ext cx="3162300" cy="190500"/>
          </a:xfrm>
          <a:prstGeom prst="rect">
            <a:avLst/>
          </a:prstGeom>
          <a:noFill/>
          <a:ln>
            <a:noFill/>
          </a:ln>
        </p:spPr>
        <p:txBody>
          <a:bodyPr wrap="square" lIns="50800" tIns="38100" rIns="50800" bIns="38100" anchor="t"/>
          <a:lstStyle/>
          <a:p>
            <a:pPr>
              <a:lnSpc>
                <a:spcPts val="1200"/>
              </a:lnSpc>
              <a:buNone/>
            </a:pPr>
            <a:r>
              <a:rPr lang="en-US" sz="825" b="1" dirty="0">
                <a:solidFill>
                  <a:srgbClr val="16A34A"/>
                </a:solidFill>
                <a:latin typeface="Calibri"/>
              </a:rPr>
              <a:t>Relationships</a:t>
            </a:r>
          </a:p>
        </p:txBody>
      </p:sp>
      <p:sp>
        <p:nvSpPr>
          <p:cNvPr id="413" name="LBody1"/>
          <p:cNvSpPr>
            <a:spLocks noGrp="1"/>
          </p:cNvSpPr>
          <p:nvPr/>
        </p:nvSpPr>
        <p:spPr>
          <a:xfrm>
            <a:off x="5727700" y="2146300"/>
            <a:ext cx="3162300" cy="609600"/>
          </a:xfrm>
          <a:prstGeom prst="rect">
            <a:avLst/>
          </a:prstGeom>
          <a:noFill/>
          <a:ln>
            <a:noFill/>
          </a:ln>
        </p:spPr>
        <p:txBody>
          <a:bodyPr wrap="square" lIns="50800" tIns="38100" rIns="50800" bIns="38100" anchor="t"/>
          <a:lstStyle/>
          <a:p>
            <a:pPr>
              <a:lnSpc>
                <a:spcPts val="1150"/>
              </a:lnSpc>
              <a:buNone/>
            </a:pPr>
            <a:r>
              <a:rPr lang="en-US" sz="690" dirty="0">
                <a:solidFill>
                  <a:srgbClr val="374151"/>
                </a:solidFill>
                <a:latin typeface="Calibri"/>
              </a:rPr>
              <a:t>Connect records together. 1:1 or 1:M lookups for explicit links; Dynamic relationships use rule expressions — how Cover ↔ Insert compatibility is encoded.</a:t>
            </a:r>
          </a:p>
        </p:txBody>
      </p:sp>
      <p:sp>
        <p:nvSpPr>
          <p:cNvPr id="420" name="LBG2"/>
          <p:cNvSpPr>
            <a:spLocks noGrp="1"/>
          </p:cNvSpPr>
          <p:nvPr/>
        </p:nvSpPr>
        <p:spPr>
          <a:xfrm>
            <a:off x="5613400" y="2844800"/>
            <a:ext cx="3327400" cy="939800"/>
          </a:xfrm>
          <a:prstGeom prst="roundRect">
            <a:avLst>
              <a:gd name="adj" fmla="val 1500"/>
            </a:avLst>
          </a:prstGeom>
          <a:solidFill>
            <a:srgbClr val="FAFAFA"/>
          </a:solidFill>
          <a:ln w="6350">
            <a:solidFill>
              <a:srgbClr val="D1D5DB"/>
            </a:solidFill>
          </a:ln>
        </p:spPr>
        <p:txBody>
          <a:bodyPr/>
          <a:lstStyle/>
          <a:p>
            <a:endParaRPr lang="en-GB"/>
          </a:p>
        </p:txBody>
      </p:sp>
      <p:sp>
        <p:nvSpPr>
          <p:cNvPr id="421" name="LAcc2"/>
          <p:cNvSpPr>
            <a:spLocks noGrp="1"/>
          </p:cNvSpPr>
          <p:nvPr/>
        </p:nvSpPr>
        <p:spPr>
          <a:xfrm>
            <a:off x="5613400" y="2844800"/>
            <a:ext cx="50800" cy="939800"/>
          </a:xfrm>
          <a:prstGeom prst="roundRect">
            <a:avLst>
              <a:gd name="adj" fmla="val 2000"/>
            </a:avLst>
          </a:prstGeom>
          <a:solidFill>
            <a:srgbClr val="0D9488"/>
          </a:solidFill>
          <a:ln>
            <a:noFill/>
          </a:ln>
        </p:spPr>
        <p:txBody>
          <a:bodyPr/>
          <a:lstStyle/>
          <a:p>
            <a:endParaRPr lang="en-GB"/>
          </a:p>
        </p:txBody>
      </p:sp>
      <p:sp>
        <p:nvSpPr>
          <p:cNvPr id="422" name="LTerm2"/>
          <p:cNvSpPr>
            <a:spLocks noGrp="1"/>
          </p:cNvSpPr>
          <p:nvPr/>
        </p:nvSpPr>
        <p:spPr>
          <a:xfrm>
            <a:off x="5727700" y="2921000"/>
            <a:ext cx="3162300" cy="190500"/>
          </a:xfrm>
          <a:prstGeom prst="rect">
            <a:avLst/>
          </a:prstGeom>
          <a:noFill/>
          <a:ln>
            <a:noFill/>
          </a:ln>
        </p:spPr>
        <p:txBody>
          <a:bodyPr wrap="square" lIns="50800" tIns="38100" rIns="50800" bIns="38100" anchor="t"/>
          <a:lstStyle/>
          <a:p>
            <a:pPr>
              <a:lnSpc>
                <a:spcPts val="1200"/>
              </a:lnSpc>
              <a:buNone/>
            </a:pPr>
            <a:r>
              <a:rPr lang="en-US" sz="825" b="1" dirty="0">
                <a:solidFill>
                  <a:srgbClr val="0D9488"/>
                </a:solidFill>
                <a:latin typeface="Calibri"/>
              </a:rPr>
              <a:t>Hierarchies</a:t>
            </a:r>
          </a:p>
        </p:txBody>
      </p:sp>
      <p:sp>
        <p:nvSpPr>
          <p:cNvPr id="423" name="LBody2"/>
          <p:cNvSpPr>
            <a:spLocks noGrp="1"/>
          </p:cNvSpPr>
          <p:nvPr/>
        </p:nvSpPr>
        <p:spPr>
          <a:xfrm>
            <a:off x="5727700" y="3124200"/>
            <a:ext cx="3162300" cy="609600"/>
          </a:xfrm>
          <a:prstGeom prst="rect">
            <a:avLst/>
          </a:prstGeom>
          <a:noFill/>
          <a:ln>
            <a:noFill/>
          </a:ln>
        </p:spPr>
        <p:txBody>
          <a:bodyPr wrap="square" lIns="50800" tIns="38100" rIns="50800" bIns="38100" anchor="t"/>
          <a:lstStyle/>
          <a:p>
            <a:pPr>
              <a:lnSpc>
                <a:spcPts val="1150"/>
              </a:lnSpc>
              <a:buNone/>
            </a:pPr>
            <a:r>
              <a:rPr lang="en-US" sz="690" dirty="0">
                <a:solidFill>
                  <a:srgbClr val="374151"/>
                </a:solidFill>
                <a:latin typeface="Calibri"/>
              </a:rPr>
              <a:t>Special collections where records have a parent record, forming a tree. Paths recalculate automatically when records move.</a:t>
            </a:r>
          </a:p>
        </p:txBody>
      </p:sp>
      <p:sp>
        <p:nvSpPr>
          <p:cNvPr id="430" name="LBG3"/>
          <p:cNvSpPr>
            <a:spLocks noGrp="1"/>
          </p:cNvSpPr>
          <p:nvPr/>
        </p:nvSpPr>
        <p:spPr>
          <a:xfrm>
            <a:off x="5613400" y="3822700"/>
            <a:ext cx="3327400" cy="939800"/>
          </a:xfrm>
          <a:prstGeom prst="roundRect">
            <a:avLst>
              <a:gd name="adj" fmla="val 1500"/>
            </a:avLst>
          </a:prstGeom>
          <a:solidFill>
            <a:srgbClr val="FAFAFA"/>
          </a:solidFill>
          <a:ln w="6350">
            <a:solidFill>
              <a:srgbClr val="D1D5DB"/>
            </a:solidFill>
          </a:ln>
        </p:spPr>
        <p:txBody>
          <a:bodyPr/>
          <a:lstStyle/>
          <a:p>
            <a:endParaRPr lang="en-GB"/>
          </a:p>
        </p:txBody>
      </p:sp>
      <p:sp>
        <p:nvSpPr>
          <p:cNvPr id="431" name="LAcc3"/>
          <p:cNvSpPr>
            <a:spLocks noGrp="1"/>
          </p:cNvSpPr>
          <p:nvPr/>
        </p:nvSpPr>
        <p:spPr>
          <a:xfrm>
            <a:off x="5613400" y="3822700"/>
            <a:ext cx="50800" cy="939800"/>
          </a:xfrm>
          <a:prstGeom prst="roundRect">
            <a:avLst>
              <a:gd name="adj" fmla="val 2000"/>
            </a:avLst>
          </a:prstGeom>
          <a:solidFill>
            <a:srgbClr val="2563EB"/>
          </a:solidFill>
          <a:ln>
            <a:noFill/>
          </a:ln>
        </p:spPr>
        <p:txBody>
          <a:bodyPr/>
          <a:lstStyle/>
          <a:p>
            <a:endParaRPr lang="en-GB"/>
          </a:p>
        </p:txBody>
      </p:sp>
      <p:sp>
        <p:nvSpPr>
          <p:cNvPr id="432" name="LTerm3"/>
          <p:cNvSpPr>
            <a:spLocks noGrp="1"/>
          </p:cNvSpPr>
          <p:nvPr/>
        </p:nvSpPr>
        <p:spPr>
          <a:xfrm>
            <a:off x="5727700" y="3898900"/>
            <a:ext cx="3162300" cy="190500"/>
          </a:xfrm>
          <a:prstGeom prst="rect">
            <a:avLst/>
          </a:prstGeom>
          <a:noFill/>
          <a:ln>
            <a:noFill/>
          </a:ln>
        </p:spPr>
        <p:txBody>
          <a:bodyPr wrap="square" lIns="50800" tIns="38100" rIns="50800" bIns="38100" anchor="t"/>
          <a:lstStyle/>
          <a:p>
            <a:pPr>
              <a:lnSpc>
                <a:spcPts val="1200"/>
              </a:lnSpc>
              <a:buNone/>
            </a:pPr>
            <a:r>
              <a:rPr lang="en-US" sz="825" b="1" dirty="0">
                <a:solidFill>
                  <a:srgbClr val="2563EB"/>
                </a:solidFill>
                <a:latin typeface="Calibri"/>
              </a:rPr>
              <a:t>Taxonomies</a:t>
            </a:r>
          </a:p>
        </p:txBody>
      </p:sp>
      <p:sp>
        <p:nvSpPr>
          <p:cNvPr id="433" name="LBody3"/>
          <p:cNvSpPr>
            <a:spLocks noGrp="1"/>
          </p:cNvSpPr>
          <p:nvPr/>
        </p:nvSpPr>
        <p:spPr>
          <a:xfrm>
            <a:off x="5727700" y="4102100"/>
            <a:ext cx="3162300" cy="609600"/>
          </a:xfrm>
          <a:prstGeom prst="rect">
            <a:avLst/>
          </a:prstGeom>
          <a:noFill/>
          <a:ln>
            <a:noFill/>
          </a:ln>
        </p:spPr>
        <p:txBody>
          <a:bodyPr wrap="square" lIns="50800" tIns="38100" rIns="50800" bIns="38100" anchor="t"/>
          <a:lstStyle/>
          <a:p>
            <a:pPr>
              <a:lnSpc>
                <a:spcPts val="1150"/>
              </a:lnSpc>
              <a:buNone/>
            </a:pPr>
            <a:r>
              <a:rPr lang="en-US" sz="690" dirty="0">
                <a:solidFill>
                  <a:srgbClr val="374151"/>
                </a:solidFill>
                <a:latin typeface="Calibri"/>
              </a:rPr>
              <a:t>Sit on top of Collections to tag records dynamically by rule. Lovesac uses three in parallel — Internal Ops, Lovesac.com, and Marketplace — so the same SKU is classified differently per channel.</a:t>
            </a:r>
          </a:p>
        </p:txBody>
      </p:sp>
    </p:spTree>
    <p:extLst>
      <p:ext uri="{BB962C8B-B14F-4D97-AF65-F5344CB8AC3E}">
        <p14:creationId xmlns:p14="http://schemas.microsoft.com/office/powerpoint/2010/main" val="24758566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ripe"/>
          <p:cNvSpPr>
            <a:spLocks noGrp="1"/>
          </p:cNvSpPr>
          <p:nvPr/>
        </p:nvSpPr>
        <p:spPr>
          <a:xfrm>
            <a:off x="0" y="0"/>
            <a:ext cx="101600" cy="5143500"/>
          </a:xfrm>
          <a:prstGeom prst="rect">
            <a:avLst/>
          </a:prstGeom>
          <a:solidFill>
            <a:srgbClr val="EB1A63"/>
          </a:solidFill>
          <a:ln>
            <a:noFill/>
          </a:ln>
        </p:spPr>
        <p:txBody>
          <a:bodyPr/>
          <a:lstStyle/>
          <a:p>
            <a:endParaRPr lang="en-GB"/>
          </a:p>
        </p:txBody>
      </p:sp>
      <p:sp>
        <p:nvSpPr>
          <p:cNvPr id="3" name="Title"/>
          <p:cNvSpPr>
            <a:spLocks noGrp="1"/>
          </p:cNvSpPr>
          <p:nvPr/>
        </p:nvSpPr>
        <p:spPr>
          <a:xfrm>
            <a:off x="381000" y="76200"/>
            <a:ext cx="6858000" cy="457200"/>
          </a:xfrm>
          <a:prstGeom prst="rect">
            <a:avLst/>
          </a:prstGeom>
          <a:noFill/>
          <a:ln>
            <a:noFill/>
          </a:ln>
        </p:spPr>
        <p:txBody>
          <a:bodyPr wrap="square" lIns="50800" tIns="50800" rIns="50800" bIns="50800" anchor="t"/>
          <a:lstStyle/>
          <a:p>
            <a:pPr>
              <a:buNone/>
            </a:pPr>
            <a:r>
              <a:rPr lang="en-US" sz="2000" b="1" dirty="0">
                <a:solidFill>
                  <a:srgbClr val="111827"/>
                </a:solidFill>
                <a:latin typeface="Calibri"/>
              </a:rPr>
              <a:t>Collections, Hierarchies, Taxonomies</a:t>
            </a:r>
          </a:p>
        </p:txBody>
      </p:sp>
      <p:sp>
        <p:nvSpPr>
          <p:cNvPr id="7" name="Subtitle"/>
          <p:cNvSpPr>
            <a:spLocks noGrp="1"/>
          </p:cNvSpPr>
          <p:nvPr/>
        </p:nvSpPr>
        <p:spPr>
          <a:xfrm>
            <a:off x="355600" y="533400"/>
            <a:ext cx="8432800" cy="254000"/>
          </a:xfrm>
          <a:prstGeom prst="rect">
            <a:avLst/>
          </a:prstGeom>
          <a:noFill/>
          <a:ln>
            <a:noFill/>
          </a:ln>
        </p:spPr>
        <p:txBody>
          <a:bodyPr wrap="square" lIns="25400" tIns="25400" rIns="25400" bIns="25400" anchor="t"/>
          <a:lstStyle/>
          <a:p>
            <a:pPr>
              <a:buNone/>
            </a:pPr>
            <a:r>
              <a:rPr lang="en-US" sz="1050" dirty="0">
                <a:solidFill>
                  <a:srgbClr val="6B7280"/>
                </a:solidFill>
                <a:latin typeface="Calibri"/>
              </a:rPr>
              <a:t>Demo of compatibility rules and data model in a sample hierarchy using Lovesac's data and Conscia's tooling</a:t>
            </a:r>
          </a:p>
        </p:txBody>
      </p:sp>
      <p:sp>
        <p:nvSpPr>
          <p:cNvPr id="5" name="Divider"/>
          <p:cNvSpPr>
            <a:spLocks noGrp="1"/>
          </p:cNvSpPr>
          <p:nvPr/>
        </p:nvSpPr>
        <p:spPr>
          <a:xfrm>
            <a:off x="254000" y="838200"/>
            <a:ext cx="8636000" cy="1270"/>
          </a:xfrm>
          <a:prstGeom prst="line">
            <a:avLst/>
          </a:prstGeom>
          <a:noFill/>
          <a:ln w="9525">
            <a:solidFill>
              <a:srgbClr val="E5E7EB"/>
            </a:solidFill>
          </a:ln>
        </p:spPr>
        <p:txBody>
          <a:bodyPr/>
          <a:lstStyle/>
          <a:p>
            <a:endParaRPr lang="en-GB"/>
          </a:p>
        </p:txBody>
      </p:sp>
      <p:sp>
        <p:nvSpPr>
          <p:cNvPr id="910" name="Bar0"/>
          <p:cNvSpPr>
            <a:spLocks noGrp="1"/>
          </p:cNvSpPr>
          <p:nvPr/>
        </p:nvSpPr>
        <p:spPr>
          <a:xfrm>
            <a:off x="0" y="5092700"/>
            <a:ext cx="1524000" cy="50800"/>
          </a:xfrm>
          <a:prstGeom prst="rect">
            <a:avLst/>
          </a:prstGeom>
          <a:solidFill>
            <a:srgbClr val="EB1A63"/>
          </a:solidFill>
          <a:ln>
            <a:noFill/>
          </a:ln>
        </p:spPr>
        <p:txBody>
          <a:bodyPr/>
          <a:lstStyle/>
          <a:p>
            <a:endParaRPr lang="en-GB"/>
          </a:p>
        </p:txBody>
      </p:sp>
      <p:sp>
        <p:nvSpPr>
          <p:cNvPr id="911" name="Bar1"/>
          <p:cNvSpPr>
            <a:spLocks noGrp="1"/>
          </p:cNvSpPr>
          <p:nvPr/>
        </p:nvSpPr>
        <p:spPr>
          <a:xfrm>
            <a:off x="1524000" y="5092700"/>
            <a:ext cx="1524000" cy="50800"/>
          </a:xfrm>
          <a:prstGeom prst="rect">
            <a:avLst/>
          </a:prstGeom>
          <a:solidFill>
            <a:srgbClr val="F8981D"/>
          </a:solidFill>
          <a:ln>
            <a:noFill/>
          </a:ln>
        </p:spPr>
        <p:txBody>
          <a:bodyPr/>
          <a:lstStyle/>
          <a:p>
            <a:endParaRPr lang="en-GB"/>
          </a:p>
        </p:txBody>
      </p:sp>
      <p:sp>
        <p:nvSpPr>
          <p:cNvPr id="912" name="Bar2"/>
          <p:cNvSpPr>
            <a:spLocks noGrp="1"/>
          </p:cNvSpPr>
          <p:nvPr/>
        </p:nvSpPr>
        <p:spPr>
          <a:xfrm>
            <a:off x="3048000" y="5092700"/>
            <a:ext cx="1524000" cy="50800"/>
          </a:xfrm>
          <a:prstGeom prst="rect">
            <a:avLst/>
          </a:prstGeom>
          <a:solidFill>
            <a:srgbClr val="FABF2D"/>
          </a:solidFill>
          <a:ln>
            <a:noFill/>
          </a:ln>
        </p:spPr>
        <p:txBody>
          <a:bodyPr/>
          <a:lstStyle/>
          <a:p>
            <a:endParaRPr lang="en-GB"/>
          </a:p>
        </p:txBody>
      </p:sp>
      <p:sp>
        <p:nvSpPr>
          <p:cNvPr id="913" name="Bar3"/>
          <p:cNvSpPr>
            <a:spLocks noGrp="1"/>
          </p:cNvSpPr>
          <p:nvPr/>
        </p:nvSpPr>
        <p:spPr>
          <a:xfrm>
            <a:off x="4572000" y="5092700"/>
            <a:ext cx="1524000" cy="50800"/>
          </a:xfrm>
          <a:prstGeom prst="rect">
            <a:avLst/>
          </a:prstGeom>
          <a:solidFill>
            <a:srgbClr val="8AC542"/>
          </a:solidFill>
          <a:ln>
            <a:noFill/>
          </a:ln>
        </p:spPr>
        <p:txBody>
          <a:bodyPr/>
          <a:lstStyle/>
          <a:p>
            <a:endParaRPr lang="en-GB"/>
          </a:p>
        </p:txBody>
      </p:sp>
      <p:sp>
        <p:nvSpPr>
          <p:cNvPr id="914" name="Bar4"/>
          <p:cNvSpPr>
            <a:spLocks noGrp="1"/>
          </p:cNvSpPr>
          <p:nvPr/>
        </p:nvSpPr>
        <p:spPr>
          <a:xfrm>
            <a:off x="6096000" y="5092700"/>
            <a:ext cx="1524000" cy="50800"/>
          </a:xfrm>
          <a:prstGeom prst="rect">
            <a:avLst/>
          </a:prstGeom>
          <a:solidFill>
            <a:srgbClr val="07BCD6"/>
          </a:solidFill>
          <a:ln>
            <a:noFill/>
          </a:ln>
        </p:spPr>
        <p:txBody>
          <a:bodyPr/>
          <a:lstStyle/>
          <a:p>
            <a:endParaRPr lang="en-GB"/>
          </a:p>
        </p:txBody>
      </p:sp>
      <p:sp>
        <p:nvSpPr>
          <p:cNvPr id="915" name="Bar5"/>
          <p:cNvSpPr>
            <a:spLocks noGrp="1"/>
          </p:cNvSpPr>
          <p:nvPr/>
        </p:nvSpPr>
        <p:spPr>
          <a:xfrm>
            <a:off x="7620000" y="5092700"/>
            <a:ext cx="1524000" cy="50800"/>
          </a:xfrm>
          <a:prstGeom prst="rect">
            <a:avLst/>
          </a:prstGeom>
          <a:solidFill>
            <a:srgbClr val="6366F1"/>
          </a:solidFill>
          <a:ln>
            <a:noFill/>
          </a:ln>
        </p:spPr>
        <p:txBody>
          <a:bodyPr/>
          <a:lstStyle/>
          <a:p>
            <a:endParaRPr lang="en-GB"/>
          </a:p>
        </p:txBody>
      </p:sp>
      <p:sp>
        <p:nvSpPr>
          <p:cNvPr id="100" name="C0BG"/>
          <p:cNvSpPr>
            <a:spLocks noGrp="1"/>
          </p:cNvSpPr>
          <p:nvPr/>
        </p:nvSpPr>
        <p:spPr>
          <a:xfrm>
            <a:off x="254000" y="914400"/>
            <a:ext cx="2886765" cy="1752600"/>
          </a:xfrm>
          <a:prstGeom prst="rect">
            <a:avLst/>
          </a:prstGeom>
          <a:solidFill>
            <a:srgbClr val="FFFFFF"/>
          </a:solidFill>
          <a:ln w="9525">
            <a:solidFill>
              <a:srgbClr val="E5E7EB"/>
            </a:solidFill>
          </a:ln>
        </p:spPr>
        <p:txBody>
          <a:bodyPr/>
          <a:lstStyle/>
          <a:p>
            <a:endParaRPr lang="en-GB"/>
          </a:p>
        </p:txBody>
      </p:sp>
      <p:sp>
        <p:nvSpPr>
          <p:cNvPr id="101" name="C0Bar"/>
          <p:cNvSpPr>
            <a:spLocks noGrp="1"/>
          </p:cNvSpPr>
          <p:nvPr/>
        </p:nvSpPr>
        <p:spPr>
          <a:xfrm>
            <a:off x="254000" y="914400"/>
            <a:ext cx="63500" cy="1752600"/>
          </a:xfrm>
          <a:prstGeom prst="rect">
            <a:avLst/>
          </a:prstGeom>
          <a:solidFill>
            <a:srgbClr val="EB1A63"/>
          </a:solidFill>
          <a:ln>
            <a:noFill/>
          </a:ln>
        </p:spPr>
        <p:txBody>
          <a:bodyPr/>
          <a:lstStyle/>
          <a:p>
            <a:endParaRPr lang="en-GB"/>
          </a:p>
        </p:txBody>
      </p:sp>
      <p:sp>
        <p:nvSpPr>
          <p:cNvPr id="102" name="C0Badge"/>
          <p:cNvSpPr>
            <a:spLocks noGrp="1"/>
          </p:cNvSpPr>
          <p:nvPr/>
        </p:nvSpPr>
        <p:spPr>
          <a:xfrm>
            <a:off x="431800" y="1066800"/>
            <a:ext cx="584200" cy="228600"/>
          </a:xfrm>
          <a:prstGeom prst="roundRect">
            <a:avLst>
              <a:gd name="adj" fmla="val 2500"/>
            </a:avLst>
          </a:prstGeom>
          <a:solidFill>
            <a:srgbClr val="EB1A63"/>
          </a:solidFill>
          <a:ln>
            <a:noFill/>
          </a:ln>
        </p:spPr>
        <p:txBody>
          <a:bodyPr wrap="square" lIns="25400" tIns="25400" rIns="25400" bIns="25400" anchor="ctr"/>
          <a:lstStyle/>
          <a:p>
            <a:pPr algn="ctr">
              <a:buNone/>
            </a:pPr>
            <a:r>
              <a:rPr lang="en-US" sz="700" b="1" dirty="0">
                <a:solidFill>
                  <a:srgbClr val="FFFFFF"/>
                </a:solidFill>
                <a:latin typeface="Calibri"/>
              </a:rPr>
              <a:t>GRAPH</a:t>
            </a:r>
          </a:p>
        </p:txBody>
      </p:sp>
      <p:sp>
        <p:nvSpPr>
          <p:cNvPr id="103" name="C0Label"/>
          <p:cNvSpPr>
            <a:spLocks noGrp="1"/>
          </p:cNvSpPr>
          <p:nvPr/>
        </p:nvSpPr>
        <p:spPr>
          <a:xfrm>
            <a:off x="1092200" y="1066800"/>
            <a:ext cx="1790700" cy="228600"/>
          </a:xfrm>
          <a:prstGeom prst="rect">
            <a:avLst/>
          </a:prstGeom>
          <a:noFill/>
          <a:ln>
            <a:noFill/>
          </a:ln>
        </p:spPr>
        <p:txBody>
          <a:bodyPr wrap="square" lIns="25400" tIns="25400" rIns="25400" bIns="25400" anchor="ctr"/>
          <a:lstStyle/>
          <a:p>
            <a:pPr>
              <a:buNone/>
            </a:pPr>
            <a:r>
              <a:rPr lang="en-US" sz="900" b="1" dirty="0">
                <a:solidFill>
                  <a:srgbClr val="111827"/>
                </a:solidFill>
                <a:latin typeface="Calibri"/>
              </a:rPr>
              <a:t>DX Graph — Product Model</a:t>
            </a:r>
          </a:p>
        </p:txBody>
      </p:sp>
      <p:sp>
        <p:nvSpPr>
          <p:cNvPr id="104" name="C0Div"/>
          <p:cNvSpPr>
            <a:spLocks noGrp="1"/>
          </p:cNvSpPr>
          <p:nvPr/>
        </p:nvSpPr>
        <p:spPr>
          <a:xfrm>
            <a:off x="431800" y="1371600"/>
            <a:ext cx="2527300" cy="1270"/>
          </a:xfrm>
          <a:prstGeom prst="line">
            <a:avLst/>
          </a:prstGeom>
          <a:noFill/>
          <a:ln w="6350">
            <a:solidFill>
              <a:srgbClr val="E5E7EB"/>
            </a:solidFill>
          </a:ln>
        </p:spPr>
        <p:txBody>
          <a:bodyPr/>
          <a:lstStyle/>
          <a:p>
            <a:endParaRPr lang="en-GB"/>
          </a:p>
        </p:txBody>
      </p:sp>
      <p:sp>
        <p:nvSpPr>
          <p:cNvPr id="105" name="C0Text"/>
          <p:cNvSpPr>
            <a:spLocks noGrp="1"/>
          </p:cNvSpPr>
          <p:nvPr/>
        </p:nvSpPr>
        <p:spPr>
          <a:xfrm>
            <a:off x="431800" y="1422400"/>
            <a:ext cx="2527300" cy="1168400"/>
          </a:xfrm>
          <a:prstGeom prst="rect">
            <a:avLst/>
          </a:prstGeom>
          <a:noFill/>
          <a:ln>
            <a:noFill/>
          </a:ln>
        </p:spPr>
        <p:txBody>
          <a:bodyPr wrap="square" lIns="25400" tIns="25400" rIns="25400" bIns="25400" anchor="t"/>
          <a:lstStyle/>
          <a:p>
            <a:pPr>
              <a:lnSpc>
                <a:spcPts val="1250"/>
              </a:lnSpc>
              <a:spcBef>
                <a:spcPts val="0"/>
              </a:spcBef>
              <a:buNone/>
            </a:pPr>
            <a:r>
              <a:rPr lang="en-US" sz="900" i="1" dirty="0">
                <a:solidFill>
                  <a:srgbClr val="6B7280"/>
                </a:solidFill>
                <a:latin typeface="Calibri"/>
              </a:rPr>
              <a:t>· SKU Collection: 28,089 records ingested from NetSuite</a:t>
            </a:r>
          </a:p>
          <a:p>
            <a:pPr>
              <a:lnSpc>
                <a:spcPts val="1250"/>
              </a:lnSpc>
              <a:spcBef>
                <a:spcPts val="200"/>
              </a:spcBef>
              <a:buNone/>
            </a:pPr>
            <a:r>
              <a:rPr lang="en-US" sz="900" i="1" dirty="0">
                <a:solidFill>
                  <a:srgbClr val="6B7280"/>
                </a:solidFill>
                <a:latin typeface="Calibri"/>
              </a:rPr>
              <a:t>· Matrix items exploded into individual variant nodes</a:t>
            </a:r>
          </a:p>
          <a:p>
            <a:pPr>
              <a:lnSpc>
                <a:spcPts val="1250"/>
              </a:lnSpc>
              <a:spcBef>
                <a:spcPts val="200"/>
              </a:spcBef>
              <a:buNone/>
            </a:pPr>
            <a:r>
              <a:rPr lang="en-US" sz="900" i="1" dirty="0">
                <a:solidFill>
                  <a:srgbClr val="6B7280"/>
                </a:solidFill>
                <a:latin typeface="Calibri"/>
              </a:rPr>
              <a:t>· Each node carries colour, cover, configuration attributes</a:t>
            </a:r>
          </a:p>
          <a:p>
            <a:pPr>
              <a:lnSpc>
                <a:spcPts val="1250"/>
              </a:lnSpc>
              <a:spcBef>
                <a:spcPts val="200"/>
              </a:spcBef>
              <a:buNone/>
            </a:pPr>
            <a:r>
              <a:rPr lang="en-US" sz="900" i="1" dirty="0">
                <a:solidFill>
                  <a:srgbClr val="6B7280"/>
                </a:solidFill>
                <a:latin typeface="Calibri"/>
              </a:rPr>
              <a:t>· Relationships typed: COMPATIBLE_WITH, BUNDLES, CONTAINS</a:t>
            </a:r>
          </a:p>
        </p:txBody>
      </p:sp>
      <p:sp>
        <p:nvSpPr>
          <p:cNvPr id="4" name="F">
            <a:extLst>
              <a:ext uri="{FF2B5EF4-FFF2-40B4-BE49-F238E27FC236}">
                <a16:creationId xmlns:a16="http://schemas.microsoft.com/office/drawing/2014/main" id="{10F5A100-A664-9536-7413-7B18D83886DC}"/>
              </a:ext>
            </a:extLst>
          </p:cNvPr>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dirty="0" err="1">
                <a:solidFill>
                  <a:srgbClr val="9CA3AF"/>
                </a:solidFill>
                <a:latin typeface="Calibri"/>
              </a:rPr>
              <a:t>Lovesac</a:t>
            </a:r>
            <a:r>
              <a:rPr lang="en-GB" sz="800" dirty="0">
                <a:solidFill>
                  <a:srgbClr val="9CA3AF"/>
                </a:solidFill>
                <a:latin typeface="Calibri"/>
              </a:rPr>
              <a:t> × </a:t>
            </a:r>
            <a:r>
              <a:rPr lang="en-GB" sz="800" dirty="0" err="1">
                <a:solidFill>
                  <a:srgbClr val="9CA3AF"/>
                </a:solidFill>
                <a:latin typeface="Calibri"/>
              </a:rPr>
              <a:t>Conscia</a:t>
            </a:r>
            <a:r>
              <a:rPr lang="en-GB" sz="800" dirty="0">
                <a:solidFill>
                  <a:srgbClr val="9CA3AF"/>
                </a:solidFill>
                <a:latin typeface="Calibri"/>
              </a:rPr>
              <a:t>  ·  Project Kick-off  ·  April 8, 2026</a:t>
            </a:r>
          </a:p>
        </p:txBody>
      </p:sp>
      <p:sp>
        <p:nvSpPr>
          <p:cNvPr id="6" name="TextBox 5">
            <a:extLst>
              <a:ext uri="{FF2B5EF4-FFF2-40B4-BE49-F238E27FC236}">
                <a16:creationId xmlns:a16="http://schemas.microsoft.com/office/drawing/2014/main" id="{2B1850DF-9255-C244-2A28-761426901097}"/>
              </a:ext>
            </a:extLst>
          </p:cNvPr>
          <p:cNvSpPr txBox="1"/>
          <p:nvPr/>
        </p:nvSpPr>
        <p:spPr>
          <a:xfrm>
            <a:off x="3719443" y="1493078"/>
            <a:ext cx="4717774" cy="584775"/>
          </a:xfrm>
          <a:prstGeom prst="rect">
            <a:avLst/>
          </a:prstGeom>
          <a:noFill/>
        </p:spPr>
        <p:txBody>
          <a:bodyPr wrap="square" rtlCol="0">
            <a:spAutoFit/>
          </a:bodyPr>
          <a:lstStyle/>
          <a:p>
            <a:r>
              <a:rPr lang="en-GB" sz="3200" b="1" dirty="0">
                <a:solidFill>
                  <a:srgbClr val="FF0000"/>
                </a:solidFill>
              </a:rPr>
              <a:t>Laurel to change / add</a:t>
            </a:r>
          </a:p>
        </p:txBody>
      </p:sp>
    </p:spTree>
    <p:extLst>
      <p:ext uri="{BB962C8B-B14F-4D97-AF65-F5344CB8AC3E}">
        <p14:creationId xmlns:p14="http://schemas.microsoft.com/office/powerpoint/2010/main" val="34582578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7772400" cy="457200"/>
          </a:xfrm>
          <a:prstGeom prst="rect">
            <a:avLst/>
          </a:prstGeom>
          <a:noFill/>
          <a:ln>
            <a:noFill/>
          </a:ln>
        </p:spPr>
        <p:txBody>
          <a:bodyPr wrap="square" lIns="0" tIns="0" rIns="0" bIns="0" anchor="b"/>
          <a:lstStyle/>
          <a:p>
            <a:pPr>
              <a:buNone/>
            </a:pPr>
            <a:r>
              <a:rPr lang="en-US" sz="2000" b="1" dirty="0">
                <a:solidFill>
                  <a:srgbClr val="111827"/>
                </a:solidFill>
              </a:rPr>
              <a:t>Implementation Timeline</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9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dirty="0" err="1">
                <a:solidFill>
                  <a:srgbClr val="9CA3AF"/>
                </a:solidFill>
              </a:rPr>
              <a:t>Lovesac</a:t>
            </a:r>
            <a:r>
              <a:rPr lang="en-GB" sz="800" dirty="0">
                <a:solidFill>
                  <a:srgbClr val="9CA3AF"/>
                </a:solidFill>
              </a:rPr>
              <a:t> × </a:t>
            </a:r>
            <a:r>
              <a:rPr lang="en-GB" sz="800" dirty="0" err="1">
                <a:solidFill>
                  <a:srgbClr val="9CA3AF"/>
                </a:solidFill>
              </a:rPr>
              <a:t>Conscia</a:t>
            </a:r>
            <a:r>
              <a:rPr lang="en-GB" sz="800" dirty="0">
                <a:solidFill>
                  <a:srgbClr val="9CA3AF"/>
                </a:solidFill>
              </a:rPr>
              <a:t>  ·  Project Kick-off  ·  April 8, 2026</a:t>
            </a:r>
            <a:endParaRPr lang="en-US" sz="800" dirty="0">
              <a:solidFill>
                <a:srgbClr val="9CA3AF"/>
              </a:solidFill>
            </a:endParaRPr>
          </a:p>
        </p:txBody>
      </p:sp>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10" name="Phase1BG"/>
          <p:cNvSpPr>
            <a:spLocks noGrp="1"/>
          </p:cNvSpPr>
          <p:nvPr/>
        </p:nvSpPr>
        <p:spPr>
          <a:xfrm>
            <a:off x="254000" y="914400"/>
            <a:ext cx="2006600" cy="2946400"/>
          </a:xfrm>
          <a:prstGeom prst="rect">
            <a:avLst/>
          </a:prstGeom>
          <a:solidFill>
            <a:srgbClr val="FFFFFF"/>
          </a:solidFill>
          <a:ln w="9525">
            <a:solidFill>
              <a:srgbClr val="E5E7EB"/>
            </a:solidFill>
          </a:ln>
        </p:spPr>
        <p:txBody>
          <a:bodyPr/>
          <a:lstStyle/>
          <a:p>
            <a:endParaRPr lang="en-GB"/>
          </a:p>
        </p:txBody>
      </p:sp>
      <p:sp>
        <p:nvSpPr>
          <p:cNvPr id="11" name="Phase1Accent"/>
          <p:cNvSpPr>
            <a:spLocks noGrp="1"/>
          </p:cNvSpPr>
          <p:nvPr/>
        </p:nvSpPr>
        <p:spPr>
          <a:xfrm>
            <a:off x="254000" y="914400"/>
            <a:ext cx="2006600" cy="50800"/>
          </a:xfrm>
          <a:prstGeom prst="rect">
            <a:avLst/>
          </a:prstGeom>
          <a:solidFill>
            <a:srgbClr val="EB1A63"/>
          </a:solidFill>
          <a:ln>
            <a:noFill/>
          </a:ln>
        </p:spPr>
        <p:txBody>
          <a:bodyPr/>
          <a:lstStyle/>
          <a:p>
            <a:endParaRPr lang="en-GB"/>
          </a:p>
        </p:txBody>
      </p:sp>
      <p:sp>
        <p:nvSpPr>
          <p:cNvPr id="12" name="Phase1Text"/>
          <p:cNvSpPr>
            <a:spLocks noGrp="1"/>
          </p:cNvSpPr>
          <p:nvPr/>
        </p:nvSpPr>
        <p:spPr>
          <a:xfrm>
            <a:off x="355600" y="1016000"/>
            <a:ext cx="1803400" cy="2794000"/>
          </a:xfrm>
          <a:prstGeom prst="rect">
            <a:avLst/>
          </a:prstGeom>
          <a:noFill/>
          <a:ln>
            <a:noFill/>
          </a:ln>
        </p:spPr>
        <p:txBody>
          <a:bodyPr wrap="square" lIns="50800" tIns="50800" rIns="50800" bIns="50800" anchor="t"/>
          <a:lstStyle/>
          <a:p>
            <a:pPr>
              <a:lnSpc>
                <a:spcPts val="1200"/>
              </a:lnSpc>
              <a:spcBef>
                <a:spcPts val="0"/>
              </a:spcBef>
              <a:buNone/>
            </a:pPr>
            <a:r>
              <a:rPr lang="en-US" sz="825" b="1" dirty="0">
                <a:solidFill>
                  <a:srgbClr val="EB1A63"/>
                </a:solidFill>
                <a:latin typeface="Calibri"/>
              </a:rPr>
              <a:t>PHASE 1</a:t>
            </a:r>
          </a:p>
          <a:p>
            <a:pPr>
              <a:lnSpc>
                <a:spcPts val="1200"/>
              </a:lnSpc>
              <a:spcBef>
                <a:spcPts val="40"/>
              </a:spcBef>
              <a:buNone/>
            </a:pPr>
            <a:r>
              <a:rPr lang="en-US" sz="800" dirty="0">
                <a:solidFill>
                  <a:srgbClr val="9CA3AF"/>
                </a:solidFill>
                <a:latin typeface="Calibri"/>
              </a:rPr>
              <a:t>Weeks 1–3</a:t>
            </a:r>
          </a:p>
          <a:p>
            <a:pPr>
              <a:lnSpc>
                <a:spcPts val="1200"/>
              </a:lnSpc>
              <a:spcBef>
                <a:spcPts val="20"/>
              </a:spcBef>
              <a:buNone/>
            </a:pPr>
            <a:r>
              <a:rPr lang="en-US" sz="850" dirty="0">
                <a:solidFill>
                  <a:srgbClr val="6B7280"/>
                </a:solidFill>
                <a:latin typeface="Calibri"/>
              </a:rPr>
              <a:t>Apr 14 – May 2</a:t>
            </a:r>
          </a:p>
          <a:p>
            <a:pPr>
              <a:lnSpc>
                <a:spcPts val="1200"/>
              </a:lnSpc>
              <a:spcBef>
                <a:spcPts val="180"/>
              </a:spcBef>
              <a:buNone/>
            </a:pPr>
            <a:r>
              <a:rPr lang="en-US" sz="1050" b="1" dirty="0">
                <a:solidFill>
                  <a:srgbClr val="111827"/>
                </a:solidFill>
                <a:latin typeface="Calibri"/>
              </a:rPr>
              <a:t>Foundation &amp; Data</a:t>
            </a:r>
          </a:p>
          <a:p>
            <a:pPr marL="137160" indent="-137160">
              <a:lnSpc>
                <a:spcPts val="1200"/>
              </a:lnSpc>
              <a:spcBef>
                <a:spcPts val="150"/>
              </a:spcBef>
              <a:buFont typeface="Arial"/>
              <a:buChar char="•"/>
            </a:pPr>
            <a:r>
              <a:rPr lang="en-US" sz="875" dirty="0">
                <a:solidFill>
                  <a:srgbClr val="374151"/>
                </a:solidFill>
                <a:latin typeface="Calibri"/>
              </a:rPr>
              <a:t>Provision DX Graph environment</a:t>
            </a:r>
          </a:p>
          <a:p>
            <a:pPr marL="137160" indent="-137160">
              <a:lnSpc>
                <a:spcPts val="1200"/>
              </a:lnSpc>
              <a:spcBef>
                <a:spcPts val="80"/>
              </a:spcBef>
              <a:buFont typeface="Arial"/>
              <a:buChar char="•"/>
            </a:pPr>
            <a:r>
              <a:rPr lang="en-US" sz="875" dirty="0">
                <a:solidFill>
                  <a:srgbClr val="374151"/>
                </a:solidFill>
                <a:latin typeface="Calibri"/>
              </a:rPr>
              <a:t>Model SKU Collection (single collection, all 28,089 SKUs)</a:t>
            </a:r>
          </a:p>
          <a:p>
            <a:pPr marL="137160" indent="-137160">
              <a:lnSpc>
                <a:spcPts val="1200"/>
              </a:lnSpc>
              <a:spcBef>
                <a:spcPts val="80"/>
              </a:spcBef>
              <a:buFont typeface="Arial"/>
              <a:buChar char="•"/>
            </a:pPr>
            <a:r>
              <a:rPr lang="en-US" sz="875" dirty="0">
                <a:solidFill>
                  <a:srgbClr val="374151"/>
                </a:solidFill>
                <a:latin typeface="Calibri"/>
              </a:rPr>
              <a:t>Model Configuration Collection</a:t>
            </a:r>
          </a:p>
          <a:p>
            <a:pPr marL="137160" indent="-137160">
              <a:lnSpc>
                <a:spcPts val="1200"/>
              </a:lnSpc>
              <a:spcBef>
                <a:spcPts val="80"/>
              </a:spcBef>
              <a:buFont typeface="Arial"/>
              <a:buChar char="•"/>
            </a:pPr>
            <a:r>
              <a:rPr lang="en-US" sz="875" dirty="0">
                <a:solidFill>
                  <a:srgbClr val="374151"/>
                </a:solidFill>
                <a:latin typeface="Calibri"/>
              </a:rPr>
              <a:t>Build Cover↔Insert COMPATIBLE_WITH Dynamic Relationship</a:t>
            </a:r>
          </a:p>
        </p:txBody>
      </p:sp>
      <p:sp>
        <p:nvSpPr>
          <p:cNvPr id="20" name="Phase2BG"/>
          <p:cNvSpPr>
            <a:spLocks noGrp="1"/>
          </p:cNvSpPr>
          <p:nvPr/>
        </p:nvSpPr>
        <p:spPr>
          <a:xfrm>
            <a:off x="2362200" y="914400"/>
            <a:ext cx="2006600" cy="2946400"/>
          </a:xfrm>
          <a:prstGeom prst="rect">
            <a:avLst/>
          </a:prstGeom>
          <a:solidFill>
            <a:srgbClr val="FFFFFF"/>
          </a:solidFill>
          <a:ln w="9525">
            <a:solidFill>
              <a:srgbClr val="E5E7EB"/>
            </a:solidFill>
          </a:ln>
        </p:spPr>
        <p:txBody>
          <a:bodyPr/>
          <a:lstStyle/>
          <a:p>
            <a:endParaRPr lang="en-GB"/>
          </a:p>
        </p:txBody>
      </p:sp>
      <p:sp>
        <p:nvSpPr>
          <p:cNvPr id="21" name="Phase2Accent"/>
          <p:cNvSpPr>
            <a:spLocks noGrp="1"/>
          </p:cNvSpPr>
          <p:nvPr/>
        </p:nvSpPr>
        <p:spPr>
          <a:xfrm>
            <a:off x="2362200" y="914400"/>
            <a:ext cx="2006600" cy="50800"/>
          </a:xfrm>
          <a:prstGeom prst="rect">
            <a:avLst/>
          </a:prstGeom>
          <a:solidFill>
            <a:srgbClr val="F8981D"/>
          </a:solidFill>
          <a:ln>
            <a:noFill/>
          </a:ln>
        </p:spPr>
        <p:txBody>
          <a:bodyPr/>
          <a:lstStyle/>
          <a:p>
            <a:endParaRPr lang="en-GB"/>
          </a:p>
        </p:txBody>
      </p:sp>
      <p:sp>
        <p:nvSpPr>
          <p:cNvPr id="22" name="Phase2Text"/>
          <p:cNvSpPr>
            <a:spLocks noGrp="1"/>
          </p:cNvSpPr>
          <p:nvPr/>
        </p:nvSpPr>
        <p:spPr>
          <a:xfrm>
            <a:off x="2463800" y="1016000"/>
            <a:ext cx="1803400" cy="2794000"/>
          </a:xfrm>
          <a:prstGeom prst="rect">
            <a:avLst/>
          </a:prstGeom>
          <a:noFill/>
          <a:ln>
            <a:noFill/>
          </a:ln>
        </p:spPr>
        <p:txBody>
          <a:bodyPr wrap="square" lIns="50800" tIns="50800" rIns="50800" bIns="50800" anchor="t"/>
          <a:lstStyle/>
          <a:p>
            <a:pPr>
              <a:lnSpc>
                <a:spcPts val="1200"/>
              </a:lnSpc>
              <a:spcBef>
                <a:spcPts val="0"/>
              </a:spcBef>
              <a:buNone/>
            </a:pPr>
            <a:r>
              <a:rPr lang="en-US" sz="825" b="1" dirty="0">
                <a:solidFill>
                  <a:srgbClr val="F8981D"/>
                </a:solidFill>
                <a:latin typeface="Calibri"/>
              </a:rPr>
              <a:t>PHASE 2</a:t>
            </a:r>
          </a:p>
          <a:p>
            <a:pPr>
              <a:lnSpc>
                <a:spcPts val="1200"/>
              </a:lnSpc>
              <a:spcBef>
                <a:spcPts val="40"/>
              </a:spcBef>
              <a:buNone/>
            </a:pPr>
            <a:r>
              <a:rPr lang="en-US" sz="800" dirty="0">
                <a:solidFill>
                  <a:srgbClr val="9CA3AF"/>
                </a:solidFill>
                <a:latin typeface="Calibri"/>
              </a:rPr>
              <a:t>Weeks 4–6</a:t>
            </a:r>
          </a:p>
          <a:p>
            <a:pPr>
              <a:lnSpc>
                <a:spcPts val="1200"/>
              </a:lnSpc>
              <a:spcBef>
                <a:spcPts val="20"/>
              </a:spcBef>
              <a:buNone/>
            </a:pPr>
            <a:r>
              <a:rPr lang="en-US" sz="850" dirty="0">
                <a:solidFill>
                  <a:srgbClr val="6B7280"/>
                </a:solidFill>
                <a:latin typeface="Calibri"/>
              </a:rPr>
              <a:t>May 5 – May 23</a:t>
            </a:r>
          </a:p>
          <a:p>
            <a:pPr>
              <a:lnSpc>
                <a:spcPts val="1200"/>
              </a:lnSpc>
              <a:spcBef>
                <a:spcPts val="180"/>
              </a:spcBef>
              <a:buNone/>
            </a:pPr>
            <a:r>
              <a:rPr lang="en-US" sz="1050" b="1" dirty="0">
                <a:solidFill>
                  <a:srgbClr val="111827"/>
                </a:solidFill>
                <a:latin typeface="Calibri"/>
              </a:rPr>
              <a:t>Taxonomy &amp; Ingest</a:t>
            </a:r>
          </a:p>
          <a:p>
            <a:pPr marL="137160" indent="-137160">
              <a:lnSpc>
                <a:spcPts val="1200"/>
              </a:lnSpc>
              <a:spcBef>
                <a:spcPts val="150"/>
              </a:spcBef>
              <a:buFont typeface="Arial"/>
              <a:buChar char="•"/>
            </a:pPr>
            <a:r>
              <a:rPr lang="en-US" sz="875" dirty="0">
                <a:solidFill>
                  <a:srgbClr val="374151"/>
                </a:solidFill>
                <a:latin typeface="Calibri"/>
              </a:rPr>
              <a:t>Model up to 3 Taxonomy Collections</a:t>
            </a:r>
          </a:p>
          <a:p>
            <a:pPr marL="137160" indent="-137160">
              <a:lnSpc>
                <a:spcPts val="1200"/>
              </a:lnSpc>
              <a:spcBef>
                <a:spcPts val="80"/>
              </a:spcBef>
              <a:buFont typeface="Arial"/>
              <a:buChar char="•"/>
            </a:pPr>
            <a:r>
              <a:rPr lang="en-US" sz="875" dirty="0">
                <a:solidFill>
                  <a:srgbClr val="374151"/>
                </a:solidFill>
                <a:latin typeface="Calibri"/>
              </a:rPr>
              <a:t>Map all SKUs via MAPS_TO</a:t>
            </a:r>
          </a:p>
          <a:p>
            <a:pPr marL="137160" indent="-137160">
              <a:lnSpc>
                <a:spcPts val="1200"/>
              </a:lnSpc>
              <a:spcBef>
                <a:spcPts val="80"/>
              </a:spcBef>
              <a:buFont typeface="Arial"/>
              <a:buChar char="•"/>
            </a:pPr>
            <a:r>
              <a:rPr lang="en-US" sz="875" dirty="0">
                <a:solidFill>
                  <a:srgbClr val="374151"/>
                </a:solidFill>
                <a:latin typeface="Calibri"/>
              </a:rPr>
              <a:t>Configure ingest Jobs from 3 source backends (via Celigo where applicable)</a:t>
            </a:r>
          </a:p>
          <a:p>
            <a:pPr marL="137160" indent="-137160">
              <a:lnSpc>
                <a:spcPts val="1200"/>
              </a:lnSpc>
              <a:spcBef>
                <a:spcPts val="80"/>
              </a:spcBef>
              <a:buFont typeface="Arial"/>
              <a:buChar char="•"/>
            </a:pPr>
            <a:r>
              <a:rPr lang="en-US" sz="875" dirty="0">
                <a:solidFill>
                  <a:srgbClr val="374151"/>
                </a:solidFill>
                <a:latin typeface="Calibri"/>
              </a:rPr>
              <a:t>Validate data completeness and AI-derived compatibility rules with Lovesac team</a:t>
            </a:r>
          </a:p>
        </p:txBody>
      </p:sp>
      <p:sp>
        <p:nvSpPr>
          <p:cNvPr id="30" name="Phase3BG"/>
          <p:cNvSpPr>
            <a:spLocks noGrp="1"/>
          </p:cNvSpPr>
          <p:nvPr/>
        </p:nvSpPr>
        <p:spPr>
          <a:xfrm>
            <a:off x="4470400" y="914400"/>
            <a:ext cx="2006600" cy="2946400"/>
          </a:xfrm>
          <a:prstGeom prst="rect">
            <a:avLst/>
          </a:prstGeom>
          <a:solidFill>
            <a:srgbClr val="FFFFFF"/>
          </a:solidFill>
          <a:ln w="9525">
            <a:solidFill>
              <a:srgbClr val="E5E7EB"/>
            </a:solidFill>
          </a:ln>
        </p:spPr>
        <p:txBody>
          <a:bodyPr/>
          <a:lstStyle/>
          <a:p>
            <a:endParaRPr lang="en-GB"/>
          </a:p>
        </p:txBody>
      </p:sp>
      <p:sp>
        <p:nvSpPr>
          <p:cNvPr id="31" name="Phase3Accent"/>
          <p:cNvSpPr>
            <a:spLocks noGrp="1"/>
          </p:cNvSpPr>
          <p:nvPr/>
        </p:nvSpPr>
        <p:spPr>
          <a:xfrm>
            <a:off x="4470400" y="914400"/>
            <a:ext cx="2006600" cy="50800"/>
          </a:xfrm>
          <a:prstGeom prst="rect">
            <a:avLst/>
          </a:prstGeom>
          <a:solidFill>
            <a:srgbClr val="07BCD6"/>
          </a:solidFill>
          <a:ln>
            <a:noFill/>
          </a:ln>
        </p:spPr>
        <p:txBody>
          <a:bodyPr/>
          <a:lstStyle/>
          <a:p>
            <a:endParaRPr lang="en-GB"/>
          </a:p>
        </p:txBody>
      </p:sp>
      <p:sp>
        <p:nvSpPr>
          <p:cNvPr id="32" name="Phase3Text"/>
          <p:cNvSpPr>
            <a:spLocks noGrp="1"/>
          </p:cNvSpPr>
          <p:nvPr/>
        </p:nvSpPr>
        <p:spPr>
          <a:xfrm>
            <a:off x="4572000" y="1016000"/>
            <a:ext cx="1803400" cy="2794000"/>
          </a:xfrm>
          <a:prstGeom prst="rect">
            <a:avLst/>
          </a:prstGeom>
          <a:noFill/>
          <a:ln>
            <a:noFill/>
          </a:ln>
        </p:spPr>
        <p:txBody>
          <a:bodyPr wrap="square" lIns="50800" tIns="50800" rIns="50800" bIns="50800" anchor="t"/>
          <a:lstStyle/>
          <a:p>
            <a:pPr>
              <a:lnSpc>
                <a:spcPts val="1200"/>
              </a:lnSpc>
              <a:spcBef>
                <a:spcPts val="0"/>
              </a:spcBef>
              <a:buNone/>
            </a:pPr>
            <a:r>
              <a:rPr lang="en-US" sz="825" b="1" dirty="0">
                <a:solidFill>
                  <a:srgbClr val="07BCD6"/>
                </a:solidFill>
                <a:latin typeface="Calibri"/>
              </a:rPr>
              <a:t>PHASE 3</a:t>
            </a:r>
          </a:p>
          <a:p>
            <a:pPr>
              <a:lnSpc>
                <a:spcPts val="1200"/>
              </a:lnSpc>
              <a:spcBef>
                <a:spcPts val="40"/>
              </a:spcBef>
              <a:buNone/>
            </a:pPr>
            <a:r>
              <a:rPr lang="en-US" sz="800" dirty="0">
                <a:solidFill>
                  <a:srgbClr val="9CA3AF"/>
                </a:solidFill>
                <a:latin typeface="Calibri"/>
              </a:rPr>
              <a:t>Weeks 7–10</a:t>
            </a:r>
          </a:p>
          <a:p>
            <a:pPr>
              <a:lnSpc>
                <a:spcPts val="1200"/>
              </a:lnSpc>
              <a:spcBef>
                <a:spcPts val="20"/>
              </a:spcBef>
              <a:buNone/>
            </a:pPr>
            <a:r>
              <a:rPr lang="en-US" sz="850" dirty="0">
                <a:solidFill>
                  <a:srgbClr val="6B7280"/>
                </a:solidFill>
                <a:latin typeface="Calibri"/>
              </a:rPr>
              <a:t>May 26 – Jun 20</a:t>
            </a:r>
          </a:p>
          <a:p>
            <a:pPr>
              <a:lnSpc>
                <a:spcPts val="1200"/>
              </a:lnSpc>
              <a:spcBef>
                <a:spcPts val="180"/>
              </a:spcBef>
              <a:buNone/>
            </a:pPr>
            <a:r>
              <a:rPr lang="en-US" sz="1050" b="1" dirty="0">
                <a:solidFill>
                  <a:srgbClr val="111827"/>
                </a:solidFill>
                <a:latin typeface="Calibri"/>
              </a:rPr>
              <a:t>DX Engine POC</a:t>
            </a:r>
          </a:p>
          <a:p>
            <a:pPr marL="137160" indent="-137160">
              <a:lnSpc>
                <a:spcPts val="1200"/>
              </a:lnSpc>
              <a:spcBef>
                <a:spcPts val="150"/>
              </a:spcBef>
              <a:buFont typeface="Arial"/>
              <a:buChar char="•"/>
            </a:pPr>
            <a:r>
              <a:rPr lang="en-US" sz="875" dirty="0">
                <a:solidFill>
                  <a:srgbClr val="374151"/>
                </a:solidFill>
                <a:latin typeface="Calibri"/>
              </a:rPr>
              <a:t>Build Config Validation orchestration flow</a:t>
            </a:r>
          </a:p>
          <a:p>
            <a:pPr marL="137160" indent="-137160">
              <a:lnSpc>
                <a:spcPts val="1200"/>
              </a:lnSpc>
              <a:spcBef>
                <a:spcPts val="80"/>
              </a:spcBef>
              <a:buFont typeface="Arial"/>
              <a:buChar char="•"/>
            </a:pPr>
            <a:r>
              <a:rPr lang="en-US" sz="875" dirty="0">
                <a:solidFill>
                  <a:srgbClr val="374151"/>
                </a:solidFill>
                <a:latin typeface="Calibri"/>
              </a:rPr>
              <a:t>Build Wizard Step Options flow</a:t>
            </a:r>
          </a:p>
          <a:p>
            <a:pPr marL="137160" indent="-137160">
              <a:lnSpc>
                <a:spcPts val="1200"/>
              </a:lnSpc>
              <a:spcBef>
                <a:spcPts val="80"/>
              </a:spcBef>
              <a:buFont typeface="Arial"/>
              <a:buChar char="•"/>
            </a:pPr>
            <a:r>
              <a:rPr lang="en-US" sz="875" dirty="0">
                <a:solidFill>
                  <a:srgbClr val="374151"/>
                </a:solidFill>
                <a:latin typeface="Calibri"/>
              </a:rPr>
              <a:t>Build Config ID Creation flow (with DX Graph API write-back)</a:t>
            </a:r>
          </a:p>
          <a:p>
            <a:pPr marL="137160" indent="-137160">
              <a:lnSpc>
                <a:spcPts val="1200"/>
              </a:lnSpc>
              <a:spcBef>
                <a:spcPts val="80"/>
              </a:spcBef>
              <a:buFont typeface="Arial"/>
              <a:buChar char="•"/>
            </a:pPr>
            <a:r>
              <a:rPr lang="en-US" sz="875" dirty="0">
                <a:solidFill>
                  <a:srgbClr val="374151"/>
                </a:solidFill>
                <a:latin typeface="Calibri"/>
              </a:rPr>
              <a:t>Build BOM Explosion flow (POS / OMS / warehouse output shapes)</a:t>
            </a:r>
          </a:p>
        </p:txBody>
      </p:sp>
      <p:sp>
        <p:nvSpPr>
          <p:cNvPr id="40" name="Phase4BG"/>
          <p:cNvSpPr>
            <a:spLocks noGrp="1"/>
          </p:cNvSpPr>
          <p:nvPr/>
        </p:nvSpPr>
        <p:spPr>
          <a:xfrm>
            <a:off x="6578600" y="914400"/>
            <a:ext cx="2006600" cy="2946400"/>
          </a:xfrm>
          <a:prstGeom prst="rect">
            <a:avLst/>
          </a:prstGeom>
          <a:solidFill>
            <a:srgbClr val="FFFFFF"/>
          </a:solidFill>
          <a:ln w="9525">
            <a:solidFill>
              <a:srgbClr val="E5E7EB"/>
            </a:solidFill>
          </a:ln>
        </p:spPr>
        <p:txBody>
          <a:bodyPr/>
          <a:lstStyle/>
          <a:p>
            <a:endParaRPr lang="en-GB"/>
          </a:p>
        </p:txBody>
      </p:sp>
      <p:sp>
        <p:nvSpPr>
          <p:cNvPr id="41" name="Phase4Accent"/>
          <p:cNvSpPr>
            <a:spLocks noGrp="1"/>
          </p:cNvSpPr>
          <p:nvPr/>
        </p:nvSpPr>
        <p:spPr>
          <a:xfrm>
            <a:off x="6578600" y="914400"/>
            <a:ext cx="2006600" cy="50800"/>
          </a:xfrm>
          <a:prstGeom prst="rect">
            <a:avLst/>
          </a:prstGeom>
          <a:solidFill>
            <a:srgbClr val="8AC542"/>
          </a:solidFill>
          <a:ln>
            <a:noFill/>
          </a:ln>
        </p:spPr>
        <p:txBody>
          <a:bodyPr/>
          <a:lstStyle/>
          <a:p>
            <a:endParaRPr lang="en-GB"/>
          </a:p>
        </p:txBody>
      </p:sp>
      <p:sp>
        <p:nvSpPr>
          <p:cNvPr id="42" name="Phase4Text"/>
          <p:cNvSpPr>
            <a:spLocks noGrp="1"/>
          </p:cNvSpPr>
          <p:nvPr/>
        </p:nvSpPr>
        <p:spPr>
          <a:xfrm>
            <a:off x="6680200" y="1016000"/>
            <a:ext cx="1803400" cy="2794000"/>
          </a:xfrm>
          <a:prstGeom prst="rect">
            <a:avLst/>
          </a:prstGeom>
          <a:noFill/>
          <a:ln>
            <a:noFill/>
          </a:ln>
        </p:spPr>
        <p:txBody>
          <a:bodyPr wrap="square" lIns="50800" tIns="50800" rIns="50800" bIns="50800" anchor="t"/>
          <a:lstStyle/>
          <a:p>
            <a:pPr>
              <a:lnSpc>
                <a:spcPts val="1200"/>
              </a:lnSpc>
              <a:spcBef>
                <a:spcPts val="0"/>
              </a:spcBef>
              <a:buNone/>
            </a:pPr>
            <a:r>
              <a:rPr lang="en-US" sz="825" b="1" dirty="0">
                <a:solidFill>
                  <a:srgbClr val="8AC542"/>
                </a:solidFill>
                <a:latin typeface="Calibri"/>
              </a:rPr>
              <a:t>PHASE 4</a:t>
            </a:r>
          </a:p>
          <a:p>
            <a:pPr>
              <a:lnSpc>
                <a:spcPts val="1200"/>
              </a:lnSpc>
              <a:spcBef>
                <a:spcPts val="40"/>
              </a:spcBef>
              <a:buNone/>
            </a:pPr>
            <a:r>
              <a:rPr lang="en-US" sz="800" dirty="0">
                <a:solidFill>
                  <a:srgbClr val="9CA3AF"/>
                </a:solidFill>
                <a:latin typeface="Calibri"/>
              </a:rPr>
              <a:t>Weeks 11–12</a:t>
            </a:r>
          </a:p>
          <a:p>
            <a:pPr>
              <a:lnSpc>
                <a:spcPts val="1200"/>
              </a:lnSpc>
              <a:spcBef>
                <a:spcPts val="20"/>
              </a:spcBef>
              <a:buNone/>
            </a:pPr>
            <a:r>
              <a:rPr lang="en-US" sz="850" dirty="0">
                <a:solidFill>
                  <a:srgbClr val="6B7280"/>
                </a:solidFill>
                <a:latin typeface="Calibri"/>
              </a:rPr>
              <a:t>Jun 23 – Jul 4</a:t>
            </a:r>
          </a:p>
          <a:p>
            <a:pPr>
              <a:lnSpc>
                <a:spcPts val="1200"/>
              </a:lnSpc>
              <a:spcBef>
                <a:spcPts val="180"/>
              </a:spcBef>
              <a:buNone/>
            </a:pPr>
            <a:r>
              <a:rPr lang="en-US" sz="1050" b="1" dirty="0">
                <a:solidFill>
                  <a:srgbClr val="111827"/>
                </a:solidFill>
                <a:latin typeface="Calibri"/>
              </a:rPr>
              <a:t>Testing &amp; Handoff</a:t>
            </a:r>
          </a:p>
          <a:p>
            <a:pPr marL="137160" indent="-137160">
              <a:lnSpc>
                <a:spcPts val="1200"/>
              </a:lnSpc>
              <a:spcBef>
                <a:spcPts val="150"/>
              </a:spcBef>
              <a:buFont typeface="Arial"/>
              <a:buChar char="•"/>
            </a:pPr>
            <a:r>
              <a:rPr lang="en-US" sz="875" dirty="0">
                <a:solidFill>
                  <a:srgbClr val="374151"/>
                </a:solidFill>
                <a:latin typeface="Calibri"/>
              </a:rPr>
              <a:t>End-to-end integration testing across all flows</a:t>
            </a:r>
          </a:p>
          <a:p>
            <a:pPr marL="137160" indent="-137160">
              <a:lnSpc>
                <a:spcPts val="1200"/>
              </a:lnSpc>
              <a:spcBef>
                <a:spcPts val="80"/>
              </a:spcBef>
              <a:buFont typeface="Arial"/>
              <a:buChar char="•"/>
            </a:pPr>
            <a:r>
              <a:rPr lang="en-US" sz="875" dirty="0">
                <a:solidFill>
                  <a:srgbClr val="374151"/>
                </a:solidFill>
                <a:latin typeface="Calibri"/>
              </a:rPr>
              <a:t>Channel QA (POS via Salesforce Retail Cloud, Lovesac.com sandbox)</a:t>
            </a:r>
          </a:p>
          <a:p>
            <a:pPr marL="137160" indent="-137160">
              <a:lnSpc>
                <a:spcPts val="1200"/>
              </a:lnSpc>
              <a:spcBef>
                <a:spcPts val="80"/>
              </a:spcBef>
              <a:buFont typeface="Arial"/>
              <a:buChar char="•"/>
            </a:pPr>
            <a:r>
              <a:rPr lang="en-US" sz="875" dirty="0">
                <a:solidFill>
                  <a:srgbClr val="374151"/>
                </a:solidFill>
                <a:latin typeface="Calibri"/>
              </a:rPr>
              <a:t>Documentation and runbooks</a:t>
            </a:r>
          </a:p>
          <a:p>
            <a:pPr marL="137160" indent="-137160">
              <a:lnSpc>
                <a:spcPts val="1200"/>
              </a:lnSpc>
              <a:spcBef>
                <a:spcPts val="80"/>
              </a:spcBef>
              <a:buFont typeface="Arial"/>
              <a:buChar char="•"/>
            </a:pPr>
            <a:r>
              <a:rPr lang="en-US" sz="875" dirty="0">
                <a:solidFill>
                  <a:srgbClr val="374151"/>
                </a:solidFill>
                <a:latin typeface="Calibri"/>
              </a:rPr>
              <a:t>Knowledge transfer to Lovesac team</a:t>
            </a:r>
          </a:p>
        </p:txBody>
      </p:sp>
      <p:sp>
        <p:nvSpPr>
          <p:cNvPr id="50" name="Arr1"/>
          <p:cNvSpPr>
            <a:spLocks noGrp="1"/>
          </p:cNvSpPr>
          <p:nvPr/>
        </p:nvSpPr>
        <p:spPr>
          <a:xfrm>
            <a:off x="2260600" y="2311400"/>
            <a:ext cx="101600" cy="152400"/>
          </a:xfrm>
          <a:prstGeom prst="rightArrow">
            <a:avLst>
              <a:gd name="adj1" fmla="val 50000"/>
              <a:gd name="adj2" fmla="val 50000"/>
            </a:avLst>
          </a:prstGeom>
          <a:solidFill>
            <a:srgbClr val="D1D5DB"/>
          </a:solidFill>
          <a:ln>
            <a:noFill/>
          </a:ln>
        </p:spPr>
        <p:txBody>
          <a:bodyPr/>
          <a:lstStyle/>
          <a:p>
            <a:endParaRPr lang="en-GB"/>
          </a:p>
        </p:txBody>
      </p:sp>
      <p:sp>
        <p:nvSpPr>
          <p:cNvPr id="51" name="Arr2"/>
          <p:cNvSpPr>
            <a:spLocks noGrp="1"/>
          </p:cNvSpPr>
          <p:nvPr/>
        </p:nvSpPr>
        <p:spPr>
          <a:xfrm>
            <a:off x="4368800" y="2311400"/>
            <a:ext cx="101600" cy="152400"/>
          </a:xfrm>
          <a:prstGeom prst="rightArrow">
            <a:avLst>
              <a:gd name="adj1" fmla="val 50000"/>
              <a:gd name="adj2" fmla="val 50000"/>
            </a:avLst>
          </a:prstGeom>
          <a:solidFill>
            <a:srgbClr val="D1D5DB"/>
          </a:solidFill>
          <a:ln>
            <a:noFill/>
          </a:ln>
        </p:spPr>
        <p:txBody>
          <a:bodyPr/>
          <a:lstStyle/>
          <a:p>
            <a:endParaRPr lang="en-GB"/>
          </a:p>
        </p:txBody>
      </p:sp>
      <p:sp>
        <p:nvSpPr>
          <p:cNvPr id="52" name="Arr3"/>
          <p:cNvSpPr>
            <a:spLocks noGrp="1"/>
          </p:cNvSpPr>
          <p:nvPr/>
        </p:nvSpPr>
        <p:spPr>
          <a:xfrm>
            <a:off x="6477000" y="2311400"/>
            <a:ext cx="101600" cy="152400"/>
          </a:xfrm>
          <a:prstGeom prst="rightArrow">
            <a:avLst>
              <a:gd name="adj1" fmla="val 50000"/>
              <a:gd name="adj2" fmla="val 50000"/>
            </a:avLst>
          </a:prstGeom>
          <a:solidFill>
            <a:srgbClr val="D1D5DB"/>
          </a:solidFill>
          <a:ln>
            <a:noFill/>
          </a:ln>
        </p:spPr>
        <p:txBody>
          <a:bodyPr/>
          <a:lstStyle/>
          <a:p>
            <a:endParaRPr lang="en-GB"/>
          </a:p>
        </p:txBody>
      </p:sp>
      <p:sp>
        <p:nvSpPr>
          <p:cNvPr id="60" name="DepBG"/>
          <p:cNvSpPr>
            <a:spLocks noGrp="1"/>
          </p:cNvSpPr>
          <p:nvPr/>
        </p:nvSpPr>
        <p:spPr>
          <a:xfrm>
            <a:off x="254000" y="3987800"/>
            <a:ext cx="8636000" cy="584200"/>
          </a:xfrm>
          <a:prstGeom prst="roundRect">
            <a:avLst>
              <a:gd name="adj" fmla="val 1500"/>
            </a:avLst>
          </a:prstGeom>
          <a:solidFill>
            <a:srgbClr val="FFFBEB"/>
          </a:solidFill>
          <a:ln w="9525">
            <a:solidFill>
              <a:srgbClr val="FDE68A"/>
            </a:solidFill>
          </a:ln>
        </p:spPr>
        <p:txBody>
          <a:bodyPr/>
          <a:lstStyle/>
          <a:p>
            <a:endParaRPr lang="en-GB"/>
          </a:p>
        </p:txBody>
      </p:sp>
      <p:sp>
        <p:nvSpPr>
          <p:cNvPr id="70" name="DepBadge0"/>
          <p:cNvSpPr>
            <a:spLocks noGrp="1"/>
          </p:cNvSpPr>
          <p:nvPr/>
        </p:nvSpPr>
        <p:spPr>
          <a:xfrm>
            <a:off x="254000" y="4038600"/>
            <a:ext cx="1955800" cy="127000"/>
          </a:xfrm>
          <a:prstGeom prst="rect">
            <a:avLst/>
          </a:prstGeom>
          <a:noFill/>
          <a:ln>
            <a:noFill/>
          </a:ln>
        </p:spPr>
        <p:txBody>
          <a:bodyPr wrap="square" lIns="25400" tIns="25400" rIns="25400" bIns="25400" anchor="t"/>
          <a:lstStyle/>
          <a:p>
            <a:pPr>
              <a:lnSpc>
                <a:spcPts val="1200"/>
              </a:lnSpc>
              <a:spcBef>
                <a:spcPts val="0"/>
              </a:spcBef>
              <a:buNone/>
            </a:pPr>
            <a:r>
              <a:rPr lang="en-US" sz="750" b="1" dirty="0">
                <a:solidFill>
                  <a:srgbClr val="EB1A63"/>
                </a:solidFill>
                <a:latin typeface="Calibri"/>
              </a:rPr>
              <a:t>⚠  Phase 1 dependency</a:t>
            </a:r>
          </a:p>
        </p:txBody>
      </p:sp>
      <p:sp>
        <p:nvSpPr>
          <p:cNvPr id="71" name="DepText0"/>
          <p:cNvSpPr>
            <a:spLocks noGrp="1"/>
          </p:cNvSpPr>
          <p:nvPr/>
        </p:nvSpPr>
        <p:spPr>
          <a:xfrm>
            <a:off x="254000" y="4191000"/>
            <a:ext cx="1955800" cy="381000"/>
          </a:xfrm>
          <a:prstGeom prst="rect">
            <a:avLst/>
          </a:prstGeom>
          <a:noFill/>
          <a:ln>
            <a:noFill/>
          </a:ln>
        </p:spPr>
        <p:txBody>
          <a:bodyPr wrap="square" lIns="25400" tIns="25400" rIns="25400" bIns="25400" anchor="t"/>
          <a:lstStyle/>
          <a:p>
            <a:pPr>
              <a:lnSpc>
                <a:spcPts val="1200"/>
              </a:lnSpc>
              <a:spcBef>
                <a:spcPts val="50"/>
              </a:spcBef>
              <a:buNone/>
            </a:pPr>
            <a:r>
              <a:rPr lang="en-US" sz="725" dirty="0">
                <a:solidFill>
                  <a:srgbClr val="6B7280"/>
                </a:solidFill>
                <a:latin typeface="Calibri"/>
              </a:rPr>
              <a:t>Source backend confirmation (Q1)</a:t>
            </a:r>
          </a:p>
          <a:p>
            <a:pPr>
              <a:lnSpc>
                <a:spcPts val="1200"/>
              </a:lnSpc>
              <a:spcBef>
                <a:spcPts val="40"/>
              </a:spcBef>
              <a:buNone/>
            </a:pPr>
            <a:r>
              <a:rPr lang="en-US" sz="725" b="1" dirty="0">
                <a:solidFill>
                  <a:srgbClr val="B45309"/>
                </a:solidFill>
                <a:latin typeface="Calibri"/>
              </a:rPr>
              <a:t>Required by Apr 11</a:t>
            </a:r>
          </a:p>
        </p:txBody>
      </p:sp>
      <p:sp>
        <p:nvSpPr>
          <p:cNvPr id="73" name="DepBadge1"/>
          <p:cNvSpPr>
            <a:spLocks noGrp="1"/>
          </p:cNvSpPr>
          <p:nvPr/>
        </p:nvSpPr>
        <p:spPr>
          <a:xfrm>
            <a:off x="2362200" y="4038600"/>
            <a:ext cx="1955800" cy="127000"/>
          </a:xfrm>
          <a:prstGeom prst="rect">
            <a:avLst/>
          </a:prstGeom>
          <a:noFill/>
          <a:ln>
            <a:noFill/>
          </a:ln>
        </p:spPr>
        <p:txBody>
          <a:bodyPr wrap="square" lIns="25400" tIns="25400" rIns="25400" bIns="25400" anchor="t"/>
          <a:lstStyle/>
          <a:p>
            <a:pPr>
              <a:lnSpc>
                <a:spcPts val="1200"/>
              </a:lnSpc>
              <a:spcBef>
                <a:spcPts val="0"/>
              </a:spcBef>
              <a:buNone/>
            </a:pPr>
            <a:r>
              <a:rPr lang="en-US" sz="750" b="1" dirty="0">
                <a:solidFill>
                  <a:srgbClr val="F8981D"/>
                </a:solidFill>
                <a:latin typeface="Calibri"/>
              </a:rPr>
              <a:t>⚠  Phase 2 dependency</a:t>
            </a:r>
          </a:p>
        </p:txBody>
      </p:sp>
      <p:sp>
        <p:nvSpPr>
          <p:cNvPr id="74" name="DepText1"/>
          <p:cNvSpPr>
            <a:spLocks noGrp="1"/>
          </p:cNvSpPr>
          <p:nvPr/>
        </p:nvSpPr>
        <p:spPr>
          <a:xfrm>
            <a:off x="2362200" y="4191000"/>
            <a:ext cx="1955800" cy="381000"/>
          </a:xfrm>
          <a:prstGeom prst="rect">
            <a:avLst/>
          </a:prstGeom>
          <a:noFill/>
          <a:ln>
            <a:noFill/>
          </a:ln>
        </p:spPr>
        <p:txBody>
          <a:bodyPr wrap="square" lIns="25400" tIns="25400" rIns="25400" bIns="25400" anchor="t"/>
          <a:lstStyle/>
          <a:p>
            <a:pPr>
              <a:lnSpc>
                <a:spcPts val="1200"/>
              </a:lnSpc>
              <a:spcBef>
                <a:spcPts val="50"/>
              </a:spcBef>
              <a:buNone/>
            </a:pPr>
            <a:r>
              <a:rPr lang="en-US" sz="725" dirty="0">
                <a:solidFill>
                  <a:srgbClr val="6B7280"/>
                </a:solidFill>
                <a:latin typeface="Calibri"/>
              </a:rPr>
              <a:t>Hierarchy decision (Q3) + adjacency rules (Q5)</a:t>
            </a:r>
          </a:p>
          <a:p>
            <a:pPr>
              <a:lnSpc>
                <a:spcPts val="1200"/>
              </a:lnSpc>
              <a:spcBef>
                <a:spcPts val="40"/>
              </a:spcBef>
              <a:buNone/>
            </a:pPr>
            <a:r>
              <a:rPr lang="en-US" sz="725" b="1" dirty="0">
                <a:solidFill>
                  <a:srgbClr val="B45309"/>
                </a:solidFill>
                <a:latin typeface="Calibri"/>
              </a:rPr>
              <a:t>Required by May 2</a:t>
            </a:r>
          </a:p>
        </p:txBody>
      </p:sp>
      <p:sp>
        <p:nvSpPr>
          <p:cNvPr id="76" name="DepBadge2"/>
          <p:cNvSpPr>
            <a:spLocks noGrp="1"/>
          </p:cNvSpPr>
          <p:nvPr/>
        </p:nvSpPr>
        <p:spPr>
          <a:xfrm>
            <a:off x="4470400" y="4038600"/>
            <a:ext cx="1955800" cy="127000"/>
          </a:xfrm>
          <a:prstGeom prst="rect">
            <a:avLst/>
          </a:prstGeom>
          <a:noFill/>
          <a:ln>
            <a:noFill/>
          </a:ln>
        </p:spPr>
        <p:txBody>
          <a:bodyPr wrap="square" lIns="25400" tIns="25400" rIns="25400" bIns="25400" anchor="t"/>
          <a:lstStyle/>
          <a:p>
            <a:pPr>
              <a:lnSpc>
                <a:spcPts val="1200"/>
              </a:lnSpc>
              <a:spcBef>
                <a:spcPts val="0"/>
              </a:spcBef>
              <a:buNone/>
            </a:pPr>
            <a:r>
              <a:rPr lang="en-US" sz="750" b="1" dirty="0">
                <a:solidFill>
                  <a:srgbClr val="07BCD6"/>
                </a:solidFill>
                <a:latin typeface="Calibri"/>
              </a:rPr>
              <a:t>⚠  Phase 3 dependency</a:t>
            </a:r>
          </a:p>
        </p:txBody>
      </p:sp>
      <p:sp>
        <p:nvSpPr>
          <p:cNvPr id="77" name="DepText2"/>
          <p:cNvSpPr>
            <a:spLocks noGrp="1"/>
          </p:cNvSpPr>
          <p:nvPr/>
        </p:nvSpPr>
        <p:spPr>
          <a:xfrm>
            <a:off x="4470400" y="4191000"/>
            <a:ext cx="1955800" cy="381000"/>
          </a:xfrm>
          <a:prstGeom prst="rect">
            <a:avLst/>
          </a:prstGeom>
          <a:noFill/>
          <a:ln>
            <a:noFill/>
          </a:ln>
        </p:spPr>
        <p:txBody>
          <a:bodyPr wrap="square" lIns="25400" tIns="25400" rIns="25400" bIns="25400" anchor="t"/>
          <a:lstStyle/>
          <a:p>
            <a:pPr>
              <a:lnSpc>
                <a:spcPts val="1200"/>
              </a:lnSpc>
              <a:spcBef>
                <a:spcPts val="50"/>
              </a:spcBef>
              <a:buNone/>
            </a:pPr>
            <a:r>
              <a:rPr lang="en-US" sz="725" dirty="0">
                <a:solidFill>
                  <a:srgbClr val="6B7280"/>
                </a:solidFill>
                <a:latin typeface="Calibri"/>
              </a:rPr>
              <a:t>Quickship resolution (Q4) + PLM alignment (Q2)</a:t>
            </a:r>
          </a:p>
          <a:p>
            <a:pPr>
              <a:lnSpc>
                <a:spcPts val="1200"/>
              </a:lnSpc>
              <a:spcBef>
                <a:spcPts val="40"/>
              </a:spcBef>
              <a:buNone/>
            </a:pPr>
            <a:r>
              <a:rPr lang="en-US" sz="725" b="1" dirty="0">
                <a:solidFill>
                  <a:srgbClr val="B45309"/>
                </a:solidFill>
                <a:latin typeface="Calibri"/>
              </a:rPr>
              <a:t>Required by May 23</a:t>
            </a:r>
          </a:p>
        </p:txBody>
      </p:sp>
      <p:sp>
        <p:nvSpPr>
          <p:cNvPr id="79" name="DepNone"/>
          <p:cNvSpPr>
            <a:spLocks noGrp="1"/>
          </p:cNvSpPr>
          <p:nvPr/>
        </p:nvSpPr>
        <p:spPr>
          <a:xfrm>
            <a:off x="6578600" y="4038600"/>
            <a:ext cx="1955800" cy="127000"/>
          </a:xfrm>
          <a:prstGeom prst="rect">
            <a:avLst/>
          </a:prstGeom>
          <a:noFill/>
          <a:ln>
            <a:noFill/>
          </a:ln>
        </p:spPr>
        <p:txBody>
          <a:bodyPr wrap="square" lIns="50800" tIns="50800" rIns="50800" bIns="50800" anchor="t"/>
          <a:lstStyle/>
          <a:p>
            <a:pPr>
              <a:lnSpc>
                <a:spcPts val="1200"/>
              </a:lnSpc>
              <a:spcBef>
                <a:spcPts val="0"/>
              </a:spcBef>
              <a:buNone/>
            </a:pPr>
            <a:r>
              <a:rPr lang="en-US" sz="750" b="1" dirty="0">
                <a:solidFill>
                  <a:srgbClr val="8AC542"/>
                </a:solidFill>
                <a:latin typeface="Calibri"/>
              </a:rPr>
              <a:t>✓  Phase 4 — clear to proceed</a:t>
            </a:r>
          </a:p>
        </p:txBody>
      </p:sp>
      <p:sp>
        <p:nvSpPr>
          <p:cNvPr id="80" name="Footnote"/>
          <p:cNvSpPr>
            <a:spLocks noGrp="1"/>
          </p:cNvSpPr>
          <p:nvPr/>
        </p:nvSpPr>
        <p:spPr>
          <a:xfrm>
            <a:off x="254000" y="4648200"/>
            <a:ext cx="8636000" cy="177800"/>
          </a:xfrm>
          <a:prstGeom prst="rect">
            <a:avLst/>
          </a:prstGeom>
          <a:noFill/>
          <a:ln>
            <a:noFill/>
          </a:ln>
        </p:spPr>
        <p:txBody>
          <a:bodyPr wrap="square" lIns="25400" tIns="25400" rIns="25400" bIns="25400" anchor="t"/>
          <a:lstStyle/>
          <a:p>
            <a:pPr>
              <a:lnSpc>
                <a:spcPts val="1200"/>
              </a:lnSpc>
              <a:spcBef>
                <a:spcPts val="0"/>
              </a:spcBef>
              <a:buNone/>
            </a:pPr>
            <a:r>
              <a:rPr lang="en-US" sz="775" i="1" dirty="0">
                <a:solidFill>
                  <a:srgbClr val="9CA3AF"/>
                </a:solidFill>
                <a:latin typeface="Calibri"/>
              </a:rPr>
              <a:t>Calendar dates are indicative and assume open questions are resolved per the dependency flags above. </a:t>
            </a:r>
          </a:p>
        </p:txBody>
      </p:sp>
      <p:sp>
        <p:nvSpPr>
          <p:cNvPr id="82" name="DepText3"/>
          <p:cNvSpPr>
            <a:spLocks noGrp="1"/>
          </p:cNvSpPr>
          <p:nvPr/>
        </p:nvSpPr>
        <p:spPr>
          <a:xfrm>
            <a:off x="6578600" y="4191000"/>
            <a:ext cx="1955800" cy="381000"/>
          </a:xfrm>
          <a:prstGeom prst="rect">
            <a:avLst/>
          </a:prstGeom>
          <a:noFill/>
          <a:ln>
            <a:noFill/>
          </a:ln>
        </p:spPr>
        <p:txBody>
          <a:bodyPr wrap="square" lIns="25400" tIns="25400" rIns="25400" bIns="25400" anchor="t"/>
          <a:lstStyle/>
          <a:p>
            <a:pPr>
              <a:lnSpc>
                <a:spcPts val="1200"/>
              </a:lnSpc>
              <a:spcBef>
                <a:spcPts val="0"/>
              </a:spcBef>
              <a:buNone/>
            </a:pPr>
            <a:r>
              <a:rPr lang="en-US" sz="725" dirty="0">
                <a:solidFill>
                  <a:srgbClr val="6B7280"/>
                </a:solidFill>
                <a:latin typeface="Calibri"/>
              </a:rPr>
              <a:t>No blocking dependencies</a:t>
            </a:r>
          </a:p>
          <a:p>
            <a:pPr>
              <a:lnSpc>
                <a:spcPts val="1200"/>
              </a:lnSpc>
              <a:spcBef>
                <a:spcPts val="40"/>
              </a:spcBef>
              <a:buNone/>
            </a:pPr>
            <a:r>
              <a:rPr lang="en-US" sz="725" i="1" dirty="0">
                <a:solidFill>
                  <a:srgbClr val="6B7280"/>
                </a:solidFill>
                <a:latin typeface="Calibri"/>
              </a:rPr>
              <a:t>Contingent on Phases 1–3 completing on schedule</a:t>
            </a:r>
          </a:p>
        </p:txBody>
      </p:sp>
    </p:spTree>
    <p:extLst>
      <p:ext uri="{BB962C8B-B14F-4D97-AF65-F5344CB8AC3E}">
        <p14:creationId xmlns:p14="http://schemas.microsoft.com/office/powerpoint/2010/main" val="2525875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G"/>
          <p:cNvSpPr>
            <a:spLocks noGrp="1"/>
          </p:cNvSpPr>
          <p:nvPr/>
        </p:nvSpPr>
        <p:spPr>
          <a:xfrm>
            <a:off x="0" y="0"/>
            <a:ext cx="9144000" cy="5143500"/>
          </a:xfrm>
          <a:prstGeom prst="rect">
            <a:avLst/>
          </a:prstGeom>
          <a:solidFill>
            <a:srgbClr val="FDF2F8"/>
          </a:solidFill>
          <a:ln>
            <a:noFill/>
          </a:ln>
        </p:spPr>
        <p:txBody>
          <a:bodyPr/>
          <a:lstStyle/>
          <a:p>
            <a:endParaRPr lang="en-GB"/>
          </a:p>
        </p:txBody>
      </p:sp>
      <p:sp>
        <p:nvSpPr>
          <p:cNvPr id="5" name="DecCircle"/>
          <p:cNvSpPr>
            <a:spLocks noGrp="1"/>
          </p:cNvSpPr>
          <p:nvPr/>
        </p:nvSpPr>
        <p:spPr>
          <a:xfrm>
            <a:off x="6223000" y="3810000"/>
            <a:ext cx="3810000" cy="3810000"/>
          </a:xfrm>
          <a:prstGeom prst="ellipse">
            <a:avLst/>
          </a:prstGeom>
          <a:solidFill>
            <a:srgbClr val="FBCFE8">
              <a:alpha val="30000"/>
            </a:srgbClr>
          </a:solidFill>
          <a:ln>
            <a:noFill/>
          </a:ln>
        </p:spPr>
        <p:txBody>
          <a:bodyPr/>
          <a:lstStyle/>
          <a:p>
            <a:endParaRPr lang="en-GB"/>
          </a:p>
        </p:txBody>
      </p:sp>
      <p:sp>
        <p:nvSpPr>
          <p:cNvPr id="2" name="Stripe"/>
          <p:cNvSpPr>
            <a:spLocks noGrp="1"/>
          </p:cNvSpPr>
          <p:nvPr/>
        </p:nvSpPr>
        <p:spPr>
          <a:xfrm>
            <a:off x="0" y="0"/>
            <a:ext cx="101600" cy="5143500"/>
          </a:xfrm>
          <a:prstGeom prst="rect">
            <a:avLst/>
          </a:prstGeom>
          <a:solidFill>
            <a:srgbClr val="EB1A63"/>
          </a:solidFill>
          <a:ln>
            <a:noFill/>
          </a:ln>
        </p:spPr>
        <p:txBody>
          <a:bodyPr/>
          <a:lstStyle/>
          <a:p>
            <a:endParaRPr lang="en-GB"/>
          </a:p>
        </p:txBody>
      </p:sp>
      <p:sp>
        <p:nvSpPr>
          <p:cNvPr id="10" name="SectionTag"/>
          <p:cNvSpPr>
            <a:spLocks noGrp="1"/>
          </p:cNvSpPr>
          <p:nvPr/>
        </p:nvSpPr>
        <p:spPr>
          <a:xfrm>
            <a:off x="3759200" y="1930400"/>
            <a:ext cx="1625600" cy="304800"/>
          </a:xfrm>
          <a:prstGeom prst="roundRect">
            <a:avLst>
              <a:gd name="adj" fmla="val 50000"/>
            </a:avLst>
          </a:prstGeom>
          <a:solidFill>
            <a:srgbClr val="C2185B"/>
          </a:solidFill>
          <a:ln>
            <a:noFill/>
          </a:ln>
        </p:spPr>
        <p:txBody>
          <a:bodyPr wrap="square" lIns="50800" tIns="25400" rIns="50800" bIns="25400" anchor="ctr"/>
          <a:lstStyle/>
          <a:p>
            <a:pPr algn="ctr">
              <a:buNone/>
            </a:pPr>
            <a:r>
              <a:rPr lang="en-US" sz="850" b="1" spc="150" dirty="0">
                <a:solidFill>
                  <a:srgbClr val="FFFFFF"/>
                </a:solidFill>
                <a:latin typeface="Calibri"/>
              </a:rPr>
              <a:t>SECTION 02</a:t>
            </a:r>
          </a:p>
        </p:txBody>
      </p:sp>
      <p:sp>
        <p:nvSpPr>
          <p:cNvPr id="20" name="AppendixTitle"/>
          <p:cNvSpPr>
            <a:spLocks noGrp="1"/>
          </p:cNvSpPr>
          <p:nvPr/>
        </p:nvSpPr>
        <p:spPr>
          <a:xfrm>
            <a:off x="762000" y="2362200"/>
            <a:ext cx="7620000" cy="863600"/>
          </a:xfrm>
          <a:prstGeom prst="rect">
            <a:avLst/>
          </a:prstGeom>
          <a:noFill/>
          <a:ln>
            <a:noFill/>
          </a:ln>
        </p:spPr>
        <p:txBody>
          <a:bodyPr wrap="square" lIns="0" tIns="0" rIns="0" bIns="0" anchor="ctr"/>
          <a:lstStyle/>
          <a:p>
            <a:pPr algn="ctr">
              <a:buNone/>
            </a:pPr>
            <a:r>
              <a:rPr lang="en-US" sz="5600" b="1" spc="-100" dirty="0">
                <a:solidFill>
                  <a:srgbClr val="111827"/>
                </a:solidFill>
                <a:latin typeface="Calibri"/>
              </a:rPr>
              <a:t>APPENDIX</a:t>
            </a:r>
          </a:p>
        </p:txBody>
      </p:sp>
      <p:sp>
        <p:nvSpPr>
          <p:cNvPr id="21" name="AppendixSub"/>
          <p:cNvSpPr>
            <a:spLocks noGrp="1"/>
          </p:cNvSpPr>
          <p:nvPr/>
        </p:nvSpPr>
        <p:spPr>
          <a:xfrm>
            <a:off x="1016000" y="3276600"/>
            <a:ext cx="7112000" cy="431800"/>
          </a:xfrm>
          <a:prstGeom prst="rect">
            <a:avLst/>
          </a:prstGeom>
          <a:noFill/>
          <a:ln>
            <a:noFill/>
          </a:ln>
        </p:spPr>
        <p:txBody>
          <a:bodyPr wrap="square" lIns="0" tIns="0" rIns="0" bIns="0" anchor="ctr"/>
          <a:lstStyle/>
          <a:p>
            <a:pPr algn="ctr">
              <a:buNone/>
            </a:pPr>
            <a:r>
              <a:rPr lang="en-US" sz="1400" dirty="0">
                <a:solidFill>
                  <a:srgbClr val="6B7280"/>
                </a:solidFill>
                <a:latin typeface="Calibri"/>
              </a:rPr>
              <a:t>Reference material — Threekit &amp; Conscia comparison and phased role transition.</a:t>
            </a:r>
          </a:p>
        </p:txBody>
      </p:sp>
      <p:sp>
        <p:nvSpPr>
          <p:cNvPr id="910" name="Bar0"/>
          <p:cNvSpPr>
            <a:spLocks noGrp="1"/>
          </p:cNvSpPr>
          <p:nvPr/>
        </p:nvSpPr>
        <p:spPr>
          <a:xfrm>
            <a:off x="0" y="5092700"/>
            <a:ext cx="1524000" cy="50800"/>
          </a:xfrm>
          <a:prstGeom prst="rect">
            <a:avLst/>
          </a:prstGeom>
          <a:solidFill>
            <a:srgbClr val="EB1A63"/>
          </a:solidFill>
          <a:ln>
            <a:noFill/>
          </a:ln>
        </p:spPr>
        <p:txBody>
          <a:bodyPr/>
          <a:lstStyle/>
          <a:p>
            <a:endParaRPr lang="en-GB"/>
          </a:p>
        </p:txBody>
      </p:sp>
      <p:sp>
        <p:nvSpPr>
          <p:cNvPr id="911" name="Bar1"/>
          <p:cNvSpPr>
            <a:spLocks noGrp="1"/>
          </p:cNvSpPr>
          <p:nvPr/>
        </p:nvSpPr>
        <p:spPr>
          <a:xfrm>
            <a:off x="1524000" y="5092700"/>
            <a:ext cx="1524000" cy="50800"/>
          </a:xfrm>
          <a:prstGeom prst="rect">
            <a:avLst/>
          </a:prstGeom>
          <a:solidFill>
            <a:srgbClr val="F8981D"/>
          </a:solidFill>
          <a:ln>
            <a:noFill/>
          </a:ln>
        </p:spPr>
        <p:txBody>
          <a:bodyPr/>
          <a:lstStyle/>
          <a:p>
            <a:endParaRPr lang="en-GB"/>
          </a:p>
        </p:txBody>
      </p:sp>
      <p:sp>
        <p:nvSpPr>
          <p:cNvPr id="912" name="Bar2"/>
          <p:cNvSpPr>
            <a:spLocks noGrp="1"/>
          </p:cNvSpPr>
          <p:nvPr/>
        </p:nvSpPr>
        <p:spPr>
          <a:xfrm>
            <a:off x="3048000" y="5092700"/>
            <a:ext cx="1524000" cy="50800"/>
          </a:xfrm>
          <a:prstGeom prst="rect">
            <a:avLst/>
          </a:prstGeom>
          <a:solidFill>
            <a:srgbClr val="FABF2D"/>
          </a:solidFill>
          <a:ln>
            <a:noFill/>
          </a:ln>
        </p:spPr>
        <p:txBody>
          <a:bodyPr/>
          <a:lstStyle/>
          <a:p>
            <a:endParaRPr lang="en-GB"/>
          </a:p>
        </p:txBody>
      </p:sp>
      <p:sp>
        <p:nvSpPr>
          <p:cNvPr id="913" name="Bar3"/>
          <p:cNvSpPr>
            <a:spLocks noGrp="1"/>
          </p:cNvSpPr>
          <p:nvPr/>
        </p:nvSpPr>
        <p:spPr>
          <a:xfrm>
            <a:off x="4572000" y="5092700"/>
            <a:ext cx="1524000" cy="50800"/>
          </a:xfrm>
          <a:prstGeom prst="rect">
            <a:avLst/>
          </a:prstGeom>
          <a:solidFill>
            <a:srgbClr val="8AC542"/>
          </a:solidFill>
          <a:ln>
            <a:noFill/>
          </a:ln>
        </p:spPr>
        <p:txBody>
          <a:bodyPr/>
          <a:lstStyle/>
          <a:p>
            <a:endParaRPr lang="en-GB"/>
          </a:p>
        </p:txBody>
      </p:sp>
      <p:sp>
        <p:nvSpPr>
          <p:cNvPr id="914" name="Bar4"/>
          <p:cNvSpPr>
            <a:spLocks noGrp="1"/>
          </p:cNvSpPr>
          <p:nvPr/>
        </p:nvSpPr>
        <p:spPr>
          <a:xfrm>
            <a:off x="6096000" y="5092700"/>
            <a:ext cx="1524000" cy="50800"/>
          </a:xfrm>
          <a:prstGeom prst="rect">
            <a:avLst/>
          </a:prstGeom>
          <a:solidFill>
            <a:srgbClr val="07BCD6"/>
          </a:solidFill>
          <a:ln>
            <a:noFill/>
          </a:ln>
        </p:spPr>
        <p:txBody>
          <a:bodyPr/>
          <a:lstStyle/>
          <a:p>
            <a:endParaRPr lang="en-GB"/>
          </a:p>
        </p:txBody>
      </p:sp>
      <p:sp>
        <p:nvSpPr>
          <p:cNvPr id="915" name="Bar5"/>
          <p:cNvSpPr>
            <a:spLocks noGrp="1"/>
          </p:cNvSpPr>
          <p:nvPr/>
        </p:nvSpPr>
        <p:spPr>
          <a:xfrm>
            <a:off x="7620000" y="5092700"/>
            <a:ext cx="1524000" cy="50800"/>
          </a:xfrm>
          <a:prstGeom prst="rect">
            <a:avLst/>
          </a:prstGeom>
          <a:solidFill>
            <a:srgbClr val="6366F1"/>
          </a:solidFill>
          <a:ln>
            <a:noFill/>
          </a:ln>
        </p:spPr>
        <p:txBody>
          <a:bodyPr/>
          <a:lstStyle/>
          <a:p>
            <a:endParaRPr lang="en-GB"/>
          </a:p>
        </p:txBody>
      </p:sp>
      <p:sp>
        <p:nvSpPr>
          <p:cNvPr id="4" name="Footer">
            <a:extLst>
              <a:ext uri="{FF2B5EF4-FFF2-40B4-BE49-F238E27FC236}">
                <a16:creationId xmlns:a16="http://schemas.microsoft.com/office/drawing/2014/main" id="{37F38B2E-6F4F-B866-11D3-506E130F1916}"/>
              </a:ext>
            </a:extLst>
          </p:cNvPr>
          <p:cNvSpPr/>
          <p:nvPr/>
        </p:nvSpPr>
        <p:spPr>
          <a:xfrm>
            <a:off x="0" y="4876800"/>
            <a:ext cx="9144000" cy="266700"/>
          </a:xfrm>
          <a:prstGeom prst="rect">
            <a:avLst/>
          </a:prstGeom>
          <a:noFill/>
          <a:ln>
            <a:noFill/>
          </a:ln>
        </p:spPr>
        <p:txBody>
          <a:bodyPr wrap="square" lIns="0" tIns="0" rIns="0" bIns="0" anchor="ctr"/>
          <a:lstStyle/>
          <a:p>
            <a:pPr algn="ctr">
              <a:buNone/>
            </a:pPr>
            <a:r>
              <a:rPr lang="en-GB" sz="800" dirty="0" err="1">
                <a:solidFill>
                  <a:srgbClr val="9CA3AF"/>
                </a:solidFill>
              </a:rPr>
              <a:t>Lovesac</a:t>
            </a:r>
            <a:r>
              <a:rPr lang="en-GB" sz="800" dirty="0">
                <a:solidFill>
                  <a:srgbClr val="9CA3AF"/>
                </a:solidFill>
              </a:rPr>
              <a:t> × </a:t>
            </a:r>
            <a:r>
              <a:rPr lang="en-GB" sz="800" dirty="0" err="1">
                <a:solidFill>
                  <a:srgbClr val="9CA3AF"/>
                </a:solidFill>
              </a:rPr>
              <a:t>Conscia</a:t>
            </a:r>
            <a:r>
              <a:rPr lang="en-GB" sz="800" dirty="0">
                <a:solidFill>
                  <a:srgbClr val="9CA3AF"/>
                </a:solidFill>
              </a:rPr>
              <a:t>  ·  Project Kick-off  ·  April 8, 2026</a:t>
            </a:r>
            <a:endParaRPr lang="en-US" sz="800" dirty="0">
              <a:solidFill>
                <a:srgbClr val="9CA3AF"/>
              </a:solidFill>
            </a:endParaRPr>
          </a:p>
        </p:txBody>
      </p:sp>
    </p:spTree>
    <p:extLst>
      <p:ext uri="{BB962C8B-B14F-4D97-AF65-F5344CB8AC3E}">
        <p14:creationId xmlns:p14="http://schemas.microsoft.com/office/powerpoint/2010/main" val="139138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a:spLocks noGrp="1"/>
          </p:cNvSpPr>
          <p:nvPr/>
        </p:nvSpPr>
        <p:spPr>
          <a:xfrm>
            <a:off x="0" y="0"/>
            <a:ext cx="9144000" cy="5143500"/>
          </a:xfrm>
          <a:prstGeom prst="rect">
            <a:avLst/>
          </a:prstGeom>
          <a:gradFill>
            <a:gsLst>
              <a:gs pos="0">
                <a:srgbClr val="FBF2F4"/>
              </a:gs>
              <a:gs pos="100000">
                <a:srgbClr val="F5EDF0"/>
              </a:gs>
            </a:gsLst>
            <a:lin ang="5400000" scaled="1"/>
          </a:gradFill>
          <a:ln>
            <a:noFill/>
          </a:ln>
        </p:spPr>
        <p:txBody>
          <a:bodyPr/>
          <a:lstStyle/>
          <a:p>
            <a:endParaRPr/>
          </a:p>
        </p:txBody>
      </p:sp>
      <p:sp>
        <p:nvSpPr>
          <p:cNvPr id="10" name="LeftBar"/>
          <p:cNvSpPr>
            <a:spLocks noGrp="1"/>
          </p:cNvSpPr>
          <p:nvPr/>
        </p:nvSpPr>
        <p:spPr>
          <a:xfrm>
            <a:off x="0" y="0"/>
            <a:ext cx="101600" cy="5143500"/>
          </a:xfrm>
          <a:prstGeom prst="rect">
            <a:avLst/>
          </a:prstGeom>
          <a:solidFill>
            <a:srgbClr val="EB1A63"/>
          </a:solidFill>
          <a:ln>
            <a:noFill/>
          </a:ln>
        </p:spPr>
        <p:txBody>
          <a:bodyPr wrap="square" lIns="63500" tIns="25400" rIns="63500" bIns="25400" anchor="ctr"/>
          <a:lstStyle/>
          <a:p>
            <a:endParaRPr/>
          </a:p>
        </p:txBody>
      </p:sp>
      <p:sp>
        <p:nvSpPr>
          <p:cNvPr id="11" name="Header"/>
          <p:cNvSpPr>
            <a:spLocks noGrp="1"/>
          </p:cNvSpPr>
          <p:nvPr/>
        </p:nvSpPr>
        <p:spPr>
          <a:xfrm>
            <a:off x="101600" y="0"/>
            <a:ext cx="9042400" cy="711200"/>
          </a:xfrm>
          <a:prstGeom prst="rect">
            <a:avLst/>
          </a:prstGeom>
          <a:solidFill>
            <a:srgbClr val="FFFFFF"/>
          </a:solidFill>
          <a:ln>
            <a:noFill/>
          </a:ln>
        </p:spPr>
        <p:txBody>
          <a:bodyPr wrap="square" lIns="63500" tIns="25400" rIns="63500" bIns="25400" anchor="ctr"/>
          <a:lstStyle/>
          <a:p>
            <a:endParaRPr/>
          </a:p>
        </p:txBody>
      </p:sp>
      <p:sp>
        <p:nvSpPr>
          <p:cNvPr id="12" name="Title"/>
          <p:cNvSpPr>
            <a:spLocks noGrp="1"/>
          </p:cNvSpPr>
          <p:nvPr/>
        </p:nvSpPr>
        <p:spPr>
          <a:xfrm>
            <a:off x="254000" y="152400"/>
            <a:ext cx="6350000" cy="406400"/>
          </a:xfrm>
          <a:prstGeom prst="rect">
            <a:avLst/>
          </a:prstGeom>
          <a:noFill/>
          <a:ln>
            <a:noFill/>
          </a:ln>
        </p:spPr>
        <p:txBody>
          <a:bodyPr wrap="square" lIns="63500" tIns="25400" rIns="63500" bIns="25400" anchor="ctr"/>
          <a:lstStyle/>
          <a:p>
            <a:pPr algn="l">
              <a:buNone/>
            </a:pPr>
            <a:r>
              <a:rPr lang="en-US" sz="2000" b="1" dirty="0">
                <a:solidFill>
                  <a:srgbClr val="111827"/>
                </a:solidFill>
                <a:latin typeface="Calibri"/>
              </a:rPr>
              <a:t>Threekit &amp; Conscia: Different Jobs, Different Tools</a:t>
            </a:r>
          </a:p>
        </p:txBody>
      </p:sp>
      <p:sp>
        <p:nvSpPr>
          <p:cNvPr id="14" name="Div"/>
          <p:cNvSpPr>
            <a:spLocks noGrp="1"/>
          </p:cNvSpPr>
          <p:nvPr/>
        </p:nvSpPr>
        <p:spPr>
          <a:xfrm>
            <a:off x="101600" y="711200"/>
            <a:ext cx="9042400" cy="12700"/>
          </a:xfrm>
          <a:prstGeom prst="rect">
            <a:avLst/>
          </a:prstGeom>
          <a:solidFill>
            <a:srgbClr val="E5E7EB"/>
          </a:solidFill>
          <a:ln>
            <a:noFill/>
          </a:ln>
        </p:spPr>
        <p:txBody>
          <a:bodyPr wrap="square" lIns="63500" tIns="25400" rIns="63500" bIns="25400" anchor="ctr"/>
          <a:lstStyle/>
          <a:p>
            <a:endParaRPr/>
          </a:p>
        </p:txBody>
      </p:sp>
      <p:sp>
        <p:nvSpPr>
          <p:cNvPr id="710" name="Bar0"/>
          <p:cNvSpPr>
            <a:spLocks noGrp="1"/>
          </p:cNvSpPr>
          <p:nvPr/>
        </p:nvSpPr>
        <p:spPr>
          <a:xfrm>
            <a:off x="0" y="5092700"/>
            <a:ext cx="1524000" cy="50800"/>
          </a:xfrm>
          <a:prstGeom prst="rect">
            <a:avLst/>
          </a:prstGeom>
          <a:solidFill>
            <a:srgbClr val="EB1A63"/>
          </a:solidFill>
          <a:ln>
            <a:noFill/>
          </a:ln>
        </p:spPr>
        <p:txBody>
          <a:bodyPr wrap="square" lIns="63500" tIns="25400" rIns="63500" bIns="25400" anchor="ctr"/>
          <a:lstStyle/>
          <a:p>
            <a:endParaRPr/>
          </a:p>
        </p:txBody>
      </p:sp>
      <p:sp>
        <p:nvSpPr>
          <p:cNvPr id="711" name="Bar1"/>
          <p:cNvSpPr>
            <a:spLocks noGrp="1"/>
          </p:cNvSpPr>
          <p:nvPr/>
        </p:nvSpPr>
        <p:spPr>
          <a:xfrm>
            <a:off x="1524000" y="5092700"/>
            <a:ext cx="1524000" cy="50800"/>
          </a:xfrm>
          <a:prstGeom prst="rect">
            <a:avLst/>
          </a:prstGeom>
          <a:solidFill>
            <a:srgbClr val="F8981D"/>
          </a:solidFill>
          <a:ln>
            <a:noFill/>
          </a:ln>
        </p:spPr>
        <p:txBody>
          <a:bodyPr wrap="square" lIns="63500" tIns="25400" rIns="63500" bIns="25400" anchor="ctr"/>
          <a:lstStyle/>
          <a:p>
            <a:endParaRPr/>
          </a:p>
        </p:txBody>
      </p:sp>
      <p:sp>
        <p:nvSpPr>
          <p:cNvPr id="712" name="Bar2"/>
          <p:cNvSpPr>
            <a:spLocks noGrp="1"/>
          </p:cNvSpPr>
          <p:nvPr/>
        </p:nvSpPr>
        <p:spPr>
          <a:xfrm>
            <a:off x="3048000" y="5092700"/>
            <a:ext cx="1524000" cy="50800"/>
          </a:xfrm>
          <a:prstGeom prst="rect">
            <a:avLst/>
          </a:prstGeom>
          <a:solidFill>
            <a:srgbClr val="FABF2D"/>
          </a:solidFill>
          <a:ln>
            <a:noFill/>
          </a:ln>
        </p:spPr>
        <p:txBody>
          <a:bodyPr wrap="square" lIns="63500" tIns="25400" rIns="63500" bIns="25400" anchor="ctr"/>
          <a:lstStyle/>
          <a:p>
            <a:endParaRPr/>
          </a:p>
        </p:txBody>
      </p:sp>
      <p:sp>
        <p:nvSpPr>
          <p:cNvPr id="713" name="Bar3"/>
          <p:cNvSpPr>
            <a:spLocks noGrp="1"/>
          </p:cNvSpPr>
          <p:nvPr/>
        </p:nvSpPr>
        <p:spPr>
          <a:xfrm>
            <a:off x="4572000" y="5092700"/>
            <a:ext cx="1524000" cy="50800"/>
          </a:xfrm>
          <a:prstGeom prst="rect">
            <a:avLst/>
          </a:prstGeom>
          <a:solidFill>
            <a:srgbClr val="8AC542"/>
          </a:solidFill>
          <a:ln>
            <a:noFill/>
          </a:ln>
        </p:spPr>
        <p:txBody>
          <a:bodyPr wrap="square" lIns="63500" tIns="25400" rIns="63500" bIns="25400" anchor="ctr"/>
          <a:lstStyle/>
          <a:p>
            <a:endParaRPr/>
          </a:p>
        </p:txBody>
      </p:sp>
      <p:sp>
        <p:nvSpPr>
          <p:cNvPr id="714" name="Bar4"/>
          <p:cNvSpPr>
            <a:spLocks noGrp="1"/>
          </p:cNvSpPr>
          <p:nvPr/>
        </p:nvSpPr>
        <p:spPr>
          <a:xfrm>
            <a:off x="6096000" y="5092700"/>
            <a:ext cx="1524000" cy="50800"/>
          </a:xfrm>
          <a:prstGeom prst="rect">
            <a:avLst/>
          </a:prstGeom>
          <a:solidFill>
            <a:srgbClr val="07BCD6"/>
          </a:solidFill>
          <a:ln>
            <a:noFill/>
          </a:ln>
        </p:spPr>
        <p:txBody>
          <a:bodyPr wrap="square" lIns="63500" tIns="25400" rIns="63500" bIns="25400" anchor="ctr"/>
          <a:lstStyle/>
          <a:p>
            <a:endParaRPr/>
          </a:p>
        </p:txBody>
      </p:sp>
      <p:sp>
        <p:nvSpPr>
          <p:cNvPr id="715" name="Bar5"/>
          <p:cNvSpPr>
            <a:spLocks noGrp="1"/>
          </p:cNvSpPr>
          <p:nvPr/>
        </p:nvSpPr>
        <p:spPr>
          <a:xfrm>
            <a:off x="7620000" y="5092700"/>
            <a:ext cx="1524000" cy="50800"/>
          </a:xfrm>
          <a:prstGeom prst="rect">
            <a:avLst/>
          </a:prstGeom>
          <a:solidFill>
            <a:srgbClr val="458CCB"/>
          </a:solidFill>
          <a:ln>
            <a:noFill/>
          </a:ln>
        </p:spPr>
        <p:txBody>
          <a:bodyPr wrap="square" lIns="63500" tIns="25400" rIns="63500" bIns="25400" anchor="ctr"/>
          <a:lstStyle/>
          <a:p>
            <a:endParaRPr/>
          </a:p>
        </p:txBody>
      </p:sp>
      <p:sp>
        <p:nvSpPr>
          <p:cNvPr id="50" name="HdrDim"/>
          <p:cNvSpPr>
            <a:spLocks noGrp="1"/>
          </p:cNvSpPr>
          <p:nvPr/>
        </p:nvSpPr>
        <p:spPr>
          <a:xfrm>
            <a:off x="254000" y="825500"/>
            <a:ext cx="2349500" cy="254000"/>
          </a:xfrm>
          <a:prstGeom prst="rect">
            <a:avLst/>
          </a:prstGeom>
          <a:solidFill>
            <a:srgbClr val="F3F4F6"/>
          </a:solidFill>
          <a:ln w="6350">
            <a:solidFill>
              <a:srgbClr val="E5E7EB"/>
            </a:solidFill>
          </a:ln>
        </p:spPr>
        <p:txBody>
          <a:bodyPr wrap="square" lIns="63500" tIns="25400" rIns="63500" bIns="25400" anchor="ctr"/>
          <a:lstStyle/>
          <a:p>
            <a:pPr algn="l">
              <a:buNone/>
            </a:pPr>
            <a:r>
              <a:rPr lang="en-US" sz="900" b="1" dirty="0">
                <a:solidFill>
                  <a:srgbClr val="6B7280"/>
                </a:solidFill>
                <a:latin typeface="Calibri"/>
              </a:rPr>
              <a:t>Dimension</a:t>
            </a:r>
          </a:p>
        </p:txBody>
      </p:sp>
      <p:sp>
        <p:nvSpPr>
          <p:cNvPr id="51" name="HdrTK"/>
          <p:cNvSpPr>
            <a:spLocks noGrp="1"/>
          </p:cNvSpPr>
          <p:nvPr/>
        </p:nvSpPr>
        <p:spPr>
          <a:xfrm>
            <a:off x="2667000" y="825500"/>
            <a:ext cx="3073400" cy="254000"/>
          </a:xfrm>
          <a:prstGeom prst="rect">
            <a:avLst/>
          </a:prstGeom>
          <a:solidFill>
            <a:srgbClr val="F3F4F6"/>
          </a:solidFill>
          <a:ln w="6350">
            <a:solidFill>
              <a:srgbClr val="E5E7EB"/>
            </a:solidFill>
          </a:ln>
        </p:spPr>
        <p:txBody>
          <a:bodyPr wrap="square" lIns="63500" tIns="25400" rIns="63500" bIns="25400" anchor="ctr"/>
          <a:lstStyle/>
          <a:p>
            <a:pPr algn="ctr">
              <a:buNone/>
            </a:pPr>
            <a:r>
              <a:rPr lang="en-US" sz="1000" b="1" dirty="0">
                <a:solidFill>
                  <a:srgbClr val="374151"/>
                </a:solidFill>
                <a:latin typeface="Calibri"/>
              </a:rPr>
              <a:t>Threekit</a:t>
            </a:r>
          </a:p>
        </p:txBody>
      </p:sp>
      <p:sp>
        <p:nvSpPr>
          <p:cNvPr id="52" name="HdrCo"/>
          <p:cNvSpPr>
            <a:spLocks noGrp="1"/>
          </p:cNvSpPr>
          <p:nvPr/>
        </p:nvSpPr>
        <p:spPr>
          <a:xfrm>
            <a:off x="5842000" y="825500"/>
            <a:ext cx="3073400" cy="254000"/>
          </a:xfrm>
          <a:prstGeom prst="rect">
            <a:avLst/>
          </a:prstGeom>
          <a:solidFill>
            <a:srgbClr val="FDF2F5"/>
          </a:solidFill>
          <a:ln w="9525">
            <a:solidFill>
              <a:srgbClr val="EB1A63"/>
            </a:solidFill>
          </a:ln>
        </p:spPr>
        <p:txBody>
          <a:bodyPr wrap="square" lIns="63500" tIns="25400" rIns="63500" bIns="25400" anchor="ctr"/>
          <a:lstStyle/>
          <a:p>
            <a:pPr algn="ctr">
              <a:buNone/>
            </a:pPr>
            <a:r>
              <a:rPr lang="en-US" sz="1000" b="1" dirty="0">
                <a:solidFill>
                  <a:srgbClr val="EB1A63"/>
                </a:solidFill>
                <a:latin typeface="Calibri"/>
              </a:rPr>
              <a:t>Conscia</a:t>
            </a:r>
          </a:p>
        </p:txBody>
      </p:sp>
      <p:sp>
        <p:nvSpPr>
          <p:cNvPr id="100" name="Dim0"/>
          <p:cNvSpPr>
            <a:spLocks noGrp="1"/>
          </p:cNvSpPr>
          <p:nvPr/>
        </p:nvSpPr>
        <p:spPr>
          <a:xfrm>
            <a:off x="254000" y="1079500"/>
            <a:ext cx="23495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Primary job</a:t>
            </a:r>
          </a:p>
        </p:txBody>
      </p:sp>
      <p:sp>
        <p:nvSpPr>
          <p:cNvPr id="101" name="TK0"/>
          <p:cNvSpPr>
            <a:spLocks noGrp="1"/>
          </p:cNvSpPr>
          <p:nvPr/>
        </p:nvSpPr>
        <p:spPr>
          <a:xfrm>
            <a:off x="2667000" y="1079500"/>
            <a:ext cx="30734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3D product visualisation &amp; configuration</a:t>
            </a:r>
          </a:p>
        </p:txBody>
      </p:sp>
      <p:sp>
        <p:nvSpPr>
          <p:cNvPr id="102" name="Co0"/>
          <p:cNvSpPr>
            <a:spLocks noGrp="1"/>
          </p:cNvSpPr>
          <p:nvPr/>
        </p:nvSpPr>
        <p:spPr>
          <a:xfrm>
            <a:off x="5842000" y="1079500"/>
            <a:ext cx="3073400" cy="508000"/>
          </a:xfrm>
          <a:prstGeom prst="rect">
            <a:avLst/>
          </a:prstGeom>
          <a:solidFill>
            <a:srgbClr val="FEF6F8"/>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API-layer orchestration across all systems</a:t>
            </a:r>
          </a:p>
        </p:txBody>
      </p:sp>
      <p:sp>
        <p:nvSpPr>
          <p:cNvPr id="103" name="Dim1"/>
          <p:cNvSpPr>
            <a:spLocks noGrp="1"/>
          </p:cNvSpPr>
          <p:nvPr/>
        </p:nvSpPr>
        <p:spPr>
          <a:xfrm>
            <a:off x="254000" y="1587500"/>
            <a:ext cx="23495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Data stored</a:t>
            </a:r>
          </a:p>
        </p:txBody>
      </p:sp>
      <p:sp>
        <p:nvSpPr>
          <p:cNvPr id="104" name="TK1"/>
          <p:cNvSpPr>
            <a:spLocks noGrp="1"/>
          </p:cNvSpPr>
          <p:nvPr/>
        </p:nvSpPr>
        <p:spPr>
          <a:xfrm>
            <a:off x="2667000" y="1587500"/>
            <a:ext cx="30734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Visual assets, component rules, constraints</a:t>
            </a:r>
          </a:p>
        </p:txBody>
      </p:sp>
      <p:sp>
        <p:nvSpPr>
          <p:cNvPr id="105" name="Co1"/>
          <p:cNvSpPr>
            <a:spLocks noGrp="1"/>
          </p:cNvSpPr>
          <p:nvPr/>
        </p:nvSpPr>
        <p:spPr>
          <a:xfrm>
            <a:off x="5842000" y="1587500"/>
            <a:ext cx="3073400" cy="508000"/>
          </a:xfrm>
          <a:prstGeom prst="rect">
            <a:avLst/>
          </a:prstGeom>
          <a:solidFill>
            <a:srgbClr val="FDF2F5"/>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Product graph, business logic, channel rules</a:t>
            </a:r>
          </a:p>
        </p:txBody>
      </p:sp>
      <p:sp>
        <p:nvSpPr>
          <p:cNvPr id="106" name="Dim2"/>
          <p:cNvSpPr>
            <a:spLocks noGrp="1"/>
          </p:cNvSpPr>
          <p:nvPr/>
        </p:nvSpPr>
        <p:spPr>
          <a:xfrm>
            <a:off x="254000" y="2095500"/>
            <a:ext cx="23495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Who queries it</a:t>
            </a:r>
          </a:p>
        </p:txBody>
      </p:sp>
      <p:sp>
        <p:nvSpPr>
          <p:cNvPr id="107" name="TK2"/>
          <p:cNvSpPr>
            <a:spLocks noGrp="1"/>
          </p:cNvSpPr>
          <p:nvPr/>
        </p:nvSpPr>
        <p:spPr>
          <a:xfrm>
            <a:off x="2667000" y="2095500"/>
            <a:ext cx="30734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Lovesac.com configurator only</a:t>
            </a:r>
          </a:p>
        </p:txBody>
      </p:sp>
      <p:sp>
        <p:nvSpPr>
          <p:cNvPr id="108" name="Co2"/>
          <p:cNvSpPr>
            <a:spLocks noGrp="1"/>
          </p:cNvSpPr>
          <p:nvPr/>
        </p:nvSpPr>
        <p:spPr>
          <a:xfrm>
            <a:off x="5842000" y="2095500"/>
            <a:ext cx="3073400" cy="508000"/>
          </a:xfrm>
          <a:prstGeom prst="rect">
            <a:avLst/>
          </a:prstGeom>
          <a:solidFill>
            <a:srgbClr val="FEF6F8"/>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Any channel — web, app, kiosk, AI agent</a:t>
            </a:r>
          </a:p>
        </p:txBody>
      </p:sp>
      <p:sp>
        <p:nvSpPr>
          <p:cNvPr id="109" name="Dim3"/>
          <p:cNvSpPr>
            <a:spLocks noGrp="1"/>
          </p:cNvSpPr>
          <p:nvPr/>
        </p:nvSpPr>
        <p:spPr>
          <a:xfrm>
            <a:off x="254000" y="2603500"/>
            <a:ext cx="23495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How data flows</a:t>
            </a:r>
          </a:p>
        </p:txBody>
      </p:sp>
      <p:sp>
        <p:nvSpPr>
          <p:cNvPr id="110" name="TK3"/>
          <p:cNvSpPr>
            <a:spLocks noGrp="1"/>
          </p:cNvSpPr>
          <p:nvPr/>
        </p:nvSpPr>
        <p:spPr>
          <a:xfrm>
            <a:off x="2667000" y="2603500"/>
            <a:ext cx="30734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Push: Lovesac team uploads updates manually</a:t>
            </a:r>
          </a:p>
        </p:txBody>
      </p:sp>
      <p:sp>
        <p:nvSpPr>
          <p:cNvPr id="111" name="Co3"/>
          <p:cNvSpPr>
            <a:spLocks noGrp="1"/>
          </p:cNvSpPr>
          <p:nvPr/>
        </p:nvSpPr>
        <p:spPr>
          <a:xfrm>
            <a:off x="5842000" y="2603500"/>
            <a:ext cx="3073400" cy="508000"/>
          </a:xfrm>
          <a:prstGeom prst="rect">
            <a:avLst/>
          </a:prstGeom>
          <a:solidFill>
            <a:srgbClr val="FDF2F5"/>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Pull: real-time API calls, live sync</a:t>
            </a:r>
          </a:p>
        </p:txBody>
      </p:sp>
      <p:sp>
        <p:nvSpPr>
          <p:cNvPr id="112" name="Dim4"/>
          <p:cNvSpPr>
            <a:spLocks noGrp="1"/>
          </p:cNvSpPr>
          <p:nvPr/>
        </p:nvSpPr>
        <p:spPr>
          <a:xfrm>
            <a:off x="254000" y="3111500"/>
            <a:ext cx="23495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AI / agent access</a:t>
            </a:r>
          </a:p>
        </p:txBody>
      </p:sp>
      <p:sp>
        <p:nvSpPr>
          <p:cNvPr id="113" name="TK4"/>
          <p:cNvSpPr>
            <a:spLocks noGrp="1"/>
          </p:cNvSpPr>
          <p:nvPr/>
        </p:nvSpPr>
        <p:spPr>
          <a:xfrm>
            <a:off x="2667000" y="3111500"/>
            <a:ext cx="30734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Not designed for programmatic access</a:t>
            </a:r>
          </a:p>
        </p:txBody>
      </p:sp>
      <p:sp>
        <p:nvSpPr>
          <p:cNvPr id="114" name="Co4"/>
          <p:cNvSpPr>
            <a:spLocks noGrp="1"/>
          </p:cNvSpPr>
          <p:nvPr/>
        </p:nvSpPr>
        <p:spPr>
          <a:xfrm>
            <a:off x="5842000" y="3111500"/>
            <a:ext cx="3073400" cy="508000"/>
          </a:xfrm>
          <a:prstGeom prst="rect">
            <a:avLst/>
          </a:prstGeom>
          <a:solidFill>
            <a:srgbClr val="FEF6F8"/>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Native MCP endpoint; agent-ready by design</a:t>
            </a:r>
          </a:p>
        </p:txBody>
      </p:sp>
      <p:sp>
        <p:nvSpPr>
          <p:cNvPr id="115" name="Dim5"/>
          <p:cNvSpPr>
            <a:spLocks noGrp="1"/>
          </p:cNvSpPr>
          <p:nvPr/>
        </p:nvSpPr>
        <p:spPr>
          <a:xfrm>
            <a:off x="254000" y="3619500"/>
            <a:ext cx="23495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Where it lives</a:t>
            </a:r>
          </a:p>
        </p:txBody>
      </p:sp>
      <p:sp>
        <p:nvSpPr>
          <p:cNvPr id="116" name="TK5"/>
          <p:cNvSpPr>
            <a:spLocks noGrp="1"/>
          </p:cNvSpPr>
          <p:nvPr/>
        </p:nvSpPr>
        <p:spPr>
          <a:xfrm>
            <a:off x="2667000" y="3619500"/>
            <a:ext cx="30734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SaaS, Threekit-hosted</a:t>
            </a:r>
          </a:p>
        </p:txBody>
      </p:sp>
      <p:sp>
        <p:nvSpPr>
          <p:cNvPr id="117" name="Co5"/>
          <p:cNvSpPr>
            <a:spLocks noGrp="1"/>
          </p:cNvSpPr>
          <p:nvPr/>
        </p:nvSpPr>
        <p:spPr>
          <a:xfrm>
            <a:off x="5842000" y="3619500"/>
            <a:ext cx="3073400" cy="508000"/>
          </a:xfrm>
          <a:prstGeom prst="rect">
            <a:avLst/>
          </a:prstGeom>
          <a:solidFill>
            <a:srgbClr val="FDF2F5"/>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Orchestration layer above your existing stack</a:t>
            </a:r>
          </a:p>
        </p:txBody>
      </p:sp>
      <p:sp>
        <p:nvSpPr>
          <p:cNvPr id="118" name="Dim6"/>
          <p:cNvSpPr>
            <a:spLocks noGrp="1"/>
          </p:cNvSpPr>
          <p:nvPr/>
        </p:nvSpPr>
        <p:spPr>
          <a:xfrm>
            <a:off x="254000" y="4127500"/>
            <a:ext cx="23495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Phase 1 role</a:t>
            </a:r>
          </a:p>
        </p:txBody>
      </p:sp>
      <p:sp>
        <p:nvSpPr>
          <p:cNvPr id="119" name="TK6"/>
          <p:cNvSpPr>
            <a:spLocks noGrp="1"/>
          </p:cNvSpPr>
          <p:nvPr/>
        </p:nvSpPr>
        <p:spPr>
          <a:xfrm>
            <a:off x="2667000" y="4127500"/>
            <a:ext cx="30734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Continues as the rendering engine</a:t>
            </a:r>
          </a:p>
        </p:txBody>
      </p:sp>
      <p:sp>
        <p:nvSpPr>
          <p:cNvPr id="120" name="Co6"/>
          <p:cNvSpPr>
            <a:spLocks noGrp="1"/>
          </p:cNvSpPr>
          <p:nvPr/>
        </p:nvSpPr>
        <p:spPr>
          <a:xfrm>
            <a:off x="5842000" y="4127500"/>
            <a:ext cx="3073400" cy="508000"/>
          </a:xfrm>
          <a:prstGeom prst="rect">
            <a:avLst/>
          </a:prstGeom>
          <a:solidFill>
            <a:srgbClr val="FEF6F8"/>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Reads from Threekit, exposes data everywhere</a:t>
            </a:r>
          </a:p>
        </p:txBody>
      </p:sp>
      <p:sp>
        <p:nvSpPr>
          <p:cNvPr id="3" name="Footer">
            <a:extLst>
              <a:ext uri="{FF2B5EF4-FFF2-40B4-BE49-F238E27FC236}">
                <a16:creationId xmlns:a16="http://schemas.microsoft.com/office/drawing/2014/main" id="{3FA2449A-239F-53DE-38CA-887B20FAAAD8}"/>
              </a:ext>
            </a:extLst>
          </p:cNvPr>
          <p:cNvSpPr/>
          <p:nvPr/>
        </p:nvSpPr>
        <p:spPr>
          <a:xfrm>
            <a:off x="0" y="4876800"/>
            <a:ext cx="9144000" cy="266700"/>
          </a:xfrm>
          <a:prstGeom prst="rect">
            <a:avLst/>
          </a:prstGeom>
          <a:noFill/>
          <a:ln>
            <a:noFill/>
          </a:ln>
        </p:spPr>
        <p:txBody>
          <a:bodyPr wrap="square" lIns="0" tIns="0" rIns="0" bIns="0" anchor="ctr"/>
          <a:lstStyle/>
          <a:p>
            <a:pPr algn="ctr">
              <a:buNone/>
            </a:pPr>
            <a:r>
              <a:rPr lang="en-GB" sz="800" dirty="0" err="1">
                <a:solidFill>
                  <a:srgbClr val="9CA3AF"/>
                </a:solidFill>
              </a:rPr>
              <a:t>Lovesac</a:t>
            </a:r>
            <a:r>
              <a:rPr lang="en-GB" sz="800" dirty="0">
                <a:solidFill>
                  <a:srgbClr val="9CA3AF"/>
                </a:solidFill>
              </a:rPr>
              <a:t> × </a:t>
            </a:r>
            <a:r>
              <a:rPr lang="en-GB" sz="800" dirty="0" err="1">
                <a:solidFill>
                  <a:srgbClr val="9CA3AF"/>
                </a:solidFill>
              </a:rPr>
              <a:t>Conscia</a:t>
            </a:r>
            <a:r>
              <a:rPr lang="en-GB" sz="800" dirty="0">
                <a:solidFill>
                  <a:srgbClr val="9CA3AF"/>
                </a:solidFill>
              </a:rPr>
              <a:t>  ·  Project Kick-off  ·  April 8, 2026</a:t>
            </a:r>
            <a:endParaRPr lang="en-US" sz="800" dirty="0">
              <a:solidFill>
                <a:srgbClr val="9CA3AF"/>
              </a:solidFill>
            </a:endParaRPr>
          </a:p>
        </p:txBody>
      </p:sp>
      <p:sp>
        <p:nvSpPr>
          <p:cNvPr id="4" name="AppxTag">
            <a:extLst>
              <a:ext uri="{FF2B5EF4-FFF2-40B4-BE49-F238E27FC236}">
                <a16:creationId xmlns:a16="http://schemas.microsoft.com/office/drawing/2014/main" id="{1FB2A70D-BF01-17A7-2D7F-BE0E8E136405}"/>
              </a:ext>
            </a:extLst>
          </p:cNvPr>
          <p:cNvSpPr>
            <a:spLocks noGrp="1"/>
          </p:cNvSpPr>
          <p:nvPr/>
        </p:nvSpPr>
        <p:spPr>
          <a:xfrm>
            <a:off x="8216347" y="101600"/>
            <a:ext cx="812800" cy="177800"/>
          </a:xfrm>
          <a:prstGeom prst="roundRect">
            <a:avLst>
              <a:gd name="adj" fmla="val 2000"/>
            </a:avLst>
          </a:prstGeom>
          <a:solidFill>
            <a:srgbClr val="F3F4F6"/>
          </a:solidFill>
          <a:ln w="6350">
            <a:solidFill>
              <a:srgbClr val="D1D5DB"/>
            </a:solidFill>
          </a:ln>
        </p:spPr>
        <p:txBody>
          <a:bodyPr wrap="square" lIns="25400" tIns="25400" rIns="25400" bIns="25400" anchor="ctr"/>
          <a:lstStyle/>
          <a:p>
            <a:pPr algn="ctr">
              <a:lnSpc>
                <a:spcPts val="1100"/>
              </a:lnSpc>
              <a:buNone/>
            </a:pPr>
            <a:r>
              <a:rPr lang="en-US" sz="575" b="1" dirty="0">
                <a:solidFill>
                  <a:srgbClr val="9CA3AF"/>
                </a:solidFill>
                <a:latin typeface="Calibri"/>
              </a:rPr>
              <a:t>APPENDIX</a:t>
            </a:r>
          </a:p>
        </p:txBody>
      </p:sp>
    </p:spTree>
    <p:extLst>
      <p:ext uri="{BB962C8B-B14F-4D97-AF65-F5344CB8AC3E}">
        <p14:creationId xmlns:p14="http://schemas.microsoft.com/office/powerpoint/2010/main" val="2048035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7112000" cy="381000"/>
          </a:xfrm>
          <a:prstGeom prst="rect">
            <a:avLst/>
          </a:prstGeom>
          <a:noFill/>
          <a:ln>
            <a:noFill/>
          </a:ln>
        </p:spPr>
        <p:txBody>
          <a:bodyPr wrap="square" lIns="0" tIns="0" rIns="0" bIns="0" anchor="ctr"/>
          <a:lstStyle/>
          <a:p>
            <a:pPr>
              <a:buNone/>
            </a:pPr>
            <a:r>
              <a:rPr lang="en-US" sz="2000" b="1" dirty="0">
                <a:solidFill>
                  <a:srgbClr val="111827"/>
                </a:solidFill>
                <a:latin typeface="Calibri"/>
              </a:rPr>
              <a:t>A Phased Approach</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200" name="SC0"/>
          <p:cNvSpPr/>
          <p:nvPr/>
        </p:nvSpPr>
        <p:spPr>
          <a:xfrm>
            <a:off x="330200" y="787400"/>
            <a:ext cx="2730500" cy="3911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201" name="SA0"/>
          <p:cNvSpPr/>
          <p:nvPr/>
        </p:nvSpPr>
        <p:spPr>
          <a:xfrm>
            <a:off x="330200" y="787400"/>
            <a:ext cx="2730500" cy="50800"/>
          </a:xfrm>
          <a:prstGeom prst="roundRect">
            <a:avLst>
              <a:gd name="adj" fmla="val 3000"/>
            </a:avLst>
          </a:prstGeom>
          <a:solidFill>
            <a:srgbClr val="EB1A63"/>
          </a:solidFill>
          <a:ln>
            <a:noFill/>
          </a:ln>
        </p:spPr>
        <p:txBody>
          <a:bodyPr/>
          <a:lstStyle/>
          <a:p>
            <a:endParaRPr lang="en-US"/>
          </a:p>
        </p:txBody>
      </p:sp>
      <p:sp>
        <p:nvSpPr>
          <p:cNvPr id="202" name="SL0"/>
          <p:cNvSpPr/>
          <p:nvPr/>
        </p:nvSpPr>
        <p:spPr>
          <a:xfrm>
            <a:off x="482600" y="914400"/>
            <a:ext cx="2400300" cy="177800"/>
          </a:xfrm>
          <a:prstGeom prst="rect">
            <a:avLst/>
          </a:prstGeom>
          <a:noFill/>
          <a:ln>
            <a:noFill/>
          </a:ln>
        </p:spPr>
        <p:txBody>
          <a:bodyPr wrap="square" lIns="0" tIns="0" rIns="0" bIns="0" anchor="t"/>
          <a:lstStyle/>
          <a:p>
            <a:pPr>
              <a:buNone/>
            </a:pPr>
            <a:r>
              <a:rPr lang="en-US" sz="750" b="1" dirty="0">
                <a:solidFill>
                  <a:srgbClr val="EB1A63"/>
                </a:solidFill>
                <a:latin typeface="Calibri"/>
              </a:rPr>
              <a:t>PHASE 1  ·  WEEKS 1–6</a:t>
            </a:r>
          </a:p>
        </p:txBody>
      </p:sp>
      <p:sp>
        <p:nvSpPr>
          <p:cNvPr id="203" name="ST0"/>
          <p:cNvSpPr/>
          <p:nvPr/>
        </p:nvSpPr>
        <p:spPr>
          <a:xfrm>
            <a:off x="482600" y="1117600"/>
            <a:ext cx="2400300" cy="279400"/>
          </a:xfrm>
          <a:prstGeom prst="rect">
            <a:avLst/>
          </a:prstGeom>
          <a:noFill/>
          <a:ln>
            <a:noFill/>
          </a:ln>
        </p:spPr>
        <p:txBody>
          <a:bodyPr wrap="square" lIns="0" tIns="0" rIns="0" bIns="0" anchor="t"/>
          <a:lstStyle/>
          <a:p>
            <a:pPr>
              <a:buNone/>
            </a:pPr>
            <a:r>
              <a:rPr lang="en-US" sz="1300" b="1" dirty="0">
                <a:solidFill>
                  <a:srgbClr val="111827"/>
                </a:solidFill>
                <a:latin typeface="Calibri"/>
              </a:rPr>
              <a:t>Ingest &amp; Model</a:t>
            </a:r>
          </a:p>
        </p:txBody>
      </p:sp>
      <p:sp>
        <p:nvSpPr>
          <p:cNvPr id="204" name="SD0"/>
          <p:cNvSpPr/>
          <p:nvPr/>
        </p:nvSpPr>
        <p:spPr>
          <a:xfrm>
            <a:off x="482600" y="1447800"/>
            <a:ext cx="2400300" cy="12700"/>
          </a:xfrm>
          <a:prstGeom prst="rect">
            <a:avLst/>
          </a:prstGeom>
          <a:solidFill>
            <a:srgbClr val="E5E7EB"/>
          </a:solidFill>
          <a:ln>
            <a:noFill/>
          </a:ln>
        </p:spPr>
        <p:txBody>
          <a:bodyPr/>
          <a:lstStyle/>
          <a:p>
            <a:endParaRPr lang="en-US"/>
          </a:p>
        </p:txBody>
      </p:sp>
      <p:sp>
        <p:nvSpPr>
          <p:cNvPr id="205" name="SB0"/>
          <p:cNvSpPr/>
          <p:nvPr/>
        </p:nvSpPr>
        <p:spPr>
          <a:xfrm>
            <a:off x="482600" y="1511300"/>
            <a:ext cx="2400300" cy="2806700"/>
          </a:xfrm>
          <a:prstGeom prst="rect">
            <a:avLst/>
          </a:prstGeom>
          <a:noFill/>
          <a:ln>
            <a:noFill/>
          </a:ln>
        </p:spPr>
        <p:txBody>
          <a:bodyPr wrap="square" lIns="0" tIns="0" rIns="0" bIns="0" anchor="t"/>
          <a:lstStyle/>
          <a:p>
            <a:pPr marL="171450" indent="-171450">
              <a:buChar char="·"/>
            </a:pPr>
            <a:r>
              <a:rPr lang="en-US" sz="1100" dirty="0">
                <a:solidFill>
                  <a:srgbClr val="374151"/>
                </a:solidFill>
                <a:latin typeface="Calibri"/>
              </a:rPr>
              <a:t>Connect NetSuite, Magento &amp; Threekit to DX Graph</a:t>
            </a:r>
          </a:p>
          <a:p>
            <a:pPr marL="171450" indent="-171450">
              <a:buChar char="·"/>
            </a:pPr>
            <a:r>
              <a:rPr lang="en-US" sz="1100" dirty="0">
                <a:solidFill>
                  <a:srgbClr val="374151"/>
                </a:solidFill>
                <a:latin typeface="Calibri"/>
              </a:rPr>
              <a:t>Model Sactional SKUs as collection nodes</a:t>
            </a:r>
          </a:p>
          <a:p>
            <a:pPr marL="171450" indent="-171450">
              <a:buChar char="·"/>
            </a:pPr>
            <a:r>
              <a:rPr lang="en-US" sz="1100" dirty="0">
                <a:solidFill>
                  <a:srgbClr val="374151"/>
                </a:solidFill>
                <a:latin typeface="Calibri"/>
              </a:rPr>
              <a:t>Define canonical attribute schema</a:t>
            </a:r>
          </a:p>
          <a:p>
            <a:pPr marL="171450" indent="-171450">
              <a:buChar char="·"/>
            </a:pPr>
            <a:r>
              <a:rPr lang="en-US" sz="1100" dirty="0">
                <a:solidFill>
                  <a:srgbClr val="374151"/>
                </a:solidFill>
                <a:latin typeface="Calibri"/>
              </a:rPr>
              <a:t>Validate data quality with Lovesac team</a:t>
            </a:r>
          </a:p>
        </p:txBody>
      </p:sp>
      <p:sp>
        <p:nvSpPr>
          <p:cNvPr id="206" name="SO0"/>
          <p:cNvSpPr/>
          <p:nvPr/>
        </p:nvSpPr>
        <p:spPr>
          <a:xfrm>
            <a:off x="330200" y="4394200"/>
            <a:ext cx="2730500" cy="304800"/>
          </a:xfrm>
          <a:solidFill>
            <a:srgbClr val="F3F4F6"/>
          </a:solidFill>
          <a:ln>
            <a:noFill/>
          </a:ln>
        </p:spPr>
        <p:txBody>
          <a:bodyPr wrap="square" lIns="91440" tIns="0" rIns="91440" bIns="0" anchor="ctr"/>
          <a:lstStyle/>
          <a:p>
            <a:pPr algn="ctr">
              <a:buNone/>
            </a:pPr>
            <a:r>
              <a:rPr lang="en-US" sz="850" b="1" i="1" dirty="0">
                <a:solidFill>
                  <a:srgbClr val="374151"/>
                </a:solidFill>
                <a:latin typeface="Calibri"/>
              </a:rPr>
              <a:t>Single source of truth — queryable via API</a:t>
            </a:r>
          </a:p>
        </p:txBody>
      </p:sp>
      <p:sp>
        <p:nvSpPr>
          <p:cNvPr id="210" name="SC1"/>
          <p:cNvSpPr/>
          <p:nvPr/>
        </p:nvSpPr>
        <p:spPr>
          <a:xfrm>
            <a:off x="3213100" y="787400"/>
            <a:ext cx="2730500" cy="3911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211" name="SA1"/>
          <p:cNvSpPr/>
          <p:nvPr/>
        </p:nvSpPr>
        <p:spPr>
          <a:xfrm>
            <a:off x="3213100" y="787400"/>
            <a:ext cx="2730500" cy="50800"/>
          </a:xfrm>
          <a:prstGeom prst="roundRect">
            <a:avLst>
              <a:gd name="adj" fmla="val 3000"/>
            </a:avLst>
          </a:prstGeom>
          <a:solidFill>
            <a:srgbClr val="458CCB"/>
          </a:solidFill>
          <a:ln>
            <a:noFill/>
          </a:ln>
        </p:spPr>
        <p:txBody>
          <a:bodyPr/>
          <a:lstStyle/>
          <a:p>
            <a:endParaRPr lang="en-US"/>
          </a:p>
        </p:txBody>
      </p:sp>
      <p:sp>
        <p:nvSpPr>
          <p:cNvPr id="212" name="SL1"/>
          <p:cNvSpPr/>
          <p:nvPr/>
        </p:nvSpPr>
        <p:spPr>
          <a:xfrm>
            <a:off x="3365500" y="914400"/>
            <a:ext cx="2400300" cy="177800"/>
          </a:xfrm>
          <a:prstGeom prst="rect">
            <a:avLst/>
          </a:prstGeom>
          <a:noFill/>
          <a:ln>
            <a:noFill/>
          </a:ln>
        </p:spPr>
        <p:txBody>
          <a:bodyPr wrap="square" lIns="0" tIns="0" rIns="0" bIns="0" anchor="t"/>
          <a:lstStyle/>
          <a:p>
            <a:pPr>
              <a:buNone/>
            </a:pPr>
            <a:r>
              <a:rPr lang="en-US" sz="750" b="1" dirty="0">
                <a:solidFill>
                  <a:srgbClr val="458CCB"/>
                </a:solidFill>
                <a:latin typeface="Calibri"/>
              </a:rPr>
              <a:t>PHASE 2  ·  WEEKS 7–12</a:t>
            </a:r>
          </a:p>
        </p:txBody>
      </p:sp>
      <p:sp>
        <p:nvSpPr>
          <p:cNvPr id="213" name="ST1"/>
          <p:cNvSpPr/>
          <p:nvPr/>
        </p:nvSpPr>
        <p:spPr>
          <a:xfrm>
            <a:off x="3365500" y="1117600"/>
            <a:ext cx="2400300" cy="279400"/>
          </a:xfrm>
          <a:prstGeom prst="rect">
            <a:avLst/>
          </a:prstGeom>
          <a:noFill/>
          <a:ln>
            <a:noFill/>
          </a:ln>
        </p:spPr>
        <p:txBody>
          <a:bodyPr wrap="square" lIns="0" tIns="0" rIns="0" bIns="0" anchor="t"/>
          <a:lstStyle/>
          <a:p>
            <a:pPr>
              <a:buNone/>
            </a:pPr>
            <a:r>
              <a:rPr lang="en-US" sz="1300" b="1" dirty="0">
                <a:solidFill>
                  <a:srgbClr val="111827"/>
                </a:solidFill>
                <a:latin typeface="Calibri"/>
              </a:rPr>
              <a:t>Orchestrate &amp; Serve</a:t>
            </a:r>
          </a:p>
        </p:txBody>
      </p:sp>
      <p:sp>
        <p:nvSpPr>
          <p:cNvPr id="214" name="SD1"/>
          <p:cNvSpPr/>
          <p:nvPr/>
        </p:nvSpPr>
        <p:spPr>
          <a:xfrm>
            <a:off x="3365500" y="1447800"/>
            <a:ext cx="2400300" cy="12700"/>
          </a:xfrm>
          <a:prstGeom prst="rect">
            <a:avLst/>
          </a:prstGeom>
          <a:solidFill>
            <a:srgbClr val="E5E7EB"/>
          </a:solidFill>
          <a:ln>
            <a:noFill/>
          </a:ln>
        </p:spPr>
        <p:txBody>
          <a:bodyPr/>
          <a:lstStyle/>
          <a:p>
            <a:endParaRPr lang="en-US"/>
          </a:p>
        </p:txBody>
      </p:sp>
      <p:sp>
        <p:nvSpPr>
          <p:cNvPr id="215" name="SB1"/>
          <p:cNvSpPr/>
          <p:nvPr/>
        </p:nvSpPr>
        <p:spPr>
          <a:xfrm>
            <a:off x="3365500" y="1511300"/>
            <a:ext cx="2400300" cy="2806700"/>
          </a:xfrm>
          <a:prstGeom prst="rect">
            <a:avLst/>
          </a:prstGeom>
          <a:noFill/>
          <a:ln>
            <a:noFill/>
          </a:ln>
        </p:spPr>
        <p:txBody>
          <a:bodyPr wrap="square" lIns="0" tIns="0" rIns="0" bIns="0" anchor="t"/>
          <a:lstStyle/>
          <a:p>
            <a:pPr marL="171450" indent="-171450">
              <a:buChar char="·"/>
            </a:pPr>
            <a:r>
              <a:rPr lang="en-US" sz="1100" dirty="0">
                <a:solidFill>
                  <a:srgbClr val="374151"/>
                </a:solidFill>
                <a:latin typeface="Calibri"/>
              </a:rPr>
              <a:t>Wire DX Engine rules for pricing &amp; eligibility</a:t>
            </a:r>
          </a:p>
          <a:p>
            <a:pPr marL="171450" indent="-171450">
              <a:buChar char="·"/>
            </a:pPr>
            <a:r>
              <a:rPr lang="en-US" sz="1100" dirty="0">
                <a:solidFill>
                  <a:srgbClr val="374151"/>
                </a:solidFill>
                <a:latin typeface="Calibri"/>
              </a:rPr>
              <a:t>Launch Experience API for Lovesac.com configurator</a:t>
            </a:r>
          </a:p>
          <a:p>
            <a:pPr marL="171450" indent="-171450">
              <a:buChar char="·"/>
            </a:pPr>
            <a:r>
              <a:rPr lang="en-US" sz="1100" dirty="0">
                <a:solidFill>
                  <a:srgbClr val="374151"/>
                </a:solidFill>
                <a:latin typeface="Calibri"/>
              </a:rPr>
              <a:t>Serve Salesforce POS &amp; Manhattan Active Omni</a:t>
            </a:r>
          </a:p>
          <a:p>
            <a:pPr marL="171450" indent="-171450">
              <a:buChar char="·"/>
            </a:pPr>
            <a:r>
              <a:rPr lang="en-US" sz="1100" dirty="0">
                <a:solidFill>
                  <a:srgbClr val="374151"/>
                </a:solidFill>
                <a:latin typeface="Calibri"/>
              </a:rPr>
              <a:t>UAT with Lovesac team, iterate on rule logic</a:t>
            </a:r>
          </a:p>
        </p:txBody>
      </p:sp>
      <p:sp>
        <p:nvSpPr>
          <p:cNvPr id="216" name="SO1"/>
          <p:cNvSpPr/>
          <p:nvPr/>
        </p:nvSpPr>
        <p:spPr>
          <a:xfrm>
            <a:off x="3213100" y="4394200"/>
            <a:ext cx="2730500" cy="304800"/>
          </a:xfrm>
          <a:solidFill>
            <a:srgbClr val="F3F4F6"/>
          </a:solidFill>
          <a:ln>
            <a:noFill/>
          </a:ln>
        </p:spPr>
        <p:txBody>
          <a:bodyPr wrap="square" lIns="91440" tIns="0" rIns="91440" bIns="0" anchor="ctr"/>
          <a:lstStyle/>
          <a:p>
            <a:pPr algn="ctr">
              <a:buNone/>
            </a:pPr>
            <a:r>
              <a:rPr lang="en-US" sz="850" b="1" i="1" dirty="0">
                <a:solidFill>
                  <a:srgbClr val="374151"/>
                </a:solidFill>
                <a:latin typeface="Calibri"/>
              </a:rPr>
              <a:t>Consistent product data across 3 touchpoints</a:t>
            </a:r>
          </a:p>
        </p:txBody>
      </p:sp>
      <p:sp>
        <p:nvSpPr>
          <p:cNvPr id="220" name="SC2"/>
          <p:cNvSpPr/>
          <p:nvPr/>
        </p:nvSpPr>
        <p:spPr>
          <a:xfrm>
            <a:off x="6096000" y="787400"/>
            <a:ext cx="2730500" cy="3911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221" name="SA2"/>
          <p:cNvSpPr/>
          <p:nvPr/>
        </p:nvSpPr>
        <p:spPr>
          <a:xfrm>
            <a:off x="6096000" y="787400"/>
            <a:ext cx="2730500" cy="50800"/>
          </a:xfrm>
          <a:prstGeom prst="roundRect">
            <a:avLst>
              <a:gd name="adj" fmla="val 3000"/>
            </a:avLst>
          </a:prstGeom>
          <a:solidFill>
            <a:srgbClr val="8AC542"/>
          </a:solidFill>
          <a:ln>
            <a:noFill/>
          </a:ln>
        </p:spPr>
        <p:txBody>
          <a:bodyPr/>
          <a:lstStyle/>
          <a:p>
            <a:endParaRPr lang="en-US"/>
          </a:p>
        </p:txBody>
      </p:sp>
      <p:sp>
        <p:nvSpPr>
          <p:cNvPr id="222" name="SL2"/>
          <p:cNvSpPr/>
          <p:nvPr/>
        </p:nvSpPr>
        <p:spPr>
          <a:xfrm>
            <a:off x="6248400" y="914400"/>
            <a:ext cx="2400300" cy="177800"/>
          </a:xfrm>
          <a:prstGeom prst="rect">
            <a:avLst/>
          </a:prstGeom>
          <a:noFill/>
          <a:ln>
            <a:noFill/>
          </a:ln>
        </p:spPr>
        <p:txBody>
          <a:bodyPr wrap="square" lIns="0" tIns="0" rIns="0" bIns="0" anchor="t"/>
          <a:lstStyle/>
          <a:p>
            <a:pPr>
              <a:buNone/>
            </a:pPr>
            <a:r>
              <a:rPr lang="en-US" sz="750" b="1" dirty="0">
                <a:solidFill>
                  <a:srgbClr val="8AC542"/>
                </a:solidFill>
                <a:latin typeface="Calibri"/>
              </a:rPr>
              <a:t>PHASE 3  ·  WEEKS 13–20</a:t>
            </a:r>
          </a:p>
        </p:txBody>
      </p:sp>
      <p:sp>
        <p:nvSpPr>
          <p:cNvPr id="223" name="ST2"/>
          <p:cNvSpPr/>
          <p:nvPr/>
        </p:nvSpPr>
        <p:spPr>
          <a:xfrm>
            <a:off x="6248400" y="1117600"/>
            <a:ext cx="2400300" cy="279400"/>
          </a:xfrm>
          <a:prstGeom prst="rect">
            <a:avLst/>
          </a:prstGeom>
          <a:noFill/>
          <a:ln>
            <a:noFill/>
          </a:ln>
        </p:spPr>
        <p:txBody>
          <a:bodyPr wrap="square" lIns="0" tIns="0" rIns="0" bIns="0" anchor="t"/>
          <a:lstStyle/>
          <a:p>
            <a:pPr>
              <a:buNone/>
            </a:pPr>
            <a:r>
              <a:rPr lang="en-US" sz="1300" b="1" dirty="0">
                <a:solidFill>
                  <a:srgbClr val="111827"/>
                </a:solidFill>
                <a:latin typeface="Calibri"/>
              </a:rPr>
              <a:t>Expand &amp; Activate</a:t>
            </a:r>
          </a:p>
        </p:txBody>
      </p:sp>
      <p:sp>
        <p:nvSpPr>
          <p:cNvPr id="224" name="SD2"/>
          <p:cNvSpPr/>
          <p:nvPr/>
        </p:nvSpPr>
        <p:spPr>
          <a:xfrm>
            <a:off x="6248400" y="1447800"/>
            <a:ext cx="2400300" cy="12700"/>
          </a:xfrm>
          <a:prstGeom prst="rect">
            <a:avLst/>
          </a:prstGeom>
          <a:solidFill>
            <a:srgbClr val="E5E7EB"/>
          </a:solidFill>
          <a:ln>
            <a:noFill/>
          </a:ln>
        </p:spPr>
        <p:txBody>
          <a:bodyPr/>
          <a:lstStyle/>
          <a:p>
            <a:endParaRPr lang="en-US"/>
          </a:p>
        </p:txBody>
      </p:sp>
      <p:sp>
        <p:nvSpPr>
          <p:cNvPr id="225" name="SB2"/>
          <p:cNvSpPr/>
          <p:nvPr/>
        </p:nvSpPr>
        <p:spPr>
          <a:xfrm>
            <a:off x="6248400" y="1511300"/>
            <a:ext cx="2400300" cy="2806700"/>
          </a:xfrm>
          <a:prstGeom prst="rect">
            <a:avLst/>
          </a:prstGeom>
          <a:noFill/>
          <a:ln>
            <a:noFill/>
          </a:ln>
        </p:spPr>
        <p:txBody>
          <a:bodyPr wrap="square" lIns="0" tIns="0" rIns="0" bIns="0" anchor="t"/>
          <a:lstStyle/>
          <a:p>
            <a:pPr marL="171450" indent="-171450">
              <a:buChar char="·"/>
            </a:pPr>
            <a:r>
              <a:rPr lang="en-US" sz="1100" dirty="0">
                <a:solidFill>
                  <a:srgbClr val="374151"/>
                </a:solidFill>
                <a:latin typeface="Calibri"/>
              </a:rPr>
              <a:t>Expose MCP endpoint for Agentforce &amp; ChatGPT</a:t>
            </a:r>
          </a:p>
          <a:p>
            <a:pPr marL="171450" indent="-171450">
              <a:buChar char="·"/>
            </a:pPr>
            <a:r>
              <a:rPr lang="en-US" sz="1100" dirty="0">
                <a:solidFill>
                  <a:srgbClr val="374151"/>
                </a:solidFill>
                <a:latin typeface="Calibri"/>
              </a:rPr>
              <a:t>Add Google Shopping feed via DX Engine</a:t>
            </a:r>
          </a:p>
          <a:p>
            <a:pPr marL="171450" indent="-171450">
              <a:buChar char="·"/>
            </a:pPr>
            <a:r>
              <a:rPr lang="en-US" sz="1100" dirty="0">
                <a:solidFill>
                  <a:srgbClr val="374151"/>
                </a:solidFill>
                <a:latin typeface="Calibri"/>
              </a:rPr>
              <a:t>Enable real-time configuration session analytics</a:t>
            </a:r>
          </a:p>
          <a:p>
            <a:pPr marL="171450" indent="-171450">
              <a:buChar char="·"/>
            </a:pPr>
            <a:r>
              <a:rPr lang="en-US" sz="1100" dirty="0">
                <a:solidFill>
                  <a:srgbClr val="374151"/>
                </a:solidFill>
                <a:latin typeface="Calibri"/>
              </a:rPr>
              <a:t>Expand to additional channels on single API</a:t>
            </a:r>
          </a:p>
        </p:txBody>
      </p:sp>
      <p:sp>
        <p:nvSpPr>
          <p:cNvPr id="226" name="SO2"/>
          <p:cNvSpPr/>
          <p:nvPr/>
        </p:nvSpPr>
        <p:spPr>
          <a:xfrm>
            <a:off x="6096000" y="4394200"/>
            <a:ext cx="2730500" cy="304800"/>
          </a:xfrm>
          <a:solidFill>
            <a:srgbClr val="F3F4F6"/>
          </a:solidFill>
          <a:ln>
            <a:noFill/>
          </a:ln>
        </p:spPr>
        <p:txBody>
          <a:bodyPr wrap="square" lIns="91440" tIns="0" rIns="91440" bIns="0" anchor="ctr"/>
          <a:lstStyle/>
          <a:p>
            <a:pPr algn="ctr">
              <a:buNone/>
            </a:pPr>
            <a:r>
              <a:rPr lang="en-US" sz="850" b="1" i="1" dirty="0">
                <a:solidFill>
                  <a:srgbClr val="374151"/>
                </a:solidFill>
                <a:latin typeface="Calibri"/>
              </a:rPr>
              <a:t>Every channel, every agent — one governed API</a:t>
            </a:r>
          </a:p>
        </p:txBody>
      </p:sp>
      <p:sp>
        <p:nvSpPr>
          <p:cNvPr id="2"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dirty="0" err="1">
                <a:solidFill>
                  <a:srgbClr val="9CA3AF"/>
                </a:solidFill>
                <a:latin typeface="Calibri"/>
              </a:rPr>
              <a:t>Lovesac</a:t>
            </a:r>
            <a:r>
              <a:rPr lang="en-GB" sz="800" dirty="0">
                <a:solidFill>
                  <a:srgbClr val="9CA3AF"/>
                </a:solidFill>
                <a:latin typeface="Calibri"/>
              </a:rPr>
              <a:t> × </a:t>
            </a:r>
            <a:r>
              <a:rPr lang="en-GB" sz="800" dirty="0" err="1">
                <a:solidFill>
                  <a:srgbClr val="9CA3AF"/>
                </a:solidFill>
                <a:latin typeface="Calibri"/>
              </a:rPr>
              <a:t>Conscia</a:t>
            </a:r>
            <a:r>
              <a:rPr lang="en-GB" sz="800" dirty="0">
                <a:solidFill>
                  <a:srgbClr val="9CA3AF"/>
                </a:solidFill>
                <a:latin typeface="Calibri"/>
              </a:rPr>
              <a:t>  ·  Project Kick-off  ·  April 8, 2026</a:t>
            </a:r>
          </a:p>
        </p:txBody>
      </p:sp>
      <p:sp>
        <p:nvSpPr>
          <p:cNvPr id="3"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0"/>
          </a:gradFill>
          <a:ln>
            <a:noFill/>
          </a:ln>
        </p:spPr>
        <p:txBody>
          <a:bodyPr/>
          <a:lstStyle/>
          <a:p>
            <a:endParaRPr lang="en-US"/>
          </a:p>
        </p:txBody>
      </p:sp>
      <p:sp>
        <p:nvSpPr>
          <p:cNvPr id="4" name="AppxTag">
            <a:extLst>
              <a:ext uri="{FF2B5EF4-FFF2-40B4-BE49-F238E27FC236}">
                <a16:creationId xmlns:a16="http://schemas.microsoft.com/office/drawing/2014/main" id="{74AFD3D5-7526-A4BB-9667-AFD1D650F612}"/>
              </a:ext>
            </a:extLst>
          </p:cNvPr>
          <p:cNvSpPr>
            <a:spLocks noGrp="1"/>
          </p:cNvSpPr>
          <p:nvPr/>
        </p:nvSpPr>
        <p:spPr>
          <a:xfrm>
            <a:off x="8216347" y="101600"/>
            <a:ext cx="812800" cy="177800"/>
          </a:xfrm>
          <a:prstGeom prst="roundRect">
            <a:avLst>
              <a:gd name="adj" fmla="val 2000"/>
            </a:avLst>
          </a:prstGeom>
          <a:solidFill>
            <a:srgbClr val="F3F4F6"/>
          </a:solidFill>
          <a:ln w="6350">
            <a:solidFill>
              <a:srgbClr val="D1D5DB"/>
            </a:solidFill>
          </a:ln>
        </p:spPr>
        <p:txBody>
          <a:bodyPr wrap="square" lIns="25400" tIns="25400" rIns="25400" bIns="25400" anchor="ctr"/>
          <a:lstStyle/>
          <a:p>
            <a:pPr algn="ctr">
              <a:lnSpc>
                <a:spcPts val="1100"/>
              </a:lnSpc>
              <a:buNone/>
            </a:pPr>
            <a:r>
              <a:rPr lang="en-US" sz="575" b="1" dirty="0">
                <a:solidFill>
                  <a:srgbClr val="9CA3AF"/>
                </a:solidFill>
                <a:latin typeface="Calibri"/>
              </a:rPr>
              <a:t>APPENDIX</a:t>
            </a:r>
          </a:p>
        </p:txBody>
      </p:sp>
    </p:spTree>
    <p:extLst>
      <p:ext uri="{BB962C8B-B14F-4D97-AF65-F5344CB8AC3E}">
        <p14:creationId xmlns:p14="http://schemas.microsoft.com/office/powerpoint/2010/main" val="34681873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7772400" cy="457200"/>
          </a:xfrm>
          <a:prstGeom prst="rect">
            <a:avLst/>
          </a:prstGeom>
          <a:noFill/>
          <a:ln>
            <a:noFill/>
          </a:ln>
        </p:spPr>
        <p:txBody>
          <a:bodyPr wrap="square" lIns="0" tIns="0" rIns="0" bIns="0" anchor="ctr"/>
          <a:lstStyle/>
          <a:p>
            <a:pPr>
              <a:buNone/>
            </a:pPr>
            <a:r>
              <a:rPr lang="en-US" sz="1800" b="1" dirty="0">
                <a:solidFill>
                  <a:srgbClr val="111827"/>
                </a:solidFill>
                <a:latin typeface="Calibri"/>
              </a:rPr>
              <a:t>Celigo and Conscia: Complementary Layers</a:t>
            </a:r>
          </a:p>
        </p:txBody>
      </p:sp>
      <p:sp>
        <p:nvSpPr>
          <p:cNvPr id="4" name="Subtitle"/>
          <p:cNvSpPr/>
          <p:nvPr/>
        </p:nvSpPr>
        <p:spPr>
          <a:xfrm>
            <a:off x="381000" y="533400"/>
            <a:ext cx="7772400" cy="228600"/>
          </a:xfrm>
          <a:prstGeom prst="rect">
            <a:avLst/>
          </a:prstGeom>
          <a:noFill/>
          <a:ln>
            <a:noFill/>
          </a:ln>
        </p:spPr>
        <p:txBody>
          <a:bodyPr wrap="square" lIns="0" tIns="0" rIns="0" bIns="0" anchor="ctr"/>
          <a:lstStyle/>
          <a:p>
            <a:pPr>
              <a:buNone/>
            </a:pPr>
            <a:r>
              <a:rPr lang="en-US" sz="1000" dirty="0">
                <a:solidFill>
                  <a:srgbClr val="6B7280"/>
                </a:solidFill>
                <a:latin typeface="Calibri"/>
              </a:rPr>
              <a:t>Different categories of tool solving different problems in the Lovesac stack</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3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3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110" name="Hdr0"/>
          <p:cNvSpPr>
            <a:spLocks noGrp="1"/>
          </p:cNvSpPr>
          <p:nvPr/>
        </p:nvSpPr>
        <p:spPr>
          <a:xfrm>
            <a:off x="203200" y="888999"/>
            <a:ext cx="1371600" cy="228600"/>
          </a:xfrm>
          <a:prstGeom prst="roundRect">
            <a:avLst>
              <a:gd name="adj" fmla="val 2000"/>
            </a:avLst>
          </a:prstGeom>
          <a:solidFill>
            <a:srgbClr val="F3F4F6"/>
          </a:solidFill>
          <a:ln w="9525">
            <a:solidFill>
              <a:srgbClr val="D1D5DB"/>
            </a:solidFill>
          </a:ln>
        </p:spPr>
        <p:txBody>
          <a:bodyPr wrap="square" lIns="50800" tIns="50800" rIns="50800" bIns="50800" anchor="ctr"/>
          <a:lstStyle/>
          <a:p>
            <a:pPr algn="ctr">
              <a:lnSpc>
                <a:spcPts val="1100"/>
              </a:lnSpc>
              <a:buNone/>
            </a:pPr>
            <a:r>
              <a:rPr lang="en-US" sz="700" b="1" dirty="0">
                <a:solidFill>
                  <a:srgbClr val="4B5563"/>
                </a:solidFill>
                <a:latin typeface="Calibri"/>
              </a:rPr>
              <a:t>Concern</a:t>
            </a:r>
          </a:p>
        </p:txBody>
      </p:sp>
      <p:sp>
        <p:nvSpPr>
          <p:cNvPr id="111" name="Hdr1"/>
          <p:cNvSpPr>
            <a:spLocks noGrp="1"/>
          </p:cNvSpPr>
          <p:nvPr/>
        </p:nvSpPr>
        <p:spPr>
          <a:xfrm>
            <a:off x="1574800" y="888999"/>
            <a:ext cx="3556000" cy="228600"/>
          </a:xfrm>
          <a:prstGeom prst="roundRect">
            <a:avLst>
              <a:gd name="adj" fmla="val 2000"/>
            </a:avLst>
          </a:prstGeom>
          <a:solidFill>
            <a:srgbClr val="F3F4F6"/>
          </a:solidFill>
          <a:ln w="9525">
            <a:solidFill>
              <a:srgbClr val="D1D5DB"/>
            </a:solidFill>
          </a:ln>
        </p:spPr>
        <p:txBody>
          <a:bodyPr wrap="square" lIns="50800" tIns="50800" rIns="50800" bIns="50800" anchor="ctr"/>
          <a:lstStyle/>
          <a:p>
            <a:pPr algn="ctr">
              <a:lnSpc>
                <a:spcPts val="1100"/>
              </a:lnSpc>
              <a:buNone/>
            </a:pPr>
            <a:r>
              <a:rPr lang="en-US" sz="700" b="1" dirty="0">
                <a:solidFill>
                  <a:srgbClr val="4B5563"/>
                </a:solidFill>
                <a:latin typeface="Calibri"/>
              </a:rPr>
              <a:t>Celigo (iPaaS)</a:t>
            </a:r>
          </a:p>
        </p:txBody>
      </p:sp>
      <p:sp>
        <p:nvSpPr>
          <p:cNvPr id="112" name="Hdr2"/>
          <p:cNvSpPr>
            <a:spLocks noGrp="1"/>
          </p:cNvSpPr>
          <p:nvPr/>
        </p:nvSpPr>
        <p:spPr>
          <a:xfrm>
            <a:off x="5130800" y="888999"/>
            <a:ext cx="3810000" cy="228600"/>
          </a:xfrm>
          <a:prstGeom prst="roundRect">
            <a:avLst>
              <a:gd name="adj" fmla="val 2000"/>
            </a:avLst>
          </a:prstGeom>
          <a:solidFill>
            <a:srgbClr val="0D9488"/>
          </a:solidFill>
          <a:ln w="9525">
            <a:solidFill>
              <a:srgbClr val="D1D5DB"/>
            </a:solidFill>
          </a:ln>
        </p:spPr>
        <p:txBody>
          <a:bodyPr wrap="square" lIns="50800" tIns="50800" rIns="50800" bIns="50800" anchor="ctr"/>
          <a:lstStyle/>
          <a:p>
            <a:pPr algn="ctr">
              <a:lnSpc>
                <a:spcPts val="1100"/>
              </a:lnSpc>
              <a:buNone/>
            </a:pPr>
            <a:r>
              <a:rPr lang="en-US" sz="700" b="1" dirty="0">
                <a:solidFill>
                  <a:srgbClr val="FFFFFF"/>
                </a:solidFill>
                <a:latin typeface="Calibri"/>
              </a:rPr>
              <a:t>Conscia  (DX Graph + DX Engine)</a:t>
            </a:r>
          </a:p>
        </p:txBody>
      </p:sp>
      <p:sp>
        <p:nvSpPr>
          <p:cNvPr id="120" name="R0C0"/>
          <p:cNvSpPr>
            <a:spLocks noGrp="1"/>
          </p:cNvSpPr>
          <p:nvPr/>
        </p:nvSpPr>
        <p:spPr>
          <a:xfrm>
            <a:off x="203200" y="1117599"/>
            <a:ext cx="1371600" cy="381000"/>
          </a:xfrm>
          <a:prstGeom prst="roundRect">
            <a:avLst>
              <a:gd name="adj" fmla="val 2000"/>
            </a:avLst>
          </a:prstGeom>
          <a:solidFill>
            <a:srgbClr val="F9FAFB"/>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Category</a:t>
            </a:r>
          </a:p>
        </p:txBody>
      </p:sp>
      <p:sp>
        <p:nvSpPr>
          <p:cNvPr id="121" name="R0C1"/>
          <p:cNvSpPr>
            <a:spLocks noGrp="1"/>
          </p:cNvSpPr>
          <p:nvPr/>
        </p:nvSpPr>
        <p:spPr>
          <a:xfrm>
            <a:off x="1574800" y="1117599"/>
            <a:ext cx="3556000" cy="381000"/>
          </a:xfrm>
          <a:prstGeom prst="roundRect">
            <a:avLst>
              <a:gd name="adj" fmla="val 2000"/>
            </a:avLst>
          </a:prstGeom>
          <a:solidFill>
            <a:srgbClr val="F9FAFB"/>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Integration Platform as a Service</a:t>
            </a:r>
          </a:p>
        </p:txBody>
      </p:sp>
      <p:sp>
        <p:nvSpPr>
          <p:cNvPr id="122" name="R0C2"/>
          <p:cNvSpPr>
            <a:spLocks noGrp="1"/>
          </p:cNvSpPr>
          <p:nvPr/>
        </p:nvSpPr>
        <p:spPr>
          <a:xfrm>
            <a:off x="5130800" y="1117599"/>
            <a:ext cx="3810000" cy="381000"/>
          </a:xfrm>
          <a:prstGeom prst="roundRect">
            <a:avLst>
              <a:gd name="adj" fmla="val 2000"/>
            </a:avLst>
          </a:prstGeom>
          <a:solidFill>
            <a:srgbClr val="F0FDFA"/>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Governed semantic layer + experience orchestration</a:t>
            </a:r>
          </a:p>
        </p:txBody>
      </p:sp>
      <p:sp>
        <p:nvSpPr>
          <p:cNvPr id="123" name="R1C0"/>
          <p:cNvSpPr>
            <a:spLocks noGrp="1"/>
          </p:cNvSpPr>
          <p:nvPr/>
        </p:nvSpPr>
        <p:spPr>
          <a:xfrm>
            <a:off x="203200" y="1498599"/>
            <a:ext cx="1371600" cy="381000"/>
          </a:xfrm>
          <a:prstGeom prst="roundRect">
            <a:avLst>
              <a:gd name="adj" fmla="val 2000"/>
            </a:avLst>
          </a:prstGeom>
          <a:solidFill>
            <a:srgbClr val="FFFFFF"/>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Core job</a:t>
            </a:r>
          </a:p>
        </p:txBody>
      </p:sp>
      <p:sp>
        <p:nvSpPr>
          <p:cNvPr id="124" name="R1C1"/>
          <p:cNvSpPr>
            <a:spLocks noGrp="1"/>
          </p:cNvSpPr>
          <p:nvPr/>
        </p:nvSpPr>
        <p:spPr>
          <a:xfrm>
            <a:off x="1574800" y="1498599"/>
            <a:ext cx="3556000" cy="381000"/>
          </a:xfrm>
          <a:prstGeom prst="roundRect">
            <a:avLst>
              <a:gd name="adj" fmla="val 2000"/>
            </a:avLst>
          </a:prstGeom>
          <a:solidFill>
            <a:srgbClr val="FFFFFF"/>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Move records between SaaS apps with mapping and error handling</a:t>
            </a:r>
          </a:p>
        </p:txBody>
      </p:sp>
      <p:sp>
        <p:nvSpPr>
          <p:cNvPr id="125" name="R1C2"/>
          <p:cNvSpPr>
            <a:spLocks noGrp="1"/>
          </p:cNvSpPr>
          <p:nvPr/>
        </p:nvSpPr>
        <p:spPr>
          <a:xfrm>
            <a:off x="5130800" y="1498599"/>
            <a:ext cx="3810000" cy="381000"/>
          </a:xfrm>
          <a:prstGeom prst="roundRect">
            <a:avLst>
              <a:gd name="adj" fmla="val 2000"/>
            </a:avLst>
          </a:prstGeom>
          <a:solidFill>
            <a:srgbClr val="F7FFFE"/>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Hold the canonical product model and serve real-time channel APIs</a:t>
            </a:r>
          </a:p>
        </p:txBody>
      </p:sp>
      <p:sp>
        <p:nvSpPr>
          <p:cNvPr id="126" name="R2C0"/>
          <p:cNvSpPr>
            <a:spLocks noGrp="1"/>
          </p:cNvSpPr>
          <p:nvPr/>
        </p:nvSpPr>
        <p:spPr>
          <a:xfrm>
            <a:off x="203200" y="1879599"/>
            <a:ext cx="1371600" cy="381000"/>
          </a:xfrm>
          <a:prstGeom prst="roundRect">
            <a:avLst>
              <a:gd name="adj" fmla="val 2000"/>
            </a:avLst>
          </a:prstGeom>
          <a:solidFill>
            <a:srgbClr val="F9FAFB"/>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Data pattern</a:t>
            </a:r>
          </a:p>
        </p:txBody>
      </p:sp>
      <p:sp>
        <p:nvSpPr>
          <p:cNvPr id="127" name="R2C1"/>
          <p:cNvSpPr>
            <a:spLocks noGrp="1"/>
          </p:cNvSpPr>
          <p:nvPr/>
        </p:nvSpPr>
        <p:spPr>
          <a:xfrm>
            <a:off x="1574800" y="1879599"/>
            <a:ext cx="3556000" cy="381000"/>
          </a:xfrm>
          <a:prstGeom prst="roundRect">
            <a:avLst>
              <a:gd name="adj" fmla="val 2000"/>
            </a:avLst>
          </a:prstGeom>
          <a:solidFill>
            <a:srgbClr val="F9FAFB"/>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Batch and event-driven flows, source-to-destination</a:t>
            </a:r>
          </a:p>
        </p:txBody>
      </p:sp>
      <p:sp>
        <p:nvSpPr>
          <p:cNvPr id="128" name="R2C2"/>
          <p:cNvSpPr>
            <a:spLocks noGrp="1"/>
          </p:cNvSpPr>
          <p:nvPr/>
        </p:nvSpPr>
        <p:spPr>
          <a:xfrm>
            <a:off x="5130800" y="1879599"/>
            <a:ext cx="3810000" cy="381000"/>
          </a:xfrm>
          <a:prstGeom prst="roundRect">
            <a:avLst>
              <a:gd name="adj" fmla="val 2000"/>
            </a:avLst>
          </a:prstGeom>
          <a:solidFill>
            <a:srgbClr val="F0FDFA"/>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Unified graph with relationships (COMPATIBLE_WITH, BUNDLES, CONTAINS)</a:t>
            </a:r>
          </a:p>
        </p:txBody>
      </p:sp>
      <p:sp>
        <p:nvSpPr>
          <p:cNvPr id="129" name="R3C0"/>
          <p:cNvSpPr>
            <a:spLocks noGrp="1"/>
          </p:cNvSpPr>
          <p:nvPr/>
        </p:nvSpPr>
        <p:spPr>
          <a:xfrm>
            <a:off x="203200" y="2260599"/>
            <a:ext cx="1371600" cy="381000"/>
          </a:xfrm>
          <a:prstGeom prst="roundRect">
            <a:avLst>
              <a:gd name="adj" fmla="val 2000"/>
            </a:avLst>
          </a:prstGeom>
          <a:solidFill>
            <a:srgbClr val="FFFFFF"/>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Latency</a:t>
            </a:r>
          </a:p>
        </p:txBody>
      </p:sp>
      <p:sp>
        <p:nvSpPr>
          <p:cNvPr id="130" name="R3C1"/>
          <p:cNvSpPr>
            <a:spLocks noGrp="1"/>
          </p:cNvSpPr>
          <p:nvPr/>
        </p:nvSpPr>
        <p:spPr>
          <a:xfrm>
            <a:off x="1574800" y="2260599"/>
            <a:ext cx="3556000" cy="381000"/>
          </a:xfrm>
          <a:prstGeom prst="roundRect">
            <a:avLst>
              <a:gd name="adj" fmla="val 2000"/>
            </a:avLst>
          </a:prstGeom>
          <a:solidFill>
            <a:srgbClr val="FFFFFF"/>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Throughput-optimised: scheduled or webhook</a:t>
            </a:r>
          </a:p>
        </p:txBody>
      </p:sp>
      <p:sp>
        <p:nvSpPr>
          <p:cNvPr id="131" name="R3C2"/>
          <p:cNvSpPr>
            <a:spLocks noGrp="1"/>
          </p:cNvSpPr>
          <p:nvPr/>
        </p:nvSpPr>
        <p:spPr>
          <a:xfrm>
            <a:off x="5130800" y="2260599"/>
            <a:ext cx="3810000" cy="381000"/>
          </a:xfrm>
          <a:prstGeom prst="roundRect">
            <a:avLst>
              <a:gd name="adj" fmla="val 2000"/>
            </a:avLst>
          </a:prstGeom>
          <a:solidFill>
            <a:srgbClr val="F7FFFE"/>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Sub-second synchronous, on the critical path of POS and web</a:t>
            </a:r>
          </a:p>
        </p:txBody>
      </p:sp>
      <p:sp>
        <p:nvSpPr>
          <p:cNvPr id="132" name="R4C0"/>
          <p:cNvSpPr>
            <a:spLocks noGrp="1"/>
          </p:cNvSpPr>
          <p:nvPr/>
        </p:nvSpPr>
        <p:spPr>
          <a:xfrm>
            <a:off x="203200" y="2641599"/>
            <a:ext cx="1371600" cy="381000"/>
          </a:xfrm>
          <a:prstGeom prst="roundRect">
            <a:avLst>
              <a:gd name="adj" fmla="val 2000"/>
            </a:avLst>
          </a:prstGeom>
          <a:solidFill>
            <a:srgbClr val="F9FAFB"/>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Rules</a:t>
            </a:r>
          </a:p>
        </p:txBody>
      </p:sp>
      <p:sp>
        <p:nvSpPr>
          <p:cNvPr id="133" name="R4C1"/>
          <p:cNvSpPr>
            <a:spLocks noGrp="1"/>
          </p:cNvSpPr>
          <p:nvPr/>
        </p:nvSpPr>
        <p:spPr>
          <a:xfrm>
            <a:off x="1574800" y="2641599"/>
            <a:ext cx="3556000" cy="381000"/>
          </a:xfrm>
          <a:prstGeom prst="roundRect">
            <a:avLst>
              <a:gd name="adj" fmla="val 2000"/>
            </a:avLst>
          </a:prstGeom>
          <a:solidFill>
            <a:srgbClr val="F9FAFB"/>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Flow-level branching for integration builders</a:t>
            </a:r>
          </a:p>
        </p:txBody>
      </p:sp>
      <p:sp>
        <p:nvSpPr>
          <p:cNvPr id="134" name="R4C2"/>
          <p:cNvSpPr>
            <a:spLocks noGrp="1"/>
          </p:cNvSpPr>
          <p:nvPr/>
        </p:nvSpPr>
        <p:spPr>
          <a:xfrm>
            <a:off x="5130800" y="2641599"/>
            <a:ext cx="3810000" cy="381000"/>
          </a:xfrm>
          <a:prstGeom prst="roundRect">
            <a:avLst>
              <a:gd name="adj" fmla="val 2000"/>
            </a:avLst>
          </a:prstGeom>
          <a:solidFill>
            <a:srgbClr val="F0FDFA"/>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Business-user Experience Rules: priority, A/B, segmentation</a:t>
            </a:r>
          </a:p>
        </p:txBody>
      </p:sp>
      <p:sp>
        <p:nvSpPr>
          <p:cNvPr id="135" name="R5C0"/>
          <p:cNvSpPr>
            <a:spLocks noGrp="1"/>
          </p:cNvSpPr>
          <p:nvPr/>
        </p:nvSpPr>
        <p:spPr>
          <a:xfrm>
            <a:off x="203200" y="3022599"/>
            <a:ext cx="1371600" cy="381000"/>
          </a:xfrm>
          <a:prstGeom prst="roundRect">
            <a:avLst>
              <a:gd name="adj" fmla="val 2000"/>
            </a:avLst>
          </a:prstGeom>
          <a:solidFill>
            <a:srgbClr val="FFFFFF"/>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Frontend</a:t>
            </a:r>
          </a:p>
        </p:txBody>
      </p:sp>
      <p:sp>
        <p:nvSpPr>
          <p:cNvPr id="136" name="R5C1"/>
          <p:cNvSpPr>
            <a:spLocks noGrp="1"/>
          </p:cNvSpPr>
          <p:nvPr/>
        </p:nvSpPr>
        <p:spPr>
          <a:xfrm>
            <a:off x="1574800" y="3022599"/>
            <a:ext cx="3556000" cy="381000"/>
          </a:xfrm>
          <a:prstGeom prst="roundRect">
            <a:avLst>
              <a:gd name="adj" fmla="val 2000"/>
            </a:avLst>
          </a:prstGeom>
          <a:solidFill>
            <a:srgbClr val="FFFFFF"/>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None — frontends call multiple flows or build their own BFF</a:t>
            </a:r>
          </a:p>
        </p:txBody>
      </p:sp>
      <p:sp>
        <p:nvSpPr>
          <p:cNvPr id="137" name="R5C2"/>
          <p:cNvSpPr>
            <a:spLocks noGrp="1"/>
          </p:cNvSpPr>
          <p:nvPr/>
        </p:nvSpPr>
        <p:spPr>
          <a:xfrm>
            <a:off x="5130800" y="3022599"/>
            <a:ext cx="3810000" cy="381000"/>
          </a:xfrm>
          <a:prstGeom prst="roundRect">
            <a:avLst>
              <a:gd name="adj" fmla="val 2000"/>
            </a:avLst>
          </a:prstGeom>
          <a:solidFill>
            <a:srgbClr val="F7FFFE"/>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Single Experience API call returns unified, channel-shaped JSON</a:t>
            </a:r>
          </a:p>
        </p:txBody>
      </p:sp>
      <p:sp>
        <p:nvSpPr>
          <p:cNvPr id="138" name="R6C0"/>
          <p:cNvSpPr>
            <a:spLocks noGrp="1"/>
          </p:cNvSpPr>
          <p:nvPr/>
        </p:nvSpPr>
        <p:spPr>
          <a:xfrm>
            <a:off x="203200" y="3403599"/>
            <a:ext cx="1371600" cy="381000"/>
          </a:xfrm>
          <a:prstGeom prst="roundRect">
            <a:avLst>
              <a:gd name="adj" fmla="val 2000"/>
            </a:avLst>
          </a:prstGeom>
          <a:solidFill>
            <a:srgbClr val="F9FAFB"/>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Agentic / MCP</a:t>
            </a:r>
          </a:p>
        </p:txBody>
      </p:sp>
      <p:sp>
        <p:nvSpPr>
          <p:cNvPr id="139" name="R6C1"/>
          <p:cNvSpPr>
            <a:spLocks noGrp="1"/>
          </p:cNvSpPr>
          <p:nvPr/>
        </p:nvSpPr>
        <p:spPr>
          <a:xfrm>
            <a:off x="1574800" y="3403599"/>
            <a:ext cx="3556000" cy="381000"/>
          </a:xfrm>
          <a:prstGeom prst="roundRect">
            <a:avLst>
              <a:gd name="adj" fmla="val 2000"/>
            </a:avLst>
          </a:prstGeom>
          <a:solidFill>
            <a:srgbClr val="F9FAFB"/>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MCP server exposes integration flows</a:t>
            </a:r>
          </a:p>
        </p:txBody>
      </p:sp>
      <p:sp>
        <p:nvSpPr>
          <p:cNvPr id="140" name="R6C2"/>
          <p:cNvSpPr>
            <a:spLocks noGrp="1"/>
          </p:cNvSpPr>
          <p:nvPr/>
        </p:nvSpPr>
        <p:spPr>
          <a:xfrm>
            <a:off x="5130800" y="3403599"/>
            <a:ext cx="3810000" cy="381000"/>
          </a:xfrm>
          <a:prstGeom prst="roundRect">
            <a:avLst>
              <a:gd name="adj" fmla="val 2000"/>
            </a:avLst>
          </a:prstGeom>
          <a:solidFill>
            <a:srgbClr val="F0FDFA"/>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MCP server exposes governed semantic capabilities</a:t>
            </a:r>
          </a:p>
        </p:txBody>
      </p:sp>
      <p:sp>
        <p:nvSpPr>
          <p:cNvPr id="141" name="R7C0"/>
          <p:cNvSpPr>
            <a:spLocks noGrp="1"/>
          </p:cNvSpPr>
          <p:nvPr/>
        </p:nvSpPr>
        <p:spPr>
          <a:xfrm>
            <a:off x="203200" y="3784599"/>
            <a:ext cx="1371600" cy="381000"/>
          </a:xfrm>
          <a:prstGeom prst="roundRect">
            <a:avLst>
              <a:gd name="adj" fmla="val 2000"/>
            </a:avLst>
          </a:prstGeom>
          <a:solidFill>
            <a:srgbClr val="FFFFFF"/>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Where it shines</a:t>
            </a:r>
          </a:p>
        </p:txBody>
      </p:sp>
      <p:sp>
        <p:nvSpPr>
          <p:cNvPr id="142" name="R7C1"/>
          <p:cNvSpPr>
            <a:spLocks noGrp="1"/>
          </p:cNvSpPr>
          <p:nvPr/>
        </p:nvSpPr>
        <p:spPr>
          <a:xfrm>
            <a:off x="1574800" y="3784599"/>
            <a:ext cx="3556000" cy="381000"/>
          </a:xfrm>
          <a:prstGeom prst="roundRect">
            <a:avLst>
              <a:gd name="adj" fmla="val 2000"/>
            </a:avLst>
          </a:prstGeom>
          <a:solidFill>
            <a:srgbClr val="FFFFFF"/>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NetSuite ↔ Magento ↔ MAO ↔ Salesforce plumbing</a:t>
            </a:r>
          </a:p>
        </p:txBody>
      </p:sp>
      <p:sp>
        <p:nvSpPr>
          <p:cNvPr id="143" name="R7C2"/>
          <p:cNvSpPr>
            <a:spLocks noGrp="1"/>
          </p:cNvSpPr>
          <p:nvPr/>
        </p:nvSpPr>
        <p:spPr>
          <a:xfrm>
            <a:off x="5130800" y="3784599"/>
            <a:ext cx="3810000" cy="381000"/>
          </a:xfrm>
          <a:prstGeom prst="roundRect">
            <a:avLst>
              <a:gd name="adj" fmla="val 2000"/>
            </a:avLst>
          </a:prstGeom>
          <a:solidFill>
            <a:srgbClr val="F7FFFE"/>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Config validation, BOM explosion, wizard steps, agentic channels</a:t>
            </a:r>
          </a:p>
        </p:txBody>
      </p:sp>
      <p:sp>
        <p:nvSpPr>
          <p:cNvPr id="200" name="Summary"/>
          <p:cNvSpPr>
            <a:spLocks noGrp="1"/>
          </p:cNvSpPr>
          <p:nvPr/>
        </p:nvSpPr>
        <p:spPr>
          <a:xfrm>
            <a:off x="203200" y="4254501"/>
            <a:ext cx="8737600" cy="596899"/>
          </a:xfrm>
          <a:prstGeom prst="roundRect">
            <a:avLst>
              <a:gd name="adj" fmla="val 1500"/>
            </a:avLst>
          </a:prstGeom>
          <a:solidFill>
            <a:srgbClr val="FEF2F2"/>
          </a:solidFill>
          <a:ln w="9525">
            <a:solidFill>
              <a:srgbClr val="FECACA"/>
            </a:solidFill>
          </a:ln>
        </p:spPr>
        <p:txBody>
          <a:bodyPr wrap="square" lIns="63500" tIns="63500" rIns="63500" bIns="63500" anchor="ctr"/>
          <a:lstStyle/>
          <a:p>
            <a:pPr algn="ctr">
              <a:lnSpc>
                <a:spcPct val="150000"/>
              </a:lnSpc>
            </a:pPr>
            <a:r>
              <a:rPr lang="en-US" sz="1100" i="1" dirty="0">
                <a:solidFill>
                  <a:srgbClr val="991B1B"/>
                </a:solidFill>
                <a:latin typeface="Calibri"/>
              </a:rPr>
              <a:t>The </a:t>
            </a:r>
            <a:r>
              <a:rPr lang="en-US" sz="1100" i="1" dirty="0" err="1">
                <a:solidFill>
                  <a:srgbClr val="991B1B"/>
                </a:solidFill>
                <a:latin typeface="Calibri"/>
              </a:rPr>
              <a:t>Sactional</a:t>
            </a:r>
            <a:r>
              <a:rPr lang="en-US" sz="1100" i="1" dirty="0">
                <a:solidFill>
                  <a:srgbClr val="991B1B"/>
                </a:solidFill>
                <a:latin typeface="Calibri"/>
              </a:rPr>
              <a:t> SKU-explosion problem is a model and orchestration problem, not a transport problem. </a:t>
            </a:r>
          </a:p>
          <a:p>
            <a:pPr algn="ctr">
              <a:lnSpc>
                <a:spcPct val="150000"/>
              </a:lnSpc>
            </a:pPr>
            <a:r>
              <a:rPr lang="en-US" sz="1100" i="1" dirty="0" err="1">
                <a:solidFill>
                  <a:srgbClr val="991B1B"/>
                </a:solidFill>
                <a:latin typeface="Calibri"/>
              </a:rPr>
              <a:t>Celigo</a:t>
            </a:r>
            <a:r>
              <a:rPr lang="en-US" sz="1100" i="1" dirty="0">
                <a:solidFill>
                  <a:srgbClr val="991B1B"/>
                </a:solidFill>
                <a:latin typeface="Calibri"/>
              </a:rPr>
              <a:t> moves data between systems.  </a:t>
            </a:r>
            <a:r>
              <a:rPr lang="en-US" sz="1100" i="1" dirty="0" err="1">
                <a:solidFill>
                  <a:srgbClr val="991B1B"/>
                </a:solidFill>
                <a:latin typeface="Calibri"/>
              </a:rPr>
              <a:t>Conscia</a:t>
            </a:r>
            <a:r>
              <a:rPr lang="en-US" sz="1100" i="1" dirty="0">
                <a:solidFill>
                  <a:srgbClr val="991B1B"/>
                </a:solidFill>
                <a:latin typeface="Calibri"/>
              </a:rPr>
              <a:t> gives that data meaning and serves it in real time.</a:t>
            </a:r>
          </a:p>
        </p:txBody>
      </p:sp>
      <p:sp>
        <p:nvSpPr>
          <p:cNvPr id="6" name="AppxTag">
            <a:extLst>
              <a:ext uri="{FF2B5EF4-FFF2-40B4-BE49-F238E27FC236}">
                <a16:creationId xmlns:a16="http://schemas.microsoft.com/office/drawing/2014/main" id="{D740C0C8-2A73-A6E3-4880-795488BC53F5}"/>
              </a:ext>
            </a:extLst>
          </p:cNvPr>
          <p:cNvSpPr>
            <a:spLocks noGrp="1"/>
          </p:cNvSpPr>
          <p:nvPr/>
        </p:nvSpPr>
        <p:spPr>
          <a:xfrm>
            <a:off x="8216347" y="101600"/>
            <a:ext cx="812800" cy="177800"/>
          </a:xfrm>
          <a:prstGeom prst="roundRect">
            <a:avLst>
              <a:gd name="adj" fmla="val 2000"/>
            </a:avLst>
          </a:prstGeom>
          <a:solidFill>
            <a:srgbClr val="F3F4F6"/>
          </a:solidFill>
          <a:ln w="6350">
            <a:solidFill>
              <a:srgbClr val="D1D5DB"/>
            </a:solidFill>
          </a:ln>
        </p:spPr>
        <p:txBody>
          <a:bodyPr wrap="square" lIns="25400" tIns="25400" rIns="25400" bIns="25400" anchor="ctr"/>
          <a:lstStyle/>
          <a:p>
            <a:pPr algn="ctr">
              <a:lnSpc>
                <a:spcPts val="1100"/>
              </a:lnSpc>
              <a:buNone/>
            </a:pPr>
            <a:r>
              <a:rPr lang="en-US" sz="575" b="1" dirty="0">
                <a:solidFill>
                  <a:srgbClr val="9CA3AF"/>
                </a:solidFill>
                <a:latin typeface="Calibri"/>
              </a:rPr>
              <a:t>APPENDIX</a:t>
            </a:r>
          </a:p>
        </p:txBody>
      </p:sp>
    </p:spTree>
    <p:extLst>
      <p:ext uri="{BB962C8B-B14F-4D97-AF65-F5344CB8AC3E}">
        <p14:creationId xmlns:p14="http://schemas.microsoft.com/office/powerpoint/2010/main" val="34205142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7772400" cy="457200"/>
          </a:xfrm>
          <a:prstGeom prst="rect">
            <a:avLst/>
          </a:prstGeom>
          <a:noFill/>
          <a:ln>
            <a:noFill/>
          </a:ln>
        </p:spPr>
        <p:txBody>
          <a:bodyPr wrap="square" lIns="0" tIns="0" rIns="0" bIns="0" anchor="ctr"/>
          <a:lstStyle/>
          <a:p>
            <a:pPr>
              <a:buNone/>
            </a:pPr>
            <a:r>
              <a:rPr lang="en-US" sz="1800" b="1" dirty="0">
                <a:solidFill>
                  <a:srgbClr val="111827"/>
                </a:solidFill>
                <a:latin typeface="Calibri"/>
              </a:rPr>
              <a:t>How Conscia Integrates with Celigo</a:t>
            </a:r>
          </a:p>
        </p:txBody>
      </p:sp>
      <p:sp>
        <p:nvSpPr>
          <p:cNvPr id="4" name="Subtitle"/>
          <p:cNvSpPr/>
          <p:nvPr/>
        </p:nvSpPr>
        <p:spPr>
          <a:xfrm>
            <a:off x="381000" y="533400"/>
            <a:ext cx="7772400" cy="228600"/>
          </a:xfrm>
          <a:prstGeom prst="rect">
            <a:avLst/>
          </a:prstGeom>
          <a:noFill/>
          <a:ln>
            <a:noFill/>
          </a:ln>
        </p:spPr>
        <p:txBody>
          <a:bodyPr wrap="square" lIns="0" tIns="0" rIns="0" bIns="0" anchor="ctr"/>
          <a:lstStyle/>
          <a:p>
            <a:pPr>
              <a:buNone/>
            </a:pPr>
            <a:r>
              <a:rPr lang="en-US" sz="1000" dirty="0">
                <a:solidFill>
                  <a:srgbClr val="6B7280"/>
                </a:solidFill>
                <a:latin typeface="Calibri"/>
              </a:rPr>
              <a:t>Three patterns, one end-state architecture</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3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3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100" name="CA_BG"/>
          <p:cNvSpPr>
            <a:spLocks noGrp="1"/>
          </p:cNvSpPr>
          <p:nvPr/>
        </p:nvSpPr>
        <p:spPr>
          <a:xfrm>
            <a:off x="203200" y="889000"/>
            <a:ext cx="2768600" cy="1549400"/>
          </a:xfrm>
          <a:prstGeom prst="roundRect">
            <a:avLst>
              <a:gd name="adj" fmla="val 2000"/>
            </a:avLst>
          </a:prstGeom>
          <a:solidFill>
            <a:srgbClr val="F9FAFB"/>
          </a:solidFill>
          <a:ln w="9525">
            <a:solidFill>
              <a:srgbClr val="EB1A63"/>
            </a:solidFill>
          </a:ln>
        </p:spPr>
        <p:txBody>
          <a:bodyPr/>
          <a:lstStyle/>
          <a:p>
            <a:endParaRPr lang="en-GB"/>
          </a:p>
        </p:txBody>
      </p:sp>
      <p:sp>
        <p:nvSpPr>
          <p:cNvPr id="101" name="CA_Rec"/>
          <p:cNvSpPr>
            <a:spLocks noGrp="1"/>
          </p:cNvSpPr>
          <p:nvPr/>
        </p:nvSpPr>
        <p:spPr>
          <a:xfrm>
            <a:off x="2235200" y="939800"/>
            <a:ext cx="685800" cy="139700"/>
          </a:xfrm>
          <a:prstGeom prst="roundRect">
            <a:avLst>
              <a:gd name="adj" fmla="val 3000"/>
            </a:avLst>
          </a:prstGeom>
          <a:solidFill>
            <a:srgbClr val="EB1A63"/>
          </a:solidFill>
          <a:ln>
            <a:noFill/>
          </a:ln>
        </p:spPr>
        <p:txBody>
          <a:bodyPr wrap="square" lIns="25400" tIns="25400" rIns="25400" bIns="25400" anchor="ctr"/>
          <a:lstStyle/>
          <a:p>
            <a:pPr algn="ctr">
              <a:lnSpc>
                <a:spcPts val="1050"/>
              </a:lnSpc>
              <a:buNone/>
            </a:pPr>
            <a:r>
              <a:rPr lang="en-US" sz="525" b="1" dirty="0">
                <a:solidFill>
                  <a:srgbClr val="FFFFFF"/>
                </a:solidFill>
                <a:latin typeface="Calibri"/>
              </a:rPr>
              <a:t>RECOMMENDED</a:t>
            </a:r>
          </a:p>
        </p:txBody>
      </p:sp>
      <p:sp>
        <p:nvSpPr>
          <p:cNvPr id="102" name="CA_Tag"/>
          <p:cNvSpPr>
            <a:spLocks noGrp="1"/>
          </p:cNvSpPr>
          <p:nvPr/>
        </p:nvSpPr>
        <p:spPr>
          <a:xfrm>
            <a:off x="254000" y="939800"/>
            <a:ext cx="1016000" cy="139700"/>
          </a:xfrm>
          <a:prstGeom prst="rect">
            <a:avLst/>
          </a:prstGeom>
          <a:noFill/>
          <a:ln>
            <a:noFill/>
          </a:ln>
        </p:spPr>
        <p:txBody>
          <a:bodyPr wrap="square" lIns="25400" tIns="25400" rIns="25400" bIns="25400" anchor="t"/>
          <a:lstStyle/>
          <a:p>
            <a:pPr>
              <a:lnSpc>
                <a:spcPts val="1050"/>
              </a:lnSpc>
              <a:buNone/>
            </a:pPr>
            <a:r>
              <a:rPr lang="en-US" sz="600" b="1" dirty="0">
                <a:solidFill>
                  <a:srgbClr val="374151"/>
                </a:solidFill>
                <a:latin typeface="Calibri"/>
              </a:rPr>
              <a:t>A.  INGEST</a:t>
            </a:r>
          </a:p>
        </p:txBody>
      </p:sp>
      <p:sp>
        <p:nvSpPr>
          <p:cNvPr id="103" name="CA_T"/>
          <p:cNvSpPr>
            <a:spLocks noGrp="1"/>
          </p:cNvSpPr>
          <p:nvPr/>
        </p:nvSpPr>
        <p:spPr>
          <a:xfrm>
            <a:off x="266700" y="1104900"/>
            <a:ext cx="2641600" cy="165100"/>
          </a:xfrm>
          <a:prstGeom prst="rect">
            <a:avLst/>
          </a:prstGeom>
          <a:noFill/>
          <a:ln>
            <a:noFill/>
          </a:ln>
        </p:spPr>
        <p:txBody>
          <a:bodyPr wrap="square" lIns="25400" tIns="25400" rIns="25400" bIns="25400" anchor="t"/>
          <a:lstStyle/>
          <a:p>
            <a:pPr>
              <a:lnSpc>
                <a:spcPts val="1050"/>
              </a:lnSpc>
              <a:buNone/>
            </a:pPr>
            <a:r>
              <a:rPr lang="en-US" sz="750" b="1" dirty="0">
                <a:solidFill>
                  <a:srgbClr val="111827"/>
                </a:solidFill>
                <a:latin typeface="Calibri"/>
              </a:rPr>
              <a:t>Celigo feeds Conscia</a:t>
            </a:r>
          </a:p>
        </p:txBody>
      </p:sp>
      <p:sp>
        <p:nvSpPr>
          <p:cNvPr id="104" name="CA_B"/>
          <p:cNvSpPr>
            <a:spLocks noGrp="1"/>
          </p:cNvSpPr>
          <p:nvPr/>
        </p:nvSpPr>
        <p:spPr>
          <a:xfrm>
            <a:off x="266700" y="1295400"/>
            <a:ext cx="2641600" cy="1079500"/>
          </a:xfrm>
          <a:prstGeom prst="rect">
            <a:avLst/>
          </a:prstGeom>
          <a:noFill/>
          <a:ln>
            <a:noFill/>
          </a:ln>
        </p:spPr>
        <p:txBody>
          <a:bodyPr wrap="square" lIns="38100" tIns="38100" rIns="38100" bIns="38100" anchor="t"/>
          <a:lstStyle/>
          <a:p>
            <a:pPr marL="120960" indent="-120960">
              <a:lnSpc>
                <a:spcPts val="1100"/>
              </a:lnSpc>
              <a:spcBef>
                <a:spcPts val="30"/>
              </a:spcBef>
              <a:buFont typeface="Arial"/>
              <a:buChar char="•"/>
            </a:pPr>
            <a:r>
              <a:rPr lang="en-US" sz="620" dirty="0">
                <a:solidFill>
                  <a:srgbClr val="374151"/>
                </a:solidFill>
                <a:latin typeface="Calibri"/>
              </a:rPr>
              <a:t>Celigo's existing NetSuite item/matrix/kit exports also write to Conscia ingest endpoint</a:t>
            </a:r>
          </a:p>
          <a:p>
            <a:pPr marL="120960" indent="-120960">
              <a:lnSpc>
                <a:spcPts val="1100"/>
              </a:lnSpc>
              <a:spcBef>
                <a:spcPts val="30"/>
              </a:spcBef>
              <a:buFont typeface="Arial"/>
              <a:buChar char="•"/>
            </a:pPr>
            <a:r>
              <a:rPr lang="en-US" sz="620" dirty="0">
                <a:solidFill>
                  <a:srgbClr val="374151"/>
                </a:solidFill>
                <a:latin typeface="Calibri"/>
              </a:rPr>
              <a:t>Reuses existing saved searches, custom fields, and field mappings</a:t>
            </a:r>
          </a:p>
          <a:p>
            <a:pPr marL="120960" indent="-120960">
              <a:lnSpc>
                <a:spcPts val="1100"/>
              </a:lnSpc>
              <a:spcBef>
                <a:spcPts val="30"/>
              </a:spcBef>
              <a:buFont typeface="Arial"/>
              <a:buChar char="•"/>
            </a:pPr>
            <a:r>
              <a:rPr lang="en-US" sz="620" dirty="0">
                <a:solidFill>
                  <a:srgbClr val="374151"/>
                </a:solidFill>
                <a:latin typeface="Calibri"/>
              </a:rPr>
              <a:t>JSON webhook or SFTP — nightly delta + on-demand full refresh</a:t>
            </a:r>
          </a:p>
          <a:p>
            <a:pPr>
              <a:lnSpc>
                <a:spcPts val="1050"/>
              </a:lnSpc>
              <a:buNone/>
            </a:pPr>
            <a:r>
              <a:rPr lang="en-US" sz="600" i="1" dirty="0">
                <a:solidFill>
                  <a:srgbClr val="6B7280"/>
                </a:solidFill>
                <a:latin typeface="Calibri"/>
              </a:rPr>
              <a:t>Why: don't rebuild work Celigo is already doing well</a:t>
            </a:r>
          </a:p>
        </p:txBody>
      </p:sp>
      <p:sp>
        <p:nvSpPr>
          <p:cNvPr id="110" name="CB_BG"/>
          <p:cNvSpPr>
            <a:spLocks noGrp="1"/>
          </p:cNvSpPr>
          <p:nvPr/>
        </p:nvSpPr>
        <p:spPr>
          <a:xfrm>
            <a:off x="3060700" y="889000"/>
            <a:ext cx="2768600" cy="1549400"/>
          </a:xfrm>
          <a:prstGeom prst="roundRect">
            <a:avLst>
              <a:gd name="adj" fmla="val 2000"/>
            </a:avLst>
          </a:prstGeom>
          <a:solidFill>
            <a:srgbClr val="F0FDFA"/>
          </a:solidFill>
          <a:ln w="9525">
            <a:solidFill>
              <a:srgbClr val="5EEAD4"/>
            </a:solidFill>
          </a:ln>
        </p:spPr>
        <p:txBody>
          <a:bodyPr/>
          <a:lstStyle/>
          <a:p>
            <a:endParaRPr lang="en-GB"/>
          </a:p>
        </p:txBody>
      </p:sp>
      <p:sp>
        <p:nvSpPr>
          <p:cNvPr id="111" name="CB_Tag"/>
          <p:cNvSpPr>
            <a:spLocks noGrp="1"/>
          </p:cNvSpPr>
          <p:nvPr/>
        </p:nvSpPr>
        <p:spPr>
          <a:xfrm>
            <a:off x="3111500" y="939800"/>
            <a:ext cx="1143000" cy="139700"/>
          </a:xfrm>
          <a:prstGeom prst="rect">
            <a:avLst/>
          </a:prstGeom>
          <a:noFill/>
          <a:ln>
            <a:noFill/>
          </a:ln>
        </p:spPr>
        <p:txBody>
          <a:bodyPr wrap="square" lIns="25400" tIns="25400" rIns="25400" bIns="25400" anchor="t"/>
          <a:lstStyle/>
          <a:p>
            <a:pPr>
              <a:lnSpc>
                <a:spcPts val="1050"/>
              </a:lnSpc>
              <a:buNone/>
            </a:pPr>
            <a:r>
              <a:rPr lang="en-US" sz="600" b="1" dirty="0">
                <a:solidFill>
                  <a:srgbClr val="134E4A"/>
                </a:solidFill>
                <a:latin typeface="Calibri"/>
              </a:rPr>
              <a:t>B.  READ PATH</a:t>
            </a:r>
          </a:p>
        </p:txBody>
      </p:sp>
      <p:sp>
        <p:nvSpPr>
          <p:cNvPr id="112" name="CB_T"/>
          <p:cNvSpPr>
            <a:spLocks noGrp="1"/>
          </p:cNvSpPr>
          <p:nvPr/>
        </p:nvSpPr>
        <p:spPr>
          <a:xfrm>
            <a:off x="3124200" y="1104900"/>
            <a:ext cx="2641600" cy="165100"/>
          </a:xfrm>
          <a:prstGeom prst="rect">
            <a:avLst/>
          </a:prstGeom>
          <a:noFill/>
          <a:ln>
            <a:noFill/>
          </a:ln>
        </p:spPr>
        <p:txBody>
          <a:bodyPr wrap="square" lIns="25400" tIns="25400" rIns="25400" bIns="25400" anchor="t"/>
          <a:lstStyle/>
          <a:p>
            <a:pPr>
              <a:lnSpc>
                <a:spcPts val="1050"/>
              </a:lnSpc>
              <a:buNone/>
            </a:pPr>
            <a:r>
              <a:rPr lang="en-US" sz="750" b="1" dirty="0">
                <a:solidFill>
                  <a:srgbClr val="111827"/>
                </a:solidFill>
                <a:latin typeface="Calibri"/>
              </a:rPr>
              <a:t>POS calls </a:t>
            </a:r>
            <a:r>
              <a:rPr lang="en-US" sz="750" b="1" dirty="0" err="1">
                <a:solidFill>
                  <a:srgbClr val="111827"/>
                </a:solidFill>
                <a:latin typeface="Calibri"/>
              </a:rPr>
              <a:t>Conscia</a:t>
            </a:r>
            <a:r>
              <a:rPr lang="en-US" sz="750" b="1" dirty="0">
                <a:solidFill>
                  <a:srgbClr val="111827"/>
                </a:solidFill>
                <a:latin typeface="Calibri"/>
              </a:rPr>
              <a:t> direct, Lovesac.com calls Experience API &amp; Agent shopping calls via MCP</a:t>
            </a:r>
          </a:p>
        </p:txBody>
      </p:sp>
      <p:sp>
        <p:nvSpPr>
          <p:cNvPr id="113" name="CB_B"/>
          <p:cNvSpPr>
            <a:spLocks noGrp="1"/>
          </p:cNvSpPr>
          <p:nvPr/>
        </p:nvSpPr>
        <p:spPr>
          <a:xfrm>
            <a:off x="3124200" y="1424058"/>
            <a:ext cx="2641600" cy="950841"/>
          </a:xfrm>
          <a:prstGeom prst="rect">
            <a:avLst/>
          </a:prstGeom>
          <a:noFill/>
          <a:ln>
            <a:noFill/>
          </a:ln>
        </p:spPr>
        <p:txBody>
          <a:bodyPr wrap="square" lIns="38100" tIns="38100" rIns="38100" bIns="38100" anchor="t"/>
          <a:lstStyle/>
          <a:p>
            <a:pPr marL="120960" indent="-120960">
              <a:lnSpc>
                <a:spcPts val="1100"/>
              </a:lnSpc>
              <a:spcBef>
                <a:spcPts val="30"/>
              </a:spcBef>
              <a:buFont typeface="Arial"/>
              <a:buChar char="•"/>
            </a:pPr>
            <a:r>
              <a:rPr lang="en-US" sz="620" dirty="0">
                <a:solidFill>
                  <a:srgbClr val="134E4A"/>
                </a:solidFill>
                <a:latin typeface="Calibri"/>
              </a:rPr>
              <a:t>Salesforce Retail Cloud calls DX Engine Experience API directly for real-time config validation</a:t>
            </a:r>
          </a:p>
          <a:p>
            <a:pPr marL="120960" indent="-120960">
              <a:lnSpc>
                <a:spcPts val="1100"/>
              </a:lnSpc>
              <a:spcBef>
                <a:spcPts val="30"/>
              </a:spcBef>
              <a:buFont typeface="Arial"/>
              <a:buChar char="•"/>
            </a:pPr>
            <a:r>
              <a:rPr lang="en-US" sz="620" dirty="0">
                <a:solidFill>
                  <a:srgbClr val="134E4A"/>
                </a:solidFill>
                <a:latin typeface="Calibri"/>
              </a:rPr>
              <a:t>Celigo is not on this path — wrong latency profile for synchronous checkout</a:t>
            </a:r>
          </a:p>
          <a:p>
            <a:pPr>
              <a:lnSpc>
                <a:spcPts val="1050"/>
              </a:lnSpc>
              <a:buNone/>
            </a:pPr>
            <a:r>
              <a:rPr lang="en-US" sz="600" i="1" dirty="0">
                <a:solidFill>
                  <a:srgbClr val="0D9488"/>
                </a:solidFill>
                <a:latin typeface="Calibri"/>
              </a:rPr>
              <a:t>Phase 1 POC scope</a:t>
            </a:r>
          </a:p>
        </p:txBody>
      </p:sp>
      <p:sp>
        <p:nvSpPr>
          <p:cNvPr id="120" name="CC_BG"/>
          <p:cNvSpPr>
            <a:spLocks noGrp="1"/>
          </p:cNvSpPr>
          <p:nvPr/>
        </p:nvSpPr>
        <p:spPr>
          <a:xfrm>
            <a:off x="5918200" y="889000"/>
            <a:ext cx="2768600" cy="1549400"/>
          </a:xfrm>
          <a:prstGeom prst="roundRect">
            <a:avLst>
              <a:gd name="adj" fmla="val 2000"/>
            </a:avLst>
          </a:prstGeom>
          <a:solidFill>
            <a:srgbClr val="FAFAF9"/>
          </a:solidFill>
          <a:ln w="9525">
            <a:solidFill>
              <a:srgbClr val="D1D5DB"/>
            </a:solidFill>
          </a:ln>
        </p:spPr>
        <p:txBody>
          <a:bodyPr/>
          <a:lstStyle/>
          <a:p>
            <a:endParaRPr lang="en-GB"/>
          </a:p>
        </p:txBody>
      </p:sp>
      <p:sp>
        <p:nvSpPr>
          <p:cNvPr id="121" name="CC_Tag"/>
          <p:cNvSpPr>
            <a:spLocks noGrp="1"/>
          </p:cNvSpPr>
          <p:nvPr/>
        </p:nvSpPr>
        <p:spPr>
          <a:xfrm>
            <a:off x="5969000" y="939800"/>
            <a:ext cx="1270000" cy="139700"/>
          </a:xfrm>
          <a:prstGeom prst="rect">
            <a:avLst/>
          </a:prstGeom>
          <a:noFill/>
          <a:ln>
            <a:noFill/>
          </a:ln>
        </p:spPr>
        <p:txBody>
          <a:bodyPr wrap="square" lIns="25400" tIns="25400" rIns="25400" bIns="25400" anchor="t"/>
          <a:lstStyle/>
          <a:p>
            <a:pPr>
              <a:lnSpc>
                <a:spcPts val="1050"/>
              </a:lnSpc>
              <a:buNone/>
            </a:pPr>
            <a:r>
              <a:rPr lang="en-US" sz="600" b="1" dirty="0">
                <a:solidFill>
                  <a:srgbClr val="374151"/>
                </a:solidFill>
                <a:latin typeface="Calibri"/>
              </a:rPr>
              <a:t>C.  BOM HANDOFF</a:t>
            </a:r>
          </a:p>
        </p:txBody>
      </p:sp>
      <p:sp>
        <p:nvSpPr>
          <p:cNvPr id="122" name="CC_T"/>
          <p:cNvSpPr>
            <a:spLocks noGrp="1"/>
          </p:cNvSpPr>
          <p:nvPr/>
        </p:nvSpPr>
        <p:spPr>
          <a:xfrm>
            <a:off x="5981700" y="1104900"/>
            <a:ext cx="2641600" cy="165100"/>
          </a:xfrm>
          <a:prstGeom prst="rect">
            <a:avLst/>
          </a:prstGeom>
          <a:noFill/>
          <a:ln>
            <a:noFill/>
          </a:ln>
        </p:spPr>
        <p:txBody>
          <a:bodyPr wrap="square" lIns="25400" tIns="25400" rIns="25400" bIns="25400" anchor="t"/>
          <a:lstStyle/>
          <a:p>
            <a:pPr>
              <a:lnSpc>
                <a:spcPts val="1050"/>
              </a:lnSpc>
              <a:buNone/>
            </a:pPr>
            <a:r>
              <a:rPr lang="en-US" sz="750" b="1" dirty="0">
                <a:solidFill>
                  <a:srgbClr val="111827"/>
                </a:solidFill>
                <a:latin typeface="Calibri"/>
              </a:rPr>
              <a:t>Conscia hands off via Celigo</a:t>
            </a:r>
          </a:p>
        </p:txBody>
      </p:sp>
      <p:sp>
        <p:nvSpPr>
          <p:cNvPr id="123" name="CC_B"/>
          <p:cNvSpPr>
            <a:spLocks noGrp="1"/>
          </p:cNvSpPr>
          <p:nvPr/>
        </p:nvSpPr>
        <p:spPr>
          <a:xfrm>
            <a:off x="5981700" y="1295400"/>
            <a:ext cx="2641600" cy="1079500"/>
          </a:xfrm>
          <a:prstGeom prst="rect">
            <a:avLst/>
          </a:prstGeom>
          <a:noFill/>
          <a:ln>
            <a:noFill/>
          </a:ln>
        </p:spPr>
        <p:txBody>
          <a:bodyPr wrap="square" lIns="38100" tIns="38100" rIns="38100" bIns="38100" anchor="t"/>
          <a:lstStyle/>
          <a:p>
            <a:pPr marL="120960" indent="-120960">
              <a:lnSpc>
                <a:spcPts val="1100"/>
              </a:lnSpc>
              <a:spcBef>
                <a:spcPts val="30"/>
              </a:spcBef>
              <a:buFont typeface="Arial"/>
              <a:buChar char="•"/>
            </a:pPr>
            <a:r>
              <a:rPr lang="en-US" sz="620" dirty="0">
                <a:solidFill>
                  <a:srgbClr val="374151"/>
                </a:solidFill>
                <a:latin typeface="Calibri"/>
              </a:rPr>
              <a:t>DX Engine produces exploded BOM from a Config ID</a:t>
            </a:r>
          </a:p>
          <a:p>
            <a:pPr marL="120960" indent="-120960">
              <a:lnSpc>
                <a:spcPts val="1100"/>
              </a:lnSpc>
              <a:spcBef>
                <a:spcPts val="30"/>
              </a:spcBef>
              <a:buFont typeface="Arial"/>
              <a:buChar char="•"/>
            </a:pPr>
            <a:r>
              <a:rPr lang="en-US" sz="620" dirty="0">
                <a:solidFill>
                  <a:srgbClr val="374151"/>
                </a:solidFill>
                <a:latin typeface="Calibri"/>
              </a:rPr>
              <a:t>Hands off to existing Celigo flow talking to Manhattan Active Omni</a:t>
            </a:r>
          </a:p>
          <a:p>
            <a:pPr>
              <a:lnSpc>
                <a:spcPts val="1050"/>
              </a:lnSpc>
              <a:buNone/>
            </a:pPr>
            <a:r>
              <a:rPr lang="en-US" sz="600" i="1" dirty="0">
                <a:solidFill>
                  <a:srgbClr val="6B7280"/>
                </a:solidFill>
                <a:latin typeface="Calibri"/>
              </a:rPr>
              <a:t>Conscia = config brain;  Celigo = logistics plumbing</a:t>
            </a:r>
          </a:p>
        </p:txBody>
      </p:sp>
      <p:sp>
        <p:nvSpPr>
          <p:cNvPr id="130" name="Div"/>
          <p:cNvSpPr>
            <a:spLocks noGrp="1"/>
          </p:cNvSpPr>
          <p:nvPr/>
        </p:nvSpPr>
        <p:spPr>
          <a:xfrm>
            <a:off x="203200" y="2489200"/>
            <a:ext cx="8737600" cy="12700"/>
          </a:xfrm>
          <a:prstGeom prst="rect">
            <a:avLst/>
          </a:prstGeom>
          <a:noFill/>
          <a:ln w="6350">
            <a:solidFill>
              <a:srgbClr val="D1D5DB"/>
            </a:solidFill>
          </a:ln>
        </p:spPr>
        <p:txBody>
          <a:bodyPr/>
          <a:lstStyle/>
          <a:p>
            <a:endParaRPr lang="en-GB"/>
          </a:p>
        </p:txBody>
      </p:sp>
      <p:sp>
        <p:nvSpPr>
          <p:cNvPr id="131" name="DiagLbl"/>
          <p:cNvSpPr>
            <a:spLocks noGrp="1"/>
          </p:cNvSpPr>
          <p:nvPr/>
        </p:nvSpPr>
        <p:spPr>
          <a:xfrm>
            <a:off x="203200" y="2514600"/>
            <a:ext cx="2540000" cy="139700"/>
          </a:xfrm>
          <a:prstGeom prst="rect">
            <a:avLst/>
          </a:prstGeom>
          <a:noFill/>
          <a:ln>
            <a:noFill/>
          </a:ln>
        </p:spPr>
        <p:txBody>
          <a:bodyPr wrap="square" lIns="25400" tIns="25400" rIns="25400" bIns="25400" anchor="t"/>
          <a:lstStyle/>
          <a:p>
            <a:pPr>
              <a:lnSpc>
                <a:spcPts val="1050"/>
              </a:lnSpc>
              <a:buNone/>
            </a:pPr>
            <a:r>
              <a:rPr lang="en-US" sz="625" i="1" dirty="0">
                <a:solidFill>
                  <a:srgbClr val="9CA3AF"/>
                </a:solidFill>
                <a:latin typeface="Calibri"/>
              </a:rPr>
              <a:t>Data flow diagram</a:t>
            </a:r>
          </a:p>
        </p:txBody>
      </p:sp>
      <p:sp>
        <p:nvSpPr>
          <p:cNvPr id="132" name="Appx"/>
          <p:cNvSpPr>
            <a:spLocks noGrp="1"/>
          </p:cNvSpPr>
          <p:nvPr/>
        </p:nvSpPr>
        <p:spPr>
          <a:xfrm>
            <a:off x="8140700" y="114300"/>
            <a:ext cx="863600" cy="139700"/>
          </a:xfrm>
          <a:prstGeom prst="roundRect">
            <a:avLst>
              <a:gd name="adj" fmla="val 2000"/>
            </a:avLst>
          </a:prstGeom>
          <a:solidFill>
            <a:srgbClr val="F3F4F6"/>
          </a:solidFill>
          <a:ln w="6350">
            <a:solidFill>
              <a:srgbClr val="D1D5DB"/>
            </a:solidFill>
          </a:ln>
        </p:spPr>
        <p:txBody>
          <a:bodyPr wrap="square" lIns="25400" tIns="25400" rIns="25400" bIns="25400" anchor="ctr"/>
          <a:lstStyle/>
          <a:p>
            <a:pPr algn="ctr">
              <a:lnSpc>
                <a:spcPts val="1050"/>
              </a:lnSpc>
              <a:buNone/>
            </a:pPr>
            <a:r>
              <a:rPr lang="en-US" sz="575" b="1" dirty="0">
                <a:solidFill>
                  <a:srgbClr val="9CA3AF"/>
                </a:solidFill>
                <a:latin typeface="Calibri"/>
              </a:rPr>
              <a:t>APPENDIX</a:t>
            </a:r>
          </a:p>
        </p:txBody>
      </p:sp>
      <p:sp>
        <p:nvSpPr>
          <p:cNvPr id="200" name="NS"/>
          <p:cNvSpPr>
            <a:spLocks noGrp="1"/>
          </p:cNvSpPr>
          <p:nvPr/>
        </p:nvSpPr>
        <p:spPr>
          <a:xfrm>
            <a:off x="203200" y="2717800"/>
            <a:ext cx="1117600" cy="355600"/>
          </a:xfrm>
          <a:prstGeom prst="roundRect">
            <a:avLst>
              <a:gd name="adj" fmla="val 2000"/>
            </a:avLst>
          </a:prstGeom>
          <a:solidFill>
            <a:srgbClr val="EFF6FF"/>
          </a:solidFill>
          <a:ln w="9525">
            <a:solidFill>
              <a:srgbClr val="93C5FD"/>
            </a:solidFill>
          </a:ln>
        </p:spPr>
        <p:txBody>
          <a:bodyPr wrap="square" lIns="38100" tIns="38100" rIns="38100" bIns="38100" anchor="ctr"/>
          <a:lstStyle/>
          <a:p>
            <a:pPr algn="ctr">
              <a:lnSpc>
                <a:spcPts val="1050"/>
              </a:lnSpc>
              <a:buNone/>
            </a:pPr>
            <a:r>
              <a:rPr lang="en-US" sz="700" b="1" dirty="0">
                <a:solidFill>
                  <a:srgbClr val="1E40AF"/>
                </a:solidFill>
                <a:latin typeface="Calibri"/>
              </a:rPr>
              <a:t>NetSuite</a:t>
            </a:r>
          </a:p>
          <a:p>
            <a:pPr algn="ctr">
              <a:lnSpc>
                <a:spcPts val="1050"/>
              </a:lnSpc>
              <a:buNone/>
            </a:pPr>
            <a:r>
              <a:rPr lang="en-US" sz="575" dirty="0">
                <a:solidFill>
                  <a:srgbClr val="1E40AF"/>
                </a:solidFill>
                <a:latin typeface="Calibri"/>
              </a:rPr>
              <a:t>ERP / Product Master</a:t>
            </a:r>
          </a:p>
        </p:txBody>
      </p:sp>
      <p:sp>
        <p:nvSpPr>
          <p:cNvPr id="201" name="A_NS_Cel"/>
          <p:cNvSpPr>
            <a:spLocks noGrp="1"/>
          </p:cNvSpPr>
          <p:nvPr/>
        </p:nvSpPr>
        <p:spPr>
          <a:xfrm>
            <a:off x="1346200" y="2844800"/>
            <a:ext cx="152400" cy="101600"/>
          </a:xfrm>
          <a:prstGeom prst="rightArrow">
            <a:avLst>
              <a:gd name="adj1" fmla="val 50000"/>
              <a:gd name="adj2" fmla="val 50000"/>
            </a:avLst>
          </a:prstGeom>
          <a:solidFill>
            <a:srgbClr val="D1D5DB"/>
          </a:solidFill>
          <a:ln>
            <a:noFill/>
          </a:ln>
        </p:spPr>
        <p:txBody>
          <a:bodyPr/>
          <a:lstStyle/>
          <a:p>
            <a:endParaRPr lang="en-GB"/>
          </a:p>
        </p:txBody>
      </p:sp>
      <p:sp>
        <p:nvSpPr>
          <p:cNvPr id="202" name="Celigo"/>
          <p:cNvSpPr>
            <a:spLocks noGrp="1"/>
          </p:cNvSpPr>
          <p:nvPr/>
        </p:nvSpPr>
        <p:spPr>
          <a:xfrm>
            <a:off x="1524000" y="2717800"/>
            <a:ext cx="2234096" cy="355600"/>
          </a:xfrm>
          <a:prstGeom prst="roundRect">
            <a:avLst>
              <a:gd name="adj" fmla="val 2000"/>
            </a:avLst>
          </a:prstGeom>
          <a:solidFill>
            <a:srgbClr val="F9FAFB"/>
          </a:solidFill>
          <a:ln w="9525">
            <a:solidFill>
              <a:srgbClr val="D1D5DB"/>
            </a:solidFill>
          </a:ln>
        </p:spPr>
        <p:txBody>
          <a:bodyPr wrap="square" lIns="38100" tIns="38100" rIns="38100" bIns="38100" anchor="ctr"/>
          <a:lstStyle/>
          <a:p>
            <a:pPr algn="ctr">
              <a:lnSpc>
                <a:spcPts val="1050"/>
              </a:lnSpc>
              <a:buNone/>
            </a:pPr>
            <a:r>
              <a:rPr lang="en-US" sz="700" b="1" dirty="0">
                <a:solidFill>
                  <a:srgbClr val="374151"/>
                </a:solidFill>
                <a:latin typeface="Calibri"/>
              </a:rPr>
              <a:t>Celigo</a:t>
            </a:r>
          </a:p>
          <a:p>
            <a:pPr algn="ctr">
              <a:lnSpc>
                <a:spcPts val="1050"/>
              </a:lnSpc>
              <a:buNone/>
            </a:pPr>
            <a:r>
              <a:rPr lang="en-US" sz="575" dirty="0">
                <a:solidFill>
                  <a:srgbClr val="374151"/>
                </a:solidFill>
                <a:latin typeface="Calibri"/>
              </a:rPr>
              <a:t>iPaaS</a:t>
            </a:r>
          </a:p>
        </p:txBody>
      </p:sp>
      <p:sp>
        <p:nvSpPr>
          <p:cNvPr id="203" name="A_Cel_BO"/>
          <p:cNvSpPr>
            <a:spLocks noGrp="1"/>
          </p:cNvSpPr>
          <p:nvPr/>
        </p:nvSpPr>
        <p:spPr>
          <a:xfrm>
            <a:off x="3847548" y="2916030"/>
            <a:ext cx="152400" cy="101600"/>
          </a:xfrm>
          <a:prstGeom prst="rightArrow">
            <a:avLst>
              <a:gd name="adj1" fmla="val 50000"/>
              <a:gd name="adj2" fmla="val 50000"/>
            </a:avLst>
          </a:prstGeom>
          <a:solidFill>
            <a:srgbClr val="D1D5DB"/>
          </a:solidFill>
          <a:ln>
            <a:noFill/>
          </a:ln>
        </p:spPr>
        <p:txBody>
          <a:bodyPr/>
          <a:lstStyle/>
          <a:p>
            <a:endParaRPr lang="en-GB"/>
          </a:p>
        </p:txBody>
      </p:sp>
      <p:sp>
        <p:nvSpPr>
          <p:cNvPr id="204" name="BO0"/>
          <p:cNvSpPr>
            <a:spLocks noGrp="1"/>
          </p:cNvSpPr>
          <p:nvPr/>
        </p:nvSpPr>
        <p:spPr>
          <a:xfrm>
            <a:off x="4089400" y="2603500"/>
            <a:ext cx="1676400" cy="184703"/>
          </a:xfrm>
          <a:prstGeom prst="roundRect">
            <a:avLst>
              <a:gd name="adj" fmla="val 1000"/>
            </a:avLst>
          </a:prstGeom>
          <a:solidFill>
            <a:srgbClr val="FFFBEB"/>
          </a:solidFill>
          <a:ln w="6350">
            <a:solidFill>
              <a:srgbClr val="FCD34D"/>
            </a:solidFill>
          </a:ln>
        </p:spPr>
        <p:txBody>
          <a:bodyPr wrap="square" lIns="25400" tIns="25400" rIns="25400" bIns="25400" anchor="ctr"/>
          <a:lstStyle/>
          <a:p>
            <a:pPr algn="ctr">
              <a:lnSpc>
                <a:spcPts val="1050"/>
              </a:lnSpc>
              <a:buNone/>
            </a:pPr>
            <a:r>
              <a:rPr lang="en-US" sz="800" dirty="0">
                <a:solidFill>
                  <a:srgbClr val="92400E"/>
                </a:solidFill>
                <a:latin typeface="Calibri"/>
              </a:rPr>
              <a:t>Magento / Adobe Commerce</a:t>
            </a:r>
          </a:p>
        </p:txBody>
      </p:sp>
      <p:sp>
        <p:nvSpPr>
          <p:cNvPr id="205" name="BO1"/>
          <p:cNvSpPr>
            <a:spLocks noGrp="1"/>
          </p:cNvSpPr>
          <p:nvPr/>
        </p:nvSpPr>
        <p:spPr>
          <a:xfrm>
            <a:off x="4089400" y="3098040"/>
            <a:ext cx="1676400" cy="194780"/>
          </a:xfrm>
          <a:prstGeom prst="roundRect">
            <a:avLst>
              <a:gd name="adj" fmla="val 1000"/>
            </a:avLst>
          </a:prstGeom>
          <a:solidFill>
            <a:srgbClr val="FFFBEB"/>
          </a:solidFill>
          <a:ln w="6350">
            <a:solidFill>
              <a:srgbClr val="FCD34D"/>
            </a:solidFill>
          </a:ln>
        </p:spPr>
        <p:txBody>
          <a:bodyPr wrap="square" lIns="25400" tIns="25400" rIns="25400" bIns="25400" anchor="ctr"/>
          <a:lstStyle/>
          <a:p>
            <a:pPr algn="ctr">
              <a:lnSpc>
                <a:spcPts val="1050"/>
              </a:lnSpc>
              <a:buNone/>
            </a:pPr>
            <a:r>
              <a:rPr lang="en-US" sz="800" dirty="0">
                <a:solidFill>
                  <a:srgbClr val="92400E"/>
                </a:solidFill>
                <a:latin typeface="Calibri"/>
              </a:rPr>
              <a:t>Manhattan Active Omni</a:t>
            </a:r>
          </a:p>
        </p:txBody>
      </p:sp>
      <p:sp>
        <p:nvSpPr>
          <p:cNvPr id="206" name="BO2"/>
          <p:cNvSpPr>
            <a:spLocks noGrp="1"/>
          </p:cNvSpPr>
          <p:nvPr/>
        </p:nvSpPr>
        <p:spPr>
          <a:xfrm>
            <a:off x="4089400" y="2851702"/>
            <a:ext cx="1676400" cy="178627"/>
          </a:xfrm>
          <a:prstGeom prst="roundRect">
            <a:avLst>
              <a:gd name="adj" fmla="val 1000"/>
            </a:avLst>
          </a:prstGeom>
          <a:solidFill>
            <a:srgbClr val="FFFBEB"/>
          </a:solidFill>
          <a:ln w="6350">
            <a:solidFill>
              <a:srgbClr val="FCD34D"/>
            </a:solidFill>
          </a:ln>
        </p:spPr>
        <p:txBody>
          <a:bodyPr wrap="square" lIns="25400" tIns="25400" rIns="25400" bIns="25400" anchor="ctr"/>
          <a:lstStyle/>
          <a:p>
            <a:pPr algn="ctr">
              <a:lnSpc>
                <a:spcPts val="1050"/>
              </a:lnSpc>
              <a:buNone/>
            </a:pPr>
            <a:r>
              <a:rPr lang="en-US" sz="800" dirty="0">
                <a:solidFill>
                  <a:srgbClr val="92400E"/>
                </a:solidFill>
                <a:latin typeface="Calibri"/>
              </a:rPr>
              <a:t>Salesforce Retail Cloud</a:t>
            </a:r>
          </a:p>
        </p:txBody>
      </p:sp>
      <p:sp>
        <p:nvSpPr>
          <p:cNvPr id="210" name="A_Cel_DXG"/>
          <p:cNvSpPr>
            <a:spLocks noGrp="1"/>
          </p:cNvSpPr>
          <p:nvPr/>
        </p:nvSpPr>
        <p:spPr>
          <a:xfrm>
            <a:off x="2019300" y="3093830"/>
            <a:ext cx="101600" cy="898940"/>
          </a:xfrm>
          <a:prstGeom prst="downArrow">
            <a:avLst>
              <a:gd name="adj1" fmla="val 50000"/>
              <a:gd name="adj2" fmla="val 50000"/>
            </a:avLst>
          </a:prstGeom>
          <a:solidFill>
            <a:srgbClr val="EB1A63"/>
          </a:solidFill>
          <a:ln>
            <a:noFill/>
          </a:ln>
        </p:spPr>
        <p:txBody>
          <a:bodyPr/>
          <a:lstStyle/>
          <a:p>
            <a:endParaRPr lang="en-GB"/>
          </a:p>
        </p:txBody>
      </p:sp>
      <p:sp>
        <p:nvSpPr>
          <p:cNvPr id="212" name="DXG"/>
          <p:cNvSpPr>
            <a:spLocks noGrp="1"/>
          </p:cNvSpPr>
          <p:nvPr/>
        </p:nvSpPr>
        <p:spPr>
          <a:xfrm>
            <a:off x="1586948" y="3992770"/>
            <a:ext cx="1371600" cy="355600"/>
          </a:xfrm>
          <a:prstGeom prst="roundRect">
            <a:avLst>
              <a:gd name="adj" fmla="val 2000"/>
            </a:avLst>
          </a:prstGeom>
          <a:solidFill>
            <a:srgbClr val="F0FDFA"/>
          </a:solidFill>
          <a:ln w="12700">
            <a:solidFill>
              <a:srgbClr val="5EEAD4"/>
            </a:solidFill>
          </a:ln>
        </p:spPr>
        <p:txBody>
          <a:bodyPr wrap="square" lIns="38100" tIns="38100" rIns="38100" bIns="38100" anchor="ctr"/>
          <a:lstStyle/>
          <a:p>
            <a:pPr algn="ctr">
              <a:lnSpc>
                <a:spcPts val="1050"/>
              </a:lnSpc>
              <a:buNone/>
            </a:pPr>
            <a:r>
              <a:rPr lang="en-US" sz="700" b="1" dirty="0">
                <a:solidFill>
                  <a:srgbClr val="134E4A"/>
                </a:solidFill>
                <a:latin typeface="Calibri"/>
              </a:rPr>
              <a:t>DX Graph</a:t>
            </a:r>
          </a:p>
          <a:p>
            <a:pPr algn="ctr">
              <a:lnSpc>
                <a:spcPts val="1050"/>
              </a:lnSpc>
              <a:buNone/>
            </a:pPr>
            <a:r>
              <a:rPr lang="en-US" sz="575" dirty="0">
                <a:solidFill>
                  <a:srgbClr val="0D9488"/>
                </a:solidFill>
                <a:latin typeface="Calibri"/>
              </a:rPr>
              <a:t>Governed Product Master</a:t>
            </a:r>
          </a:p>
        </p:txBody>
      </p:sp>
      <p:sp>
        <p:nvSpPr>
          <p:cNvPr id="213" name="A_DXG_DXE"/>
          <p:cNvSpPr>
            <a:spLocks noGrp="1"/>
          </p:cNvSpPr>
          <p:nvPr/>
        </p:nvSpPr>
        <p:spPr>
          <a:xfrm>
            <a:off x="2983948" y="4119770"/>
            <a:ext cx="152400" cy="101600"/>
          </a:xfrm>
          <a:prstGeom prst="rightArrow">
            <a:avLst>
              <a:gd name="adj1" fmla="val 50000"/>
              <a:gd name="adj2" fmla="val 50000"/>
            </a:avLst>
          </a:prstGeom>
          <a:solidFill>
            <a:srgbClr val="0D9488"/>
          </a:solidFill>
          <a:ln>
            <a:noFill/>
          </a:ln>
        </p:spPr>
        <p:txBody>
          <a:bodyPr/>
          <a:lstStyle/>
          <a:p>
            <a:endParaRPr lang="en-GB"/>
          </a:p>
        </p:txBody>
      </p:sp>
      <p:sp>
        <p:nvSpPr>
          <p:cNvPr id="214" name="DXE"/>
          <p:cNvSpPr>
            <a:spLocks noGrp="1"/>
          </p:cNvSpPr>
          <p:nvPr/>
        </p:nvSpPr>
        <p:spPr>
          <a:xfrm>
            <a:off x="3161748" y="3992770"/>
            <a:ext cx="1371600" cy="355600"/>
          </a:xfrm>
          <a:prstGeom prst="roundRect">
            <a:avLst>
              <a:gd name="adj" fmla="val 2000"/>
            </a:avLst>
          </a:prstGeom>
          <a:solidFill>
            <a:srgbClr val="F0FDFA"/>
          </a:solidFill>
          <a:ln w="12700">
            <a:solidFill>
              <a:srgbClr val="5EEAD4"/>
            </a:solidFill>
          </a:ln>
        </p:spPr>
        <p:txBody>
          <a:bodyPr wrap="square" lIns="38100" tIns="38100" rIns="38100" bIns="38100" anchor="ctr"/>
          <a:lstStyle/>
          <a:p>
            <a:pPr algn="ctr">
              <a:lnSpc>
                <a:spcPts val="1050"/>
              </a:lnSpc>
              <a:buNone/>
            </a:pPr>
            <a:r>
              <a:rPr lang="en-US" sz="700" b="1" dirty="0">
                <a:solidFill>
                  <a:srgbClr val="134E4A"/>
                </a:solidFill>
                <a:latin typeface="Calibri"/>
              </a:rPr>
              <a:t>DX Engine</a:t>
            </a:r>
          </a:p>
          <a:p>
            <a:pPr algn="ctr">
              <a:lnSpc>
                <a:spcPts val="1050"/>
              </a:lnSpc>
              <a:buNone/>
            </a:pPr>
            <a:r>
              <a:rPr lang="en-US" sz="575" dirty="0">
                <a:solidFill>
                  <a:srgbClr val="0D9488"/>
                </a:solidFill>
                <a:latin typeface="Calibri"/>
              </a:rPr>
              <a:t>Real-Time Orchestration</a:t>
            </a:r>
          </a:p>
        </p:txBody>
      </p:sp>
      <p:sp>
        <p:nvSpPr>
          <p:cNvPr id="215" name="A_DXE_Out"/>
          <p:cNvSpPr>
            <a:spLocks noGrp="1"/>
          </p:cNvSpPr>
          <p:nvPr/>
        </p:nvSpPr>
        <p:spPr>
          <a:xfrm>
            <a:off x="4558748" y="4119770"/>
            <a:ext cx="152400" cy="101600"/>
          </a:xfrm>
          <a:prstGeom prst="rightArrow">
            <a:avLst>
              <a:gd name="adj1" fmla="val 50000"/>
              <a:gd name="adj2" fmla="val 50000"/>
            </a:avLst>
          </a:prstGeom>
          <a:solidFill>
            <a:srgbClr val="0D9488"/>
          </a:solidFill>
          <a:ln>
            <a:noFill/>
          </a:ln>
        </p:spPr>
        <p:txBody>
          <a:bodyPr/>
          <a:lstStyle/>
          <a:p>
            <a:endParaRPr lang="en-GB"/>
          </a:p>
        </p:txBody>
      </p:sp>
      <p:sp>
        <p:nvSpPr>
          <p:cNvPr id="220" name="Out0"/>
          <p:cNvSpPr>
            <a:spLocks noGrp="1"/>
          </p:cNvSpPr>
          <p:nvPr/>
        </p:nvSpPr>
        <p:spPr>
          <a:xfrm>
            <a:off x="4784588" y="3616187"/>
            <a:ext cx="1701800" cy="165100"/>
          </a:xfrm>
          <a:prstGeom prst="roundRect">
            <a:avLst>
              <a:gd name="adj" fmla="val 1500"/>
            </a:avLst>
          </a:prstGeom>
          <a:solidFill>
            <a:srgbClr val="F0FDFA"/>
          </a:solidFill>
          <a:ln w="6350">
            <a:solidFill>
              <a:srgbClr val="5EEAD4"/>
            </a:solidFill>
          </a:ln>
        </p:spPr>
        <p:txBody>
          <a:bodyPr wrap="square" lIns="25400" tIns="25400" rIns="25400" bIns="25400" anchor="t"/>
          <a:lstStyle/>
          <a:p>
            <a:pPr>
              <a:lnSpc>
                <a:spcPts val="1050"/>
              </a:lnSpc>
              <a:buNone/>
            </a:pPr>
            <a:r>
              <a:rPr lang="en-US" sz="600" b="1" dirty="0">
                <a:solidFill>
                  <a:srgbClr val="134E4A"/>
                </a:solidFill>
                <a:latin typeface="Calibri"/>
              </a:rPr>
              <a:t>POS Terminals</a:t>
            </a:r>
          </a:p>
          <a:p>
            <a:pPr>
              <a:lnSpc>
                <a:spcPts val="1050"/>
              </a:lnSpc>
              <a:buNone/>
            </a:pPr>
            <a:r>
              <a:rPr lang="en-US" sz="800" i="1" dirty="0">
                <a:solidFill>
                  <a:srgbClr val="134E4A"/>
                </a:solidFill>
                <a:latin typeface="Calibri"/>
              </a:rPr>
              <a:t>(B) real-time validation</a:t>
            </a:r>
          </a:p>
        </p:txBody>
      </p:sp>
      <p:sp>
        <p:nvSpPr>
          <p:cNvPr id="221" name="Out1"/>
          <p:cNvSpPr>
            <a:spLocks noGrp="1"/>
          </p:cNvSpPr>
          <p:nvPr/>
        </p:nvSpPr>
        <p:spPr>
          <a:xfrm>
            <a:off x="4798392" y="4023830"/>
            <a:ext cx="1701800" cy="165100"/>
          </a:xfrm>
          <a:prstGeom prst="roundRect">
            <a:avLst>
              <a:gd name="adj" fmla="val 1500"/>
            </a:avLst>
          </a:prstGeom>
          <a:solidFill>
            <a:srgbClr val="F0FDFA"/>
          </a:solidFill>
          <a:ln w="6350">
            <a:solidFill>
              <a:srgbClr val="5EEAD4"/>
            </a:solidFill>
          </a:ln>
        </p:spPr>
        <p:txBody>
          <a:bodyPr wrap="square" lIns="25400" tIns="25400" rIns="25400" bIns="25400" anchor="t"/>
          <a:lstStyle/>
          <a:p>
            <a:pPr>
              <a:lnSpc>
                <a:spcPts val="1050"/>
              </a:lnSpc>
              <a:buNone/>
            </a:pPr>
            <a:r>
              <a:rPr lang="en-US" sz="600" b="1" dirty="0">
                <a:solidFill>
                  <a:srgbClr val="134E4A"/>
                </a:solidFill>
                <a:latin typeface="Calibri"/>
              </a:rPr>
              <a:t>Lovesac.com</a:t>
            </a:r>
          </a:p>
          <a:p>
            <a:pPr>
              <a:lnSpc>
                <a:spcPts val="1050"/>
              </a:lnSpc>
              <a:buNone/>
            </a:pPr>
            <a:r>
              <a:rPr lang="en-US" sz="900" i="1" dirty="0">
                <a:solidFill>
                  <a:srgbClr val="134E4A"/>
                </a:solidFill>
                <a:latin typeface="Calibri"/>
              </a:rPr>
              <a:t>(B) </a:t>
            </a:r>
            <a:r>
              <a:rPr lang="en-US" sz="800" i="1" dirty="0">
                <a:solidFill>
                  <a:srgbClr val="134E4A"/>
                </a:solidFill>
                <a:latin typeface="Calibri"/>
              </a:rPr>
              <a:t>Experience API</a:t>
            </a:r>
          </a:p>
        </p:txBody>
      </p:sp>
      <p:sp>
        <p:nvSpPr>
          <p:cNvPr id="222" name="Out2"/>
          <p:cNvSpPr>
            <a:spLocks noGrp="1"/>
          </p:cNvSpPr>
          <p:nvPr/>
        </p:nvSpPr>
        <p:spPr>
          <a:xfrm>
            <a:off x="4781827" y="4399722"/>
            <a:ext cx="1701800" cy="165100"/>
          </a:xfrm>
          <a:prstGeom prst="roundRect">
            <a:avLst>
              <a:gd name="adj" fmla="val 1500"/>
            </a:avLst>
          </a:prstGeom>
          <a:solidFill>
            <a:srgbClr val="F0FDFA"/>
          </a:solidFill>
          <a:ln w="6350">
            <a:solidFill>
              <a:srgbClr val="5EEAD4"/>
            </a:solidFill>
          </a:ln>
        </p:spPr>
        <p:txBody>
          <a:bodyPr wrap="square" lIns="25400" tIns="25400" rIns="25400" bIns="25400" anchor="t"/>
          <a:lstStyle/>
          <a:p>
            <a:pPr>
              <a:lnSpc>
                <a:spcPts val="1050"/>
              </a:lnSpc>
            </a:pPr>
            <a:r>
              <a:rPr lang="en-US" sz="600" b="1" dirty="0">
                <a:solidFill>
                  <a:srgbClr val="134E4A"/>
                </a:solidFill>
                <a:latin typeface="Calibri"/>
              </a:rPr>
              <a:t>Google Shopping / ChatGPT</a:t>
            </a:r>
          </a:p>
          <a:p>
            <a:pPr>
              <a:lnSpc>
                <a:spcPts val="1050"/>
              </a:lnSpc>
            </a:pPr>
            <a:r>
              <a:rPr lang="en-US" sz="800" i="1" dirty="0">
                <a:solidFill>
                  <a:srgbClr val="134E4A"/>
                </a:solidFill>
                <a:latin typeface="Calibri"/>
              </a:rPr>
              <a:t>(B) via MCP</a:t>
            </a:r>
          </a:p>
        </p:txBody>
      </p:sp>
      <p:sp>
        <p:nvSpPr>
          <p:cNvPr id="500" name="IngestLblNew"/>
          <p:cNvSpPr>
            <a:spLocks noGrp="1"/>
          </p:cNvSpPr>
          <p:nvPr/>
        </p:nvSpPr>
        <p:spPr>
          <a:xfrm>
            <a:off x="2034209" y="3479800"/>
            <a:ext cx="1270000" cy="127000"/>
          </a:xfrm>
          <a:prstGeom prst="rect">
            <a:avLst/>
          </a:prstGeom>
          <a:noFill/>
          <a:ln>
            <a:noFill/>
          </a:ln>
        </p:spPr>
        <p:txBody>
          <a:bodyPr wrap="square" lIns="25400" tIns="25400" rIns="25400" bIns="25400" anchor="ctr"/>
          <a:lstStyle/>
          <a:p>
            <a:pPr algn="ctr">
              <a:lnSpc>
                <a:spcPts val="1050"/>
              </a:lnSpc>
              <a:buNone/>
            </a:pPr>
            <a:r>
              <a:rPr lang="en-US" sz="800" i="1" dirty="0">
                <a:solidFill>
                  <a:srgbClr val="EB1A63"/>
                </a:solidFill>
                <a:latin typeface="Calibri"/>
              </a:rPr>
              <a:t>(A) ingest feed → DX Graph</a:t>
            </a:r>
          </a:p>
        </p:txBody>
      </p:sp>
      <p:sp>
        <p:nvSpPr>
          <p:cNvPr id="501" name="ArrPatLbl"/>
          <p:cNvSpPr>
            <a:spLocks noGrp="1"/>
          </p:cNvSpPr>
          <p:nvPr/>
        </p:nvSpPr>
        <p:spPr>
          <a:xfrm>
            <a:off x="4558748" y="4018170"/>
            <a:ext cx="177800" cy="101600"/>
          </a:xfrm>
          <a:prstGeom prst="rect">
            <a:avLst/>
          </a:prstGeom>
          <a:noFill/>
          <a:ln>
            <a:noFill/>
          </a:ln>
        </p:spPr>
        <p:txBody>
          <a:bodyPr wrap="square" lIns="25400" tIns="25400" rIns="25400" bIns="25400" anchor="ctr"/>
          <a:lstStyle/>
          <a:p>
            <a:pPr algn="ctr">
              <a:lnSpc>
                <a:spcPts val="1050"/>
              </a:lnSpc>
              <a:buNone/>
            </a:pPr>
            <a:endParaRPr lang="en-US" sz="600" b="1" dirty="0">
              <a:solidFill>
                <a:srgbClr val="0D9488"/>
              </a:solidFill>
              <a:latin typeface="Calibri"/>
            </a:endParaRPr>
          </a:p>
        </p:txBody>
      </p:sp>
      <p:sp>
        <p:nvSpPr>
          <p:cNvPr id="6" name="A_Cel_DXG">
            <a:extLst>
              <a:ext uri="{FF2B5EF4-FFF2-40B4-BE49-F238E27FC236}">
                <a16:creationId xmlns:a16="http://schemas.microsoft.com/office/drawing/2014/main" id="{94E9C3CE-7B0E-5ED7-BEF9-E9356B9D8012}"/>
              </a:ext>
            </a:extLst>
          </p:cNvPr>
          <p:cNvSpPr>
            <a:spLocks noGrp="1"/>
          </p:cNvSpPr>
          <p:nvPr/>
        </p:nvSpPr>
        <p:spPr>
          <a:xfrm rot="10800000">
            <a:off x="3479524" y="3084443"/>
            <a:ext cx="101600" cy="898940"/>
          </a:xfrm>
          <a:prstGeom prst="downArrow">
            <a:avLst>
              <a:gd name="adj1" fmla="val 50000"/>
              <a:gd name="adj2" fmla="val 50000"/>
            </a:avLst>
          </a:prstGeom>
          <a:solidFill>
            <a:srgbClr val="D1D5DB"/>
          </a:solidFill>
          <a:ln>
            <a:noFill/>
          </a:ln>
        </p:spPr>
        <p:txBody>
          <a:bodyPr/>
          <a:lstStyle/>
          <a:p>
            <a:endParaRPr lang="en-GB"/>
          </a:p>
        </p:txBody>
      </p:sp>
      <p:sp>
        <p:nvSpPr>
          <p:cNvPr id="8" name="TextBox 7">
            <a:extLst>
              <a:ext uri="{FF2B5EF4-FFF2-40B4-BE49-F238E27FC236}">
                <a16:creationId xmlns:a16="http://schemas.microsoft.com/office/drawing/2014/main" id="{4729F272-4B16-4776-763C-674CE207F625}"/>
              </a:ext>
            </a:extLst>
          </p:cNvPr>
          <p:cNvSpPr txBox="1"/>
          <p:nvPr/>
        </p:nvSpPr>
        <p:spPr>
          <a:xfrm>
            <a:off x="3479523" y="3431760"/>
            <a:ext cx="915504" cy="225254"/>
          </a:xfrm>
          <a:prstGeom prst="rect">
            <a:avLst/>
          </a:prstGeom>
          <a:noFill/>
        </p:spPr>
        <p:txBody>
          <a:bodyPr wrap="square">
            <a:spAutoFit/>
          </a:bodyPr>
          <a:lstStyle/>
          <a:p>
            <a:pPr>
              <a:lnSpc>
                <a:spcPts val="1050"/>
              </a:lnSpc>
              <a:buNone/>
            </a:pPr>
            <a:r>
              <a:rPr lang="en-US" sz="800" i="1" dirty="0">
                <a:solidFill>
                  <a:srgbClr val="374151"/>
                </a:solidFill>
                <a:latin typeface="Calibri"/>
              </a:rPr>
              <a:t>(C) BOM handoff</a:t>
            </a:r>
          </a:p>
        </p:txBody>
      </p:sp>
    </p:spTree>
    <p:extLst>
      <p:ext uri="{BB962C8B-B14F-4D97-AF65-F5344CB8AC3E}">
        <p14:creationId xmlns:p14="http://schemas.microsoft.com/office/powerpoint/2010/main" val="194913505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1112"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063CBA7-DA38-4B63-A77E-B112D0F83CBE}">
  <we:reference id="wa200010001" version="1.0.0.1" store="en-US" storeType="OMEX"/>
  <we:alternateReferences>
    <we:reference id="wa200010001" version="1.0.0.1" store="wa200010001" storeType="OMEX"/>
  </we:alternateReferences>
  <we:properties>
    <we:property name="claude.fileId" value="&quot;28162e83-ee21-4051-98bf-0d36cacca1c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1139</TotalTime>
  <Words>4427</Words>
  <Application>Microsoft Office PowerPoint</Application>
  <PresentationFormat>On-screen Show (16:9)</PresentationFormat>
  <Paragraphs>628</Paragraphs>
  <Slides>22</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Conscia</dc:creator>
  <cp:lastModifiedBy>David Uccelli</cp:lastModifiedBy>
  <cp:revision>6</cp:revision>
  <dcterms:created xsi:type="dcterms:W3CDTF">2026-03-28T20:38:14Z</dcterms:created>
  <dcterms:modified xsi:type="dcterms:W3CDTF">2026-04-07T16:33:00Z</dcterms:modified>
</cp:coreProperties>
</file>