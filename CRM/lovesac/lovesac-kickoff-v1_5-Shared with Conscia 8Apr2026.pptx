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305" r:id="rId2"/>
    <p:sldId id="325" r:id="rId3"/>
    <p:sldId id="346" r:id="rId4"/>
    <p:sldId id="400" r:id="rId5"/>
    <p:sldId id="401" r:id="rId6"/>
    <p:sldId id="402" r:id="rId7"/>
    <p:sldId id="403" r:id="rId8"/>
    <p:sldId id="404" r:id="rId9"/>
    <p:sldId id="405" r:id="rId10"/>
    <p:sldId id="406" r:id="rId11"/>
    <p:sldId id="408" r:id="rId12"/>
    <p:sldId id="409" r:id="rId13"/>
    <p:sldId id="426" r:id="rId14"/>
    <p:sldId id="417" r:id="rId15"/>
    <p:sldId id="438" r:id="rId16"/>
    <p:sldId id="441" r:id="rId17"/>
    <p:sldId id="444" r:id="rId18"/>
    <p:sldId id="449" r:id="rId19"/>
    <p:sldId id="356" r:id="rId20"/>
    <p:sldId id="380" r:id="rId21"/>
    <p:sldId id="434" r:id="rId22"/>
    <p:sldId id="435" r:id="rId2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HCJthnzYT8TGbZ49sVQp0B7AhE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Uccelli"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5DB"/>
    <a:srgbClr val="EB1A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7437" autoAdjust="0"/>
  </p:normalViewPr>
  <p:slideViewPr>
    <p:cSldViewPr snapToGrid="0">
      <p:cViewPr varScale="1">
        <p:scale>
          <a:sx n="144" d="100"/>
          <a:sy n="144" d="100"/>
        </p:scale>
        <p:origin x="30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d4ba649c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g3d4ba649c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d4ba649c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7" name="Google Shape;4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2825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Threekit &amp; Conscia: Different Jobs, Different Tools</a:t>
            </a:r>
          </a:p>
          <a:p>
            <a:r>
              <a:rPr lang="en-US" sz="1200" dirty="0"/>
              <a:t> </a:t>
            </a:r>
          </a:p>
          <a:p>
            <a:r>
              <a:rPr lang="en-US" sz="1200" dirty="0"/>
              <a:t>The goal is to reframe the conversation: Threekit is not being replaced — it is being enhanced. Conscia sits above it and reads from it.</a:t>
            </a:r>
          </a:p>
          <a:p>
            <a:r>
              <a:rPr lang="en-US" sz="1200" dirty="0"/>
              <a:t> </a:t>
            </a:r>
          </a:p>
          <a:p>
            <a:r>
              <a:rPr lang="en-US" sz="1200" dirty="0"/>
              <a:t>Key points:</a:t>
            </a:r>
          </a:p>
          <a:p>
            <a:r>
              <a:rPr lang="en-US" sz="1200" dirty="0"/>
              <a:t>• Threekit was built to solve a hard visual problem. The constraint is a scoping decision, not a product flaw — Threekit is a renderer, not an integration layer.</a:t>
            </a:r>
          </a:p>
          <a:p>
            <a:r>
              <a:rPr lang="en-US" sz="1200" dirty="0"/>
              <a:t>• Conscia is the integration layer. The two products are designed for different layers of the stack and are genuinely complementary.</a:t>
            </a:r>
          </a:p>
          <a:p>
            <a:r>
              <a:rPr lang="en-US" sz="1200" dirty="0"/>
              <a:t>• Phase 1 preserves Threekit as the configurator. Conscia ingests from it — it does not replace it.</a:t>
            </a:r>
          </a:p>
          <a:p>
            <a:r>
              <a:rPr lang="en-US" sz="1200" dirty="0"/>
              <a:t>• Adding Conscia reduces integration burden: every new channel uses the same Experience API rather than building a new Threekit connector.</a:t>
            </a:r>
          </a:p>
          <a:p>
            <a:r>
              <a:rPr lang="en-US" sz="1200" dirty="0"/>
              <a:t> </a:t>
            </a:r>
          </a:p>
          <a:p>
            <a:r>
              <a:rPr lang="en-US" sz="1200" dirty="0"/>
              <a:t>Do not use the word 'limitation' or 'weakness' when referring to Threekit. Frame all differences as design intent.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How They Work Together: A Phased Approach</a:t>
            </a:r>
          </a:p>
          <a:p>
            <a:r>
              <a:rPr lang="en-US" sz="1200" dirty="0"/>
              <a:t> </a:t>
            </a:r>
          </a:p>
          <a:p>
            <a:r>
              <a:rPr lang="en-US" sz="1200" dirty="0"/>
              <a:t>Walk through each phase clearly and confidently. Emphasise that every phase delivers something real — this is not a big-bang migration.</a:t>
            </a:r>
          </a:p>
          <a:p>
            <a:r>
              <a:rPr lang="en-US" sz="1200" dirty="0"/>
              <a:t> </a:t>
            </a:r>
          </a:p>
          <a:p>
            <a:r>
              <a:rPr lang="en-US" sz="1200" dirty="0"/>
              <a:t>Phase 1 — Ingest &amp; Model (Weeks 1–6):</a:t>
            </a:r>
          </a:p>
          <a:p>
            <a:r>
              <a:rPr lang="en-US" sz="1200" dirty="0"/>
              <a:t>Foundation work. Connect NetSuite, Magento, and Threekit into DX Graph. Model Sactional SKUs as graph nodes with real parent-child links. No customer-facing change yet — the output is a queryable product API. The deliverable is a graph and a schema, validated by the Lovesac team.</a:t>
            </a:r>
          </a:p>
          <a:p>
            <a:r>
              <a:rPr lang="en-US" sz="1200" dirty="0"/>
              <a:t> </a:t>
            </a:r>
          </a:p>
          <a:p>
            <a:r>
              <a:rPr lang="en-US" sz="1200" dirty="0"/>
              <a:t>Phase 2 — Orchestrate &amp; Serve (Weeks 7–12):</a:t>
            </a:r>
          </a:p>
          <a:p>
            <a:r>
              <a:rPr lang="en-US" sz="1200" dirty="0"/>
              <a:t>DX Engine rules go live: pricing eligibility, cover compatibility, inventory availability. Lovesac.com configurator is the first consumer of the new Experience API — first moment a customer benefits. Salesforce POS and Manhattan Active Omni are wired in so associates get consistent data. UAT is built into this phase; we iterate on rule logic before moving on.</a:t>
            </a:r>
          </a:p>
          <a:p>
            <a:r>
              <a:rPr lang="en-US" sz="1200" dirty="0"/>
              <a:t> </a:t>
            </a:r>
          </a:p>
          <a:p>
            <a:r>
              <a:rPr lang="en-US" sz="1200" dirty="0"/>
              <a:t>Phase 3 — Expand &amp; Activate (Weeks 13–20):</a:t>
            </a:r>
          </a:p>
          <a:p>
            <a:r>
              <a:rPr lang="en-US" sz="1200" dirty="0"/>
              <a:t>The MCP endpoint makes Lovesac's product catalogue available to AI agents — AgentForce, ChatGPT, any future agent. Google Shopping is added as a channel using the same API, no rebuild. Configuration session analytics are enabled for the first time: Lovesac can see what customers are actually doing in the configurator. Any additional channel from this point plugs into the same governed API.</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Lovesac is already a Celigo customer — Kimberly Dietz is publicly quoted endorsing the NetSuite-Magento Integration App. We are not displacing any Celigo flow.</a:t>
            </a:r>
          </a:p>
          <a:p>
            <a:endParaRPr lang="en-US" dirty="0"/>
          </a:p>
          <a:p>
            <a:r>
              <a:rPr lang="en-US" dirty="0"/>
              <a:t>Celigo is genuinely good at what it does: moving customer records, orders, inventory, fulfilments, and item master data between NetSuite, Magento, Manhattan Active Omni, and Salesforce Retail Cloud.</a:t>
            </a:r>
          </a:p>
          <a:p>
            <a:endParaRPr lang="en-US" dirty="0"/>
          </a:p>
          <a:p>
            <a:r>
              <a:rPr lang="en-US" dirty="0"/>
              <a:t>What Celigo cannot do — by category, not by quality — is hold a governed semantic model of what a Sactional is, encode component compatibility as queryable graph relationships, or serve a synchronous sub-second Experience API to a POS terminal during checkout.</a:t>
            </a:r>
          </a:p>
          <a:p>
            <a:endParaRPr lang="en-US" dirty="0"/>
          </a:p>
          <a:p>
            <a:r>
              <a:rPr lang="en-US" dirty="0"/>
              <a:t>Those are different categories of problem and they need different categories of tool. The kickoff narrative is additive, not substitutive.</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p>
          <a:p>
            <a:endParaRPr lang="en-US" dirty="0"/>
          </a:p>
          <a:p>
            <a:r>
              <a:rPr lang="en-US" dirty="0"/>
              <a:t>Pattern B is the real-time read path: POS hits Conscia directly because synchronous sub-second validation is exactly the latency profile iPaaS isn't built for.</a:t>
            </a:r>
          </a:p>
          <a:p>
            <a:endParaRPr lang="en-US" dirty="0"/>
          </a:p>
          <a:p>
            <a:r>
              <a:rPr lang="en-US" dirty="0"/>
              <a:t>Pattern C is the downstream hand-off — DX Engine does the configuration brain work, but the consumer (Manhattan Active Omni) is reached via an existing Celigo flow rather than building a new direct connection.</a:t>
            </a:r>
          </a:p>
          <a:p>
            <a:endParaRPr lang="en-US" dirty="0"/>
          </a:p>
          <a:p>
            <a:r>
              <a:rPr lang="en-US" dirty="0"/>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5"/>
        <p:cNvGrpSpPr/>
        <p:nvPr/>
      </p:nvGrpSpPr>
      <p:grpSpPr>
        <a:xfrm>
          <a:off x="0" y="0"/>
          <a:ext cx="0" cy="0"/>
          <a:chOff x="0" y="0"/>
          <a:chExt cx="0" cy="0"/>
        </a:xfrm>
      </p:grpSpPr>
      <p:sp>
        <p:nvSpPr>
          <p:cNvPr id="10" name="LeftStripe"/>
          <p:cNvSpPr/>
          <p:nvPr/>
        </p:nvSpPr>
        <p:spPr>
          <a:xfrm>
            <a:off x="0" y="0"/>
            <a:ext cx="101600" cy="5143500"/>
          </a:xfrm>
          <a:prstGeom prst="rect">
            <a:avLst/>
          </a:prstGeom>
          <a:solidFill>
            <a:srgbClr val="EB1A63"/>
          </a:solidFill>
          <a:ln>
            <a:noFill/>
          </a:ln>
        </p:spPr>
        <p:txBody>
          <a:bodyPr/>
          <a:lstStyle/>
          <a:p>
            <a:endParaRPr lang="en-US"/>
          </a:p>
        </p:txBody>
      </p:sp>
      <p:sp>
        <p:nvSpPr>
          <p:cNvPr id="11" name="Divider"/>
          <p:cNvSpPr/>
          <p:nvPr/>
        </p:nvSpPr>
        <p:spPr>
          <a:xfrm>
            <a:off x="457200" y="609600"/>
            <a:ext cx="8229600" cy="12700"/>
          </a:xfrm>
          <a:prstGeom prst="rect">
            <a:avLst/>
          </a:prstGeom>
          <a:solidFill>
            <a:srgbClr val="E5E7EB"/>
          </a:solidFill>
          <a:ln>
            <a:noFill/>
          </a:ln>
        </p:spPr>
        <p:txBody>
          <a:bodyPr/>
          <a:lstStyle/>
          <a:p>
            <a:endParaRPr lang="en-US"/>
          </a:p>
        </p:txBody>
      </p:sp>
      <p:sp>
        <p:nvSpPr>
          <p:cNvPr id="12" name="Pill"/>
          <p:cNvSpPr/>
          <p:nvPr/>
        </p:nvSpPr>
        <p:spPr>
          <a:xfrm>
            <a:off x="457200" y="762000"/>
            <a:ext cx="3302000" cy="279400"/>
          </a:xfrm>
          <a:prstGeom prst="roundRect">
            <a:avLst>
              <a:gd name="adj" fmla="val 50000"/>
            </a:avLst>
          </a:prstGeom>
          <a:solidFill>
            <a:srgbClr val="EB1A63"/>
          </a:solidFill>
          <a:ln>
            <a:noFill/>
          </a:ln>
        </p:spPr>
        <p:txBody>
          <a:bodyPr wrap="square" lIns="91440" tIns="0" rIns="91440" bIns="0" anchor="ctr"/>
          <a:lstStyle/>
          <a:p>
            <a:pPr algn="ctr">
              <a:buNone/>
            </a:pPr>
            <a:r>
              <a:rPr lang="en-GB" sz="900" b="1" spc="200">
                <a:solidFill>
                  <a:srgbClr val="FFFFFF"/>
                </a:solidFill>
                <a:latin typeface="Calibri"/>
              </a:rPr>
              <a:t>PROJECT KICK-OFF  ·  APRIL 8, 2026</a:t>
            </a:r>
            <a:endParaRPr lang="en-US" sz="900" b="1" spc="200" dirty="0">
              <a:solidFill>
                <a:srgbClr val="FFFFFF"/>
              </a:solidFill>
              <a:latin typeface="Calibri"/>
            </a:endParaRPr>
          </a:p>
        </p:txBody>
      </p:sp>
      <p:sp>
        <p:nvSpPr>
          <p:cNvPr id="13" name="Title"/>
          <p:cNvSpPr/>
          <p:nvPr/>
        </p:nvSpPr>
        <p:spPr>
          <a:xfrm>
            <a:off x="457200" y="1270000"/>
            <a:ext cx="8229600" cy="1016000"/>
          </a:xfrm>
          <a:prstGeom prst="rect">
            <a:avLst/>
          </a:prstGeom>
          <a:noFill/>
          <a:ln>
            <a:noFill/>
          </a:ln>
        </p:spPr>
        <p:txBody>
          <a:bodyPr wrap="square" lIns="0" tIns="0" rIns="0" bIns="0" anchor="t"/>
          <a:lstStyle/>
          <a:p>
            <a:pPr>
              <a:buNone/>
            </a:pPr>
            <a:r>
              <a:rPr lang="en-US" sz="4200" b="1" dirty="0">
                <a:solidFill>
                  <a:srgbClr val="111827"/>
                </a:solidFill>
                <a:latin typeface="Calibri"/>
              </a:rPr>
              <a:t>Conscia: Beyond Traditional </a:t>
            </a:r>
            <a:r>
              <a:rPr lang="en-US" sz="4200" b="1" dirty="0">
                <a:solidFill>
                  <a:srgbClr val="EB1A63"/>
                </a:solidFill>
                <a:latin typeface="Calibri"/>
              </a:rPr>
              <a:t>PIM</a:t>
            </a:r>
          </a:p>
        </p:txBody>
      </p:sp>
      <p:sp>
        <p:nvSpPr>
          <p:cNvPr id="14" name="Subtitle"/>
          <p:cNvSpPr/>
          <p:nvPr/>
        </p:nvSpPr>
        <p:spPr>
          <a:xfrm>
            <a:off x="457200" y="2476500"/>
            <a:ext cx="5588000" cy="571500"/>
          </a:xfrm>
          <a:prstGeom prst="rect">
            <a:avLst/>
          </a:prstGeom>
          <a:noFill/>
          <a:ln>
            <a:noFill/>
          </a:ln>
        </p:spPr>
        <p:txBody>
          <a:bodyPr wrap="square" lIns="0" tIns="0" rIns="0" bIns="0" anchor="t"/>
          <a:lstStyle/>
          <a:p>
            <a:pPr>
              <a:lnSpc>
                <a:spcPts val="2000"/>
              </a:lnSpc>
              <a:buNone/>
            </a:pPr>
            <a:r>
              <a:rPr lang="en-US" sz="1500" dirty="0">
                <a:solidFill>
                  <a:srgbClr val="6B7280"/>
                </a:solidFill>
                <a:latin typeface="Calibri"/>
              </a:rPr>
              <a:t>A governed semantic foundation and real-time orchestration engine for complex, configurable commerce</a:t>
            </a:r>
          </a:p>
        </p:txBody>
      </p:sp>
      <p:sp>
        <p:nvSpPr>
          <p:cNvPr id="15" name="PoweredBy"/>
          <p:cNvSpPr/>
          <p:nvPr/>
        </p:nvSpPr>
        <p:spPr>
          <a:xfrm>
            <a:off x="457200" y="3429000"/>
            <a:ext cx="3810000" cy="279400"/>
          </a:xfrm>
          <a:prstGeom prst="roundRect">
            <a:avLst>
              <a:gd name="adj" fmla="val 30000"/>
            </a:avLst>
          </a:prstGeom>
          <a:solidFill>
            <a:srgbClr val="07BCD6"/>
          </a:solidFill>
          <a:ln>
            <a:noFill/>
          </a:ln>
        </p:spPr>
        <p:txBody>
          <a:bodyPr wrap="square" lIns="91440" tIns="0" rIns="91440" bIns="0" anchor="ctr"/>
          <a:lstStyle/>
          <a:p>
            <a:pPr algn="ctr">
              <a:buNone/>
            </a:pPr>
            <a:r>
              <a:rPr lang="en-US" sz="1000" b="1" spc="150" dirty="0">
                <a:solidFill>
                  <a:srgbClr val="FFFFFF"/>
                </a:solidFill>
                <a:latin typeface="Calibri"/>
              </a:rPr>
              <a:t>POWERED BY: DX GRAPH + DX ENGINE</a:t>
            </a:r>
          </a:p>
        </p:txBody>
      </p:sp>
      <p:sp>
        <p:nvSpPr>
          <p:cNvPr id="16" name="Kickoff"/>
          <p:cNvSpPr/>
          <p:nvPr/>
        </p:nvSpPr>
        <p:spPr>
          <a:xfrm>
            <a:off x="457200" y="3937000"/>
            <a:ext cx="5080000" cy="254000"/>
          </a:xfrm>
          <a:prstGeom prst="rect">
            <a:avLst/>
          </a:prstGeom>
          <a:noFill/>
          <a:ln>
            <a:noFill/>
          </a:ln>
        </p:spPr>
        <p:txBody>
          <a:bodyPr wrap="square" lIns="0" tIns="0" rIns="0" bIns="0" anchor="ctr"/>
          <a:lstStyle/>
          <a:p>
            <a:pPr>
              <a:buNone/>
            </a:pPr>
            <a:r>
              <a:rPr lang="en-US" sz="1400" dirty="0">
                <a:solidFill>
                  <a:srgbClr val="6B7280"/>
                </a:solidFill>
                <a:latin typeface="Calibri"/>
              </a:rPr>
              <a:t>Conscia × Lovesac Joint Kick-off</a:t>
            </a:r>
          </a:p>
        </p:txBody>
      </p:sp>
      <p:sp>
        <p:nvSpPr>
          <p:cNvPr id="17" name="Tagline"/>
          <p:cNvSpPr/>
          <p:nvPr/>
        </p:nvSpPr>
        <p:spPr>
          <a:xfrm>
            <a:off x="2540000" y="228600"/>
            <a:ext cx="4699000" cy="228600"/>
          </a:xfrm>
          <a:prstGeom prst="rect">
            <a:avLst/>
          </a:prstGeom>
          <a:noFill/>
          <a:ln>
            <a:noFill/>
          </a:ln>
        </p:spPr>
        <p:txBody>
          <a:bodyPr wrap="square" lIns="0" tIns="0" rIns="0" bIns="0" anchor="ctr"/>
          <a:lstStyle/>
          <a:p>
            <a:pPr algn="r">
              <a:buNone/>
            </a:pPr>
            <a:r>
              <a:rPr lang="en-US" sz="900" dirty="0">
                <a:solidFill>
                  <a:srgbClr val="9CA3AF"/>
                </a:solidFill>
                <a:latin typeface="Calibri"/>
              </a:rPr>
              <a:t>The API and Data Foundation for Agentic Commerce</a:t>
            </a:r>
          </a:p>
        </p:txBody>
      </p:sp>
      <p:sp>
        <p:nvSpPr>
          <p:cNvPr id="18"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pic>
        <p:nvPicPr>
          <p:cNvPr id="46" name="Google Shape;46;p1"/>
          <p:cNvPicPr preferRelativeResize="0"/>
          <p:nvPr/>
        </p:nvPicPr>
        <p:blipFill>
          <a:blip r:embed="rId3">
            <a:alphaModFix/>
          </a:blip>
          <a:stretch>
            <a:fillRect/>
          </a:stretch>
        </p:blipFill>
        <p:spPr>
          <a:xfrm>
            <a:off x="7493000" y="203200"/>
            <a:ext cx="1232572" cy="329175"/>
          </a:xfrm>
          <a:prstGeom prst="rect">
            <a:avLst/>
          </a:prstGeom>
          <a:noFill/>
          <a:ln>
            <a:noFill/>
          </a:ln>
        </p:spPr>
      </p:pic>
    </p:spTree>
    <p:extLst>
      <p:ext uri="{BB962C8B-B14F-4D97-AF65-F5344CB8AC3E}">
        <p14:creationId xmlns:p14="http://schemas.microsoft.com/office/powerpoint/2010/main" val="8709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62"/>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Today's Agenda</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AccBar0"/>
          <p:cNvSpPr>
            <a:spLocks noGrp="1"/>
          </p:cNvSpPr>
          <p:nvPr/>
        </p:nvSpPr>
        <p:spPr>
          <a:xfrm>
            <a:off x="355600" y="8001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01" name="Div0"/>
          <p:cNvSpPr>
            <a:spLocks noGrp="1"/>
          </p:cNvSpPr>
          <p:nvPr/>
        </p:nvSpPr>
        <p:spPr>
          <a:xfrm>
            <a:off x="482600" y="1231900"/>
            <a:ext cx="8305800" cy="12700"/>
          </a:xfrm>
          <a:prstGeom prst="rect">
            <a:avLst/>
          </a:prstGeom>
          <a:solidFill>
            <a:srgbClr val="E5E7EB"/>
          </a:solidFill>
          <a:ln>
            <a:noFill/>
          </a:ln>
        </p:spPr>
        <p:txBody>
          <a:bodyPr/>
          <a:lstStyle/>
          <a:p>
            <a:endParaRPr/>
          </a:p>
        </p:txBody>
      </p:sp>
      <p:sp>
        <p:nvSpPr>
          <p:cNvPr id="302" name="Num0"/>
          <p:cNvSpPr>
            <a:spLocks noGrp="1"/>
          </p:cNvSpPr>
          <p:nvPr/>
        </p:nvSpPr>
        <p:spPr>
          <a:xfrm>
            <a:off x="508000" y="8255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303" name="Row0"/>
          <p:cNvSpPr>
            <a:spLocks noGrp="1"/>
          </p:cNvSpPr>
          <p:nvPr/>
        </p:nvSpPr>
        <p:spPr>
          <a:xfrm>
            <a:off x="889000" y="800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Problem Statement</a:t>
            </a:r>
            <a:r>
              <a:rPr lang="en-US" sz="1100" dirty="0">
                <a:solidFill>
                  <a:srgbClr val="9CA3AF"/>
                </a:solidFill>
                <a:latin typeface="Calibri"/>
              </a:rPr>
              <a:t>  —  Recap of the challenges we're here to solve</a:t>
            </a:r>
          </a:p>
        </p:txBody>
      </p:sp>
      <p:sp>
        <p:nvSpPr>
          <p:cNvPr id="310" name="AccBar1"/>
          <p:cNvSpPr>
            <a:spLocks noGrp="1"/>
          </p:cNvSpPr>
          <p:nvPr/>
        </p:nvSpPr>
        <p:spPr>
          <a:xfrm>
            <a:off x="355600" y="12319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11" name="Div1"/>
          <p:cNvSpPr>
            <a:spLocks noGrp="1"/>
          </p:cNvSpPr>
          <p:nvPr/>
        </p:nvSpPr>
        <p:spPr>
          <a:xfrm>
            <a:off x="482600" y="1663700"/>
            <a:ext cx="8305800" cy="12700"/>
          </a:xfrm>
          <a:prstGeom prst="rect">
            <a:avLst/>
          </a:prstGeom>
          <a:solidFill>
            <a:srgbClr val="E5E7EB"/>
          </a:solidFill>
          <a:ln>
            <a:noFill/>
          </a:ln>
        </p:spPr>
        <p:txBody>
          <a:bodyPr/>
          <a:lstStyle/>
          <a:p>
            <a:endParaRPr/>
          </a:p>
        </p:txBody>
      </p:sp>
      <p:sp>
        <p:nvSpPr>
          <p:cNvPr id="312" name="Num1"/>
          <p:cNvSpPr>
            <a:spLocks noGrp="1"/>
          </p:cNvSpPr>
          <p:nvPr/>
        </p:nvSpPr>
        <p:spPr>
          <a:xfrm>
            <a:off x="508000" y="12573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02</a:t>
            </a:r>
          </a:p>
        </p:txBody>
      </p:sp>
      <p:sp>
        <p:nvSpPr>
          <p:cNvPr id="313" name="Row1"/>
          <p:cNvSpPr>
            <a:spLocks noGrp="1"/>
          </p:cNvSpPr>
          <p:nvPr/>
        </p:nvSpPr>
        <p:spPr>
          <a:xfrm>
            <a:off x="889000" y="1231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Meet the Teams</a:t>
            </a:r>
            <a:r>
              <a:rPr lang="en-US" sz="1100" dirty="0">
                <a:solidFill>
                  <a:srgbClr val="9CA3AF"/>
                </a:solidFill>
                <a:latin typeface="Calibri"/>
              </a:rPr>
              <a:t>  —  Introductions and roles</a:t>
            </a:r>
          </a:p>
        </p:txBody>
      </p:sp>
      <p:sp>
        <p:nvSpPr>
          <p:cNvPr id="320" name="AccBar2"/>
          <p:cNvSpPr>
            <a:spLocks noGrp="1"/>
          </p:cNvSpPr>
          <p:nvPr/>
        </p:nvSpPr>
        <p:spPr>
          <a:xfrm>
            <a:off x="355600" y="16637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21" name="Div2"/>
          <p:cNvSpPr>
            <a:spLocks noGrp="1"/>
          </p:cNvSpPr>
          <p:nvPr/>
        </p:nvSpPr>
        <p:spPr>
          <a:xfrm>
            <a:off x="482600" y="2095500"/>
            <a:ext cx="8305800" cy="12700"/>
          </a:xfrm>
          <a:prstGeom prst="rect">
            <a:avLst/>
          </a:prstGeom>
          <a:solidFill>
            <a:srgbClr val="E5E7EB"/>
          </a:solidFill>
          <a:ln>
            <a:noFill/>
          </a:ln>
        </p:spPr>
        <p:txBody>
          <a:bodyPr/>
          <a:lstStyle/>
          <a:p>
            <a:endParaRPr/>
          </a:p>
        </p:txBody>
      </p:sp>
      <p:sp>
        <p:nvSpPr>
          <p:cNvPr id="322" name="Num2"/>
          <p:cNvSpPr>
            <a:spLocks noGrp="1"/>
          </p:cNvSpPr>
          <p:nvPr/>
        </p:nvSpPr>
        <p:spPr>
          <a:xfrm>
            <a:off x="508000" y="16891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03</a:t>
            </a:r>
          </a:p>
        </p:txBody>
      </p:sp>
      <p:sp>
        <p:nvSpPr>
          <p:cNvPr id="323" name="Row2"/>
          <p:cNvSpPr>
            <a:spLocks noGrp="1"/>
          </p:cNvSpPr>
          <p:nvPr/>
        </p:nvSpPr>
        <p:spPr>
          <a:xfrm>
            <a:off x="889000" y="1663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Conscia Platform Overview</a:t>
            </a:r>
            <a:r>
              <a:rPr lang="en-US" sz="1100" dirty="0">
                <a:solidFill>
                  <a:srgbClr val="9CA3AF"/>
                </a:solidFill>
                <a:latin typeface="Calibri"/>
              </a:rPr>
              <a:t>  —  How DX Graph and DX Engine address Lovesac's needs</a:t>
            </a:r>
          </a:p>
        </p:txBody>
      </p:sp>
      <p:sp>
        <p:nvSpPr>
          <p:cNvPr id="330" name="AccBar3"/>
          <p:cNvSpPr>
            <a:spLocks noGrp="1"/>
          </p:cNvSpPr>
          <p:nvPr/>
        </p:nvSpPr>
        <p:spPr>
          <a:xfrm>
            <a:off x="355600" y="2095500"/>
            <a:ext cx="50800" cy="419100"/>
          </a:xfrm>
          <a:prstGeom prst="rect">
            <a:avLst/>
          </a:prstGeom>
          <a:solidFill>
            <a:srgbClr val="458CCB"/>
          </a:solidFill>
          <a:ln>
            <a:noFill/>
          </a:ln>
        </p:spPr>
        <p:txBody>
          <a:bodyPr wrap="square" lIns="50800" tIns="25400" rIns="50800" bIns="25400" anchor="ctr"/>
          <a:lstStyle/>
          <a:p>
            <a:pPr>
              <a:buNone/>
            </a:pPr>
            <a:endParaRPr/>
          </a:p>
        </p:txBody>
      </p:sp>
      <p:sp>
        <p:nvSpPr>
          <p:cNvPr id="331" name="Div3"/>
          <p:cNvSpPr>
            <a:spLocks noGrp="1"/>
          </p:cNvSpPr>
          <p:nvPr/>
        </p:nvSpPr>
        <p:spPr>
          <a:xfrm>
            <a:off x="482600" y="2527300"/>
            <a:ext cx="8305800" cy="12700"/>
          </a:xfrm>
          <a:prstGeom prst="rect">
            <a:avLst/>
          </a:prstGeom>
          <a:solidFill>
            <a:srgbClr val="E5E7EB"/>
          </a:solidFill>
          <a:ln>
            <a:noFill/>
          </a:ln>
        </p:spPr>
        <p:txBody>
          <a:bodyPr/>
          <a:lstStyle/>
          <a:p>
            <a:endParaRPr/>
          </a:p>
        </p:txBody>
      </p:sp>
      <p:sp>
        <p:nvSpPr>
          <p:cNvPr id="332" name="Num3"/>
          <p:cNvSpPr>
            <a:spLocks noGrp="1"/>
          </p:cNvSpPr>
          <p:nvPr/>
        </p:nvSpPr>
        <p:spPr>
          <a:xfrm>
            <a:off x="508000" y="2120900"/>
            <a:ext cx="330200" cy="368300"/>
          </a:xfrm>
          <a:prstGeom prst="rect">
            <a:avLst/>
          </a:prstGeom>
          <a:noFill/>
          <a:ln>
            <a:noFill/>
          </a:ln>
        </p:spPr>
        <p:txBody>
          <a:bodyPr wrap="square" lIns="50800" tIns="25400" rIns="50800" bIns="25400" anchor="ctr"/>
          <a:lstStyle/>
          <a:p>
            <a:pPr>
              <a:buNone/>
            </a:pPr>
            <a:r>
              <a:rPr lang="en-US" sz="1100" b="1" dirty="0">
                <a:solidFill>
                  <a:srgbClr val="458CCB"/>
                </a:solidFill>
                <a:latin typeface="Calibri"/>
              </a:rPr>
              <a:t>04</a:t>
            </a:r>
          </a:p>
        </p:txBody>
      </p:sp>
      <p:sp>
        <p:nvSpPr>
          <p:cNvPr id="333" name="Row3"/>
          <p:cNvSpPr>
            <a:spLocks noGrp="1"/>
          </p:cNvSpPr>
          <p:nvPr/>
        </p:nvSpPr>
        <p:spPr>
          <a:xfrm>
            <a:off x="889000" y="2095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Proposed Architecture Fit</a:t>
            </a:r>
            <a:r>
              <a:rPr lang="en-US" sz="1100" dirty="0">
                <a:solidFill>
                  <a:srgbClr val="9CA3AF"/>
                </a:solidFill>
                <a:latin typeface="Calibri"/>
              </a:rPr>
              <a:t>  —  Where Conscia sits within your existing stack</a:t>
            </a:r>
          </a:p>
        </p:txBody>
      </p:sp>
      <p:sp>
        <p:nvSpPr>
          <p:cNvPr id="340" name="AccBar4"/>
          <p:cNvSpPr>
            <a:spLocks noGrp="1"/>
          </p:cNvSpPr>
          <p:nvPr/>
        </p:nvSpPr>
        <p:spPr>
          <a:xfrm>
            <a:off x="355600" y="2527300"/>
            <a:ext cx="50800" cy="419100"/>
          </a:xfrm>
          <a:prstGeom prst="rect">
            <a:avLst/>
          </a:prstGeom>
          <a:solidFill>
            <a:srgbClr val="F8981D"/>
          </a:solidFill>
          <a:ln>
            <a:noFill/>
          </a:ln>
        </p:spPr>
        <p:txBody>
          <a:bodyPr wrap="square" lIns="50800" tIns="25400" rIns="50800" bIns="25400" anchor="ctr"/>
          <a:lstStyle/>
          <a:p>
            <a:pPr>
              <a:buNone/>
            </a:pPr>
            <a:endParaRPr/>
          </a:p>
        </p:txBody>
      </p:sp>
      <p:sp>
        <p:nvSpPr>
          <p:cNvPr id="341" name="Div4"/>
          <p:cNvSpPr>
            <a:spLocks noGrp="1"/>
          </p:cNvSpPr>
          <p:nvPr/>
        </p:nvSpPr>
        <p:spPr>
          <a:xfrm>
            <a:off x="482600" y="2959100"/>
            <a:ext cx="8305800" cy="12700"/>
          </a:xfrm>
          <a:prstGeom prst="rect">
            <a:avLst/>
          </a:prstGeom>
          <a:solidFill>
            <a:srgbClr val="E5E7EB"/>
          </a:solidFill>
          <a:ln>
            <a:noFill/>
          </a:ln>
        </p:spPr>
        <p:txBody>
          <a:bodyPr/>
          <a:lstStyle/>
          <a:p>
            <a:endParaRPr/>
          </a:p>
        </p:txBody>
      </p:sp>
      <p:sp>
        <p:nvSpPr>
          <p:cNvPr id="342" name="Num4"/>
          <p:cNvSpPr>
            <a:spLocks noGrp="1"/>
          </p:cNvSpPr>
          <p:nvPr/>
        </p:nvSpPr>
        <p:spPr>
          <a:xfrm>
            <a:off x="508000" y="2552700"/>
            <a:ext cx="330200" cy="368300"/>
          </a:xfrm>
          <a:prstGeom prst="rect">
            <a:avLst/>
          </a:prstGeom>
          <a:noFill/>
          <a:ln>
            <a:noFill/>
          </a:ln>
        </p:spPr>
        <p:txBody>
          <a:bodyPr wrap="square" lIns="50800" tIns="25400" rIns="50800" bIns="25400" anchor="ctr"/>
          <a:lstStyle/>
          <a:p>
            <a:pPr>
              <a:buNone/>
            </a:pPr>
            <a:r>
              <a:rPr lang="en-US" sz="1100" b="1" dirty="0">
                <a:solidFill>
                  <a:srgbClr val="C49500"/>
                </a:solidFill>
                <a:latin typeface="Calibri"/>
              </a:rPr>
              <a:t>05</a:t>
            </a:r>
          </a:p>
        </p:txBody>
      </p:sp>
      <p:sp>
        <p:nvSpPr>
          <p:cNvPr id="343" name="Row4"/>
          <p:cNvSpPr>
            <a:spLocks noGrp="1"/>
          </p:cNvSpPr>
          <p:nvPr/>
        </p:nvSpPr>
        <p:spPr>
          <a:xfrm>
            <a:off x="889000" y="25273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Success Metrics and KPIs</a:t>
            </a:r>
            <a:r>
              <a:rPr lang="en-US" sz="1100" dirty="0">
                <a:solidFill>
                  <a:srgbClr val="9CA3AF"/>
                </a:solidFill>
                <a:latin typeface="Calibri"/>
              </a:rPr>
              <a:t>  —  Defining what good looks like</a:t>
            </a:r>
          </a:p>
        </p:txBody>
      </p:sp>
      <p:sp>
        <p:nvSpPr>
          <p:cNvPr id="350" name="AccBar5"/>
          <p:cNvSpPr>
            <a:spLocks noGrp="1"/>
          </p:cNvSpPr>
          <p:nvPr/>
        </p:nvSpPr>
        <p:spPr>
          <a:xfrm>
            <a:off x="355600" y="2959100"/>
            <a:ext cx="50800" cy="419100"/>
          </a:xfrm>
          <a:prstGeom prst="rect">
            <a:avLst/>
          </a:prstGeom>
          <a:solidFill>
            <a:srgbClr val="FABF2D"/>
          </a:solidFill>
          <a:ln>
            <a:noFill/>
          </a:ln>
        </p:spPr>
        <p:txBody>
          <a:bodyPr wrap="square" lIns="50800" tIns="25400" rIns="50800" bIns="25400" anchor="ctr"/>
          <a:lstStyle/>
          <a:p>
            <a:pPr>
              <a:buNone/>
            </a:pPr>
            <a:endParaRPr/>
          </a:p>
        </p:txBody>
      </p:sp>
      <p:sp>
        <p:nvSpPr>
          <p:cNvPr id="351" name="Div5"/>
          <p:cNvSpPr>
            <a:spLocks noGrp="1"/>
          </p:cNvSpPr>
          <p:nvPr/>
        </p:nvSpPr>
        <p:spPr>
          <a:xfrm>
            <a:off x="482600" y="3390900"/>
            <a:ext cx="8305800" cy="12700"/>
          </a:xfrm>
          <a:prstGeom prst="rect">
            <a:avLst/>
          </a:prstGeom>
          <a:solidFill>
            <a:srgbClr val="E5E7EB"/>
          </a:solidFill>
          <a:ln>
            <a:noFill/>
          </a:ln>
        </p:spPr>
        <p:txBody>
          <a:bodyPr/>
          <a:lstStyle/>
          <a:p>
            <a:endParaRPr/>
          </a:p>
        </p:txBody>
      </p:sp>
      <p:sp>
        <p:nvSpPr>
          <p:cNvPr id="352" name="Num5"/>
          <p:cNvSpPr>
            <a:spLocks noGrp="1"/>
          </p:cNvSpPr>
          <p:nvPr/>
        </p:nvSpPr>
        <p:spPr>
          <a:xfrm>
            <a:off x="508000" y="2984500"/>
            <a:ext cx="330200" cy="368300"/>
          </a:xfrm>
          <a:prstGeom prst="rect">
            <a:avLst/>
          </a:prstGeom>
          <a:noFill/>
          <a:ln>
            <a:noFill/>
          </a:ln>
        </p:spPr>
        <p:txBody>
          <a:bodyPr wrap="square" lIns="50800" tIns="25400" rIns="50800" bIns="25400" anchor="ctr"/>
          <a:lstStyle/>
          <a:p>
            <a:pPr>
              <a:buNone/>
            </a:pPr>
            <a:r>
              <a:rPr lang="en-US" sz="1100" b="1" dirty="0">
                <a:solidFill>
                  <a:srgbClr val="C4690A"/>
                </a:solidFill>
                <a:latin typeface="Calibri"/>
              </a:rPr>
              <a:t>06</a:t>
            </a:r>
          </a:p>
        </p:txBody>
      </p:sp>
      <p:sp>
        <p:nvSpPr>
          <p:cNvPr id="353" name="Row5"/>
          <p:cNvSpPr>
            <a:spLocks noGrp="1"/>
          </p:cNvSpPr>
          <p:nvPr/>
        </p:nvSpPr>
        <p:spPr>
          <a:xfrm>
            <a:off x="889000" y="2959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Early Findings from Your Data</a:t>
            </a:r>
            <a:r>
              <a:rPr lang="en-US" sz="1100" dirty="0">
                <a:solidFill>
                  <a:srgbClr val="9CA3AF"/>
                </a:solidFill>
                <a:latin typeface="Calibri"/>
              </a:rPr>
              <a:t>  —  Initial analysis and observations from pre-kickoff review</a:t>
            </a:r>
          </a:p>
        </p:txBody>
      </p:sp>
      <p:sp>
        <p:nvSpPr>
          <p:cNvPr id="360" name="AccBar6"/>
          <p:cNvSpPr>
            <a:spLocks noGrp="1"/>
          </p:cNvSpPr>
          <p:nvPr/>
        </p:nvSpPr>
        <p:spPr>
          <a:xfrm>
            <a:off x="355600" y="33909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61" name="Div6"/>
          <p:cNvSpPr>
            <a:spLocks noGrp="1"/>
          </p:cNvSpPr>
          <p:nvPr/>
        </p:nvSpPr>
        <p:spPr>
          <a:xfrm>
            <a:off x="482600" y="3822700"/>
            <a:ext cx="8305800" cy="12700"/>
          </a:xfrm>
          <a:prstGeom prst="rect">
            <a:avLst/>
          </a:prstGeom>
          <a:solidFill>
            <a:srgbClr val="E5E7EB"/>
          </a:solidFill>
          <a:ln>
            <a:noFill/>
          </a:ln>
        </p:spPr>
        <p:txBody>
          <a:bodyPr/>
          <a:lstStyle/>
          <a:p>
            <a:endParaRPr/>
          </a:p>
        </p:txBody>
      </p:sp>
      <p:sp>
        <p:nvSpPr>
          <p:cNvPr id="362" name="Num6"/>
          <p:cNvSpPr>
            <a:spLocks noGrp="1"/>
          </p:cNvSpPr>
          <p:nvPr/>
        </p:nvSpPr>
        <p:spPr>
          <a:xfrm>
            <a:off x="508000" y="34163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07</a:t>
            </a:r>
          </a:p>
        </p:txBody>
      </p:sp>
      <p:sp>
        <p:nvSpPr>
          <p:cNvPr id="363" name="Row6"/>
          <p:cNvSpPr>
            <a:spLocks noGrp="1"/>
          </p:cNvSpPr>
          <p:nvPr/>
        </p:nvSpPr>
        <p:spPr>
          <a:xfrm>
            <a:off x="889000" y="3390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Ways of Working</a:t>
            </a:r>
            <a:r>
              <a:rPr lang="en-US" sz="1100" dirty="0">
                <a:solidFill>
                  <a:srgbClr val="9CA3AF"/>
                </a:solidFill>
                <a:latin typeface="Calibri"/>
              </a:rPr>
              <a:t>  —  Roles, responsibilities, working cadence, and escalation paths</a:t>
            </a:r>
          </a:p>
        </p:txBody>
      </p:sp>
      <p:sp>
        <p:nvSpPr>
          <p:cNvPr id="370" name="AccBar7"/>
          <p:cNvSpPr>
            <a:spLocks noGrp="1"/>
          </p:cNvSpPr>
          <p:nvPr/>
        </p:nvSpPr>
        <p:spPr>
          <a:xfrm>
            <a:off x="355600" y="38227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71" name="Div7"/>
          <p:cNvSpPr>
            <a:spLocks noGrp="1"/>
          </p:cNvSpPr>
          <p:nvPr/>
        </p:nvSpPr>
        <p:spPr>
          <a:xfrm>
            <a:off x="482600" y="4254500"/>
            <a:ext cx="8305800" cy="12700"/>
          </a:xfrm>
          <a:prstGeom prst="rect">
            <a:avLst/>
          </a:prstGeom>
          <a:solidFill>
            <a:srgbClr val="E5E7EB"/>
          </a:solidFill>
          <a:ln>
            <a:noFill/>
          </a:ln>
        </p:spPr>
        <p:txBody>
          <a:bodyPr/>
          <a:lstStyle/>
          <a:p>
            <a:endParaRPr/>
          </a:p>
        </p:txBody>
      </p:sp>
      <p:sp>
        <p:nvSpPr>
          <p:cNvPr id="372" name="Num7"/>
          <p:cNvSpPr>
            <a:spLocks noGrp="1"/>
          </p:cNvSpPr>
          <p:nvPr/>
        </p:nvSpPr>
        <p:spPr>
          <a:xfrm>
            <a:off x="508000" y="38481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08</a:t>
            </a:r>
          </a:p>
        </p:txBody>
      </p:sp>
      <p:sp>
        <p:nvSpPr>
          <p:cNvPr id="373" name="Row7"/>
          <p:cNvSpPr>
            <a:spLocks noGrp="1"/>
          </p:cNvSpPr>
          <p:nvPr/>
        </p:nvSpPr>
        <p:spPr>
          <a:xfrm>
            <a:off x="889000" y="3822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Open Questions</a:t>
            </a:r>
            <a:r>
              <a:rPr lang="en-US" sz="1100" dirty="0">
                <a:solidFill>
                  <a:srgbClr val="9CA3AF"/>
                </a:solidFill>
                <a:latin typeface="Calibri"/>
              </a:rPr>
              <a:t>  —  Items for Lovesac to take away and address</a:t>
            </a:r>
          </a:p>
        </p:txBody>
      </p:sp>
      <p:sp>
        <p:nvSpPr>
          <p:cNvPr id="380" name="AccBar8"/>
          <p:cNvSpPr>
            <a:spLocks noGrp="1"/>
          </p:cNvSpPr>
          <p:nvPr/>
        </p:nvSpPr>
        <p:spPr>
          <a:xfrm>
            <a:off x="355600" y="42545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82" name="Num8"/>
          <p:cNvSpPr>
            <a:spLocks noGrp="1"/>
          </p:cNvSpPr>
          <p:nvPr/>
        </p:nvSpPr>
        <p:spPr>
          <a:xfrm>
            <a:off x="508000" y="42799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09</a:t>
            </a:r>
          </a:p>
        </p:txBody>
      </p:sp>
      <p:sp>
        <p:nvSpPr>
          <p:cNvPr id="383" name="Row8"/>
          <p:cNvSpPr>
            <a:spLocks noGrp="1"/>
          </p:cNvSpPr>
          <p:nvPr/>
        </p:nvSpPr>
        <p:spPr>
          <a:xfrm>
            <a:off x="889000" y="4254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Agreed Next Steps</a:t>
            </a:r>
            <a:r>
              <a:rPr lang="en-US" sz="1100" dirty="0">
                <a:solidFill>
                  <a:srgbClr val="9CA3AF"/>
                </a:solidFill>
                <a:latin typeface="Calibri"/>
              </a:rPr>
              <a:t>  —  Actions, owners, and target dates coming out of today</a:t>
            </a:r>
          </a:p>
        </p:txBody>
      </p:sp>
      <p:sp>
        <p:nvSpPr>
          <p:cNvPr id="2" name="TextBox 1">
            <a:extLst>
              <a:ext uri="{FF2B5EF4-FFF2-40B4-BE49-F238E27FC236}">
                <a16:creationId xmlns:a16="http://schemas.microsoft.com/office/drawing/2014/main" id="{F0593884-E841-7862-7486-D5FCCE2F146B}"/>
              </a:ext>
            </a:extLst>
          </p:cNvPr>
          <p:cNvSpPr txBox="1"/>
          <p:nvPr/>
        </p:nvSpPr>
        <p:spPr>
          <a:xfrm>
            <a:off x="4156765" y="56575"/>
            <a:ext cx="4717774" cy="584775"/>
          </a:xfrm>
          <a:prstGeom prst="rect">
            <a:avLst/>
          </a:prstGeom>
          <a:noFill/>
        </p:spPr>
        <p:txBody>
          <a:bodyPr wrap="square" rtlCol="0">
            <a:spAutoFit/>
          </a:bodyPr>
          <a:lstStyle/>
          <a:p>
            <a:r>
              <a:rPr lang="en-GB" sz="3200" b="1" dirty="0">
                <a:solidFill>
                  <a:srgbClr val="FF0000"/>
                </a:solidFill>
              </a:rPr>
              <a:t>David to change / add</a:t>
            </a:r>
          </a:p>
        </p:txBody>
      </p:sp>
    </p:spTree>
    <p:extLst>
      <p:ext uri="{BB962C8B-B14F-4D97-AF65-F5344CB8AC3E}">
        <p14:creationId xmlns:p14="http://schemas.microsoft.com/office/powerpoint/2010/main" val="3696216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6746630" y="2366596"/>
            <a:ext cx="2221523" cy="381000"/>
          </a:xfrm>
          <a:prstGeom prst="rect">
            <a:avLst/>
          </a:prstGeom>
          <a:noFill/>
          <a:ln>
            <a:noFill/>
          </a:ln>
        </p:spPr>
        <p:txBody>
          <a:bodyPr wrap="square" lIns="0" tIns="0" rIns="0" bIns="0" anchor="ctr"/>
          <a:lstStyle/>
          <a:p>
            <a:r>
              <a:rPr lang="en-US" sz="1800" b="1" i="1" dirty="0">
                <a:solidFill>
                  <a:srgbClr val="111827"/>
                </a:solidFill>
                <a:latin typeface="Calibri"/>
              </a:rPr>
              <a:t>Compatibility intelligence is locked in one tool</a:t>
            </a:r>
          </a:p>
          <a:p>
            <a:pPr>
              <a:buNone/>
            </a:pPr>
            <a:endParaRPr lang="en-US" sz="1800" i="1" dirty="0">
              <a:solidFill>
                <a:srgbClr val="111827"/>
              </a:solidFill>
              <a:latin typeface="Calibri"/>
            </a:endParaRPr>
          </a:p>
          <a:p>
            <a:r>
              <a:rPr lang="en-US" i="1" dirty="0" err="1">
                <a:solidFill>
                  <a:srgbClr val="9CA3AF"/>
                </a:solidFill>
                <a:latin typeface="Calibri"/>
              </a:rPr>
              <a:t>Lovesac's</a:t>
            </a:r>
            <a:r>
              <a:rPr lang="en-US" i="1" dirty="0">
                <a:solidFill>
                  <a:srgbClr val="9CA3AF"/>
                </a:solidFill>
                <a:latin typeface="Calibri"/>
              </a:rPr>
              <a:t> product data lives in </a:t>
            </a:r>
            <a:r>
              <a:rPr lang="en-US" i="1" dirty="0" err="1">
                <a:solidFill>
                  <a:srgbClr val="9CA3AF"/>
                </a:solidFill>
                <a:latin typeface="Calibri"/>
              </a:rPr>
              <a:t>Threekit</a:t>
            </a:r>
            <a:r>
              <a:rPr lang="en-US" i="1" dirty="0">
                <a:solidFill>
                  <a:srgbClr val="9CA3AF"/>
                </a:solidFill>
                <a:latin typeface="Calibri"/>
              </a:rPr>
              <a:t> — but no downstream channel can query it directly.</a:t>
            </a:r>
            <a:br>
              <a:rPr lang="en-US" i="1" dirty="0">
                <a:solidFill>
                  <a:srgbClr val="9CA3AF"/>
                </a:solidFill>
                <a:latin typeface="Calibri"/>
              </a:rPr>
            </a:br>
            <a:endParaRPr lang="en-US" sz="1800" i="1" dirty="0">
              <a:solidFill>
                <a:srgbClr val="111827"/>
              </a:solidFill>
              <a:latin typeface="Calibri"/>
            </a:endParaRPr>
          </a:p>
          <a:p>
            <a:pPr>
              <a:buNone/>
            </a:pPr>
            <a:r>
              <a:rPr lang="en-US" sz="1100" i="1" dirty="0">
                <a:solidFill>
                  <a:srgbClr val="111827"/>
                </a:solidFill>
                <a:latin typeface="Calibri"/>
              </a:rPr>
              <a:t>(See Appendix for more detail)</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300" name="LblSrc"/>
          <p:cNvSpPr>
            <a:spLocks noGrp="1"/>
          </p:cNvSpPr>
          <p:nvPr/>
        </p:nvSpPr>
        <p:spPr>
          <a:xfrm>
            <a:off x="228600" y="711200"/>
            <a:ext cx="14986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DATA SOURCES</a:t>
            </a:r>
          </a:p>
        </p:txBody>
      </p:sp>
      <p:sp>
        <p:nvSpPr>
          <p:cNvPr id="301" name="LblCh"/>
          <p:cNvSpPr>
            <a:spLocks noGrp="1"/>
          </p:cNvSpPr>
          <p:nvPr/>
        </p:nvSpPr>
        <p:spPr>
          <a:xfrm>
            <a:off x="4089400" y="711200"/>
            <a:ext cx="22860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CHANNELS</a:t>
            </a:r>
          </a:p>
        </p:txBody>
      </p:sp>
      <p:sp>
        <p:nvSpPr>
          <p:cNvPr id="310" name="LN0"/>
          <p:cNvSpPr>
            <a:spLocks noGrp="1"/>
          </p:cNvSpPr>
          <p:nvPr/>
        </p:nvSpPr>
        <p:spPr>
          <a:xfrm>
            <a:off x="228600" y="8636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NetSuite ERP</a:t>
            </a:r>
          </a:p>
          <a:p>
            <a:pPr algn="ctr">
              <a:buNone/>
            </a:pPr>
            <a:r>
              <a:rPr lang="en-US" sz="800" dirty="0">
                <a:solidFill>
                  <a:srgbClr val="EB1A63"/>
                </a:solidFill>
                <a:latin typeface="Calibri"/>
              </a:rPr>
              <a:t>inventory &amp; pricing</a:t>
            </a:r>
          </a:p>
        </p:txBody>
      </p:sp>
      <p:sp>
        <p:nvSpPr>
          <p:cNvPr id="311" name="LN1"/>
          <p:cNvSpPr>
            <a:spLocks noGrp="1"/>
          </p:cNvSpPr>
          <p:nvPr/>
        </p:nvSpPr>
        <p:spPr>
          <a:xfrm>
            <a:off x="228600" y="23368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Magento</a:t>
            </a:r>
          </a:p>
          <a:p>
            <a:pPr algn="ctr">
              <a:buNone/>
            </a:pPr>
            <a:r>
              <a:rPr lang="en-US" sz="800" dirty="0">
                <a:solidFill>
                  <a:srgbClr val="EB1A63"/>
                </a:solidFill>
                <a:latin typeface="Calibri"/>
              </a:rPr>
              <a:t>product catalogue</a:t>
            </a:r>
          </a:p>
        </p:txBody>
      </p:sp>
      <p:sp>
        <p:nvSpPr>
          <p:cNvPr id="312" name="LN2"/>
          <p:cNvSpPr>
            <a:spLocks noGrp="1"/>
          </p:cNvSpPr>
          <p:nvPr/>
        </p:nvSpPr>
        <p:spPr>
          <a:xfrm>
            <a:off x="228600" y="38100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Product Team</a:t>
            </a:r>
          </a:p>
          <a:p>
            <a:pPr algn="ctr">
              <a:buNone/>
            </a:pPr>
            <a:r>
              <a:rPr lang="en-US" sz="800" dirty="0">
                <a:solidFill>
                  <a:srgbClr val="EB1A63"/>
                </a:solidFill>
                <a:latin typeface="Calibri"/>
              </a:rPr>
              <a:t>manual updates</a:t>
            </a:r>
          </a:p>
        </p:txBody>
      </p:sp>
      <p:sp>
        <p:nvSpPr>
          <p:cNvPr id="320" name="Arr0"/>
          <p:cNvSpPr>
            <a:spLocks noGrp="1"/>
          </p:cNvSpPr>
          <p:nvPr/>
        </p:nvSpPr>
        <p:spPr>
          <a:xfrm>
            <a:off x="1752600" y="10287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1" name="Arr1"/>
          <p:cNvSpPr>
            <a:spLocks noGrp="1"/>
          </p:cNvSpPr>
          <p:nvPr/>
        </p:nvSpPr>
        <p:spPr>
          <a:xfrm>
            <a:off x="1752600" y="25019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2" name="Arr2"/>
          <p:cNvSpPr>
            <a:spLocks noGrp="1"/>
          </p:cNvSpPr>
          <p:nvPr/>
        </p:nvSpPr>
        <p:spPr>
          <a:xfrm>
            <a:off x="1752600" y="39751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30" name="TK"/>
          <p:cNvSpPr>
            <a:spLocks noGrp="1"/>
          </p:cNvSpPr>
          <p:nvPr/>
        </p:nvSpPr>
        <p:spPr>
          <a:xfrm>
            <a:off x="2032000" y="838200"/>
            <a:ext cx="1752600" cy="3530600"/>
          </a:xfrm>
          <a:prstGeom prst="rect">
            <a:avLst/>
          </a:prstGeom>
          <a:solidFill>
            <a:srgbClr val="111827"/>
          </a:solidFill>
          <a:ln>
            <a:noFill/>
          </a:ln>
        </p:spPr>
        <p:txBody>
          <a:bodyPr wrap="square" lIns="76200" tIns="25400" rIns="76200" bIns="25400" anchor="ctr"/>
          <a:lstStyle/>
          <a:p>
            <a:pPr algn="ctr">
              <a:buNone/>
            </a:pPr>
            <a:r>
              <a:rPr lang="en-US" sz="1400" b="1" dirty="0">
                <a:solidFill>
                  <a:srgbClr val="FFFFFF"/>
                </a:solidFill>
                <a:latin typeface="Calibri"/>
              </a:rPr>
              <a:t>Threekit</a:t>
            </a:r>
          </a:p>
          <a:p>
            <a:pPr algn="ctr">
              <a:buNone/>
            </a:pPr>
            <a:r>
              <a:rPr lang="en-US" sz="950" dirty="0">
                <a:solidFill>
                  <a:srgbClr val="9CA3AF"/>
                </a:solidFill>
                <a:latin typeface="Calibri"/>
              </a:rPr>
              <a:t>3D Configurator</a:t>
            </a:r>
          </a:p>
          <a:p>
            <a:pPr algn="ctr">
              <a:spcBef>
                <a:spcPts val="400"/>
              </a:spcBef>
              <a:buNone/>
            </a:pPr>
            <a:r>
              <a:rPr lang="en-US" sz="800" dirty="0">
                <a:solidFill>
                  <a:srgbClr val="6B7280"/>
                </a:solidFill>
                <a:latin typeface="Calibri"/>
              </a:rPr>
              <a:t>Compatibility rules locked inside.</a:t>
            </a:r>
          </a:p>
          <a:p>
            <a:pPr algn="ctr">
              <a:buNone/>
            </a:pPr>
            <a:r>
              <a:rPr lang="en-US" sz="800" dirty="0">
                <a:solidFill>
                  <a:srgbClr val="6B7280"/>
                </a:solidFill>
                <a:latin typeface="Calibri"/>
              </a:rPr>
              <a:t>No external API.</a:t>
            </a:r>
          </a:p>
        </p:txBody>
      </p:sp>
      <p:sp>
        <p:nvSpPr>
          <p:cNvPr id="331" name="Barrier"/>
          <p:cNvSpPr>
            <a:spLocks noGrp="1"/>
          </p:cNvSpPr>
          <p:nvPr/>
        </p:nvSpPr>
        <p:spPr>
          <a:xfrm>
            <a:off x="3784600" y="838200"/>
            <a:ext cx="152400" cy="3530600"/>
          </a:xfrm>
          <a:prstGeom prst="rect">
            <a:avLst/>
          </a:prstGeom>
          <a:solidFill>
            <a:srgbClr val="EB1A63"/>
          </a:solidFill>
          <a:ln>
            <a:noFill/>
          </a:ln>
        </p:spPr>
        <p:txBody>
          <a:bodyPr wrap="square" lIns="76200" tIns="25400" rIns="76200" bIns="25400" anchor="ctr"/>
          <a:lstStyle/>
          <a:p>
            <a:pPr algn="ctr">
              <a:buNone/>
            </a:pPr>
            <a:r>
              <a:rPr lang="en-US" sz="1000" b="1" dirty="0">
                <a:solidFill>
                  <a:srgbClr val="FFFFFF"/>
                </a:solidFill>
                <a:latin typeface="Calibri"/>
              </a:rPr>
              <a:t>✕</a:t>
            </a:r>
          </a:p>
        </p:txBody>
      </p:sp>
      <p:sp>
        <p:nvSpPr>
          <p:cNvPr id="340" name="Dash0"/>
          <p:cNvSpPr>
            <a:spLocks noGrp="1"/>
          </p:cNvSpPr>
          <p:nvPr/>
        </p:nvSpPr>
        <p:spPr>
          <a:xfrm>
            <a:off x="3937000" y="1117600"/>
            <a:ext cx="152400" cy="25400"/>
          </a:xfrm>
          <a:prstGeom prst="rect">
            <a:avLst/>
          </a:prstGeom>
          <a:solidFill>
            <a:srgbClr val="D1D5DB"/>
          </a:solidFill>
          <a:ln>
            <a:noFill/>
          </a:ln>
        </p:spPr>
        <p:txBody>
          <a:bodyPr wrap="square" lIns="76200" tIns="25400" rIns="76200" bIns="25400" anchor="ctr"/>
          <a:lstStyle/>
          <a:p>
            <a:endParaRPr/>
          </a:p>
        </p:txBody>
      </p:sp>
      <p:sp>
        <p:nvSpPr>
          <p:cNvPr id="341" name="Dash1"/>
          <p:cNvSpPr>
            <a:spLocks noGrp="1"/>
          </p:cNvSpPr>
          <p:nvPr/>
        </p:nvSpPr>
        <p:spPr>
          <a:xfrm>
            <a:off x="3937000" y="1854200"/>
            <a:ext cx="152400" cy="25400"/>
          </a:xfrm>
          <a:prstGeom prst="rect">
            <a:avLst/>
          </a:prstGeom>
          <a:solidFill>
            <a:srgbClr val="D1D5DB"/>
          </a:solidFill>
          <a:ln>
            <a:noFill/>
          </a:ln>
        </p:spPr>
        <p:txBody>
          <a:bodyPr wrap="square" lIns="76200" tIns="25400" rIns="76200" bIns="25400" anchor="ctr"/>
          <a:lstStyle/>
          <a:p>
            <a:endParaRPr/>
          </a:p>
        </p:txBody>
      </p:sp>
      <p:sp>
        <p:nvSpPr>
          <p:cNvPr id="342" name="Dash2"/>
          <p:cNvSpPr>
            <a:spLocks noGrp="1"/>
          </p:cNvSpPr>
          <p:nvPr/>
        </p:nvSpPr>
        <p:spPr>
          <a:xfrm>
            <a:off x="3937000" y="2590800"/>
            <a:ext cx="152400" cy="25400"/>
          </a:xfrm>
          <a:prstGeom prst="rect">
            <a:avLst/>
          </a:prstGeom>
          <a:solidFill>
            <a:srgbClr val="D1D5DB"/>
          </a:solidFill>
          <a:ln>
            <a:noFill/>
          </a:ln>
        </p:spPr>
        <p:txBody>
          <a:bodyPr wrap="square" lIns="76200" tIns="25400" rIns="76200" bIns="25400" anchor="ctr"/>
          <a:lstStyle/>
          <a:p>
            <a:endParaRPr/>
          </a:p>
        </p:txBody>
      </p:sp>
      <p:sp>
        <p:nvSpPr>
          <p:cNvPr id="343" name="Dash3"/>
          <p:cNvSpPr>
            <a:spLocks noGrp="1"/>
          </p:cNvSpPr>
          <p:nvPr/>
        </p:nvSpPr>
        <p:spPr>
          <a:xfrm>
            <a:off x="3937000" y="3327400"/>
            <a:ext cx="152400" cy="25400"/>
          </a:xfrm>
          <a:prstGeom prst="rect">
            <a:avLst/>
          </a:prstGeom>
          <a:solidFill>
            <a:srgbClr val="D1D5DB"/>
          </a:solidFill>
          <a:ln>
            <a:noFill/>
          </a:ln>
        </p:spPr>
        <p:txBody>
          <a:bodyPr wrap="square" lIns="76200" tIns="25400" rIns="76200" bIns="25400" anchor="ctr"/>
          <a:lstStyle/>
          <a:p>
            <a:endParaRPr/>
          </a:p>
        </p:txBody>
      </p:sp>
      <p:sp>
        <p:nvSpPr>
          <p:cNvPr id="344" name="Dash4"/>
          <p:cNvSpPr>
            <a:spLocks noGrp="1"/>
          </p:cNvSpPr>
          <p:nvPr/>
        </p:nvSpPr>
        <p:spPr>
          <a:xfrm>
            <a:off x="3937000" y="4064000"/>
            <a:ext cx="152400" cy="25400"/>
          </a:xfrm>
          <a:prstGeom prst="rect">
            <a:avLst/>
          </a:prstGeom>
          <a:solidFill>
            <a:srgbClr val="D1D5DB"/>
          </a:solidFill>
          <a:ln>
            <a:noFill/>
          </a:ln>
        </p:spPr>
        <p:txBody>
          <a:bodyPr wrap="square" lIns="76200" tIns="25400" rIns="76200" bIns="25400" anchor="ctr"/>
          <a:lstStyle/>
          <a:p>
            <a:endParaRPr/>
          </a:p>
        </p:txBody>
      </p:sp>
      <p:sp>
        <p:nvSpPr>
          <p:cNvPr id="500" name="RN0"/>
          <p:cNvSpPr>
            <a:spLocks noGrp="1"/>
          </p:cNvSpPr>
          <p:nvPr/>
        </p:nvSpPr>
        <p:spPr>
          <a:xfrm>
            <a:off x="4089400" y="8636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Salesforce POS</a:t>
            </a:r>
          </a:p>
        </p:txBody>
      </p:sp>
      <p:sp>
        <p:nvSpPr>
          <p:cNvPr id="501" name="RN1"/>
          <p:cNvSpPr>
            <a:spLocks noGrp="1"/>
          </p:cNvSpPr>
          <p:nvPr/>
        </p:nvSpPr>
        <p:spPr>
          <a:xfrm>
            <a:off x="4089400" y="16002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Manhattan Active Omni</a:t>
            </a:r>
          </a:p>
        </p:txBody>
      </p:sp>
      <p:sp>
        <p:nvSpPr>
          <p:cNvPr id="502" name="RN2"/>
          <p:cNvSpPr>
            <a:spLocks noGrp="1"/>
          </p:cNvSpPr>
          <p:nvPr/>
        </p:nvSpPr>
        <p:spPr>
          <a:xfrm>
            <a:off x="4089400" y="23368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Lovesac.com</a:t>
            </a:r>
          </a:p>
        </p:txBody>
      </p:sp>
      <p:sp>
        <p:nvSpPr>
          <p:cNvPr id="503" name="RN3"/>
          <p:cNvSpPr>
            <a:spLocks noGrp="1"/>
          </p:cNvSpPr>
          <p:nvPr/>
        </p:nvSpPr>
        <p:spPr>
          <a:xfrm>
            <a:off x="4089400" y="30734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Google Shopping</a:t>
            </a:r>
          </a:p>
        </p:txBody>
      </p:sp>
      <p:sp>
        <p:nvSpPr>
          <p:cNvPr id="504" name="RN4"/>
          <p:cNvSpPr>
            <a:spLocks noGrp="1"/>
          </p:cNvSpPr>
          <p:nvPr/>
        </p:nvSpPr>
        <p:spPr>
          <a:xfrm>
            <a:off x="4089400" y="38100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AgentForce / ChatGPT</a:t>
            </a:r>
          </a:p>
        </p:txBody>
      </p:sp>
      <p:sp>
        <p:nvSpPr>
          <p:cNvPr id="350" name="Caption"/>
          <p:cNvSpPr>
            <a:spLocks noGrp="1"/>
          </p:cNvSpPr>
          <p:nvPr/>
        </p:nvSpPr>
        <p:spPr>
          <a:xfrm>
            <a:off x="228600" y="4445000"/>
            <a:ext cx="6146800" cy="254000"/>
          </a:xfrm>
          <a:prstGeom prst="rect">
            <a:avLst/>
          </a:prstGeom>
          <a:noFill/>
          <a:ln>
            <a:noFill/>
          </a:ln>
        </p:spPr>
        <p:txBody>
          <a:bodyPr wrap="square" lIns="76200" tIns="25400" rIns="76200" bIns="25400" anchor="ctr"/>
          <a:lstStyle/>
          <a:p>
            <a:pPr algn="ctr">
              <a:buNone/>
            </a:pPr>
            <a:endParaRPr lang="en-US" sz="900" i="1" dirty="0">
              <a:solidFill>
                <a:srgbClr val="9CA3AF"/>
              </a:solidFill>
              <a:latin typeface="Calibri"/>
            </a:endParaRPr>
          </a:p>
        </p:txBody>
      </p:sp>
      <p:sp>
        <p:nvSpPr>
          <p:cNvPr id="700" name="Footer"/>
          <p:cNvSpPr>
            <a:spLocks noGrp="1"/>
          </p:cNvSpPr>
          <p:nvPr/>
        </p:nvSpPr>
        <p:spPr>
          <a:xfrm>
            <a:off x="101600" y="4762500"/>
            <a:ext cx="9042400" cy="279400"/>
          </a:xfrm>
          <a:prstGeom prst="rect">
            <a:avLst/>
          </a:prstGeom>
          <a:solidFill>
            <a:srgbClr val="F8FAFC"/>
          </a:solidFill>
          <a:ln>
            <a:noFill/>
          </a:ln>
        </p:spPr>
        <p:txBody>
          <a:bodyPr lIns="50800" tIns="25400" rIns="50800" bIns="25400" anchor="ctr"/>
          <a:lstStyle/>
          <a:p>
            <a:pPr algn="ctr">
              <a:buNone/>
            </a:pPr>
            <a:r>
              <a:rPr lang="en-US" sz="800" dirty="0">
                <a:solidFill>
                  <a:srgbClr val="9CA3AF"/>
                </a:solidFill>
                <a:latin typeface="Calibri"/>
              </a:rPr>
              <a:t>Lovesac × Conscia  ·  Project Kick-off  ·  April 8, 2026</a:t>
            </a:r>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2" name="Title">
            <a:extLst>
              <a:ext uri="{FF2B5EF4-FFF2-40B4-BE49-F238E27FC236}">
                <a16:creationId xmlns:a16="http://schemas.microsoft.com/office/drawing/2014/main" id="{BB99FD45-DD7C-8BB2-24E2-0BF9532D6A88}"/>
              </a:ext>
            </a:extLst>
          </p:cNvPr>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a:t>
            </a:r>
            <a:r>
              <a:rPr lang="en-GB" sz="2400" b="1" dirty="0">
                <a:solidFill>
                  <a:srgbClr val="111827"/>
                </a:solidFill>
                <a:latin typeface="Calibri"/>
              </a:rPr>
              <a:t>The Bottleneck</a:t>
            </a:r>
            <a:r>
              <a:rPr lang="en-US" sz="2400" b="1" dirty="0">
                <a:solidFill>
                  <a:srgbClr val="111827"/>
                </a:solidFill>
                <a:latin typeface="Calibri"/>
              </a:rPr>
              <a:t> </a:t>
            </a:r>
          </a:p>
        </p:txBody>
      </p:sp>
    </p:spTree>
    <p:extLst>
      <p:ext uri="{BB962C8B-B14F-4D97-AF65-F5344CB8AC3E}">
        <p14:creationId xmlns:p14="http://schemas.microsoft.com/office/powerpoint/2010/main" val="1474777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177800"/>
            <a:ext cx="82296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Statement - What Lovesac Can’t Do Today</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lIns="50800" tIns="25400" rIns="50800" bIns="25400" anchor="ctr"/>
          <a:lstStyle/>
          <a:p>
            <a:endParaRPr/>
          </a:p>
        </p:txBody>
      </p:sp>
      <p:sp>
        <p:nvSpPr>
          <p:cNvPr id="100" name="Acc0"/>
          <p:cNvSpPr>
            <a:spLocks noGrp="1"/>
          </p:cNvSpPr>
          <p:nvPr/>
        </p:nvSpPr>
        <p:spPr>
          <a:xfrm>
            <a:off x="254000" y="838200"/>
            <a:ext cx="50800" cy="635000"/>
          </a:xfrm>
          <a:prstGeom prst="rect">
            <a:avLst/>
          </a:prstGeom>
          <a:solidFill>
            <a:srgbClr val="EB1A63"/>
          </a:solidFill>
          <a:ln>
            <a:noFill/>
          </a:ln>
        </p:spPr>
        <p:txBody>
          <a:bodyPr wrap="square" lIns="50800" tIns="25400" rIns="50800" bIns="25400" anchor="ctr"/>
          <a:lstStyle/>
          <a:p>
            <a:endParaRPr/>
          </a:p>
        </p:txBody>
      </p:sp>
      <p:sp>
        <p:nvSpPr>
          <p:cNvPr id="101" name="Num0"/>
          <p:cNvSpPr>
            <a:spLocks noGrp="1"/>
          </p:cNvSpPr>
          <p:nvPr/>
        </p:nvSpPr>
        <p:spPr>
          <a:xfrm>
            <a:off x="355600" y="1003300"/>
            <a:ext cx="304800" cy="304800"/>
          </a:xfrm>
          <a:prstGeom prst="roundRect">
            <a:avLst>
              <a:gd name="adj" fmla="val 30000"/>
            </a:avLst>
          </a:prstGeom>
          <a:solidFill>
            <a:srgbClr val="EB1A63"/>
          </a:solidFill>
          <a:ln>
            <a:noFill/>
          </a:ln>
        </p:spPr>
        <p:txBody>
          <a:bodyPr wrap="square" lIns="50800" tIns="25400" rIns="50800" bIns="25400" anchor="ctr"/>
          <a:lstStyle/>
          <a:p>
            <a:pPr algn="ctr">
              <a:buNone/>
            </a:pPr>
            <a:r>
              <a:rPr lang="en-US" sz="900" b="1" dirty="0">
                <a:solidFill>
                  <a:srgbClr val="FFFFFF"/>
                </a:solidFill>
                <a:latin typeface="Calibri"/>
              </a:rPr>
              <a:t>01</a:t>
            </a:r>
          </a:p>
        </p:txBody>
      </p:sp>
      <p:sp>
        <p:nvSpPr>
          <p:cNvPr id="102" name="Title0"/>
          <p:cNvSpPr>
            <a:spLocks noGrp="1"/>
          </p:cNvSpPr>
          <p:nvPr/>
        </p:nvSpPr>
        <p:spPr>
          <a:xfrm>
            <a:off x="914400" y="8890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Ask “What goes with this Sactional cover?”</a:t>
            </a:r>
          </a:p>
        </p:txBody>
      </p:sp>
      <p:sp>
        <p:nvSpPr>
          <p:cNvPr id="103" name="Desc0"/>
          <p:cNvSpPr>
            <a:spLocks noGrp="1"/>
          </p:cNvSpPr>
          <p:nvPr/>
        </p:nvSpPr>
        <p:spPr>
          <a:xfrm>
            <a:off x="914400" y="11684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Compatibility rules live only inside Threekit. No system can query them programmatically — so every channel has to hard-code logic or send the customer back to the web configurator.</a:t>
            </a:r>
          </a:p>
        </p:txBody>
      </p:sp>
      <p:sp>
        <p:nvSpPr>
          <p:cNvPr id="104" name="Div0"/>
          <p:cNvSpPr>
            <a:spLocks noGrp="1"/>
          </p:cNvSpPr>
          <p:nvPr/>
        </p:nvSpPr>
        <p:spPr>
          <a:xfrm>
            <a:off x="914400" y="1511300"/>
            <a:ext cx="8001000" cy="12700"/>
          </a:xfrm>
          <a:prstGeom prst="rect">
            <a:avLst/>
          </a:prstGeom>
          <a:solidFill>
            <a:srgbClr val="E5E7EB"/>
          </a:solidFill>
          <a:ln>
            <a:noFill/>
          </a:ln>
        </p:spPr>
        <p:txBody>
          <a:bodyPr wrap="square" lIns="50800" tIns="25400" rIns="50800" bIns="25400" anchor="ctr"/>
          <a:lstStyle/>
          <a:p>
            <a:endParaRPr/>
          </a:p>
        </p:txBody>
      </p:sp>
      <p:sp>
        <p:nvSpPr>
          <p:cNvPr id="110" name="Acc1"/>
          <p:cNvSpPr>
            <a:spLocks noGrp="1"/>
          </p:cNvSpPr>
          <p:nvPr/>
        </p:nvSpPr>
        <p:spPr>
          <a:xfrm>
            <a:off x="254000" y="1574800"/>
            <a:ext cx="50800" cy="635000"/>
          </a:xfrm>
          <a:prstGeom prst="rect">
            <a:avLst/>
          </a:prstGeom>
          <a:solidFill>
            <a:srgbClr val="F8981D"/>
          </a:solidFill>
          <a:ln>
            <a:noFill/>
          </a:ln>
        </p:spPr>
        <p:txBody>
          <a:bodyPr wrap="square" lIns="50800" tIns="25400" rIns="50800" bIns="25400" anchor="ctr"/>
          <a:lstStyle/>
          <a:p>
            <a:endParaRPr/>
          </a:p>
        </p:txBody>
      </p:sp>
      <p:sp>
        <p:nvSpPr>
          <p:cNvPr id="111" name="Num1"/>
          <p:cNvSpPr>
            <a:spLocks noGrp="1"/>
          </p:cNvSpPr>
          <p:nvPr/>
        </p:nvSpPr>
        <p:spPr>
          <a:xfrm>
            <a:off x="355600" y="1739900"/>
            <a:ext cx="304800" cy="304800"/>
          </a:xfrm>
          <a:prstGeom prst="roundRect">
            <a:avLst>
              <a:gd name="adj" fmla="val 30000"/>
            </a:avLst>
          </a:prstGeom>
          <a:solidFill>
            <a:srgbClr val="F8981D"/>
          </a:solidFill>
          <a:ln>
            <a:noFill/>
          </a:ln>
        </p:spPr>
        <p:txBody>
          <a:bodyPr wrap="square" lIns="50800" tIns="25400" rIns="50800" bIns="25400" anchor="ctr"/>
          <a:lstStyle/>
          <a:p>
            <a:pPr algn="ctr">
              <a:buNone/>
            </a:pPr>
            <a:r>
              <a:rPr lang="en-US" sz="900" b="1" dirty="0">
                <a:solidFill>
                  <a:srgbClr val="FFFFFF"/>
                </a:solidFill>
                <a:latin typeface="Calibri"/>
              </a:rPr>
              <a:t>02</a:t>
            </a:r>
          </a:p>
        </p:txBody>
      </p:sp>
      <p:sp>
        <p:nvSpPr>
          <p:cNvPr id="112" name="Title1"/>
          <p:cNvSpPr>
            <a:spLocks noGrp="1"/>
          </p:cNvSpPr>
          <p:nvPr/>
        </p:nvSpPr>
        <p:spPr>
          <a:xfrm>
            <a:off x="914400" y="16256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Serve product data to AgentForce or ChatGPT</a:t>
            </a:r>
          </a:p>
        </p:txBody>
      </p:sp>
      <p:sp>
        <p:nvSpPr>
          <p:cNvPr id="113" name="Desc1"/>
          <p:cNvSpPr>
            <a:spLocks noGrp="1"/>
          </p:cNvSpPr>
          <p:nvPr/>
        </p:nvSpPr>
        <p:spPr>
          <a:xfrm>
            <a:off x="914400" y="19050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AI agents need a queryable API. Threekit has no MCP endpoint. Any agentic commerce experience requires custom middleware that duplicates and quickly drifts from the source of truth.</a:t>
            </a:r>
          </a:p>
        </p:txBody>
      </p:sp>
      <p:sp>
        <p:nvSpPr>
          <p:cNvPr id="114" name="Div1"/>
          <p:cNvSpPr>
            <a:spLocks noGrp="1"/>
          </p:cNvSpPr>
          <p:nvPr/>
        </p:nvSpPr>
        <p:spPr>
          <a:xfrm>
            <a:off x="914400" y="2247900"/>
            <a:ext cx="8001000" cy="12700"/>
          </a:xfrm>
          <a:prstGeom prst="rect">
            <a:avLst/>
          </a:prstGeom>
          <a:solidFill>
            <a:srgbClr val="E5E7EB"/>
          </a:solidFill>
          <a:ln>
            <a:noFill/>
          </a:ln>
        </p:spPr>
        <p:txBody>
          <a:bodyPr wrap="square" lIns="50800" tIns="25400" rIns="50800" bIns="25400" anchor="ctr"/>
          <a:lstStyle/>
          <a:p>
            <a:endParaRPr/>
          </a:p>
        </p:txBody>
      </p:sp>
      <p:sp>
        <p:nvSpPr>
          <p:cNvPr id="120" name="Acc2"/>
          <p:cNvSpPr>
            <a:spLocks noGrp="1"/>
          </p:cNvSpPr>
          <p:nvPr/>
        </p:nvSpPr>
        <p:spPr>
          <a:xfrm>
            <a:off x="254000" y="2311400"/>
            <a:ext cx="50800" cy="635000"/>
          </a:xfrm>
          <a:prstGeom prst="rect">
            <a:avLst/>
          </a:prstGeom>
          <a:solidFill>
            <a:srgbClr val="FABF2D"/>
          </a:solidFill>
          <a:ln>
            <a:noFill/>
          </a:ln>
        </p:spPr>
        <p:txBody>
          <a:bodyPr wrap="square" lIns="50800" tIns="25400" rIns="50800" bIns="25400" anchor="ctr"/>
          <a:lstStyle/>
          <a:p>
            <a:endParaRPr/>
          </a:p>
        </p:txBody>
      </p:sp>
      <p:sp>
        <p:nvSpPr>
          <p:cNvPr id="121" name="Num2"/>
          <p:cNvSpPr>
            <a:spLocks noGrp="1"/>
          </p:cNvSpPr>
          <p:nvPr/>
        </p:nvSpPr>
        <p:spPr>
          <a:xfrm>
            <a:off x="355600" y="2476500"/>
            <a:ext cx="304800" cy="304800"/>
          </a:xfrm>
          <a:prstGeom prst="roundRect">
            <a:avLst>
              <a:gd name="adj" fmla="val 30000"/>
            </a:avLst>
          </a:prstGeom>
          <a:solidFill>
            <a:srgbClr val="FABF2D"/>
          </a:solidFill>
          <a:ln>
            <a:noFill/>
          </a:ln>
        </p:spPr>
        <p:txBody>
          <a:bodyPr wrap="square" lIns="50800" tIns="25400" rIns="50800" bIns="25400" anchor="ctr"/>
          <a:lstStyle/>
          <a:p>
            <a:pPr algn="ctr">
              <a:buNone/>
            </a:pPr>
            <a:r>
              <a:rPr lang="en-US" sz="900" b="1" dirty="0">
                <a:solidFill>
                  <a:srgbClr val="FFFFFF"/>
                </a:solidFill>
                <a:latin typeface="Calibri"/>
              </a:rPr>
              <a:t>03</a:t>
            </a:r>
          </a:p>
        </p:txBody>
      </p:sp>
      <p:sp>
        <p:nvSpPr>
          <p:cNvPr id="122" name="Title2"/>
          <p:cNvSpPr>
            <a:spLocks noGrp="1"/>
          </p:cNvSpPr>
          <p:nvPr/>
        </p:nvSpPr>
        <p:spPr>
          <a:xfrm>
            <a:off x="914400" y="23622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Keep pricing and inventory in sync across channels</a:t>
            </a:r>
          </a:p>
        </p:txBody>
      </p:sp>
      <p:sp>
        <p:nvSpPr>
          <p:cNvPr id="123" name="Desc2"/>
          <p:cNvSpPr>
            <a:spLocks noGrp="1"/>
          </p:cNvSpPr>
          <p:nvPr/>
        </p:nvSpPr>
        <p:spPr>
          <a:xfrm>
            <a:off x="914400" y="26416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NetSuite holds pricing, Magento holds inventory — but neither feeds the configurator in real time. Associates and customers frequently see conflicting data depending on which touchpoint they use.</a:t>
            </a:r>
          </a:p>
        </p:txBody>
      </p:sp>
      <p:sp>
        <p:nvSpPr>
          <p:cNvPr id="124" name="Div2"/>
          <p:cNvSpPr>
            <a:spLocks noGrp="1"/>
          </p:cNvSpPr>
          <p:nvPr/>
        </p:nvSpPr>
        <p:spPr>
          <a:xfrm>
            <a:off x="914400" y="2984500"/>
            <a:ext cx="8001000" cy="12700"/>
          </a:xfrm>
          <a:prstGeom prst="rect">
            <a:avLst/>
          </a:prstGeom>
          <a:solidFill>
            <a:srgbClr val="E5E7EB"/>
          </a:solidFill>
          <a:ln>
            <a:noFill/>
          </a:ln>
        </p:spPr>
        <p:txBody>
          <a:bodyPr wrap="square" lIns="50800" tIns="25400" rIns="50800" bIns="25400" anchor="ctr"/>
          <a:lstStyle/>
          <a:p>
            <a:endParaRPr/>
          </a:p>
        </p:txBody>
      </p:sp>
      <p:sp>
        <p:nvSpPr>
          <p:cNvPr id="130" name="Acc3"/>
          <p:cNvSpPr>
            <a:spLocks noGrp="1"/>
          </p:cNvSpPr>
          <p:nvPr/>
        </p:nvSpPr>
        <p:spPr>
          <a:xfrm>
            <a:off x="254000" y="3048000"/>
            <a:ext cx="50800" cy="635000"/>
          </a:xfrm>
          <a:prstGeom prst="rect">
            <a:avLst/>
          </a:prstGeom>
          <a:solidFill>
            <a:srgbClr val="8AC542"/>
          </a:solidFill>
          <a:ln>
            <a:noFill/>
          </a:ln>
        </p:spPr>
        <p:txBody>
          <a:bodyPr wrap="square" lIns="50800" tIns="25400" rIns="50800" bIns="25400" anchor="ctr"/>
          <a:lstStyle/>
          <a:p>
            <a:endParaRPr/>
          </a:p>
        </p:txBody>
      </p:sp>
      <p:sp>
        <p:nvSpPr>
          <p:cNvPr id="131" name="Num3"/>
          <p:cNvSpPr>
            <a:spLocks noGrp="1"/>
          </p:cNvSpPr>
          <p:nvPr/>
        </p:nvSpPr>
        <p:spPr>
          <a:xfrm>
            <a:off x="355600" y="3213100"/>
            <a:ext cx="304800" cy="304800"/>
          </a:xfrm>
          <a:prstGeom prst="roundRect">
            <a:avLst>
              <a:gd name="adj" fmla="val 30000"/>
            </a:avLst>
          </a:prstGeom>
          <a:solidFill>
            <a:srgbClr val="8AC542"/>
          </a:solidFill>
          <a:ln>
            <a:noFill/>
          </a:ln>
        </p:spPr>
        <p:txBody>
          <a:bodyPr wrap="square" lIns="50800" tIns="25400" rIns="50800" bIns="25400" anchor="ctr"/>
          <a:lstStyle/>
          <a:p>
            <a:pPr algn="ctr">
              <a:buNone/>
            </a:pPr>
            <a:r>
              <a:rPr lang="en-US" sz="900" b="1" dirty="0">
                <a:solidFill>
                  <a:srgbClr val="FFFFFF"/>
                </a:solidFill>
                <a:latin typeface="Calibri"/>
              </a:rPr>
              <a:t>04</a:t>
            </a:r>
          </a:p>
        </p:txBody>
      </p:sp>
      <p:sp>
        <p:nvSpPr>
          <p:cNvPr id="132" name="Title3"/>
          <p:cNvSpPr>
            <a:spLocks noGrp="1"/>
          </p:cNvSpPr>
          <p:nvPr/>
        </p:nvSpPr>
        <p:spPr>
          <a:xfrm>
            <a:off x="914400" y="30988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Launch a new sales channel without rebuilding logic</a:t>
            </a:r>
          </a:p>
        </p:txBody>
      </p:sp>
      <p:sp>
        <p:nvSpPr>
          <p:cNvPr id="133" name="Desc3"/>
          <p:cNvSpPr>
            <a:spLocks noGrp="1"/>
          </p:cNvSpPr>
          <p:nvPr/>
        </p:nvSpPr>
        <p:spPr>
          <a:xfrm>
            <a:off x="914400" y="33782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Each new touchpoint (kiosk, app, Google Shopping) requires its own integration. There is no shared experience API — so every channel launch restarts the engineering effort from scratch.</a:t>
            </a:r>
          </a:p>
        </p:txBody>
      </p:sp>
      <p:sp>
        <p:nvSpPr>
          <p:cNvPr id="134" name="Div3"/>
          <p:cNvSpPr>
            <a:spLocks noGrp="1"/>
          </p:cNvSpPr>
          <p:nvPr/>
        </p:nvSpPr>
        <p:spPr>
          <a:xfrm>
            <a:off x="914400" y="3721100"/>
            <a:ext cx="8001000" cy="12700"/>
          </a:xfrm>
          <a:prstGeom prst="rect">
            <a:avLst/>
          </a:prstGeom>
          <a:solidFill>
            <a:srgbClr val="E5E7EB"/>
          </a:solidFill>
          <a:ln>
            <a:noFill/>
          </a:ln>
        </p:spPr>
        <p:txBody>
          <a:bodyPr wrap="square" lIns="50800" tIns="25400" rIns="50800" bIns="25400" anchor="ctr"/>
          <a:lstStyle/>
          <a:p>
            <a:endParaRPr/>
          </a:p>
        </p:txBody>
      </p:sp>
      <p:sp>
        <p:nvSpPr>
          <p:cNvPr id="140" name="Acc4"/>
          <p:cNvSpPr>
            <a:spLocks noGrp="1"/>
          </p:cNvSpPr>
          <p:nvPr/>
        </p:nvSpPr>
        <p:spPr>
          <a:xfrm>
            <a:off x="254000" y="3784600"/>
            <a:ext cx="50800" cy="635000"/>
          </a:xfrm>
          <a:prstGeom prst="rect">
            <a:avLst/>
          </a:prstGeom>
          <a:solidFill>
            <a:srgbClr val="07BCD6"/>
          </a:solidFill>
          <a:ln>
            <a:noFill/>
          </a:ln>
        </p:spPr>
        <p:txBody>
          <a:bodyPr wrap="square" lIns="50800" tIns="25400" rIns="50800" bIns="25400" anchor="ctr"/>
          <a:lstStyle/>
          <a:p>
            <a:endParaRPr/>
          </a:p>
        </p:txBody>
      </p:sp>
      <p:sp>
        <p:nvSpPr>
          <p:cNvPr id="141" name="Num4"/>
          <p:cNvSpPr>
            <a:spLocks noGrp="1"/>
          </p:cNvSpPr>
          <p:nvPr/>
        </p:nvSpPr>
        <p:spPr>
          <a:xfrm>
            <a:off x="355600" y="3949700"/>
            <a:ext cx="304800" cy="304800"/>
          </a:xfrm>
          <a:prstGeom prst="roundRect">
            <a:avLst>
              <a:gd name="adj" fmla="val 30000"/>
            </a:avLst>
          </a:prstGeom>
          <a:solidFill>
            <a:srgbClr val="07BCD6"/>
          </a:solidFill>
          <a:ln>
            <a:noFill/>
          </a:ln>
        </p:spPr>
        <p:txBody>
          <a:bodyPr wrap="square" lIns="50800" tIns="25400" rIns="50800" bIns="25400" anchor="ctr"/>
          <a:lstStyle/>
          <a:p>
            <a:pPr algn="ctr">
              <a:buNone/>
            </a:pPr>
            <a:r>
              <a:rPr lang="en-US" sz="900" b="1" dirty="0">
                <a:solidFill>
                  <a:srgbClr val="FFFFFF"/>
                </a:solidFill>
                <a:latin typeface="Calibri"/>
              </a:rPr>
              <a:t>05</a:t>
            </a:r>
          </a:p>
        </p:txBody>
      </p:sp>
      <p:sp>
        <p:nvSpPr>
          <p:cNvPr id="142" name="Title4"/>
          <p:cNvSpPr>
            <a:spLocks noGrp="1"/>
          </p:cNvSpPr>
          <p:nvPr/>
        </p:nvSpPr>
        <p:spPr>
          <a:xfrm>
            <a:off x="914400" y="38354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Understand how customers actually configure products</a:t>
            </a:r>
          </a:p>
        </p:txBody>
      </p:sp>
      <p:sp>
        <p:nvSpPr>
          <p:cNvPr id="143" name="Desc4"/>
          <p:cNvSpPr>
            <a:spLocks noGrp="1"/>
          </p:cNvSpPr>
          <p:nvPr/>
        </p:nvSpPr>
        <p:spPr>
          <a:xfrm>
            <a:off x="914400" y="41148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Configuration session data is trapped inside Threekit. There is no way to extract patterns — which cover combinations are popular, where customers drop off, what drives conversion.</a:t>
            </a:r>
          </a:p>
        </p:txBody>
      </p:sp>
      <p:sp>
        <p:nvSpPr>
          <p:cNvPr id="2" name="F">
            <a:extLst>
              <a:ext uri="{FF2B5EF4-FFF2-40B4-BE49-F238E27FC236}">
                <a16:creationId xmlns:a16="http://schemas.microsoft.com/office/drawing/2014/main" id="{0ECC077E-83A2-E661-A2AE-19180A14DF9A}"/>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endParaRPr lang="en-US" sz="800" dirty="0">
              <a:solidFill>
                <a:srgbClr val="9CA3AF"/>
              </a:solidFill>
              <a:latin typeface="Calibri"/>
            </a:endParaRPr>
          </a:p>
        </p:txBody>
      </p:sp>
    </p:spTree>
    <p:extLst>
      <p:ext uri="{BB962C8B-B14F-4D97-AF65-F5344CB8AC3E}">
        <p14:creationId xmlns:p14="http://schemas.microsoft.com/office/powerpoint/2010/main" val="3304474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51"/>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Meet the Teams</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ard_Conscia"/>
          <p:cNvSpPr/>
          <p:nvPr/>
        </p:nvSpPr>
        <p:spPr>
          <a:xfrm>
            <a:off x="3556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cc_Conscia"/>
          <p:cNvSpPr/>
          <p:nvPr/>
        </p:nvSpPr>
        <p:spPr>
          <a:xfrm>
            <a:off x="355600" y="838200"/>
            <a:ext cx="4064000" cy="50800"/>
          </a:xfrm>
          <a:prstGeom prst="roundRect">
            <a:avLst>
              <a:gd name="adj" fmla="val 50000"/>
            </a:avLst>
          </a:prstGeom>
          <a:solidFill>
            <a:srgbClr val="EB1A63"/>
          </a:solidFill>
          <a:ln>
            <a:noFill/>
          </a:ln>
        </p:spPr>
        <p:txBody>
          <a:bodyPr/>
          <a:lstStyle/>
          <a:p>
            <a:endParaRPr lang="en-US"/>
          </a:p>
        </p:txBody>
      </p:sp>
      <p:sp>
        <p:nvSpPr>
          <p:cNvPr id="102" name="TName_Conscia"/>
          <p:cNvSpPr/>
          <p:nvPr/>
        </p:nvSpPr>
        <p:spPr>
          <a:xfrm>
            <a:off x="533400" y="965200"/>
            <a:ext cx="2540000" cy="279400"/>
          </a:xfrm>
          <a:prstGeom prst="rect">
            <a:avLst/>
          </a:prstGeom>
          <a:noFill/>
          <a:ln>
            <a:noFill/>
          </a:ln>
        </p:spPr>
        <p:txBody>
          <a:bodyPr wrap="square" lIns="0" tIns="0" rIns="0" bIns="0" anchor="ctr"/>
          <a:lstStyle/>
          <a:p>
            <a:pPr>
              <a:buNone/>
            </a:pPr>
            <a:r>
              <a:rPr lang="en-US" sz="1400" b="1" dirty="0">
                <a:solidFill>
                  <a:srgbClr val="EB1A63"/>
                </a:solidFill>
                <a:latin typeface="Calibri"/>
              </a:rPr>
              <a:t>Conscia</a:t>
            </a:r>
          </a:p>
        </p:txBody>
      </p:sp>
      <p:sp>
        <p:nvSpPr>
          <p:cNvPr id="103" name="Av_M"/>
          <p:cNvSpPr/>
          <p:nvPr/>
        </p:nvSpPr>
        <p:spPr>
          <a:xfrm>
            <a:off x="533400" y="13970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M</a:t>
            </a:r>
          </a:p>
        </p:txBody>
      </p:sp>
      <p:sp>
        <p:nvSpPr>
          <p:cNvPr id="104" name="Mem_M"/>
          <p:cNvSpPr/>
          <p:nvPr/>
        </p:nvSpPr>
        <p:spPr>
          <a:xfrm>
            <a:off x="914400" y="1409700"/>
            <a:ext cx="3352800" cy="4699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Morgan</a:t>
            </a:r>
            <a:r>
              <a:rPr lang="en-US" sz="1100" dirty="0">
                <a:solidFill>
                  <a:srgbClr val="9CA3AF"/>
                </a:solidFill>
                <a:latin typeface="Calibri"/>
              </a:rPr>
              <a:t>  ·  Project Manager</a:t>
            </a:r>
          </a:p>
          <a:p>
            <a:pPr>
              <a:lnSpc>
                <a:spcPts val="1100"/>
              </a:lnSpc>
              <a:spcBef>
                <a:spcPts val="0"/>
              </a:spcBef>
              <a:buNone/>
            </a:pPr>
            <a:r>
              <a:rPr lang="en-US" sz="1000" dirty="0">
                <a:solidFill>
                  <a:srgbClr val="9CA3AF"/>
                </a:solidFill>
                <a:latin typeface="Calibri"/>
              </a:rPr>
              <a:t>morgan@conscia.co</a:t>
            </a:r>
          </a:p>
        </p:txBody>
      </p:sp>
      <p:sp>
        <p:nvSpPr>
          <p:cNvPr id="105" name="Av_D"/>
          <p:cNvSpPr/>
          <p:nvPr/>
        </p:nvSpPr>
        <p:spPr>
          <a:xfrm>
            <a:off x="533400" y="31496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D</a:t>
            </a:r>
          </a:p>
        </p:txBody>
      </p:sp>
      <p:sp>
        <p:nvSpPr>
          <p:cNvPr id="106" name="Mem_D"/>
          <p:cNvSpPr/>
          <p:nvPr/>
        </p:nvSpPr>
        <p:spPr>
          <a:xfrm>
            <a:off x="914400" y="3149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David</a:t>
            </a:r>
            <a:r>
              <a:rPr lang="en-US" sz="1100" dirty="0">
                <a:solidFill>
                  <a:srgbClr val="9CA3AF"/>
                </a:solidFill>
                <a:latin typeface="Calibri"/>
              </a:rPr>
              <a:t>  ·  Solution Architect</a:t>
            </a:r>
          </a:p>
          <a:p>
            <a:pPr>
              <a:lnSpc>
                <a:spcPts val="1100"/>
              </a:lnSpc>
              <a:spcBef>
                <a:spcPts val="0"/>
              </a:spcBef>
              <a:buNone/>
            </a:pPr>
            <a:r>
              <a:rPr lang="en-US" sz="1000" dirty="0">
                <a:solidFill>
                  <a:srgbClr val="9CA3AF"/>
                </a:solidFill>
                <a:latin typeface="Calibri"/>
              </a:rPr>
              <a:t>david@conscia.co</a:t>
            </a:r>
          </a:p>
        </p:txBody>
      </p:sp>
      <p:sp>
        <p:nvSpPr>
          <p:cNvPr id="107" name="Av_L"/>
          <p:cNvSpPr/>
          <p:nvPr/>
        </p:nvSpPr>
        <p:spPr>
          <a:xfrm>
            <a:off x="533400" y="25654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L</a:t>
            </a:r>
          </a:p>
        </p:txBody>
      </p:sp>
      <p:sp>
        <p:nvSpPr>
          <p:cNvPr id="108" name="Mem_L"/>
          <p:cNvSpPr/>
          <p:nvPr/>
        </p:nvSpPr>
        <p:spPr>
          <a:xfrm>
            <a:off x="914400" y="25654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Laurel</a:t>
            </a:r>
            <a:r>
              <a:rPr lang="en-US" sz="1100" dirty="0">
                <a:solidFill>
                  <a:srgbClr val="9CA3AF"/>
                </a:solidFill>
                <a:latin typeface="Calibri"/>
              </a:rPr>
              <a:t>  ·  Sr. Solution Engineer</a:t>
            </a:r>
          </a:p>
          <a:p>
            <a:pPr>
              <a:lnSpc>
                <a:spcPts val="1100"/>
              </a:lnSpc>
              <a:spcBef>
                <a:spcPts val="0"/>
              </a:spcBef>
              <a:buNone/>
            </a:pPr>
            <a:r>
              <a:rPr lang="en-US" sz="1000" dirty="0">
                <a:solidFill>
                  <a:srgbClr val="9CA3AF"/>
                </a:solidFill>
                <a:latin typeface="Calibri"/>
              </a:rPr>
              <a:t>laurel@conscia.ai</a:t>
            </a:r>
          </a:p>
        </p:txBody>
      </p:sp>
      <p:sp>
        <p:nvSpPr>
          <p:cNvPr id="109" name="Av_S"/>
          <p:cNvSpPr/>
          <p:nvPr/>
        </p:nvSpPr>
        <p:spPr>
          <a:xfrm>
            <a:off x="533400" y="19812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S</a:t>
            </a:r>
          </a:p>
        </p:txBody>
      </p:sp>
      <p:sp>
        <p:nvSpPr>
          <p:cNvPr id="110" name="Mem_S"/>
          <p:cNvSpPr/>
          <p:nvPr/>
        </p:nvSpPr>
        <p:spPr>
          <a:xfrm>
            <a:off x="914400" y="19812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Sana</a:t>
            </a:r>
            <a:r>
              <a:rPr lang="en-US" sz="1100" dirty="0">
                <a:solidFill>
                  <a:srgbClr val="9CA3AF"/>
                </a:solidFill>
                <a:latin typeface="Calibri"/>
              </a:rPr>
              <a:t>  ·  Product Owner</a:t>
            </a:r>
          </a:p>
          <a:p>
            <a:pPr>
              <a:lnSpc>
                <a:spcPts val="1100"/>
              </a:lnSpc>
              <a:spcBef>
                <a:spcPts val="0"/>
              </a:spcBef>
              <a:buNone/>
            </a:pPr>
            <a:r>
              <a:rPr lang="en-US" sz="1000" dirty="0">
                <a:solidFill>
                  <a:srgbClr val="9CA3AF"/>
                </a:solidFill>
                <a:latin typeface="Calibri"/>
              </a:rPr>
              <a:t>sana@conscia.ai</a:t>
            </a:r>
          </a:p>
        </p:txBody>
      </p:sp>
      <p:sp>
        <p:nvSpPr>
          <p:cNvPr id="111" name="Card_Lovesac"/>
          <p:cNvSpPr/>
          <p:nvPr/>
        </p:nvSpPr>
        <p:spPr>
          <a:xfrm>
            <a:off x="46990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2" name="Acc_Lovesac"/>
          <p:cNvSpPr/>
          <p:nvPr/>
        </p:nvSpPr>
        <p:spPr>
          <a:xfrm>
            <a:off x="4699000" y="838200"/>
            <a:ext cx="4064000" cy="50800"/>
          </a:xfrm>
          <a:prstGeom prst="roundRect">
            <a:avLst>
              <a:gd name="adj" fmla="val 50000"/>
            </a:avLst>
          </a:prstGeom>
          <a:solidFill>
            <a:srgbClr val="07BCD6"/>
          </a:solidFill>
          <a:ln>
            <a:noFill/>
          </a:ln>
        </p:spPr>
        <p:txBody>
          <a:bodyPr/>
          <a:lstStyle/>
          <a:p>
            <a:endParaRPr lang="en-US"/>
          </a:p>
        </p:txBody>
      </p:sp>
      <p:sp>
        <p:nvSpPr>
          <p:cNvPr id="113" name="TName_Lovesac"/>
          <p:cNvSpPr/>
          <p:nvPr/>
        </p:nvSpPr>
        <p:spPr>
          <a:xfrm>
            <a:off x="4876800" y="965200"/>
            <a:ext cx="3048000" cy="279400"/>
          </a:xfrm>
          <a:prstGeom prst="rect">
            <a:avLst/>
          </a:prstGeom>
          <a:noFill/>
          <a:ln>
            <a:noFill/>
          </a:ln>
        </p:spPr>
        <p:txBody>
          <a:bodyPr wrap="square" lIns="0" tIns="0" rIns="0" bIns="0" anchor="ctr"/>
          <a:lstStyle/>
          <a:p>
            <a:pPr>
              <a:buNone/>
            </a:pPr>
            <a:r>
              <a:rPr lang="en-US" sz="1400" b="1" dirty="0">
                <a:solidFill>
                  <a:srgbClr val="07BCD6"/>
                </a:solidFill>
                <a:latin typeface="Calibri"/>
              </a:rPr>
              <a:t>Lovesac</a:t>
            </a:r>
          </a:p>
        </p:txBody>
      </p:sp>
      <p:sp>
        <p:nvSpPr>
          <p:cNvPr id="114" name="Av_A"/>
          <p:cNvSpPr/>
          <p:nvPr/>
        </p:nvSpPr>
        <p:spPr>
          <a:xfrm>
            <a:off x="4876800" y="17526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A</a:t>
            </a:r>
          </a:p>
        </p:txBody>
      </p:sp>
      <p:sp>
        <p:nvSpPr>
          <p:cNvPr id="115" name="Mem_A"/>
          <p:cNvSpPr/>
          <p:nvPr/>
        </p:nvSpPr>
        <p:spPr>
          <a:xfrm>
            <a:off x="5257800" y="1752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Amelia Jacobs</a:t>
            </a:r>
            <a:r>
              <a:rPr lang="en-US" sz="1100" dirty="0">
                <a:solidFill>
                  <a:srgbClr val="9CA3AF"/>
                </a:solidFill>
                <a:latin typeface="Calibri"/>
              </a:rPr>
              <a:t>  ·  VP, Customer Experience &amp; IT</a:t>
            </a:r>
          </a:p>
          <a:p>
            <a:pPr>
              <a:lnSpc>
                <a:spcPts val="1100"/>
              </a:lnSpc>
              <a:spcBef>
                <a:spcPts val="0"/>
              </a:spcBef>
              <a:buNone/>
            </a:pPr>
            <a:r>
              <a:rPr lang="en-US" sz="1000" dirty="0">
                <a:solidFill>
                  <a:srgbClr val="9CA3AF"/>
                </a:solidFill>
                <a:latin typeface="Calibri"/>
              </a:rPr>
              <a:t>ameliajacobs@lovesac.com</a:t>
            </a:r>
          </a:p>
        </p:txBody>
      </p:sp>
      <p:sp>
        <p:nvSpPr>
          <p:cNvPr id="116" name="Av_T"/>
          <p:cNvSpPr/>
          <p:nvPr/>
        </p:nvSpPr>
        <p:spPr>
          <a:xfrm>
            <a:off x="4876800" y="23368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T</a:t>
            </a:r>
          </a:p>
        </p:txBody>
      </p:sp>
      <p:sp>
        <p:nvSpPr>
          <p:cNvPr id="117" name="Mem_T"/>
          <p:cNvSpPr/>
          <p:nvPr/>
        </p:nvSpPr>
        <p:spPr>
          <a:xfrm>
            <a:off x="5257800" y="23368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Tate Swanson</a:t>
            </a:r>
            <a:r>
              <a:rPr lang="en-US" sz="1100" dirty="0">
                <a:solidFill>
                  <a:srgbClr val="9CA3AF"/>
                </a:solidFill>
                <a:latin typeface="Calibri"/>
              </a:rPr>
              <a:t>  ·  Sr. Domain Data Architect</a:t>
            </a:r>
          </a:p>
          <a:p>
            <a:pPr>
              <a:lnSpc>
                <a:spcPts val="1100"/>
              </a:lnSpc>
              <a:spcBef>
                <a:spcPts val="0"/>
              </a:spcBef>
              <a:buNone/>
            </a:pPr>
            <a:r>
              <a:rPr lang="en-US" sz="1000" dirty="0">
                <a:solidFill>
                  <a:srgbClr val="9CA3AF"/>
                </a:solidFill>
                <a:latin typeface="Calibri"/>
              </a:rPr>
              <a:t>tateswanson@lovesac.com</a:t>
            </a:r>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4107327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13"/>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r>
              <a:rPr lang="en-GB" sz="2400" b="1" dirty="0" err="1">
                <a:solidFill>
                  <a:srgbClr val="111827"/>
                </a:solidFill>
                <a:latin typeface="Calibri"/>
              </a:rPr>
              <a:t>Conscia</a:t>
            </a:r>
            <a:r>
              <a:rPr lang="en-GB" sz="2400" b="1" dirty="0">
                <a:solidFill>
                  <a:srgbClr val="111827"/>
                </a:solidFill>
                <a:latin typeface="Calibri"/>
              </a:rPr>
              <a:t> Platform Overview</a:t>
            </a:r>
            <a:endParaRPr lang="en-US" sz="2400" b="1" dirty="0">
              <a:solidFill>
                <a:srgbClr val="111827"/>
              </a:solidFill>
              <a:latin typeface="Calibri"/>
            </a:endParaRP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Banner"/>
          <p:cNvSpPr/>
          <p:nvPr/>
        </p:nvSpPr>
        <p:spPr>
          <a:xfrm>
            <a:off x="355600" y="787400"/>
            <a:ext cx="8432800" cy="304800"/>
          </a:xfrm>
          <a:prstGeom prst="roundRect">
            <a:avLst>
              <a:gd name="adj" fmla="val 50000"/>
            </a:avLst>
          </a:prstGeom>
          <a:solidFill>
            <a:srgbClr val="EB1A63"/>
          </a:solidFill>
          <a:ln>
            <a:noFill/>
          </a:ln>
        </p:spPr>
        <p:txBody>
          <a:bodyPr wrap="square" lIns="91440" tIns="0" rIns="91440" bIns="0" anchor="ctr"/>
          <a:lstStyle/>
          <a:p>
            <a:pPr algn="ctr">
              <a:buNone/>
            </a:pPr>
            <a:r>
              <a:rPr lang="en-US" sz="1000" b="1" spc="150" dirty="0">
                <a:solidFill>
                  <a:srgbClr val="FFFFFF"/>
                </a:solidFill>
                <a:latin typeface="Calibri"/>
              </a:rPr>
              <a:t>CONSCIA: BEYOND TRADITIONAL PIM  —  A GOVERNED SEMANTIC FOUNDATION FOR COMMERCE</a:t>
            </a:r>
          </a:p>
        </p:txBody>
      </p:sp>
      <p:sp>
        <p:nvSpPr>
          <p:cNvPr id="100" name="C0"/>
          <p:cNvSpPr/>
          <p:nvPr/>
        </p:nvSpPr>
        <p:spPr>
          <a:xfrm>
            <a:off x="355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0"/>
          <p:cNvSpPr/>
          <p:nvPr/>
        </p:nvSpPr>
        <p:spPr>
          <a:xfrm>
            <a:off x="355600" y="1219200"/>
            <a:ext cx="2667000" cy="50800"/>
          </a:xfrm>
          <a:prstGeom prst="roundRect">
            <a:avLst>
              <a:gd name="adj" fmla="val 50000"/>
            </a:avLst>
          </a:prstGeom>
          <a:solidFill>
            <a:srgbClr val="EB1A63"/>
          </a:solidFill>
          <a:ln>
            <a:noFill/>
          </a:ln>
        </p:spPr>
        <p:txBody>
          <a:bodyPr/>
          <a:lstStyle/>
          <a:p>
            <a:endParaRPr lang="en-US"/>
          </a:p>
        </p:txBody>
      </p:sp>
      <p:sp>
        <p:nvSpPr>
          <p:cNvPr id="102" name="N0"/>
          <p:cNvSpPr/>
          <p:nvPr/>
        </p:nvSpPr>
        <p:spPr>
          <a:xfrm>
            <a:off x="508000" y="1397000"/>
            <a:ext cx="2362200" cy="228600"/>
          </a:xfrm>
          <a:prstGeom prst="rect">
            <a:avLst/>
          </a:prstGeom>
          <a:noFill/>
          <a:ln>
            <a:noFill/>
          </a:ln>
        </p:spPr>
        <p:txBody>
          <a:bodyPr wrap="square" lIns="0" tIns="0" rIns="0" bIns="0" anchor="t"/>
          <a:lstStyle/>
          <a:p>
            <a:pPr>
              <a:buNone/>
            </a:pPr>
            <a:r>
              <a:rPr lang="en-US" sz="800" b="1" spc="150" dirty="0">
                <a:solidFill>
                  <a:srgbClr val="EB1A63"/>
                </a:solidFill>
                <a:latin typeface="Calibri"/>
              </a:rPr>
              <a:t>01  ·  DX GRAPH</a:t>
            </a:r>
          </a:p>
        </p:txBody>
      </p:sp>
      <p:sp>
        <p:nvSpPr>
          <p:cNvPr id="103" name="CT0"/>
          <p:cNvSpPr/>
          <p:nvPr/>
        </p:nvSpPr>
        <p:spPr>
          <a:xfrm>
            <a:off x="508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Semantic Foundation</a:t>
            </a:r>
          </a:p>
        </p:txBody>
      </p:sp>
      <p:sp>
        <p:nvSpPr>
          <p:cNvPr id="104" name="CD0"/>
          <p:cNvSpPr/>
          <p:nvPr/>
        </p:nvSpPr>
        <p:spPr>
          <a:xfrm>
            <a:off x="508000" y="2032000"/>
            <a:ext cx="2362200" cy="12700"/>
          </a:xfrm>
          <a:prstGeom prst="rect">
            <a:avLst/>
          </a:prstGeom>
          <a:solidFill>
            <a:srgbClr val="E5E7EB"/>
          </a:solidFill>
          <a:ln>
            <a:noFill/>
          </a:ln>
        </p:spPr>
        <p:txBody>
          <a:bodyPr/>
          <a:lstStyle/>
          <a:p>
            <a:endParaRPr lang="en-US"/>
          </a:p>
        </p:txBody>
      </p:sp>
      <p:sp>
        <p:nvSpPr>
          <p:cNvPr id="105" name="CB0"/>
          <p:cNvSpPr/>
          <p:nvPr/>
        </p:nvSpPr>
        <p:spPr>
          <a:xfrm>
            <a:off x="508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Single SKU Collection unifying all brands, lines, and component roles</a:t>
            </a:r>
          </a:p>
          <a:p>
            <a:pPr marL="171450" indent="-171450">
              <a:lnSpc>
                <a:spcPts val="1500"/>
              </a:lnSpc>
              <a:spcBef>
                <a:spcPts val="200"/>
              </a:spcBef>
              <a:buFont typeface="Arial"/>
              <a:buChar char="•"/>
            </a:pPr>
            <a:r>
              <a:rPr lang="en-US" sz="900" dirty="0">
                <a:solidFill>
                  <a:srgbClr val="374151"/>
                </a:solidFill>
                <a:latin typeface="Calibri"/>
              </a:rPr>
              <a:t>Dynamic Relationships: COMPATIBLE_WITH, BUNDLES, CONTAINS, MAPS_TO</a:t>
            </a:r>
          </a:p>
          <a:p>
            <a:pPr marL="171450" indent="-171450">
              <a:lnSpc>
                <a:spcPts val="1500"/>
              </a:lnSpc>
              <a:spcBef>
                <a:spcPts val="200"/>
              </a:spcBef>
              <a:buFont typeface="Arial"/>
              <a:buChar char="•"/>
            </a:pPr>
            <a:r>
              <a:rPr lang="en-US" sz="900" dirty="0">
                <a:solidFill>
                  <a:srgbClr val="374151"/>
                </a:solidFill>
                <a:latin typeface="Calibri"/>
              </a:rPr>
              <a:t>Up to 3 parallel Taxonomy Collections via MAPS_TO</a:t>
            </a:r>
          </a:p>
          <a:p>
            <a:pPr marL="171450" indent="-171450">
              <a:lnSpc>
                <a:spcPts val="1500"/>
              </a:lnSpc>
              <a:spcBef>
                <a:spcPts val="200"/>
              </a:spcBef>
              <a:buFont typeface="Arial"/>
              <a:buChar char="•"/>
            </a:pPr>
            <a:r>
              <a:rPr lang="en-US" sz="900" dirty="0">
                <a:solidFill>
                  <a:srgbClr val="374151"/>
                </a:solidFill>
                <a:latin typeface="Calibri"/>
              </a:rPr>
              <a:t>Version-controlled, governed product data</a:t>
            </a:r>
          </a:p>
        </p:txBody>
      </p:sp>
      <p:sp>
        <p:nvSpPr>
          <p:cNvPr id="110" name="C1"/>
          <p:cNvSpPr/>
          <p:nvPr/>
        </p:nvSpPr>
        <p:spPr>
          <a:xfrm>
            <a:off x="32131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A1"/>
          <p:cNvSpPr/>
          <p:nvPr/>
        </p:nvSpPr>
        <p:spPr>
          <a:xfrm>
            <a:off x="3213100" y="1219200"/>
            <a:ext cx="2667000" cy="50800"/>
          </a:xfrm>
          <a:prstGeom prst="roundRect">
            <a:avLst>
              <a:gd name="adj" fmla="val 50000"/>
            </a:avLst>
          </a:prstGeom>
          <a:solidFill>
            <a:srgbClr val="07BCD6"/>
          </a:solidFill>
          <a:ln>
            <a:noFill/>
          </a:ln>
        </p:spPr>
        <p:txBody>
          <a:bodyPr/>
          <a:lstStyle/>
          <a:p>
            <a:endParaRPr lang="en-US"/>
          </a:p>
        </p:txBody>
      </p:sp>
      <p:sp>
        <p:nvSpPr>
          <p:cNvPr id="112" name="N1"/>
          <p:cNvSpPr/>
          <p:nvPr/>
        </p:nvSpPr>
        <p:spPr>
          <a:xfrm>
            <a:off x="3365500" y="1397000"/>
            <a:ext cx="2362200" cy="228600"/>
          </a:xfrm>
          <a:prstGeom prst="rect">
            <a:avLst/>
          </a:prstGeom>
          <a:noFill/>
          <a:ln>
            <a:noFill/>
          </a:ln>
        </p:spPr>
        <p:txBody>
          <a:bodyPr wrap="square" lIns="0" tIns="0" rIns="0" bIns="0" anchor="t"/>
          <a:lstStyle/>
          <a:p>
            <a:pPr>
              <a:buNone/>
            </a:pPr>
            <a:r>
              <a:rPr lang="en-US" sz="800" b="1" spc="150" dirty="0">
                <a:solidFill>
                  <a:srgbClr val="07BCD6"/>
                </a:solidFill>
                <a:latin typeface="Calibri"/>
              </a:rPr>
              <a:t>02  ·  DX ENGINE</a:t>
            </a:r>
          </a:p>
        </p:txBody>
      </p:sp>
      <p:sp>
        <p:nvSpPr>
          <p:cNvPr id="113" name="CT1"/>
          <p:cNvSpPr/>
          <p:nvPr/>
        </p:nvSpPr>
        <p:spPr>
          <a:xfrm>
            <a:off x="33655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Orchestration</a:t>
            </a:r>
          </a:p>
        </p:txBody>
      </p:sp>
      <p:sp>
        <p:nvSpPr>
          <p:cNvPr id="114" name="CD1"/>
          <p:cNvSpPr/>
          <p:nvPr/>
        </p:nvSpPr>
        <p:spPr>
          <a:xfrm>
            <a:off x="3365500" y="2032000"/>
            <a:ext cx="2362200" cy="12700"/>
          </a:xfrm>
          <a:prstGeom prst="rect">
            <a:avLst/>
          </a:prstGeom>
          <a:solidFill>
            <a:srgbClr val="E5E7EB"/>
          </a:solidFill>
          <a:ln>
            <a:noFill/>
          </a:ln>
        </p:spPr>
        <p:txBody>
          <a:bodyPr/>
          <a:lstStyle/>
          <a:p>
            <a:endParaRPr lang="en-US"/>
          </a:p>
        </p:txBody>
      </p:sp>
      <p:sp>
        <p:nvSpPr>
          <p:cNvPr id="115" name="CB1"/>
          <p:cNvSpPr/>
          <p:nvPr/>
        </p:nvSpPr>
        <p:spPr>
          <a:xfrm>
            <a:off x="33655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Real-time orchestration of business rules across channels</a:t>
            </a:r>
          </a:p>
          <a:p>
            <a:pPr marL="171450" indent="-171450">
              <a:lnSpc>
                <a:spcPts val="1500"/>
              </a:lnSpc>
              <a:spcBef>
                <a:spcPts val="200"/>
              </a:spcBef>
              <a:buFont typeface="Arial"/>
              <a:buChar char="•"/>
            </a:pPr>
            <a:r>
              <a:rPr lang="en-US" sz="900" dirty="0">
                <a:solidFill>
                  <a:srgbClr val="374151"/>
                </a:solidFill>
                <a:latin typeface="Calibri"/>
              </a:rPr>
              <a:t>Channel-aware Experience Rules (e.g. Outdoor restrictions, Quickship eligibility)</a:t>
            </a:r>
          </a:p>
          <a:p>
            <a:pPr marL="171450" indent="-171450">
              <a:lnSpc>
                <a:spcPts val="1500"/>
              </a:lnSpc>
              <a:spcBef>
                <a:spcPts val="200"/>
              </a:spcBef>
              <a:buFont typeface="Arial"/>
              <a:buChar char="•"/>
            </a:pPr>
            <a:r>
              <a:rPr lang="en-US" sz="900" dirty="0">
                <a:solidFill>
                  <a:srgbClr val="374151"/>
                </a:solidFill>
                <a:latin typeface="Calibri"/>
              </a:rPr>
              <a:t>Deterministic logic + AI-assisted decisioning where it adds value</a:t>
            </a:r>
          </a:p>
          <a:p>
            <a:pPr marL="171450" indent="-171450">
              <a:lnSpc>
                <a:spcPts val="1500"/>
              </a:lnSpc>
              <a:spcBef>
                <a:spcPts val="200"/>
              </a:spcBef>
              <a:buFont typeface="Arial"/>
              <a:buChar char="•"/>
            </a:pPr>
            <a:r>
              <a:rPr lang="en-US" sz="900" dirty="0">
                <a:solidFill>
                  <a:srgbClr val="374151"/>
                </a:solidFill>
                <a:latin typeface="Calibri"/>
              </a:rPr>
              <a:t>Zero-code configuration through Conscia UI</a:t>
            </a:r>
          </a:p>
        </p:txBody>
      </p:sp>
      <p:sp>
        <p:nvSpPr>
          <p:cNvPr id="120" name="C2"/>
          <p:cNvSpPr/>
          <p:nvPr/>
        </p:nvSpPr>
        <p:spPr>
          <a:xfrm>
            <a:off x="6070600" y="121920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A2"/>
          <p:cNvSpPr/>
          <p:nvPr/>
        </p:nvSpPr>
        <p:spPr>
          <a:xfrm>
            <a:off x="6070600" y="1219200"/>
            <a:ext cx="2667000" cy="50800"/>
          </a:xfrm>
          <a:prstGeom prst="roundRect">
            <a:avLst>
              <a:gd name="adj" fmla="val 50000"/>
            </a:avLst>
          </a:prstGeom>
          <a:solidFill>
            <a:srgbClr val="8AC542"/>
          </a:solidFill>
          <a:ln>
            <a:noFill/>
          </a:ln>
        </p:spPr>
        <p:txBody>
          <a:bodyPr/>
          <a:lstStyle/>
          <a:p>
            <a:endParaRPr lang="en-US"/>
          </a:p>
        </p:txBody>
      </p:sp>
      <p:sp>
        <p:nvSpPr>
          <p:cNvPr id="122" name="N2"/>
          <p:cNvSpPr/>
          <p:nvPr/>
        </p:nvSpPr>
        <p:spPr>
          <a:xfrm>
            <a:off x="6223000" y="1397000"/>
            <a:ext cx="2362200" cy="228600"/>
          </a:xfrm>
          <a:prstGeom prst="rect">
            <a:avLst/>
          </a:prstGeom>
          <a:noFill/>
          <a:ln>
            <a:noFill/>
          </a:ln>
        </p:spPr>
        <p:txBody>
          <a:bodyPr wrap="square" lIns="0" tIns="0" rIns="0" bIns="0" anchor="t"/>
          <a:lstStyle/>
          <a:p>
            <a:pPr>
              <a:buNone/>
            </a:pPr>
            <a:r>
              <a:rPr lang="en-US" sz="800" b="1" spc="150" dirty="0">
                <a:solidFill>
                  <a:srgbClr val="8AC542"/>
                </a:solidFill>
                <a:latin typeface="Calibri"/>
              </a:rPr>
              <a:t>03  ·  EXPERIENCE APIs</a:t>
            </a:r>
          </a:p>
        </p:txBody>
      </p:sp>
      <p:sp>
        <p:nvSpPr>
          <p:cNvPr id="123" name="CT2"/>
          <p:cNvSpPr/>
          <p:nvPr/>
        </p:nvSpPr>
        <p:spPr>
          <a:xfrm>
            <a:off x="6223000" y="167640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Experience APIs</a:t>
            </a:r>
          </a:p>
        </p:txBody>
      </p:sp>
      <p:sp>
        <p:nvSpPr>
          <p:cNvPr id="124" name="CD2"/>
          <p:cNvSpPr/>
          <p:nvPr/>
        </p:nvSpPr>
        <p:spPr>
          <a:xfrm>
            <a:off x="6223000" y="2032000"/>
            <a:ext cx="2362200" cy="12700"/>
          </a:xfrm>
          <a:prstGeom prst="rect">
            <a:avLst/>
          </a:prstGeom>
          <a:solidFill>
            <a:srgbClr val="E5E7EB"/>
          </a:solidFill>
          <a:ln>
            <a:noFill/>
          </a:ln>
        </p:spPr>
        <p:txBody>
          <a:bodyPr/>
          <a:lstStyle/>
          <a:p>
            <a:endParaRPr lang="en-US"/>
          </a:p>
        </p:txBody>
      </p:sp>
      <p:sp>
        <p:nvSpPr>
          <p:cNvPr id="125" name="CB2"/>
          <p:cNvSpPr/>
          <p:nvPr/>
        </p:nvSpPr>
        <p:spPr>
          <a:xfrm>
            <a:off x="6223000" y="213360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900" dirty="0">
                <a:solidFill>
                  <a:srgbClr val="374151"/>
                </a:solidFill>
                <a:latin typeface="Calibri"/>
              </a:rPr>
              <a:t>One Experience API serving POS, web, mobile, agents, and feeds</a:t>
            </a:r>
          </a:p>
          <a:p>
            <a:pPr marL="171450" indent="-171450">
              <a:lnSpc>
                <a:spcPts val="1500"/>
              </a:lnSpc>
              <a:spcBef>
                <a:spcPts val="200"/>
              </a:spcBef>
              <a:buFont typeface="Arial"/>
              <a:buChar char="•"/>
            </a:pPr>
            <a:r>
              <a:rPr lang="en-US" sz="900" dirty="0">
                <a:solidFill>
                  <a:srgbClr val="374151"/>
                </a:solidFill>
                <a:latin typeface="Calibri"/>
              </a:rPr>
              <a:t>Sub-second responses at the edge</a:t>
            </a:r>
          </a:p>
          <a:p>
            <a:pPr marL="171450" indent="-171450">
              <a:lnSpc>
                <a:spcPts val="1500"/>
              </a:lnSpc>
              <a:spcBef>
                <a:spcPts val="200"/>
              </a:spcBef>
              <a:buFont typeface="Arial"/>
              <a:buChar char="•"/>
            </a:pPr>
            <a:r>
              <a:rPr lang="en-US" sz="900" dirty="0">
                <a:solidFill>
                  <a:srgbClr val="374151"/>
                </a:solidFill>
                <a:latin typeface="Calibri"/>
              </a:rPr>
              <a:t>Native MCP endpoint — agent-ready by design</a:t>
            </a:r>
          </a:p>
          <a:p>
            <a:pPr marL="171450" indent="-171450">
              <a:lnSpc>
                <a:spcPts val="1500"/>
              </a:lnSpc>
              <a:spcBef>
                <a:spcPts val="200"/>
              </a:spcBef>
              <a:buFont typeface="Arial"/>
              <a:buChar char="•"/>
            </a:pPr>
            <a:r>
              <a:rPr lang="en-US" sz="900" dirty="0">
                <a:solidFill>
                  <a:srgbClr val="374151"/>
                </a:solidFill>
                <a:latin typeface="Calibri"/>
              </a:rPr>
              <a:t>No frontend glue code; no per-channel reimplementation</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SO0"/>
          <p:cNvSpPr/>
          <p:nvPr/>
        </p:nvSpPr>
        <p:spPr>
          <a:xfrm>
            <a:off x="355600" y="4191000"/>
            <a:ext cx="2667000" cy="304800"/>
          </a:xfrm>
          <a:prstGeom prst="rect">
            <a:avLst/>
          </a:prstGeom>
          <a:solidFill>
            <a:srgbClr val="FFF0F5"/>
          </a:solidFill>
          <a:ln>
            <a:noFill/>
          </a:ln>
        </p:spPr>
        <p:txBody>
          <a:bodyPr wrap="square" lIns="91440" tIns="0" rIns="91440" bIns="0" anchor="ctr"/>
          <a:lstStyle/>
          <a:p>
            <a:pPr algn="ctr">
              <a:buNone/>
            </a:pPr>
            <a:r>
              <a:rPr lang="en-US" sz="850" b="1" i="1" dirty="0">
                <a:solidFill>
                  <a:srgbClr val="9B0038"/>
                </a:solidFill>
                <a:latin typeface="Calibri"/>
              </a:rPr>
              <a:t>One model. One source of truth.</a:t>
            </a:r>
          </a:p>
        </p:txBody>
      </p:sp>
      <p:sp>
        <p:nvSpPr>
          <p:cNvPr id="301" name="SO1"/>
          <p:cNvSpPr/>
          <p:nvPr/>
        </p:nvSpPr>
        <p:spPr>
          <a:xfrm>
            <a:off x="3213100" y="4191000"/>
            <a:ext cx="2667000" cy="304800"/>
          </a:xfrm>
          <a:prstGeom prst="rect">
            <a:avLst/>
          </a:prstGeom>
          <a:solidFill>
            <a:srgbClr val="F0FAFC"/>
          </a:solidFill>
          <a:ln>
            <a:noFill/>
          </a:ln>
        </p:spPr>
        <p:txBody>
          <a:bodyPr wrap="square" lIns="91440" tIns="0" rIns="91440" bIns="0" anchor="ctr"/>
          <a:lstStyle/>
          <a:p>
            <a:pPr algn="ctr">
              <a:buNone/>
            </a:pPr>
            <a:r>
              <a:rPr lang="en-US" sz="850" b="1" i="1" dirty="0">
                <a:solidFill>
                  <a:srgbClr val="0A6B80"/>
                </a:solidFill>
                <a:latin typeface="Calibri"/>
              </a:rPr>
              <a:t>Rules in one place — not duplicated per channel.</a:t>
            </a:r>
          </a:p>
        </p:txBody>
      </p:sp>
      <p:sp>
        <p:nvSpPr>
          <p:cNvPr id="302" name="SO2"/>
          <p:cNvSpPr/>
          <p:nvPr/>
        </p:nvSpPr>
        <p:spPr>
          <a:xfrm>
            <a:off x="6070600" y="4191000"/>
            <a:ext cx="2667000" cy="304800"/>
          </a:xfrm>
          <a:prstGeom prst="rect">
            <a:avLst/>
          </a:prstGeom>
          <a:solidFill>
            <a:srgbClr val="F4FAE8"/>
          </a:solidFill>
          <a:ln>
            <a:noFill/>
          </a:ln>
        </p:spPr>
        <p:txBody>
          <a:bodyPr wrap="square" lIns="91440" tIns="0" rIns="91440" bIns="0" anchor="ctr"/>
          <a:lstStyle/>
          <a:p>
            <a:pPr algn="ctr">
              <a:buNone/>
            </a:pPr>
            <a:r>
              <a:rPr lang="en-US" sz="850" b="1" i="1" dirty="0">
                <a:solidFill>
                  <a:srgbClr val="3D6B12"/>
                </a:solidFill>
                <a:latin typeface="Calibri"/>
              </a:rPr>
              <a:t>New channels go live in days, not quarters.</a:t>
            </a:r>
          </a:p>
        </p:txBody>
      </p:sp>
    </p:spTree>
    <p:extLst>
      <p:ext uri="{BB962C8B-B14F-4D97-AF65-F5344CB8AC3E}">
        <p14:creationId xmlns:p14="http://schemas.microsoft.com/office/powerpoint/2010/main" val="879215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01"/>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Proposed Architecture Fit</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Sub"/>
          <p:cNvSpPr/>
          <p:nvPr/>
        </p:nvSpPr>
        <p:spPr>
          <a:xfrm>
            <a:off x="355600" y="762000"/>
            <a:ext cx="8432800" cy="203200"/>
          </a:xfrm>
          <a:prstGeom prst="rect">
            <a:avLst/>
          </a:prstGeom>
          <a:noFill/>
          <a:ln>
            <a:noFill/>
          </a:ln>
        </p:spPr>
        <p:txBody>
          <a:bodyPr wrap="square" lIns="0" tIns="0" rIns="0" bIns="0" anchor="ctr"/>
          <a:lstStyle/>
          <a:p>
            <a:pPr>
              <a:buNone/>
            </a:pPr>
            <a:r>
              <a:rPr lang="en-US" sz="900" dirty="0">
                <a:solidFill>
                  <a:srgbClr val="6B7280"/>
                </a:solidFill>
                <a:latin typeface="Calibri"/>
              </a:rPr>
              <a:t>Two complementary platform capabilities that together make Conscia the governed product master for Lovesac.</a:t>
            </a:r>
          </a:p>
        </p:txBody>
      </p:sp>
      <p:sp>
        <p:nvSpPr>
          <p:cNvPr id="100" name="CC0"/>
          <p:cNvSpPr/>
          <p:nvPr/>
        </p:nvSpPr>
        <p:spPr>
          <a:xfrm>
            <a:off x="3556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CA0"/>
          <p:cNvSpPr/>
          <p:nvPr/>
        </p:nvSpPr>
        <p:spPr>
          <a:xfrm>
            <a:off x="355600" y="1041400"/>
            <a:ext cx="4064000" cy="50800"/>
          </a:xfrm>
          <a:prstGeom prst="roundRect">
            <a:avLst>
              <a:gd name="adj" fmla="val 50000"/>
            </a:avLst>
          </a:prstGeom>
          <a:solidFill>
            <a:srgbClr val="EB1A63"/>
          </a:solidFill>
          <a:ln>
            <a:noFill/>
          </a:ln>
        </p:spPr>
        <p:txBody>
          <a:bodyPr/>
          <a:lstStyle/>
          <a:p>
            <a:endParaRPr lang="en-US"/>
          </a:p>
        </p:txBody>
      </p:sp>
      <p:sp>
        <p:nvSpPr>
          <p:cNvPr id="102" name="CL0"/>
          <p:cNvSpPr/>
          <p:nvPr/>
        </p:nvSpPr>
        <p:spPr>
          <a:xfrm>
            <a:off x="533400" y="1193800"/>
            <a:ext cx="1524000" cy="177800"/>
          </a:xfrm>
          <a:prstGeom prst="rect">
            <a:avLst/>
          </a:prstGeom>
          <a:noFill/>
          <a:ln>
            <a:noFill/>
          </a:ln>
        </p:spPr>
        <p:txBody>
          <a:bodyPr wrap="square" lIns="0" tIns="0" rIns="0" bIns="0" anchor="t"/>
          <a:lstStyle/>
          <a:p>
            <a:pPr>
              <a:buNone/>
            </a:pPr>
            <a:r>
              <a:rPr lang="en-US" sz="800" b="1" spc="150" dirty="0">
                <a:solidFill>
                  <a:srgbClr val="EB1A63"/>
                </a:solidFill>
                <a:latin typeface="Calibri"/>
              </a:rPr>
              <a:t>DX GRAPH</a:t>
            </a:r>
          </a:p>
        </p:txBody>
      </p:sp>
      <p:sp>
        <p:nvSpPr>
          <p:cNvPr id="103" name="CT0"/>
          <p:cNvSpPr/>
          <p:nvPr/>
        </p:nvSpPr>
        <p:spPr>
          <a:xfrm>
            <a:off x="5334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Governed Product Data Layer</a:t>
            </a:r>
          </a:p>
        </p:txBody>
      </p:sp>
      <p:sp>
        <p:nvSpPr>
          <p:cNvPr id="104" name="CTag0"/>
          <p:cNvSpPr/>
          <p:nvPr/>
        </p:nvSpPr>
        <p:spPr>
          <a:xfrm>
            <a:off x="5334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is true?"</a:t>
            </a:r>
          </a:p>
        </p:txBody>
      </p:sp>
      <p:sp>
        <p:nvSpPr>
          <p:cNvPr id="105" name="CD0"/>
          <p:cNvSpPr/>
          <p:nvPr/>
        </p:nvSpPr>
        <p:spPr>
          <a:xfrm>
            <a:off x="533400" y="2006600"/>
            <a:ext cx="3683000" cy="12700"/>
          </a:xfrm>
          <a:prstGeom prst="rect">
            <a:avLst/>
          </a:prstGeom>
          <a:solidFill>
            <a:srgbClr val="E5E7EB"/>
          </a:solidFill>
          <a:ln>
            <a:noFill/>
          </a:ln>
        </p:spPr>
        <p:txBody>
          <a:bodyPr/>
          <a:lstStyle/>
          <a:p>
            <a:endParaRPr lang="en-US"/>
          </a:p>
        </p:txBody>
      </p:sp>
      <p:sp>
        <p:nvSpPr>
          <p:cNvPr id="106" name="CB0"/>
          <p:cNvSpPr/>
          <p:nvPr/>
        </p:nvSpPr>
        <p:spPr>
          <a:xfrm>
            <a:off x="5334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Unified SKU Collection</a:t>
            </a:r>
            <a:r>
              <a:rPr lang="en-US" sz="850" dirty="0">
                <a:solidFill>
                  <a:srgbClr val="6B7280"/>
                </a:solidFill>
                <a:latin typeface="Calibri"/>
              </a:rPr>
              <a:t> — Sactional, Sac, Snugg, and Accessories — 28,089 SKUs in one model</a:t>
            </a:r>
          </a:p>
          <a:p>
            <a:pPr marL="171450" indent="-171450">
              <a:lnSpc>
                <a:spcPts val="1300"/>
              </a:lnSpc>
              <a:spcBef>
                <a:spcPts val="200"/>
              </a:spcBef>
              <a:buFont typeface="Arial"/>
              <a:buChar char="•"/>
            </a:pPr>
            <a:r>
              <a:rPr lang="en-US" sz="850" b="1" dirty="0">
                <a:solidFill>
                  <a:srgbClr val="111827"/>
                </a:solidFill>
                <a:latin typeface="Calibri"/>
              </a:rPr>
              <a:t>Cover ↔ Insert compatibility</a:t>
            </a:r>
            <a:r>
              <a:rPr lang="en-US" sz="850" dirty="0">
                <a:solidFill>
                  <a:srgbClr val="6B7280"/>
                </a:solidFill>
                <a:latin typeface="Calibri"/>
              </a:rPr>
              <a:t> encoded as a Dynamic Relationship (no manual tagging — covers all 15,506 Covers automatically)</a:t>
            </a:r>
          </a:p>
          <a:p>
            <a:pPr marL="171450" indent="-171450">
              <a:lnSpc>
                <a:spcPts val="1300"/>
              </a:lnSpc>
              <a:spcBef>
                <a:spcPts val="200"/>
              </a:spcBef>
              <a:buFont typeface="Arial"/>
              <a:buChar char="•"/>
            </a:pPr>
            <a:r>
              <a:rPr lang="en-US" sz="850" b="1" dirty="0">
                <a:solidFill>
                  <a:srgbClr val="111827"/>
                </a:solidFill>
                <a:latin typeface="Calibri"/>
              </a:rPr>
              <a:t>Up to 3 parallel Taxonomies</a:t>
            </a:r>
            <a:r>
              <a:rPr lang="en-US" sz="850" dirty="0">
                <a:solidFill>
                  <a:srgbClr val="6B7280"/>
                </a:solidFill>
                <a:latin typeface="Calibri"/>
              </a:rPr>
              <a:t> — internal ops, Lovesac.com, and marketplace feeds</a:t>
            </a:r>
          </a:p>
          <a:p>
            <a:pPr marL="171450" indent="-171450">
              <a:lnSpc>
                <a:spcPts val="1300"/>
              </a:lnSpc>
              <a:spcBef>
                <a:spcPts val="200"/>
              </a:spcBef>
              <a:buFont typeface="Arial"/>
              <a:buChar char="•"/>
            </a:pPr>
            <a:r>
              <a:rPr lang="en-US" sz="850" dirty="0">
                <a:solidFill>
                  <a:srgbClr val="6B7280"/>
                </a:solidFill>
                <a:latin typeface="Calibri"/>
              </a:rPr>
              <a:t>Version-controlled and audit-ready</a:t>
            </a:r>
          </a:p>
        </p:txBody>
      </p:sp>
      <p:sp>
        <p:nvSpPr>
          <p:cNvPr id="110" name="CC1"/>
          <p:cNvSpPr/>
          <p:nvPr/>
        </p:nvSpPr>
        <p:spPr>
          <a:xfrm>
            <a:off x="46990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CA1"/>
          <p:cNvSpPr/>
          <p:nvPr/>
        </p:nvSpPr>
        <p:spPr>
          <a:xfrm>
            <a:off x="4699000" y="1041400"/>
            <a:ext cx="4064000" cy="50800"/>
          </a:xfrm>
          <a:prstGeom prst="roundRect">
            <a:avLst>
              <a:gd name="adj" fmla="val 50000"/>
            </a:avLst>
          </a:prstGeom>
          <a:solidFill>
            <a:srgbClr val="07BCD6"/>
          </a:solidFill>
          <a:ln>
            <a:noFill/>
          </a:ln>
        </p:spPr>
        <p:txBody>
          <a:bodyPr/>
          <a:lstStyle/>
          <a:p>
            <a:endParaRPr lang="en-US"/>
          </a:p>
        </p:txBody>
      </p:sp>
      <p:sp>
        <p:nvSpPr>
          <p:cNvPr id="112" name="CL1"/>
          <p:cNvSpPr/>
          <p:nvPr/>
        </p:nvSpPr>
        <p:spPr>
          <a:xfrm>
            <a:off x="4876800" y="1193800"/>
            <a:ext cx="1524000" cy="177800"/>
          </a:xfrm>
          <a:prstGeom prst="rect">
            <a:avLst/>
          </a:prstGeom>
          <a:noFill/>
          <a:ln>
            <a:noFill/>
          </a:ln>
        </p:spPr>
        <p:txBody>
          <a:bodyPr wrap="square" lIns="0" tIns="0" rIns="0" bIns="0" anchor="t"/>
          <a:lstStyle/>
          <a:p>
            <a:pPr>
              <a:buNone/>
            </a:pPr>
            <a:r>
              <a:rPr lang="en-US" sz="800" b="1" spc="150" dirty="0">
                <a:solidFill>
                  <a:srgbClr val="07BCD6"/>
                </a:solidFill>
                <a:latin typeface="Calibri"/>
              </a:rPr>
              <a:t>DX ENGINE</a:t>
            </a:r>
          </a:p>
        </p:txBody>
      </p:sp>
      <p:sp>
        <p:nvSpPr>
          <p:cNvPr id="113" name="CT1"/>
          <p:cNvSpPr/>
          <p:nvPr/>
        </p:nvSpPr>
        <p:spPr>
          <a:xfrm>
            <a:off x="48768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Real-Time Orchestration Layer</a:t>
            </a:r>
          </a:p>
        </p:txBody>
      </p:sp>
      <p:sp>
        <p:nvSpPr>
          <p:cNvPr id="114" name="CTag1"/>
          <p:cNvSpPr/>
          <p:nvPr/>
        </p:nvSpPr>
        <p:spPr>
          <a:xfrm>
            <a:off x="48768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should happen?"</a:t>
            </a:r>
          </a:p>
        </p:txBody>
      </p:sp>
      <p:sp>
        <p:nvSpPr>
          <p:cNvPr id="115" name="CD1"/>
          <p:cNvSpPr/>
          <p:nvPr/>
        </p:nvSpPr>
        <p:spPr>
          <a:xfrm>
            <a:off x="4876800" y="2006600"/>
            <a:ext cx="3683000" cy="12700"/>
          </a:xfrm>
          <a:prstGeom prst="rect">
            <a:avLst/>
          </a:prstGeom>
          <a:solidFill>
            <a:srgbClr val="E5E7EB"/>
          </a:solidFill>
          <a:ln>
            <a:noFill/>
          </a:ln>
        </p:spPr>
        <p:txBody>
          <a:bodyPr/>
          <a:lstStyle/>
          <a:p>
            <a:endParaRPr lang="en-US"/>
          </a:p>
        </p:txBody>
      </p:sp>
      <p:sp>
        <p:nvSpPr>
          <p:cNvPr id="116" name="CB1"/>
          <p:cNvSpPr/>
          <p:nvPr/>
        </p:nvSpPr>
        <p:spPr>
          <a:xfrm>
            <a:off x="48768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Config Validation</a:t>
            </a:r>
            <a:r>
              <a:rPr lang="en-US" sz="850" dirty="0">
                <a:solidFill>
                  <a:srgbClr val="6B7280"/>
                </a:solidFill>
                <a:latin typeface="Calibri"/>
              </a:rPr>
              <a:t> — does this combination obey all the rules?</a:t>
            </a:r>
          </a:p>
          <a:p>
            <a:pPr marL="171450" indent="-171450">
              <a:lnSpc>
                <a:spcPts val="1300"/>
              </a:lnSpc>
              <a:spcBef>
                <a:spcPts val="200"/>
              </a:spcBef>
              <a:buFont typeface="Arial"/>
              <a:buChar char="•"/>
            </a:pPr>
            <a:r>
              <a:rPr lang="en-US" sz="850" b="1" dirty="0">
                <a:solidFill>
                  <a:srgbClr val="111827"/>
                </a:solidFill>
                <a:latin typeface="Calibri"/>
              </a:rPr>
              <a:t>Wizard-Step Options</a:t>
            </a:r>
            <a:r>
              <a:rPr lang="en-US" sz="850" dirty="0">
                <a:solidFill>
                  <a:srgbClr val="6B7280"/>
                </a:solidFill>
                <a:latin typeface="Calibri"/>
              </a:rPr>
              <a:t> — what can the customer pick next, given what they've already chosen?</a:t>
            </a:r>
          </a:p>
          <a:p>
            <a:pPr marL="171450" indent="-171450">
              <a:lnSpc>
                <a:spcPts val="1300"/>
              </a:lnSpc>
              <a:spcBef>
                <a:spcPts val="200"/>
              </a:spcBef>
              <a:buFont typeface="Arial"/>
              <a:buChar char="•"/>
            </a:pPr>
            <a:r>
              <a:rPr lang="en-US" sz="850" b="1" dirty="0">
                <a:solidFill>
                  <a:srgbClr val="111827"/>
                </a:solidFill>
                <a:latin typeface="Calibri"/>
              </a:rPr>
              <a:t>Config ID Creation</a:t>
            </a:r>
            <a:r>
              <a:rPr lang="en-US" sz="850" dirty="0">
                <a:solidFill>
                  <a:srgbClr val="6B7280"/>
                </a:solidFill>
                <a:latin typeface="Calibri"/>
              </a:rPr>
              <a:t> — durable identifier for a saved configuration</a:t>
            </a:r>
          </a:p>
          <a:p>
            <a:pPr marL="171450" indent="-171450">
              <a:lnSpc>
                <a:spcPts val="1300"/>
              </a:lnSpc>
              <a:spcBef>
                <a:spcPts val="200"/>
              </a:spcBef>
              <a:buFont typeface="Arial"/>
              <a:buChar char="•"/>
            </a:pPr>
            <a:r>
              <a:rPr lang="en-US" sz="850" b="1" dirty="0">
                <a:solidFill>
                  <a:srgbClr val="111827"/>
                </a:solidFill>
                <a:latin typeface="Calibri"/>
              </a:rPr>
              <a:t>BOM Explosion</a:t>
            </a:r>
            <a:r>
              <a:rPr lang="en-US" sz="850" dirty="0">
                <a:solidFill>
                  <a:srgbClr val="6B7280"/>
                </a:solidFill>
                <a:latin typeface="Calibri"/>
              </a:rPr>
              <a:t> — turn a finished good into shippable components, shaped per channel (POS / OMS / warehouse pick list)</a:t>
            </a:r>
          </a:p>
          <a:p>
            <a:pPr marL="171450" indent="-171450">
              <a:lnSpc>
                <a:spcPts val="1300"/>
              </a:lnSpc>
              <a:spcBef>
                <a:spcPts val="200"/>
              </a:spcBef>
              <a:buFont typeface="Arial"/>
              <a:buChar char="•"/>
            </a:pPr>
            <a:r>
              <a:rPr lang="en-US" sz="850" dirty="0">
                <a:solidFill>
                  <a:srgbClr val="6B7280"/>
                </a:solidFill>
                <a:latin typeface="Calibri"/>
              </a:rPr>
              <a:t>One Experience API serving POS, web, agents, and feeds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327403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Success Metrics &amp; KPIs</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508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Phase 1 Goals</a:t>
            </a:r>
          </a:p>
        </p:txBody>
      </p:sp>
      <p:sp>
        <p:nvSpPr>
          <p:cNvPr id="103" name="SD0"/>
          <p:cNvSpPr/>
          <p:nvPr/>
        </p:nvSpPr>
        <p:spPr>
          <a:xfrm>
            <a:off x="482600" y="12954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All 28,089 SKUs ingested into a single DX Graph SKU Collection</a:t>
            </a:r>
          </a:p>
          <a:p>
            <a:pPr marL="171450" indent="-171450">
              <a:buChar char="·"/>
            </a:pPr>
            <a:r>
              <a:rPr lang="en-US" sz="1100" b="1" dirty="0">
                <a:solidFill>
                  <a:srgbClr val="111827"/>
                </a:solidFill>
                <a:latin typeface="Calibri"/>
              </a:rPr>
              <a:t>COMPATIBLE_WITH</a:t>
            </a:r>
            <a:r>
              <a:rPr lang="en-US" sz="1100" dirty="0">
                <a:solidFill>
                  <a:srgbClr val="374151"/>
                </a:solidFill>
                <a:latin typeface="Calibri"/>
              </a:rPr>
              <a:t> Dynamic Relationship live across all 15,506 Cover SKUs</a:t>
            </a:r>
          </a:p>
          <a:p>
            <a:pPr marL="171450" indent="-171450">
              <a:buChar char="·"/>
            </a:pPr>
            <a:r>
              <a:rPr lang="en-US" sz="1100" dirty="0">
                <a:solidFill>
                  <a:srgbClr val="374151"/>
                </a:solidFill>
                <a:latin typeface="Calibri"/>
              </a:rPr>
              <a:t>Up to 3 Taxonomy Collections modelled and mapped via MAPS_TO</a:t>
            </a:r>
          </a:p>
          <a:p>
            <a:pPr marL="171450" indent="-171450">
              <a:buChar char="·"/>
            </a:pPr>
            <a:r>
              <a:rPr lang="en-US" sz="1100" dirty="0">
                <a:solidFill>
                  <a:srgbClr val="374151"/>
                </a:solidFill>
                <a:latin typeface="Calibri"/>
              </a:rPr>
              <a:t>All four DX Engine flows (Config Validation, Wizard Step Options, Config ID Creation, BOM Explosion) running end-to-end against Lovesac data</a:t>
            </a:r>
          </a:p>
        </p:txBody>
      </p:sp>
      <p:sp>
        <p:nvSpPr>
          <p:cNvPr id="110" name="SC1"/>
          <p:cNvSpPr/>
          <p:nvPr/>
        </p:nvSpPr>
        <p:spPr>
          <a:xfrm>
            <a:off x="32131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508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Business Outcomes</a:t>
            </a:r>
          </a:p>
        </p:txBody>
      </p:sp>
      <p:sp>
        <p:nvSpPr>
          <p:cNvPr id="113" name="SD1"/>
          <p:cNvSpPr/>
          <p:nvPr/>
        </p:nvSpPr>
        <p:spPr>
          <a:xfrm>
            <a:off x="3365500" y="12954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32512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Single source of truth for Sactional compatibility</a:t>
            </a:r>
          </a:p>
          <a:p>
            <a:pPr marL="171450" indent="-171450">
              <a:buChar char="·"/>
            </a:pPr>
            <a:r>
              <a:rPr lang="en-US" sz="1100" dirty="0">
                <a:solidFill>
                  <a:srgbClr val="374151"/>
                </a:solidFill>
                <a:latin typeface="Calibri"/>
              </a:rPr>
              <a:t>POS associates can validate any configuration in real time</a:t>
            </a:r>
          </a:p>
          <a:p>
            <a:pPr marL="171450" indent="-171450">
              <a:buChar char="·"/>
            </a:pPr>
            <a:r>
              <a:rPr lang="en-US" sz="1100" dirty="0">
                <a:solidFill>
                  <a:srgbClr val="374151"/>
                </a:solidFill>
                <a:latin typeface="Calibri"/>
              </a:rPr>
              <a:t>New channels (kiosk, agent, feed) reuse the same Experience API instead of rebuilding logic</a:t>
            </a:r>
          </a:p>
          <a:p>
            <a:pPr marL="171450" indent="-171450">
              <a:buChar char="·"/>
            </a:pPr>
            <a:r>
              <a:rPr lang="en-US" sz="1100" dirty="0">
                <a:solidFill>
                  <a:srgbClr val="374151"/>
                </a:solidFill>
                <a:latin typeface="Calibri"/>
              </a:rPr>
              <a:t>Foundation in place for AgentForce / ChatGPT / Google Shopping integration</a:t>
            </a:r>
          </a:p>
        </p:txBody>
      </p:sp>
      <p:sp>
        <p:nvSpPr>
          <p:cNvPr id="120" name="SC2"/>
          <p:cNvSpPr/>
          <p:nvPr/>
        </p:nvSpPr>
        <p:spPr>
          <a:xfrm>
            <a:off x="60960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508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How We'll Measure</a:t>
            </a:r>
          </a:p>
        </p:txBody>
      </p:sp>
      <p:sp>
        <p:nvSpPr>
          <p:cNvPr id="123" name="SD2"/>
          <p:cNvSpPr/>
          <p:nvPr/>
        </p:nvSpPr>
        <p:spPr>
          <a:xfrm>
            <a:off x="6248400" y="12954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3251200"/>
          </a:xfrm>
          <a:prstGeom prst="rect">
            <a:avLst/>
          </a:prstGeom>
          <a:noFill/>
          <a:ln>
            <a:noFill/>
          </a:ln>
        </p:spPr>
        <p:txBody>
          <a:bodyPr wrap="square" lIns="0" tIns="0" rIns="0" bIns="0" anchor="t"/>
          <a:lstStyle/>
          <a:p>
            <a:pPr marL="171450" indent="-171450">
              <a:buChar char="·"/>
            </a:pPr>
            <a:r>
              <a:rPr lang="en-US" sz="1100" b="1" dirty="0">
                <a:solidFill>
                  <a:srgbClr val="111827"/>
                </a:solidFill>
                <a:latin typeface="Calibri"/>
              </a:rPr>
              <a:t>API response time:</a:t>
            </a:r>
            <a:r>
              <a:rPr lang="en-US" sz="1100" dirty="0">
                <a:solidFill>
                  <a:srgbClr val="374151"/>
                </a:solidFill>
                <a:latin typeface="Calibri"/>
              </a:rPr>
              <a:t> &lt; 200ms p95 for configurator queries</a:t>
            </a:r>
          </a:p>
          <a:p>
            <a:pPr marL="171450" indent="-171450">
              <a:buChar char="·"/>
            </a:pPr>
            <a:r>
              <a:rPr lang="en-US" sz="1100" dirty="0">
                <a:solidFill>
                  <a:srgbClr val="374151"/>
                </a:solidFill>
                <a:latin typeface="Calibri"/>
              </a:rPr>
              <a:t>Zero data sync failures over a 30-day observation window</a:t>
            </a:r>
          </a:p>
          <a:p>
            <a:pPr marL="171450" indent="-171450">
              <a:buChar char="·"/>
            </a:pPr>
            <a:r>
              <a:rPr lang="en-US" sz="1100" dirty="0">
                <a:solidFill>
                  <a:srgbClr val="374151"/>
                </a:solidFill>
                <a:latin typeface="Calibri"/>
              </a:rPr>
              <a:t>All four DX Engine flows pass end-to-end UAT against Lovesac test cases</a:t>
            </a:r>
          </a:p>
          <a:p>
            <a:pPr marL="171450" indent="-171450">
              <a:buChar char="·"/>
            </a:pPr>
            <a:r>
              <a:rPr lang="en-US" sz="1100" dirty="0">
                <a:solidFill>
                  <a:srgbClr val="374151"/>
                </a:solidFill>
                <a:latin typeface="Calibri"/>
              </a:rPr>
              <a:t>Lovesac sign-off at each phase gate (4 gates over 12 weeks)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FN"/>
          <p:cNvSpPr/>
          <p:nvPr/>
        </p:nvSpPr>
        <p:spPr>
          <a:xfrm>
            <a:off x="355600" y="4673600"/>
            <a:ext cx="8432800" cy="152400"/>
          </a:xfrm>
          <a:prstGeom prst="rect">
            <a:avLst/>
          </a:prstGeom>
          <a:noFill/>
          <a:ln>
            <a:noFill/>
          </a:ln>
        </p:spPr>
        <p:txBody>
          <a:bodyPr wrap="square" lIns="0" tIns="0" rIns="0" bIns="0" anchor="ctr"/>
          <a:lstStyle/>
          <a:p>
            <a:pPr algn="ctr">
              <a:buNone/>
            </a:pPr>
            <a:r>
              <a:rPr lang="en-US" sz="700" i="1" dirty="0">
                <a:solidFill>
                  <a:srgbClr val="9CA3AF"/>
                </a:solidFill>
                <a:latin typeface="Calibri"/>
              </a:rPr>
              <a:t>Latency and volume targets to be confirmed with Lovesac at first technical review.</a:t>
            </a:r>
          </a:p>
        </p:txBody>
      </p:sp>
    </p:spTree>
    <p:extLst>
      <p:ext uri="{BB962C8B-B14F-4D97-AF65-F5344CB8AC3E}">
        <p14:creationId xmlns:p14="http://schemas.microsoft.com/office/powerpoint/2010/main" val="56231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Early Findings from Your Data</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 name="StatCard"/>
          <p:cNvSpPr/>
          <p:nvPr/>
        </p:nvSpPr>
        <p:spPr>
          <a:xfrm>
            <a:off x="355600" y="838200"/>
            <a:ext cx="26670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 name="StatAcc"/>
          <p:cNvSpPr/>
          <p:nvPr/>
        </p:nvSpPr>
        <p:spPr>
          <a:xfrm>
            <a:off x="355600" y="838200"/>
            <a:ext cx="2667000" cy="50800"/>
          </a:xfrm>
          <a:prstGeom prst="roundRect">
            <a:avLst>
              <a:gd name="adj" fmla="val 50000"/>
            </a:avLst>
          </a:prstGeom>
          <a:solidFill>
            <a:srgbClr val="EB1A63"/>
          </a:solidFill>
          <a:ln>
            <a:noFill/>
          </a:ln>
        </p:spPr>
        <p:txBody>
          <a:bodyPr/>
          <a:lstStyle/>
          <a:p>
            <a:endParaRPr lang="en-US"/>
          </a:p>
        </p:txBody>
      </p:sp>
      <p:sp>
        <p:nvSpPr>
          <p:cNvPr id="22" name="StatNum"/>
          <p:cNvSpPr/>
          <p:nvPr/>
        </p:nvSpPr>
        <p:spPr>
          <a:xfrm>
            <a:off x="508000" y="1092200"/>
            <a:ext cx="2362200" cy="736600"/>
          </a:xfrm>
          <a:prstGeom prst="rect">
            <a:avLst/>
          </a:prstGeom>
          <a:noFill/>
          <a:ln>
            <a:noFill/>
          </a:ln>
        </p:spPr>
        <p:txBody>
          <a:bodyPr wrap="square" lIns="0" tIns="0" rIns="0" bIns="0" anchor="ctr"/>
          <a:lstStyle/>
          <a:p>
            <a:pPr algn="ctr">
              <a:buNone/>
            </a:pPr>
            <a:r>
              <a:rPr lang="en-US" sz="6600" b="1" dirty="0">
                <a:solidFill>
                  <a:srgbClr val="EB1A63"/>
                </a:solidFill>
                <a:latin typeface="Calibri"/>
              </a:rPr>
              <a:t>28,089</a:t>
            </a:r>
          </a:p>
        </p:txBody>
      </p:sp>
      <p:sp>
        <p:nvSpPr>
          <p:cNvPr id="23" name="StatDesc"/>
          <p:cNvSpPr/>
          <p:nvPr/>
        </p:nvSpPr>
        <p:spPr>
          <a:xfrm>
            <a:off x="508000" y="1879600"/>
            <a:ext cx="2362200" cy="355600"/>
          </a:xfrm>
          <a:prstGeom prst="rect">
            <a:avLst/>
          </a:prstGeom>
          <a:noFill/>
          <a:ln>
            <a:noFill/>
          </a:ln>
        </p:spPr>
        <p:txBody>
          <a:bodyPr wrap="square" lIns="0" tIns="0" rIns="0" bIns="0" anchor="ctr"/>
          <a:lstStyle/>
          <a:p>
            <a:pPr algn="ctr">
              <a:buNone/>
            </a:pPr>
            <a:r>
              <a:rPr lang="en-US" sz="1100" b="1" dirty="0">
                <a:solidFill>
                  <a:srgbClr val="111827"/>
                </a:solidFill>
                <a:latin typeface="Calibri"/>
              </a:rPr>
              <a:t>Active SKUs analysed</a:t>
            </a:r>
          </a:p>
          <a:p>
            <a:pPr algn="ctr">
              <a:buNone/>
            </a:pPr>
            <a:r>
              <a:rPr lang="en-US" sz="900" dirty="0">
                <a:solidFill>
                  <a:srgbClr val="6B7280"/>
                </a:solidFill>
                <a:latin typeface="Calibri"/>
              </a:rPr>
              <a:t>across the full Lovesac catalogue</a:t>
            </a:r>
          </a:p>
        </p:txBody>
      </p:sp>
      <p:sp>
        <p:nvSpPr>
          <p:cNvPr id="24" name="Challenge"/>
          <p:cNvSpPr/>
          <p:nvPr/>
        </p:nvSpPr>
        <p:spPr>
          <a:xfrm>
            <a:off x="508000" y="2336800"/>
            <a:ext cx="2362200" cy="2260600"/>
          </a:xfrm>
          <a:prstGeom prst="rect">
            <a:avLst/>
          </a:prstGeom>
          <a:noFill/>
          <a:ln>
            <a:noFill/>
          </a:ln>
        </p:spPr>
        <p:txBody>
          <a:bodyPr wrap="square" lIns="0" tIns="0" rIns="0" bIns="0" anchor="t"/>
          <a:lstStyle/>
          <a:p>
            <a:pPr>
              <a:lnSpc>
                <a:spcPts val="1100"/>
              </a:lnSpc>
              <a:spcBef>
                <a:spcPts val="300"/>
              </a:spcBef>
              <a:buNone/>
            </a:pPr>
            <a:r>
              <a:rPr lang="en-US" sz="800" b="1" spc="100" dirty="0">
                <a:solidFill>
                  <a:srgbClr val="9CA3AF"/>
                </a:solidFill>
                <a:latin typeface="Calibri"/>
              </a:rPr>
              <a:t>BREAKDOWN</a:t>
            </a:r>
          </a:p>
          <a:p>
            <a:pPr>
              <a:lnSpc>
                <a:spcPts val="1200"/>
              </a:lnSpc>
              <a:spcBef>
                <a:spcPts val="200"/>
              </a:spcBef>
              <a:buNone/>
            </a:pPr>
            <a:r>
              <a:rPr lang="en-US" sz="950" b="1" dirty="0">
                <a:solidFill>
                  <a:srgbClr val="111827"/>
                </a:solidFill>
                <a:latin typeface="Calibri"/>
              </a:rPr>
              <a:t>15,906</a:t>
            </a:r>
            <a:r>
              <a:rPr lang="en-US" sz="950" dirty="0">
                <a:solidFill>
                  <a:srgbClr val="6B7280"/>
                </a:solidFill>
                <a:latin typeface="Calibri"/>
              </a:rPr>
              <a:t>  Sactional</a:t>
            </a:r>
          </a:p>
          <a:p>
            <a:pPr>
              <a:lnSpc>
                <a:spcPts val="1100"/>
              </a:lnSpc>
              <a:spcBef>
                <a:spcPts val="0"/>
              </a:spcBef>
              <a:buNone/>
            </a:pPr>
            <a:r>
              <a:rPr lang="en-US" sz="850" dirty="0">
                <a:solidFill>
                  <a:srgbClr val="6B7280"/>
                </a:solidFill>
                <a:latin typeface="Calibri"/>
              </a:rPr>
              <a:t>15,506 Covers  ·  151 Inserts  ·  249 other</a:t>
            </a:r>
          </a:p>
          <a:p>
            <a:pPr>
              <a:lnSpc>
                <a:spcPts val="1200"/>
              </a:lnSpc>
              <a:spcBef>
                <a:spcPts val="300"/>
              </a:spcBef>
              <a:buNone/>
            </a:pPr>
            <a:r>
              <a:rPr lang="en-US" sz="950" b="1" dirty="0">
                <a:solidFill>
                  <a:srgbClr val="111827"/>
                </a:solidFill>
                <a:latin typeface="Calibri"/>
              </a:rPr>
              <a:t>~6,000</a:t>
            </a:r>
            <a:r>
              <a:rPr lang="en-US" sz="950" dirty="0">
                <a:solidFill>
                  <a:srgbClr val="6B7280"/>
                </a:solidFill>
                <a:latin typeface="Calibri"/>
              </a:rPr>
              <a:t>  Sac &amp; Snugg</a:t>
            </a:r>
          </a:p>
          <a:p>
            <a:pPr>
              <a:lnSpc>
                <a:spcPts val="1200"/>
              </a:lnSpc>
              <a:spcBef>
                <a:spcPts val="300"/>
              </a:spcBef>
              <a:buNone/>
            </a:pPr>
            <a:r>
              <a:rPr lang="en-US" sz="950" b="1" dirty="0">
                <a:solidFill>
                  <a:srgbClr val="111827"/>
                </a:solidFill>
                <a:latin typeface="Calibri"/>
              </a:rPr>
              <a:t>~6,000</a:t>
            </a:r>
            <a:r>
              <a:rPr lang="en-US" sz="950" dirty="0">
                <a:solidFill>
                  <a:srgbClr val="6B7280"/>
                </a:solidFill>
                <a:latin typeface="Calibri"/>
              </a:rPr>
              <a:t>  Accessories &amp; spare parts</a:t>
            </a:r>
          </a:p>
          <a:p>
            <a:pPr>
              <a:lnSpc>
                <a:spcPts val="1200"/>
              </a:lnSpc>
              <a:spcBef>
                <a:spcPts val="400"/>
              </a:spcBef>
              <a:buNone/>
            </a:pPr>
            <a:r>
              <a:rPr lang="en-US" sz="850" dirty="0">
                <a:solidFill>
                  <a:srgbClr val="9CA3AF"/>
                </a:solidFill>
                <a:latin typeface="Calibri"/>
              </a:rPr>
              <a:t>Across 3 brands:  Sactional  ·  Sac  ·  Snugg</a:t>
            </a:r>
          </a:p>
        </p:txBody>
      </p:sp>
      <p:sp>
        <p:nvSpPr>
          <p:cNvPr id="100" name="PC0"/>
          <p:cNvSpPr/>
          <p:nvPr/>
        </p:nvSpPr>
        <p:spPr>
          <a:xfrm>
            <a:off x="3175000" y="838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PA0"/>
          <p:cNvSpPr/>
          <p:nvPr/>
        </p:nvSpPr>
        <p:spPr>
          <a:xfrm>
            <a:off x="3175000" y="838200"/>
            <a:ext cx="50800" cy="1244600"/>
          </a:xfrm>
          <a:prstGeom prst="roundRect">
            <a:avLst>
              <a:gd name="adj" fmla="val 50000"/>
            </a:avLst>
          </a:prstGeom>
          <a:solidFill>
            <a:srgbClr val="EB1A63"/>
          </a:solidFill>
          <a:ln>
            <a:noFill/>
          </a:ln>
        </p:spPr>
        <p:txBody>
          <a:bodyPr/>
          <a:lstStyle/>
          <a:p>
            <a:endParaRPr lang="en-US"/>
          </a:p>
        </p:txBody>
      </p:sp>
      <p:sp>
        <p:nvSpPr>
          <p:cNvPr id="102" name="PL0"/>
          <p:cNvSpPr/>
          <p:nvPr/>
        </p:nvSpPr>
        <p:spPr>
          <a:xfrm>
            <a:off x="3378200" y="965200"/>
            <a:ext cx="5613400" cy="177800"/>
          </a:xfrm>
          <a:prstGeom prst="rect">
            <a:avLst/>
          </a:prstGeom>
          <a:noFill/>
          <a:ln>
            <a:noFill/>
          </a:ln>
        </p:spPr>
        <p:txBody>
          <a:bodyPr wrap="square" lIns="0" tIns="0" rIns="0" bIns="0" anchor="t"/>
          <a:lstStyle/>
          <a:p>
            <a:pPr>
              <a:buNone/>
            </a:pPr>
            <a:r>
              <a:rPr lang="en-US" sz="800" b="1" spc="100" dirty="0">
                <a:solidFill>
                  <a:srgbClr val="EB1A63"/>
                </a:solidFill>
                <a:latin typeface="Calibri"/>
              </a:rPr>
              <a:t>CATALOG STRUCTURE</a:t>
            </a:r>
          </a:p>
        </p:txBody>
      </p:sp>
      <p:sp>
        <p:nvSpPr>
          <p:cNvPr id="103" name="PT0"/>
          <p:cNvSpPr/>
          <p:nvPr/>
        </p:nvSpPr>
        <p:spPr>
          <a:xfrm>
            <a:off x="3378200" y="1168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Compatibility is encodable from two fields</a:t>
            </a:r>
          </a:p>
        </p:txBody>
      </p:sp>
      <p:sp>
        <p:nvSpPr>
          <p:cNvPr id="104" name="PD0"/>
          <p:cNvSpPr/>
          <p:nvPr/>
        </p:nvSpPr>
        <p:spPr>
          <a:xfrm>
            <a:off x="3378200" y="1447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Across all 15,506 Cover SKUs, Cover ↔ Insert compatibility resolves from Product == Product AND Sactional_Size == Sactional_Size. A single Dynamic Relationship in DX Graph replaces tens of thousands of manual mappings — and new SKUs are covered automatically.</a:t>
            </a:r>
          </a:p>
        </p:txBody>
      </p:sp>
      <p:sp>
        <p:nvSpPr>
          <p:cNvPr id="110" name="PC1"/>
          <p:cNvSpPr/>
          <p:nvPr/>
        </p:nvSpPr>
        <p:spPr>
          <a:xfrm>
            <a:off x="3175000" y="21717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PA1"/>
          <p:cNvSpPr/>
          <p:nvPr/>
        </p:nvSpPr>
        <p:spPr>
          <a:xfrm>
            <a:off x="3175000" y="2171700"/>
            <a:ext cx="50800" cy="1244600"/>
          </a:xfrm>
          <a:prstGeom prst="roundRect">
            <a:avLst>
              <a:gd name="adj" fmla="val 50000"/>
            </a:avLst>
          </a:prstGeom>
          <a:solidFill>
            <a:srgbClr val="07BCD6"/>
          </a:solidFill>
          <a:ln>
            <a:noFill/>
          </a:ln>
        </p:spPr>
        <p:txBody>
          <a:bodyPr/>
          <a:lstStyle/>
          <a:p>
            <a:endParaRPr lang="en-US"/>
          </a:p>
        </p:txBody>
      </p:sp>
      <p:sp>
        <p:nvSpPr>
          <p:cNvPr id="112" name="PL1"/>
          <p:cNvSpPr/>
          <p:nvPr/>
        </p:nvSpPr>
        <p:spPr>
          <a:xfrm>
            <a:off x="3378200" y="2298700"/>
            <a:ext cx="5613400" cy="177800"/>
          </a:xfrm>
          <a:prstGeom prst="rect">
            <a:avLst/>
          </a:prstGeom>
          <a:noFill/>
          <a:ln>
            <a:noFill/>
          </a:ln>
        </p:spPr>
        <p:txBody>
          <a:bodyPr wrap="square" lIns="0" tIns="0" rIns="0" bIns="0" anchor="t"/>
          <a:lstStyle/>
          <a:p>
            <a:pPr>
              <a:buNone/>
            </a:pPr>
            <a:r>
              <a:rPr lang="en-US" sz="800" b="1" spc="100" dirty="0">
                <a:solidFill>
                  <a:srgbClr val="07BCD6"/>
                </a:solidFill>
                <a:latin typeface="Calibri"/>
              </a:rPr>
              <a:t>DATA QUALITY</a:t>
            </a:r>
          </a:p>
        </p:txBody>
      </p:sp>
      <p:sp>
        <p:nvSpPr>
          <p:cNvPr id="113" name="PT1"/>
          <p:cNvSpPr/>
          <p:nvPr/>
        </p:nvSpPr>
        <p:spPr>
          <a:xfrm>
            <a:off x="3378200" y="25019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Inconsistent attribute naming across product families</a:t>
            </a:r>
          </a:p>
        </p:txBody>
      </p:sp>
      <p:sp>
        <p:nvSpPr>
          <p:cNvPr id="114" name="PD1"/>
          <p:cNvSpPr/>
          <p:nvPr/>
        </p:nvSpPr>
        <p:spPr>
          <a:xfrm>
            <a:off x="3378200" y="27813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Color, fabric, and dimension fields use different naming conventions across Sactional, Sac, and Snugg. Recommend a normalisation pass during ingest to establish canonical attribute keys. Also observed: ~18 attribute fields per SKU; multiple legacy naming conventions; some product-line ambiguity (e.g. Squattoman: Sac or Ottoman?).</a:t>
            </a:r>
          </a:p>
        </p:txBody>
      </p:sp>
      <p:sp>
        <p:nvSpPr>
          <p:cNvPr id="120" name="PC2"/>
          <p:cNvSpPr/>
          <p:nvPr/>
        </p:nvSpPr>
        <p:spPr>
          <a:xfrm>
            <a:off x="3175000" y="3505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PA2"/>
          <p:cNvSpPr/>
          <p:nvPr/>
        </p:nvSpPr>
        <p:spPr>
          <a:xfrm>
            <a:off x="3175000" y="3505200"/>
            <a:ext cx="50800" cy="1244600"/>
          </a:xfrm>
          <a:prstGeom prst="roundRect">
            <a:avLst>
              <a:gd name="adj" fmla="val 50000"/>
            </a:avLst>
          </a:prstGeom>
          <a:solidFill>
            <a:srgbClr val="8AC542"/>
          </a:solidFill>
          <a:ln>
            <a:noFill/>
          </a:ln>
        </p:spPr>
        <p:txBody>
          <a:bodyPr/>
          <a:lstStyle/>
          <a:p>
            <a:endParaRPr lang="en-US"/>
          </a:p>
        </p:txBody>
      </p:sp>
      <p:sp>
        <p:nvSpPr>
          <p:cNvPr id="122" name="PL2"/>
          <p:cNvSpPr/>
          <p:nvPr/>
        </p:nvSpPr>
        <p:spPr>
          <a:xfrm>
            <a:off x="3378200" y="3632200"/>
            <a:ext cx="5613400" cy="177800"/>
          </a:xfrm>
          <a:prstGeom prst="rect">
            <a:avLst/>
          </a:prstGeom>
          <a:noFill/>
          <a:ln>
            <a:noFill/>
          </a:ln>
        </p:spPr>
        <p:txBody>
          <a:bodyPr wrap="square" lIns="0" tIns="0" rIns="0" bIns="0" anchor="t"/>
          <a:lstStyle/>
          <a:p>
            <a:pPr>
              <a:buNone/>
            </a:pPr>
            <a:r>
              <a:rPr lang="en-US" sz="800" b="1" spc="100" dirty="0">
                <a:solidFill>
                  <a:srgbClr val="8AC542"/>
                </a:solidFill>
                <a:latin typeface="Calibri"/>
              </a:rPr>
              <a:t>INTEGRATION READINESS</a:t>
            </a:r>
          </a:p>
        </p:txBody>
      </p:sp>
      <p:sp>
        <p:nvSpPr>
          <p:cNvPr id="123" name="PT2"/>
          <p:cNvSpPr/>
          <p:nvPr/>
        </p:nvSpPr>
        <p:spPr>
          <a:xfrm>
            <a:off x="3378200" y="3835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The big question is data access, not data shape</a:t>
            </a:r>
          </a:p>
        </p:txBody>
      </p:sp>
      <p:sp>
        <p:nvSpPr>
          <p:cNvPr id="124" name="PD2"/>
          <p:cNvSpPr/>
          <p:nvPr/>
        </p:nvSpPr>
        <p:spPr>
          <a:xfrm>
            <a:off x="3378200" y="4114800"/>
            <a:ext cx="5613400" cy="609600"/>
          </a:xfrm>
          <a:prstGeom prst="rect">
            <a:avLst/>
          </a:prstGeom>
          <a:noFill/>
          <a:ln>
            <a:noFill/>
          </a:ln>
        </p:spPr>
        <p:txBody>
          <a:bodyPr wrap="square" lIns="0" tIns="0" rIns="0" bIns="0" anchor="t"/>
          <a:lstStyle/>
          <a:p>
            <a:pPr>
              <a:lnSpc>
                <a:spcPts val="1200"/>
              </a:lnSpc>
              <a:buNone/>
            </a:pPr>
            <a:r>
              <a:rPr lang="en-US" sz="1000" dirty="0">
                <a:solidFill>
                  <a:srgbClr val="6B7280"/>
                </a:solidFill>
                <a:latin typeface="Calibri"/>
              </a:rPr>
              <a:t>The product catalogue models cleanly. The open question is how data reaches Conscia from each source backend — API pull, file export via Celigo, or direct database. Confirming this for each of the 3 source systems is the first dependency on the timeline.</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2191922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457200"/>
          </a:xfrm>
          <a:prstGeom prst="rect">
            <a:avLst/>
          </a:prstGeom>
          <a:noFill/>
          <a:ln>
            <a:noFill/>
          </a:ln>
        </p:spPr>
        <p:txBody>
          <a:bodyPr wrap="square" lIns="0" tIns="0" rIns="0" bIns="0" anchor="b"/>
          <a:lstStyle/>
          <a:p>
            <a:pPr>
              <a:buNone/>
            </a:pPr>
            <a:r>
              <a:rPr lang="en-US" sz="2000" b="1" dirty="0">
                <a:solidFill>
                  <a:srgbClr val="111827"/>
                </a:solidFill>
              </a:rPr>
              <a:t>Ways of Working</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6" name="TeamCardBG"/>
          <p:cNvSpPr/>
          <p:nvPr/>
        </p:nvSpPr>
        <p:spPr>
          <a:xfrm>
            <a:off x="254000" y="914400"/>
            <a:ext cx="5334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7" name="TeamAccent"/>
          <p:cNvSpPr/>
          <p:nvPr/>
        </p:nvSpPr>
        <p:spPr>
          <a:xfrm>
            <a:off x="254000" y="914400"/>
            <a:ext cx="5334000" cy="50800"/>
          </a:xfrm>
          <a:prstGeom prst="roundRect">
            <a:avLst>
              <a:gd name="adj" fmla="val 4000"/>
            </a:avLst>
          </a:prstGeom>
          <a:solidFill>
            <a:srgbClr val="EB1A63"/>
          </a:solidFill>
          <a:ln>
            <a:noFill/>
          </a:ln>
        </p:spPr>
        <p:txBody>
          <a:bodyPr/>
          <a:lstStyle/>
          <a:p>
            <a:endParaRPr lang="en-US"/>
          </a:p>
        </p:txBody>
      </p:sp>
      <p:sp>
        <p:nvSpPr>
          <p:cNvPr id="8" name="TeamLabel"/>
          <p:cNvSpPr/>
          <p:nvPr/>
        </p:nvSpPr>
        <p:spPr>
          <a:xfrm>
            <a:off x="355600" y="990600"/>
            <a:ext cx="2000000" cy="228600"/>
          </a:xfrm>
          <a:prstGeom prst="rect">
            <a:avLst/>
          </a:prstGeom>
          <a:noFill/>
          <a:ln>
            <a:noFill/>
          </a:ln>
        </p:spPr>
        <p:txBody>
          <a:bodyPr wrap="square" lIns="0" tIns="0" rIns="0" bIns="0" anchor="ctr"/>
          <a:lstStyle/>
          <a:p>
            <a:pPr>
              <a:buNone/>
            </a:pPr>
            <a:r>
              <a:rPr lang="en-US" sz="900" b="1" dirty="0">
                <a:solidFill>
                  <a:srgbClr val="EB1A63"/>
                </a:solidFill>
              </a:rPr>
              <a:t>TEAM STRUCTURE</a:t>
            </a:r>
          </a:p>
        </p:txBody>
      </p:sp>
      <p:graphicFrame>
        <p:nvGraphicFramePr>
          <p:cNvPr id="9" name="TeamTable"/>
          <p:cNvGraphicFramePr>
            <a:graphicFrameLocks noGrp="1"/>
          </p:cNvGraphicFramePr>
          <p:nvPr/>
        </p:nvGraphicFramePr>
        <p:xfrm>
          <a:off x="355600" y="1219200"/>
          <a:ext cx="5029200" cy="284480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82600">
                <a:tc>
                  <a:txBody>
                    <a:bodyPr/>
                    <a:lstStyle/>
                    <a:p>
                      <a:pPr algn="l">
                        <a:buNone/>
                      </a:pPr>
                      <a:r>
                        <a:rPr lang="en-US" sz="900" b="1" dirty="0">
                          <a:solidFill>
                            <a:srgbClr val="FFFFFF"/>
                          </a:solidFill>
                        </a:rPr>
                        <a:t>Role</a:t>
                      </a:r>
                    </a:p>
                  </a:txBody>
                  <a:tcPr>
                    <a:solidFill>
                      <a:srgbClr val="EB1A63"/>
                    </a:solidFill>
                  </a:tcPr>
                </a:tc>
                <a:tc>
                  <a:txBody>
                    <a:bodyPr/>
                    <a:lstStyle/>
                    <a:p>
                      <a:pPr algn="ctr">
                        <a:buNone/>
                      </a:pPr>
                      <a:r>
                        <a:rPr lang="en-US" sz="900" b="1" dirty="0">
                          <a:solidFill>
                            <a:srgbClr val="FFFFFF"/>
                          </a:solidFill>
                        </a:rPr>
                        <a:t>Conscia</a:t>
                      </a:r>
                    </a:p>
                  </a:txBody>
                  <a:tcPr>
                    <a:solidFill>
                      <a:srgbClr val="EB1A63"/>
                    </a:solidFill>
                  </a:tcPr>
                </a:tc>
                <a:tc>
                  <a:txBody>
                    <a:bodyPr/>
                    <a:lstStyle/>
                    <a:p>
                      <a:pPr algn="ctr">
                        <a:buNone/>
                      </a:pPr>
                      <a:r>
                        <a:rPr lang="en-US" sz="900" b="1" dirty="0">
                          <a:solidFill>
                            <a:srgbClr val="FFFFFF"/>
                          </a:solidFill>
                        </a:rPr>
                        <a:t>Lovesac</a:t>
                      </a:r>
                    </a:p>
                  </a:txBody>
                  <a:tcPr>
                    <a:solidFill>
                      <a:srgbClr val="EB1A63"/>
                    </a:solidFill>
                  </a:tcPr>
                </a:tc>
                <a:extLst>
                  <a:ext uri="{0D108BD9-81ED-4DB2-BD59-A6C34878D82A}">
                    <a16:rowId xmlns:a16="http://schemas.microsoft.com/office/drawing/2014/main" val="10000"/>
                  </a:ext>
                </a:extLst>
              </a:tr>
              <a:tr h="393700">
                <a:tc>
                  <a:txBody>
                    <a:bodyPr/>
                    <a:lstStyle/>
                    <a:p>
                      <a:pPr algn="l">
                        <a:buNone/>
                      </a:pPr>
                      <a:r>
                        <a:rPr lang="en-US" sz="850" dirty="0">
                          <a:solidFill>
                            <a:srgbClr val="374151"/>
                          </a:solidFill>
                        </a:rPr>
                        <a:t>Executive Sponsor</a:t>
                      </a:r>
                    </a:p>
                  </a:txBody>
                  <a:tcPr>
                    <a:solidFill>
                      <a:srgbClr val="FFFFFF"/>
                    </a:solidFill>
                  </a:tcPr>
                </a:tc>
                <a:tc>
                  <a:txBody>
                    <a:bodyPr/>
                    <a:lstStyle/>
                    <a:p>
                      <a:pPr algn="ctr">
                        <a:buNone/>
                      </a:pPr>
                      <a:r>
                        <a:rPr lang="en-US" sz="850" dirty="0">
                          <a:solidFill>
                            <a:srgbClr val="374151"/>
                          </a:solidFill>
                        </a:rPr>
                        <a:t>Sana</a:t>
                      </a:r>
                    </a:p>
                  </a:txBody>
                  <a:tcPr>
                    <a:solidFill>
                      <a:srgbClr val="F9FAFB"/>
                    </a:solidFill>
                  </a:tcPr>
                </a:tc>
                <a:tc>
                  <a:txBody>
                    <a:bodyPr/>
                    <a:lstStyle/>
                    <a:p>
                      <a:pPr algn="ctr">
                        <a:buNone/>
                      </a:pPr>
                      <a:r>
                        <a:rPr lang="en-US" sz="850" dirty="0">
                          <a:solidFill>
                            <a:srgbClr val="374151"/>
                          </a:solidFill>
                        </a:rPr>
                        <a:t>Emilia</a:t>
                      </a:r>
                    </a:p>
                  </a:txBody>
                  <a:tcPr>
                    <a:solidFill>
                      <a:srgbClr val="F9FAFB"/>
                    </a:solidFill>
                  </a:tcPr>
                </a:tc>
                <a:extLst>
                  <a:ext uri="{0D108BD9-81ED-4DB2-BD59-A6C34878D82A}">
                    <a16:rowId xmlns:a16="http://schemas.microsoft.com/office/drawing/2014/main" val="10001"/>
                  </a:ext>
                </a:extLst>
              </a:tr>
              <a:tr h="393700">
                <a:tc>
                  <a:txBody>
                    <a:bodyPr/>
                    <a:lstStyle/>
                    <a:p>
                      <a:pPr algn="l">
                        <a:buNone/>
                      </a:pPr>
                      <a:r>
                        <a:rPr lang="en-US" sz="850" dirty="0">
                          <a:solidFill>
                            <a:srgbClr val="374151"/>
                          </a:solidFill>
                        </a:rPr>
                        <a:t>Project Lead</a:t>
                      </a:r>
                    </a:p>
                  </a:txBody>
                  <a:tcPr>
                    <a:solidFill>
                      <a:srgbClr val="F9FAFB"/>
                    </a:solidFill>
                  </a:tcPr>
                </a:tc>
                <a:tc>
                  <a:txBody>
                    <a:bodyPr/>
                    <a:lstStyle/>
                    <a:p>
                      <a:pPr algn="ctr">
                        <a:buNone/>
                      </a:pPr>
                      <a:r>
                        <a:rPr lang="en-US" sz="850" dirty="0">
                          <a:solidFill>
                            <a:srgbClr val="374151"/>
                          </a:solidFill>
                        </a:rPr>
                        <a:t>Morgan</a:t>
                      </a:r>
                    </a:p>
                  </a:txBody>
                  <a:tcPr>
                    <a:solidFill>
                      <a:srgbClr val="FFFFFF"/>
                    </a:solidFill>
                  </a:tcPr>
                </a:tc>
                <a:tc>
                  <a:txBody>
                    <a:bodyPr/>
                    <a:lstStyle/>
                    <a:p>
                      <a:pPr algn="ctr">
                        <a:buNone/>
                      </a:pPr>
                      <a:r>
                        <a:rPr lang="en-US" sz="850" i="1" dirty="0">
                          <a:solidFill>
                            <a:srgbClr val="9CA3AF"/>
                          </a:solidFill>
                        </a:rPr>
                        <a:t>TBC at kickoff</a:t>
                      </a:r>
                    </a:p>
                  </a:txBody>
                  <a:tcPr>
                    <a:solidFill>
                      <a:srgbClr val="F5F6F7"/>
                    </a:solidFill>
                  </a:tcPr>
                </a:tc>
                <a:extLst>
                  <a:ext uri="{0D108BD9-81ED-4DB2-BD59-A6C34878D82A}">
                    <a16:rowId xmlns:a16="http://schemas.microsoft.com/office/drawing/2014/main" val="10002"/>
                  </a:ext>
                </a:extLst>
              </a:tr>
              <a:tr h="393700">
                <a:tc>
                  <a:txBody>
                    <a:bodyPr/>
                    <a:lstStyle/>
                    <a:p>
                      <a:pPr algn="l">
                        <a:buNone/>
                      </a:pPr>
                      <a:r>
                        <a:rPr lang="en-US" sz="850" dirty="0">
                          <a:solidFill>
                            <a:srgbClr val="374151"/>
                          </a:solidFill>
                        </a:rPr>
                        <a:t>Solution Architect</a:t>
                      </a:r>
                    </a:p>
                  </a:txBody>
                  <a:tcPr>
                    <a:solidFill>
                      <a:srgbClr val="FFFFFF"/>
                    </a:solidFill>
                  </a:tcPr>
                </a:tc>
                <a:tc>
                  <a:txBody>
                    <a:bodyPr/>
                    <a:lstStyle/>
                    <a:p>
                      <a:pPr algn="ctr">
                        <a:buNone/>
                      </a:pPr>
                      <a:r>
                        <a:rPr lang="en-US" sz="850" dirty="0">
                          <a:solidFill>
                            <a:srgbClr val="374151"/>
                          </a:solidFill>
                        </a:rPr>
                        <a:t>David</a:t>
                      </a:r>
                    </a:p>
                  </a:txBody>
                  <a:tcPr>
                    <a:solidFill>
                      <a:srgbClr val="F9FAFB"/>
                    </a:solidFill>
                  </a:tcPr>
                </a:tc>
                <a:tc>
                  <a:txBody>
                    <a:bodyPr/>
                    <a:lstStyle/>
                    <a:p>
                      <a:pPr algn="ctr">
                        <a:buNone/>
                      </a:pPr>
                      <a:r>
                        <a:rPr lang="en-US" sz="850" dirty="0">
                          <a:solidFill>
                            <a:srgbClr val="374151"/>
                          </a:solidFill>
                        </a:rPr>
                        <a:t>Tate Swanson</a:t>
                      </a:r>
                    </a:p>
                  </a:txBody>
                  <a:tcPr>
                    <a:solidFill>
                      <a:srgbClr val="F9FAFB"/>
                    </a:solidFill>
                  </a:tcPr>
                </a:tc>
                <a:extLst>
                  <a:ext uri="{0D108BD9-81ED-4DB2-BD59-A6C34878D82A}">
                    <a16:rowId xmlns:a16="http://schemas.microsoft.com/office/drawing/2014/main" val="10003"/>
                  </a:ext>
                </a:extLst>
              </a:tr>
              <a:tr h="393700">
                <a:tc>
                  <a:txBody>
                    <a:bodyPr/>
                    <a:lstStyle/>
                    <a:p>
                      <a:pPr algn="l">
                        <a:buNone/>
                      </a:pPr>
                      <a:r>
                        <a:rPr lang="en-US" sz="850" dirty="0">
                          <a:solidFill>
                            <a:srgbClr val="374151"/>
                          </a:solidFill>
                        </a:rPr>
                        <a:t>Solution Engineer</a:t>
                      </a:r>
                    </a:p>
                  </a:txBody>
                  <a:tcPr>
                    <a:solidFill>
                      <a:srgbClr val="F9FAFB"/>
                    </a:solidFill>
                  </a:tcPr>
                </a:tc>
                <a:tc>
                  <a:txBody>
                    <a:bodyPr/>
                    <a:lstStyle/>
                    <a:p>
                      <a:pPr algn="ctr">
                        <a:buNone/>
                      </a:pPr>
                      <a:r>
                        <a:rPr lang="en-US" sz="850" dirty="0">
                          <a:solidFill>
                            <a:srgbClr val="374151"/>
                          </a:solidFill>
                        </a:rPr>
                        <a:t>Laurel</a:t>
                      </a:r>
                    </a:p>
                  </a:txBody>
                  <a:tcPr>
                    <a:solidFill>
                      <a:srgbClr val="FFFFFF"/>
                    </a:solidFill>
                  </a:tcPr>
                </a:tc>
                <a:tc>
                  <a:txBody>
                    <a:bodyPr/>
                    <a:lstStyle/>
                    <a:p>
                      <a:pPr algn="ctr">
                        <a:buNone/>
                      </a:pPr>
                      <a:r>
                        <a:rPr lang="en-US" sz="850" i="1" dirty="0">
                          <a:solidFill>
                            <a:srgbClr val="9CA3AF"/>
                          </a:solidFill>
                        </a:rPr>
                        <a:t>Data owner — TBC</a:t>
                      </a:r>
                    </a:p>
                  </a:txBody>
                  <a:tcPr>
                    <a:solidFill>
                      <a:srgbClr val="F5F6F7"/>
                    </a:solidFill>
                  </a:tcPr>
                </a:tc>
                <a:extLst>
                  <a:ext uri="{0D108BD9-81ED-4DB2-BD59-A6C34878D82A}">
                    <a16:rowId xmlns:a16="http://schemas.microsoft.com/office/drawing/2014/main" val="10004"/>
                  </a:ext>
                </a:extLst>
              </a:tr>
              <a:tr h="393700">
                <a:tc>
                  <a:txBody>
                    <a:bodyPr/>
                    <a:lstStyle/>
                    <a:p>
                      <a:pPr algn="l">
                        <a:buNone/>
                      </a:pPr>
                      <a:r>
                        <a:rPr lang="en-US" sz="850" dirty="0">
                          <a:solidFill>
                            <a:srgbClr val="374151"/>
                          </a:solidFill>
                        </a:rPr>
                        <a:t>Platform Engineer</a:t>
                      </a:r>
                    </a:p>
                  </a:txBody>
                  <a:tcPr>
                    <a:solidFill>
                      <a:srgbClr val="FFFFFF"/>
                    </a:solidFill>
                  </a:tcPr>
                </a:tc>
                <a:tc>
                  <a:txBody>
                    <a:bodyPr/>
                    <a:lstStyle/>
                    <a:p>
                      <a:pPr algn="ctr">
                        <a:buNone/>
                      </a:pPr>
                      <a:r>
                        <a:rPr lang="en-US" sz="850" dirty="0">
                          <a:solidFill>
                            <a:srgbClr val="374151"/>
                          </a:solidFill>
                        </a:rPr>
                        <a:t>Harshil</a:t>
                      </a:r>
                    </a:p>
                  </a:txBody>
                  <a:tcPr>
                    <a:solidFill>
                      <a:srgbClr val="F9FAFB"/>
                    </a:solidFill>
                  </a:tcPr>
                </a:tc>
                <a:tc>
                  <a:txBody>
                    <a:bodyPr/>
                    <a:lstStyle/>
                    <a:p>
                      <a:pPr algn="ctr">
                        <a:buNone/>
                      </a:pPr>
                      <a:r>
                        <a:rPr lang="en-US" sz="850" i="1" dirty="0">
                          <a:solidFill>
                            <a:srgbClr val="9CA3AF"/>
                          </a:solidFill>
                        </a:rPr>
                        <a:t>Tech lead — TBC</a:t>
                      </a:r>
                    </a:p>
                  </a:txBody>
                  <a:tcPr>
                    <a:solidFill>
                      <a:srgbClr val="EDF0F2"/>
                    </a:solidFill>
                  </a:tcPr>
                </a:tc>
                <a:extLst>
                  <a:ext uri="{0D108BD9-81ED-4DB2-BD59-A6C34878D82A}">
                    <a16:rowId xmlns:a16="http://schemas.microsoft.com/office/drawing/2014/main" val="10005"/>
                  </a:ext>
                </a:extLst>
              </a:tr>
              <a:tr h="393700">
                <a:tc>
                  <a:txBody>
                    <a:bodyPr/>
                    <a:lstStyle/>
                    <a:p>
                      <a:pPr algn="l">
                        <a:buNone/>
                      </a:pPr>
                      <a:r>
                        <a:rPr lang="en-US" sz="850" dirty="0">
                          <a:solidFill>
                            <a:srgbClr val="374151"/>
                          </a:solidFill>
                        </a:rPr>
                        <a:t>QA / Testing</a:t>
                      </a:r>
                    </a:p>
                  </a:txBody>
                  <a:tcPr>
                    <a:solidFill>
                      <a:srgbClr val="F9FAFB"/>
                    </a:solidFill>
                  </a:tcPr>
                </a:tc>
                <a:tc>
                  <a:txBody>
                    <a:bodyPr/>
                    <a:lstStyle/>
                    <a:p>
                      <a:pPr algn="ctr">
                        <a:buNone/>
                      </a:pPr>
                      <a:r>
                        <a:rPr lang="en-US" sz="850" dirty="0">
                          <a:solidFill>
                            <a:srgbClr val="374151"/>
                          </a:solidFill>
                        </a:rPr>
                        <a:t>Laurel &amp; Harshil</a:t>
                      </a:r>
                    </a:p>
                  </a:txBody>
                  <a:tcPr>
                    <a:solidFill>
                      <a:srgbClr val="FFFFFF"/>
                    </a:solidFill>
                  </a:tcPr>
                </a:tc>
                <a:tc>
                  <a:txBody>
                    <a:bodyPr/>
                    <a:lstStyle/>
                    <a:p>
                      <a:pPr algn="ctr">
                        <a:buNone/>
                      </a:pPr>
                      <a:r>
                        <a:rPr lang="en-US" sz="850" i="1" dirty="0">
                          <a:solidFill>
                            <a:srgbClr val="9CA3AF"/>
                          </a:solidFill>
                        </a:rPr>
                        <a:t>TBC</a:t>
                      </a:r>
                    </a:p>
                  </a:txBody>
                  <a:tcPr>
                    <a:solidFill>
                      <a:srgbClr val="F5F6F7"/>
                    </a:solidFill>
                  </a:tcPr>
                </a:tc>
                <a:extLst>
                  <a:ext uri="{0D108BD9-81ED-4DB2-BD59-A6C34878D82A}">
                    <a16:rowId xmlns:a16="http://schemas.microsoft.com/office/drawing/2014/main" val="10006"/>
                  </a:ext>
                </a:extLst>
              </a:tr>
            </a:tbl>
          </a:graphicData>
        </a:graphic>
      </p:graphicFrame>
      <p:sp>
        <p:nvSpPr>
          <p:cNvPr id="40" name="CadCardBG"/>
          <p:cNvSpPr/>
          <p:nvPr/>
        </p:nvSpPr>
        <p:spPr>
          <a:xfrm>
            <a:off x="5715000" y="914400"/>
            <a:ext cx="3175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41" name="CadAccent"/>
          <p:cNvSpPr/>
          <p:nvPr/>
        </p:nvSpPr>
        <p:spPr>
          <a:xfrm>
            <a:off x="5715000" y="914400"/>
            <a:ext cx="3175000" cy="50800"/>
          </a:xfrm>
          <a:prstGeom prst="roundRect">
            <a:avLst>
              <a:gd name="adj" fmla="val 4000"/>
            </a:avLst>
          </a:prstGeom>
          <a:solidFill>
            <a:srgbClr val="07BCD6"/>
          </a:solidFill>
          <a:ln>
            <a:noFill/>
          </a:ln>
        </p:spPr>
        <p:txBody>
          <a:bodyPr/>
          <a:lstStyle/>
          <a:p>
            <a:endParaRPr lang="en-US"/>
          </a:p>
        </p:txBody>
      </p:sp>
      <p:sp>
        <p:nvSpPr>
          <p:cNvPr id="42" name="CadLabel"/>
          <p:cNvSpPr/>
          <p:nvPr/>
        </p:nvSpPr>
        <p:spPr>
          <a:xfrm>
            <a:off x="5816600" y="990600"/>
            <a:ext cx="2000000" cy="228600"/>
          </a:xfrm>
          <a:prstGeom prst="rect">
            <a:avLst/>
          </a:prstGeom>
          <a:noFill/>
          <a:ln>
            <a:noFill/>
          </a:ln>
        </p:spPr>
        <p:txBody>
          <a:bodyPr wrap="square" lIns="0" tIns="0" rIns="0" bIns="0" anchor="ctr"/>
          <a:lstStyle/>
          <a:p>
            <a:pPr>
              <a:buNone/>
            </a:pPr>
            <a:r>
              <a:rPr lang="en-US" sz="900" b="1" dirty="0">
                <a:solidFill>
                  <a:srgbClr val="07BCD6"/>
                </a:solidFill>
              </a:rPr>
              <a:t>WORKING CADENCE</a:t>
            </a:r>
          </a:p>
        </p:txBody>
      </p:sp>
      <p:sp>
        <p:nvSpPr>
          <p:cNvPr id="50" name="Cad0BG"/>
          <p:cNvSpPr/>
          <p:nvPr/>
        </p:nvSpPr>
        <p:spPr>
          <a:xfrm>
            <a:off x="5715000" y="10414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1" name="Cad0Dot"/>
          <p:cNvSpPr/>
          <p:nvPr/>
        </p:nvSpPr>
        <p:spPr>
          <a:xfrm>
            <a:off x="5816600" y="1244600"/>
            <a:ext cx="101600" cy="101600"/>
          </a:xfrm>
          <a:prstGeom prst="ellipse">
            <a:avLst/>
          </a:prstGeom>
          <a:solidFill>
            <a:srgbClr val="EB1A63"/>
          </a:solidFill>
          <a:ln>
            <a:noFill/>
          </a:ln>
        </p:spPr>
        <p:txBody>
          <a:bodyPr/>
          <a:lstStyle/>
          <a:p>
            <a:endParaRPr lang="en-US"/>
          </a:p>
        </p:txBody>
      </p:sp>
      <p:sp>
        <p:nvSpPr>
          <p:cNvPr id="52" name="Cad0Text"/>
          <p:cNvSpPr/>
          <p:nvPr/>
        </p:nvSpPr>
        <p:spPr>
          <a:xfrm>
            <a:off x="5994400" y="1092200"/>
            <a:ext cx="2794000" cy="406400"/>
          </a:xfrm>
          <a:prstGeom prst="rect">
            <a:avLst/>
          </a:prstGeom>
          <a:noFill/>
          <a:ln>
            <a:noFill/>
          </a:ln>
        </p:spPr>
        <p:txBody>
          <a:bodyPr wrap="square" lIns="0" tIns="0" rIns="0" bIns="0" anchor="ctr"/>
          <a:lstStyle/>
          <a:p>
            <a:pPr>
              <a:buNone/>
            </a:pPr>
            <a:r>
              <a:rPr lang="en-US" sz="750" b="1" dirty="0">
                <a:solidFill>
                  <a:srgbClr val="EB1A63"/>
                </a:solidFill>
              </a:rPr>
              <a:t>Weekly</a:t>
            </a:r>
            <a:r>
              <a:rPr lang="en-US" sz="900" b="1" dirty="0">
                <a:solidFill>
                  <a:srgbClr val="111827"/>
                </a:solidFill>
              </a:rPr>
              <a:t>  Project Standup</a:t>
            </a:r>
          </a:p>
          <a:p>
            <a:pPr>
              <a:buNone/>
            </a:pPr>
            <a:r>
              <a:rPr lang="en-US" sz="750" dirty="0">
                <a:solidFill>
                  <a:srgbClr val="6B7280"/>
                </a:solidFill>
              </a:rPr>
              <a:t>30 min · Both teams · Status, blockers, decisions</a:t>
            </a:r>
          </a:p>
        </p:txBody>
      </p:sp>
      <p:sp>
        <p:nvSpPr>
          <p:cNvPr id="53" name="Cad1BG"/>
          <p:cNvSpPr/>
          <p:nvPr/>
        </p:nvSpPr>
        <p:spPr>
          <a:xfrm>
            <a:off x="5715000" y="16256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4" name="Cad1Dot"/>
          <p:cNvSpPr/>
          <p:nvPr/>
        </p:nvSpPr>
        <p:spPr>
          <a:xfrm>
            <a:off x="5816600" y="1828800"/>
            <a:ext cx="101600" cy="101600"/>
          </a:xfrm>
          <a:prstGeom prst="ellipse">
            <a:avLst/>
          </a:prstGeom>
          <a:solidFill>
            <a:srgbClr val="07BCD6"/>
          </a:solidFill>
          <a:ln>
            <a:noFill/>
          </a:ln>
        </p:spPr>
        <p:txBody>
          <a:bodyPr/>
          <a:lstStyle/>
          <a:p>
            <a:endParaRPr lang="en-US"/>
          </a:p>
        </p:txBody>
      </p:sp>
      <p:sp>
        <p:nvSpPr>
          <p:cNvPr id="55" name="Cad1Text"/>
          <p:cNvSpPr/>
          <p:nvPr/>
        </p:nvSpPr>
        <p:spPr>
          <a:xfrm>
            <a:off x="5994400" y="1676400"/>
            <a:ext cx="2794000" cy="406400"/>
          </a:xfrm>
          <a:prstGeom prst="rect">
            <a:avLst/>
          </a:prstGeom>
          <a:noFill/>
          <a:ln>
            <a:noFill/>
          </a:ln>
        </p:spPr>
        <p:txBody>
          <a:bodyPr wrap="square" lIns="0" tIns="0" rIns="0" bIns="0" anchor="ctr"/>
          <a:lstStyle/>
          <a:p>
            <a:pPr>
              <a:buNone/>
            </a:pPr>
            <a:r>
              <a:rPr lang="en-US" sz="750" b="1" dirty="0">
                <a:solidFill>
                  <a:srgbClr val="07BCD6"/>
                </a:solidFill>
              </a:rPr>
              <a:t>Bi-weekly</a:t>
            </a:r>
            <a:r>
              <a:rPr lang="en-US" sz="900" b="1" dirty="0">
                <a:solidFill>
                  <a:srgbClr val="111827"/>
                </a:solidFill>
              </a:rPr>
              <a:t>  Steering Check-in</a:t>
            </a:r>
          </a:p>
          <a:p>
            <a:pPr>
              <a:buNone/>
            </a:pPr>
            <a:r>
              <a:rPr lang="en-US" sz="750" dirty="0">
                <a:solidFill>
                  <a:srgbClr val="6B7280"/>
                </a:solidFill>
              </a:rPr>
              <a:t>60 min · Leads only · Scope, risks, milestones</a:t>
            </a:r>
          </a:p>
        </p:txBody>
      </p:sp>
      <p:sp>
        <p:nvSpPr>
          <p:cNvPr id="56" name="Cad2BG"/>
          <p:cNvSpPr/>
          <p:nvPr/>
        </p:nvSpPr>
        <p:spPr>
          <a:xfrm>
            <a:off x="5715000" y="22098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7" name="Cad2Dot"/>
          <p:cNvSpPr/>
          <p:nvPr/>
        </p:nvSpPr>
        <p:spPr>
          <a:xfrm>
            <a:off x="5816600" y="2413000"/>
            <a:ext cx="101600" cy="101600"/>
          </a:xfrm>
          <a:prstGeom prst="ellipse">
            <a:avLst/>
          </a:prstGeom>
          <a:solidFill>
            <a:srgbClr val="8AC542"/>
          </a:solidFill>
          <a:ln>
            <a:noFill/>
          </a:ln>
        </p:spPr>
        <p:txBody>
          <a:bodyPr/>
          <a:lstStyle/>
          <a:p>
            <a:endParaRPr lang="en-US"/>
          </a:p>
        </p:txBody>
      </p:sp>
      <p:sp>
        <p:nvSpPr>
          <p:cNvPr id="58" name="Cad2Text"/>
          <p:cNvSpPr/>
          <p:nvPr/>
        </p:nvSpPr>
        <p:spPr>
          <a:xfrm>
            <a:off x="5994400" y="2260600"/>
            <a:ext cx="2794000" cy="406400"/>
          </a:xfrm>
          <a:prstGeom prst="rect">
            <a:avLst/>
          </a:prstGeom>
          <a:noFill/>
          <a:ln>
            <a:noFill/>
          </a:ln>
        </p:spPr>
        <p:txBody>
          <a:bodyPr wrap="square" lIns="0" tIns="0" rIns="0" bIns="0" anchor="ctr"/>
          <a:lstStyle/>
          <a:p>
            <a:pPr>
              <a:buNone/>
            </a:pPr>
            <a:r>
              <a:rPr lang="en-US" sz="750" b="1" dirty="0">
                <a:solidFill>
                  <a:srgbClr val="8AC542"/>
                </a:solidFill>
              </a:rPr>
              <a:t>As-needed</a:t>
            </a:r>
            <a:r>
              <a:rPr lang="en-US" sz="900" b="1" dirty="0">
                <a:solidFill>
                  <a:srgbClr val="111827"/>
                </a:solidFill>
              </a:rPr>
              <a:t>  Technical Review</a:t>
            </a:r>
          </a:p>
          <a:p>
            <a:pPr>
              <a:buNone/>
            </a:pPr>
            <a:r>
              <a:rPr lang="en-US" sz="750" dirty="0">
                <a:solidFill>
                  <a:srgbClr val="6B7280"/>
                </a:solidFill>
              </a:rPr>
              <a:t>Data model, API design, integration reviews</a:t>
            </a:r>
          </a:p>
        </p:txBody>
      </p:sp>
      <p:sp>
        <p:nvSpPr>
          <p:cNvPr id="59" name="Cad3BG"/>
          <p:cNvSpPr/>
          <p:nvPr/>
        </p:nvSpPr>
        <p:spPr>
          <a:xfrm>
            <a:off x="5715000" y="27940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0" name="Cad3Dot"/>
          <p:cNvSpPr/>
          <p:nvPr/>
        </p:nvSpPr>
        <p:spPr>
          <a:xfrm>
            <a:off x="5816600" y="2997200"/>
            <a:ext cx="101600" cy="101600"/>
          </a:xfrm>
          <a:prstGeom prst="ellipse">
            <a:avLst/>
          </a:prstGeom>
          <a:solidFill>
            <a:srgbClr val="458CCB"/>
          </a:solidFill>
          <a:ln>
            <a:noFill/>
          </a:ln>
        </p:spPr>
        <p:txBody>
          <a:bodyPr/>
          <a:lstStyle/>
          <a:p>
            <a:endParaRPr lang="en-US"/>
          </a:p>
        </p:txBody>
      </p:sp>
      <p:sp>
        <p:nvSpPr>
          <p:cNvPr id="61" name="Cad3Text"/>
          <p:cNvSpPr/>
          <p:nvPr/>
        </p:nvSpPr>
        <p:spPr>
          <a:xfrm>
            <a:off x="5994400" y="2844800"/>
            <a:ext cx="2794000" cy="406400"/>
          </a:xfrm>
          <a:prstGeom prst="rect">
            <a:avLst/>
          </a:prstGeom>
          <a:noFill/>
          <a:ln>
            <a:noFill/>
          </a:ln>
        </p:spPr>
        <p:txBody>
          <a:bodyPr wrap="square" lIns="0" tIns="0" rIns="0" bIns="0" anchor="ctr"/>
          <a:lstStyle/>
          <a:p>
            <a:pPr>
              <a:buNone/>
            </a:pPr>
            <a:r>
              <a:rPr lang="en-US" sz="750" b="1" dirty="0">
                <a:solidFill>
                  <a:srgbClr val="458CCB"/>
                </a:solidFill>
              </a:rPr>
              <a:t>End of Phase</a:t>
            </a:r>
            <a:r>
              <a:rPr lang="en-US" sz="900" b="1" dirty="0">
                <a:solidFill>
                  <a:srgbClr val="111827"/>
                </a:solidFill>
              </a:rPr>
              <a:t>  Phase Gate Review</a:t>
            </a:r>
          </a:p>
          <a:p>
            <a:pPr>
              <a:buNone/>
            </a:pPr>
            <a:r>
              <a:rPr lang="en-US" sz="750" dirty="0">
                <a:solidFill>
                  <a:srgbClr val="6B7280"/>
                </a:solidFill>
              </a:rPr>
              <a:t>Demo, sign-off, and next phase kick-off</a:t>
            </a:r>
          </a:p>
        </p:txBody>
      </p:sp>
      <p:sp>
        <p:nvSpPr>
          <p:cNvPr id="62" name="Cad4BG"/>
          <p:cNvSpPr/>
          <p:nvPr/>
        </p:nvSpPr>
        <p:spPr>
          <a:xfrm>
            <a:off x="5715000" y="33782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3" name="Cad4Dot"/>
          <p:cNvSpPr/>
          <p:nvPr/>
        </p:nvSpPr>
        <p:spPr>
          <a:xfrm>
            <a:off x="5816600" y="3581400"/>
            <a:ext cx="101600" cy="101600"/>
          </a:xfrm>
          <a:prstGeom prst="ellipse">
            <a:avLst/>
          </a:prstGeom>
          <a:solidFill>
            <a:srgbClr val="F8981D"/>
          </a:solidFill>
          <a:ln>
            <a:noFill/>
          </a:ln>
        </p:spPr>
        <p:txBody>
          <a:bodyPr/>
          <a:lstStyle/>
          <a:p>
            <a:endParaRPr lang="en-US"/>
          </a:p>
        </p:txBody>
      </p:sp>
      <p:sp>
        <p:nvSpPr>
          <p:cNvPr id="64" name="Cad4Text"/>
          <p:cNvSpPr/>
          <p:nvPr/>
        </p:nvSpPr>
        <p:spPr>
          <a:xfrm>
            <a:off x="5994400" y="3429000"/>
            <a:ext cx="2794000" cy="406400"/>
          </a:xfrm>
          <a:prstGeom prst="rect">
            <a:avLst/>
          </a:prstGeom>
          <a:noFill/>
          <a:ln>
            <a:noFill/>
          </a:ln>
        </p:spPr>
        <p:txBody>
          <a:bodyPr wrap="square" lIns="0" tIns="0" rIns="0" bIns="0" anchor="ctr"/>
          <a:lstStyle/>
          <a:p>
            <a:pPr>
              <a:buNone/>
            </a:pPr>
            <a:r>
              <a:rPr lang="en-US" sz="750" b="1" dirty="0">
                <a:solidFill>
                  <a:srgbClr val="F8981D"/>
                </a:solidFill>
              </a:rPr>
              <a:t>Ongoing</a:t>
            </a:r>
            <a:r>
              <a:rPr lang="en-US" sz="900" b="1" dirty="0">
                <a:solidFill>
                  <a:srgbClr val="111827"/>
                </a:solidFill>
              </a:rPr>
              <a:t>  Slack / async comms</a:t>
            </a:r>
          </a:p>
          <a:p>
            <a:pPr>
              <a:buNone/>
            </a:pPr>
            <a:r>
              <a:rPr lang="en-US" sz="750" dirty="0">
                <a:solidFill>
                  <a:srgbClr val="6B7280"/>
                </a:solidFill>
              </a:rPr>
              <a:t>Shared channel for day-to-day coordination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2896476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Open Questions</a:t>
            </a:r>
          </a:p>
        </p:txBody>
      </p:sp>
      <p:sp>
        <p:nvSpPr>
          <p:cNvPr id="7" name="Subtitle"/>
          <p:cNvSpPr/>
          <p:nvPr/>
        </p:nvSpPr>
        <p:spPr>
          <a:xfrm>
            <a:off x="355600" y="533400"/>
            <a:ext cx="8432800" cy="254000"/>
          </a:xfrm>
          <a:prstGeom prst="rect">
            <a:avLst/>
          </a:prstGeom>
          <a:noFill/>
          <a:ln>
            <a:noFill/>
          </a:ln>
        </p:spPr>
        <p:txBody>
          <a:bodyPr wrap="square" lIns="0" tIns="0" rIns="0" bIns="0" anchor="t"/>
          <a:lstStyle/>
          <a:p>
            <a:pPr>
              <a:buNone/>
            </a:pPr>
            <a:r>
              <a:rPr lang="en-US" sz="1050" dirty="0">
                <a:solidFill>
                  <a:srgbClr val="6B7280"/>
                </a:solidFill>
                <a:latin typeface="Calibri"/>
              </a:rPr>
              <a:t>We've shared a full questions document with your team ahead of today (32 questions across 5 areas). This slide is the shape of that conversation — we'll go deeper on the items most likely to shape Phase 1.</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100BG"/>
          <p:cNvSpPr/>
          <p:nvPr/>
        </p:nvSpPr>
        <p:spPr>
          <a:xfrm>
            <a:off x="2540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01" name="C100Bar"/>
          <p:cNvSpPr/>
          <p:nvPr/>
        </p:nvSpPr>
        <p:spPr>
          <a:xfrm>
            <a:off x="254000" y="914400"/>
            <a:ext cx="63500" cy="1727200"/>
          </a:xfrm>
          <a:prstGeom prst="rect">
            <a:avLst/>
          </a:prstGeom>
          <a:solidFill>
            <a:srgbClr val="EB1A63"/>
          </a:solidFill>
          <a:ln>
            <a:noFill/>
          </a:ln>
        </p:spPr>
        <p:txBody>
          <a:bodyPr/>
          <a:lstStyle/>
          <a:p>
            <a:endParaRPr lang="en-US"/>
          </a:p>
        </p:txBody>
      </p:sp>
      <p:sp>
        <p:nvSpPr>
          <p:cNvPr id="102" name="C100Badge"/>
          <p:cNvSpPr/>
          <p:nvPr/>
        </p:nvSpPr>
        <p:spPr>
          <a:xfrm>
            <a:off x="431800" y="1079500"/>
            <a:ext cx="660400" cy="304800"/>
          </a:xfrm>
          <a:prstGeom prst="roundRect">
            <a:avLst>
              <a:gd name="adj" fmla="val 16000"/>
            </a:avLst>
          </a:prstGeom>
          <a:solidFill>
            <a:srgbClr val="EB1A63"/>
          </a:solidFill>
          <a:ln>
            <a:noFill/>
          </a:ln>
        </p:spPr>
        <p:txBody>
          <a:bodyPr/>
          <a:lstStyle/>
          <a:p>
            <a:endParaRPr lang="en-US"/>
          </a:p>
        </p:txBody>
      </p:sp>
      <p:sp>
        <p:nvSpPr>
          <p:cNvPr id="602" name="C100BadgeNum"/>
          <p:cNvSpPr/>
          <p:nvPr/>
        </p:nvSpPr>
        <p:spPr>
          <a:xfrm>
            <a:off x="4318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12</a:t>
            </a:r>
            <a:r>
              <a:rPr lang="en-US" sz="900" dirty="0">
                <a:solidFill>
                  <a:srgbClr val="FFFFFF"/>
                </a:solidFill>
                <a:latin typeface="Calibri"/>
              </a:rPr>
              <a:t> </a:t>
            </a:r>
            <a:r>
              <a:rPr lang="en-US" sz="900" b="1" dirty="0">
                <a:solidFill>
                  <a:srgbClr val="FFFFFF"/>
                </a:solidFill>
                <a:latin typeface="Calibri"/>
              </a:rPr>
              <a:t>Qs</a:t>
            </a:r>
          </a:p>
        </p:txBody>
      </p:sp>
      <p:sp>
        <p:nvSpPr>
          <p:cNvPr id="702" name="C100Label"/>
          <p:cNvSpPr/>
          <p:nvPr/>
        </p:nvSpPr>
        <p:spPr>
          <a:xfrm>
            <a:off x="1168400" y="1079500"/>
            <a:ext cx="1790700" cy="304800"/>
          </a:xfrm>
          <a:prstGeom prst="rect">
            <a:avLst/>
          </a:prstGeom>
          <a:noFill/>
          <a:ln>
            <a:noFill/>
          </a:ln>
        </p:spPr>
        <p:txBody>
          <a:bodyPr wrap="square" lIns="0" tIns="0" rIns="0" bIns="0" anchor="ctr"/>
          <a:lstStyle/>
          <a:p>
            <a:pPr>
              <a:buNone/>
            </a:pPr>
            <a:r>
              <a:rPr lang="en-US" sz="1000" b="1" spc="80" dirty="0">
                <a:solidFill>
                  <a:srgbClr val="EB1A63"/>
                </a:solidFill>
                <a:latin typeface="Calibri"/>
              </a:rPr>
              <a:t>DATA</a:t>
            </a:r>
          </a:p>
        </p:txBody>
      </p:sp>
      <p:sp>
        <p:nvSpPr>
          <p:cNvPr id="4" name="C100Div"/>
          <p:cNvSpPr/>
          <p:nvPr/>
        </p:nvSpPr>
        <p:spPr>
          <a:xfrm>
            <a:off x="431800" y="1473200"/>
            <a:ext cx="2552700" cy="12700"/>
          </a:xfrm>
          <a:prstGeom prst="rect">
            <a:avLst/>
          </a:prstGeom>
          <a:solidFill>
            <a:srgbClr val="E5E7EB"/>
          </a:solidFill>
          <a:ln>
            <a:noFill/>
          </a:ln>
        </p:spPr>
        <p:txBody>
          <a:bodyPr/>
          <a:lstStyle/>
          <a:p>
            <a:endParaRPr lang="en-US"/>
          </a:p>
        </p:txBody>
      </p:sp>
      <p:sp>
        <p:nvSpPr>
          <p:cNvPr id="103" name="C100Text"/>
          <p:cNvSpPr/>
          <p:nvPr/>
        </p:nvSpPr>
        <p:spPr>
          <a:xfrm>
            <a:off x="4318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Where did each product file come from, and which is authoritative?</a:t>
            </a:r>
          </a:p>
          <a:p>
            <a:pPr>
              <a:lnSpc>
                <a:spcPts val="1300"/>
              </a:lnSpc>
              <a:spcBef>
                <a:spcPts val="300"/>
              </a:spcBef>
              <a:buNone/>
            </a:pPr>
            <a:r>
              <a:rPr lang="en-US" sz="1000" i="1" dirty="0">
                <a:solidFill>
                  <a:srgbClr val="6B7280"/>
                </a:solidFill>
                <a:latin typeface="Calibri"/>
              </a:rPr>
              <a:t>· Will product data flow via Celigo, or directly from source?</a:t>
            </a:r>
          </a:p>
        </p:txBody>
      </p:sp>
      <p:sp>
        <p:nvSpPr>
          <p:cNvPr id="110" name="C110BG"/>
          <p:cNvSpPr/>
          <p:nvPr/>
        </p:nvSpPr>
        <p:spPr>
          <a:xfrm>
            <a:off x="31623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11" name="C110Bar"/>
          <p:cNvSpPr/>
          <p:nvPr/>
        </p:nvSpPr>
        <p:spPr>
          <a:xfrm>
            <a:off x="3162300" y="914400"/>
            <a:ext cx="63500" cy="1727200"/>
          </a:xfrm>
          <a:prstGeom prst="rect">
            <a:avLst/>
          </a:prstGeom>
          <a:solidFill>
            <a:srgbClr val="07BCD6"/>
          </a:solidFill>
          <a:ln>
            <a:noFill/>
          </a:ln>
        </p:spPr>
        <p:txBody>
          <a:bodyPr/>
          <a:lstStyle/>
          <a:p>
            <a:endParaRPr lang="en-US"/>
          </a:p>
        </p:txBody>
      </p:sp>
      <p:sp>
        <p:nvSpPr>
          <p:cNvPr id="112" name="C110Badge"/>
          <p:cNvSpPr/>
          <p:nvPr/>
        </p:nvSpPr>
        <p:spPr>
          <a:xfrm>
            <a:off x="3340100" y="1079500"/>
            <a:ext cx="660400" cy="304800"/>
          </a:xfrm>
          <a:prstGeom prst="roundRect">
            <a:avLst>
              <a:gd name="adj" fmla="val 16000"/>
            </a:avLst>
          </a:prstGeom>
          <a:solidFill>
            <a:srgbClr val="07BCD6"/>
          </a:solidFill>
          <a:ln>
            <a:noFill/>
          </a:ln>
        </p:spPr>
        <p:txBody>
          <a:bodyPr/>
          <a:lstStyle/>
          <a:p>
            <a:endParaRPr lang="en-US"/>
          </a:p>
        </p:txBody>
      </p:sp>
      <p:sp>
        <p:nvSpPr>
          <p:cNvPr id="612" name="C110BadgeNum"/>
          <p:cNvSpPr/>
          <p:nvPr/>
        </p:nvSpPr>
        <p:spPr>
          <a:xfrm>
            <a:off x="33401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6</a:t>
            </a:r>
            <a:r>
              <a:rPr lang="en-US" sz="900" dirty="0">
                <a:solidFill>
                  <a:srgbClr val="FFFFFF"/>
                </a:solidFill>
                <a:latin typeface="Calibri"/>
              </a:rPr>
              <a:t> </a:t>
            </a:r>
            <a:r>
              <a:rPr lang="en-US" sz="900" b="1" dirty="0">
                <a:solidFill>
                  <a:srgbClr val="FFFFFF"/>
                </a:solidFill>
                <a:latin typeface="Calibri"/>
              </a:rPr>
              <a:t>Qs</a:t>
            </a:r>
          </a:p>
        </p:txBody>
      </p:sp>
      <p:sp>
        <p:nvSpPr>
          <p:cNvPr id="712" name="C110Label"/>
          <p:cNvSpPr/>
          <p:nvPr/>
        </p:nvSpPr>
        <p:spPr>
          <a:xfrm>
            <a:off x="4076700" y="1079500"/>
            <a:ext cx="1790700" cy="304800"/>
          </a:xfrm>
          <a:prstGeom prst="rect">
            <a:avLst/>
          </a:prstGeom>
          <a:noFill/>
          <a:ln>
            <a:noFill/>
          </a:ln>
        </p:spPr>
        <p:txBody>
          <a:bodyPr wrap="square" lIns="0" tIns="0" rIns="0" bIns="0" anchor="ctr"/>
          <a:lstStyle/>
          <a:p>
            <a:pPr>
              <a:buNone/>
            </a:pPr>
            <a:r>
              <a:rPr lang="en-US" sz="1000" b="1" spc="80" dirty="0">
                <a:solidFill>
                  <a:srgbClr val="07BCD6"/>
                </a:solidFill>
                <a:latin typeface="Calibri"/>
              </a:rPr>
              <a:t>INTEGRATION</a:t>
            </a:r>
          </a:p>
        </p:txBody>
      </p:sp>
      <p:sp>
        <p:nvSpPr>
          <p:cNvPr id="6" name="C110Div"/>
          <p:cNvSpPr/>
          <p:nvPr/>
        </p:nvSpPr>
        <p:spPr>
          <a:xfrm>
            <a:off x="3340100" y="1473200"/>
            <a:ext cx="2552700" cy="12700"/>
          </a:xfrm>
          <a:prstGeom prst="rect">
            <a:avLst/>
          </a:prstGeom>
          <a:solidFill>
            <a:srgbClr val="E5E7EB"/>
          </a:solidFill>
          <a:ln>
            <a:noFill/>
          </a:ln>
        </p:spPr>
        <p:txBody>
          <a:bodyPr/>
          <a:lstStyle/>
          <a:p>
            <a:endParaRPr lang="en-US"/>
          </a:p>
        </p:txBody>
      </p:sp>
      <p:sp>
        <p:nvSpPr>
          <p:cNvPr id="113" name="C110Text"/>
          <p:cNvSpPr/>
          <p:nvPr/>
        </p:nvSpPr>
        <p:spPr>
          <a:xfrm>
            <a:off x="33401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PLM (TBD) vs DX Graph — who is the product master?</a:t>
            </a:r>
          </a:p>
          <a:p>
            <a:pPr>
              <a:lnSpc>
                <a:spcPts val="1300"/>
              </a:lnSpc>
              <a:spcBef>
                <a:spcPts val="300"/>
              </a:spcBef>
              <a:buNone/>
            </a:pPr>
            <a:r>
              <a:rPr lang="en-US" sz="1000" i="1" dirty="0">
                <a:solidFill>
                  <a:srgbClr val="6B7280"/>
                </a:solidFill>
                <a:latin typeface="Calibri"/>
              </a:rPr>
              <a:t>· How does a validated config reach Manhattan Active Omni today?</a:t>
            </a:r>
          </a:p>
        </p:txBody>
      </p:sp>
      <p:sp>
        <p:nvSpPr>
          <p:cNvPr id="120" name="C120BG"/>
          <p:cNvSpPr/>
          <p:nvPr/>
        </p:nvSpPr>
        <p:spPr>
          <a:xfrm>
            <a:off x="6070600" y="914400"/>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21" name="C120Bar"/>
          <p:cNvSpPr/>
          <p:nvPr/>
        </p:nvSpPr>
        <p:spPr>
          <a:xfrm>
            <a:off x="6070600" y="914400"/>
            <a:ext cx="63500" cy="1727200"/>
          </a:xfrm>
          <a:prstGeom prst="rect">
            <a:avLst/>
          </a:prstGeom>
          <a:solidFill>
            <a:srgbClr val="8AC542"/>
          </a:solidFill>
          <a:ln>
            <a:noFill/>
          </a:ln>
        </p:spPr>
        <p:txBody>
          <a:bodyPr/>
          <a:lstStyle/>
          <a:p>
            <a:endParaRPr lang="en-US"/>
          </a:p>
        </p:txBody>
      </p:sp>
      <p:sp>
        <p:nvSpPr>
          <p:cNvPr id="122" name="C120Badge"/>
          <p:cNvSpPr/>
          <p:nvPr/>
        </p:nvSpPr>
        <p:spPr>
          <a:xfrm>
            <a:off x="6248400" y="1079500"/>
            <a:ext cx="660400" cy="304800"/>
          </a:xfrm>
          <a:prstGeom prst="roundRect">
            <a:avLst>
              <a:gd name="adj" fmla="val 16000"/>
            </a:avLst>
          </a:prstGeom>
          <a:solidFill>
            <a:srgbClr val="8AC542"/>
          </a:solidFill>
          <a:ln>
            <a:noFill/>
          </a:ln>
        </p:spPr>
        <p:txBody>
          <a:bodyPr/>
          <a:lstStyle/>
          <a:p>
            <a:endParaRPr lang="en-US"/>
          </a:p>
        </p:txBody>
      </p:sp>
      <p:sp>
        <p:nvSpPr>
          <p:cNvPr id="622" name="C120BadgeNum"/>
          <p:cNvSpPr/>
          <p:nvPr/>
        </p:nvSpPr>
        <p:spPr>
          <a:xfrm>
            <a:off x="6248400" y="10795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9</a:t>
            </a:r>
            <a:r>
              <a:rPr lang="en-US" sz="900" dirty="0">
                <a:solidFill>
                  <a:srgbClr val="FFFFFF"/>
                </a:solidFill>
                <a:latin typeface="Calibri"/>
              </a:rPr>
              <a:t> </a:t>
            </a:r>
            <a:r>
              <a:rPr lang="en-US" sz="900" b="1" dirty="0">
                <a:solidFill>
                  <a:srgbClr val="FFFFFF"/>
                </a:solidFill>
                <a:latin typeface="Calibri"/>
              </a:rPr>
              <a:t>Qs</a:t>
            </a:r>
          </a:p>
        </p:txBody>
      </p:sp>
      <p:sp>
        <p:nvSpPr>
          <p:cNvPr id="722" name="C120Label"/>
          <p:cNvSpPr/>
          <p:nvPr/>
        </p:nvSpPr>
        <p:spPr>
          <a:xfrm>
            <a:off x="6985000" y="1079500"/>
            <a:ext cx="1790700" cy="304800"/>
          </a:xfrm>
          <a:prstGeom prst="rect">
            <a:avLst/>
          </a:prstGeom>
          <a:noFill/>
          <a:ln>
            <a:noFill/>
          </a:ln>
        </p:spPr>
        <p:txBody>
          <a:bodyPr wrap="square" lIns="0" tIns="0" rIns="0" bIns="0" anchor="ctr"/>
          <a:lstStyle/>
          <a:p>
            <a:pPr>
              <a:buNone/>
            </a:pPr>
            <a:r>
              <a:rPr lang="en-US" sz="1000" b="1" spc="80" dirty="0">
                <a:solidFill>
                  <a:srgbClr val="8AC542"/>
                </a:solidFill>
                <a:latin typeface="Calibri"/>
              </a:rPr>
              <a:t>CONFIG &amp; RULES</a:t>
            </a:r>
          </a:p>
        </p:txBody>
      </p:sp>
      <p:sp>
        <p:nvSpPr>
          <p:cNvPr id="8" name="C120Div"/>
          <p:cNvSpPr/>
          <p:nvPr/>
        </p:nvSpPr>
        <p:spPr>
          <a:xfrm>
            <a:off x="6248400" y="1473200"/>
            <a:ext cx="2552700" cy="12700"/>
          </a:xfrm>
          <a:prstGeom prst="rect">
            <a:avLst/>
          </a:prstGeom>
          <a:solidFill>
            <a:srgbClr val="E5E7EB"/>
          </a:solidFill>
          <a:ln>
            <a:noFill/>
          </a:ln>
        </p:spPr>
        <p:txBody>
          <a:bodyPr/>
          <a:lstStyle/>
          <a:p>
            <a:endParaRPr lang="en-US"/>
          </a:p>
        </p:txBody>
      </p:sp>
      <p:sp>
        <p:nvSpPr>
          <p:cNvPr id="123" name="C120Text"/>
          <p:cNvSpPr/>
          <p:nvPr/>
        </p:nvSpPr>
        <p:spPr>
          <a:xfrm>
            <a:off x="6248400" y="1549400"/>
            <a:ext cx="25527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Quickship — product type or live inventory?</a:t>
            </a:r>
          </a:p>
          <a:p>
            <a:pPr>
              <a:lnSpc>
                <a:spcPts val="1300"/>
              </a:lnSpc>
              <a:spcBef>
                <a:spcPts val="300"/>
              </a:spcBef>
              <a:buNone/>
            </a:pPr>
            <a:r>
              <a:rPr lang="en-US" sz="1000" i="1" dirty="0">
                <a:solidFill>
                  <a:srgbClr val="6B7280"/>
                </a:solidFill>
                <a:latin typeface="Calibri"/>
              </a:rPr>
              <a:t>· Adjacency rules — please validate our proposed table.</a:t>
            </a:r>
          </a:p>
        </p:txBody>
      </p:sp>
      <p:sp>
        <p:nvSpPr>
          <p:cNvPr id="130" name="C130BG"/>
          <p:cNvSpPr/>
          <p:nvPr/>
        </p:nvSpPr>
        <p:spPr>
          <a:xfrm>
            <a:off x="2540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31" name="C130Bar"/>
          <p:cNvSpPr/>
          <p:nvPr/>
        </p:nvSpPr>
        <p:spPr>
          <a:xfrm>
            <a:off x="254000" y="2743200"/>
            <a:ext cx="63500" cy="1727200"/>
          </a:xfrm>
          <a:prstGeom prst="rect">
            <a:avLst/>
          </a:prstGeom>
          <a:solidFill>
            <a:srgbClr val="458CCB"/>
          </a:solidFill>
          <a:ln>
            <a:noFill/>
          </a:ln>
        </p:spPr>
        <p:txBody>
          <a:bodyPr/>
          <a:lstStyle/>
          <a:p>
            <a:endParaRPr lang="en-US"/>
          </a:p>
        </p:txBody>
      </p:sp>
      <p:sp>
        <p:nvSpPr>
          <p:cNvPr id="132" name="C130Badge"/>
          <p:cNvSpPr/>
          <p:nvPr/>
        </p:nvSpPr>
        <p:spPr>
          <a:xfrm>
            <a:off x="431800" y="2908300"/>
            <a:ext cx="660400" cy="304800"/>
          </a:xfrm>
          <a:prstGeom prst="roundRect">
            <a:avLst>
              <a:gd name="adj" fmla="val 16000"/>
            </a:avLst>
          </a:prstGeom>
          <a:solidFill>
            <a:srgbClr val="458CCB"/>
          </a:solidFill>
          <a:ln>
            <a:noFill/>
          </a:ln>
        </p:spPr>
        <p:txBody>
          <a:bodyPr/>
          <a:lstStyle/>
          <a:p>
            <a:endParaRPr lang="en-US"/>
          </a:p>
        </p:txBody>
      </p:sp>
      <p:sp>
        <p:nvSpPr>
          <p:cNvPr id="632" name="C130BadgeNum"/>
          <p:cNvSpPr/>
          <p:nvPr/>
        </p:nvSpPr>
        <p:spPr>
          <a:xfrm>
            <a:off x="4318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3</a:t>
            </a:r>
            <a:r>
              <a:rPr lang="en-US" sz="900" dirty="0">
                <a:solidFill>
                  <a:srgbClr val="FFFFFF"/>
                </a:solidFill>
                <a:latin typeface="Calibri"/>
              </a:rPr>
              <a:t> </a:t>
            </a:r>
            <a:r>
              <a:rPr lang="en-US" sz="900" b="1" dirty="0">
                <a:solidFill>
                  <a:srgbClr val="FFFFFF"/>
                </a:solidFill>
                <a:latin typeface="Calibri"/>
              </a:rPr>
              <a:t>Qs</a:t>
            </a:r>
          </a:p>
        </p:txBody>
      </p:sp>
      <p:sp>
        <p:nvSpPr>
          <p:cNvPr id="732" name="C130Label"/>
          <p:cNvSpPr/>
          <p:nvPr/>
        </p:nvSpPr>
        <p:spPr>
          <a:xfrm>
            <a:off x="1168400" y="2908300"/>
            <a:ext cx="3251200" cy="304800"/>
          </a:xfrm>
          <a:prstGeom prst="rect">
            <a:avLst/>
          </a:prstGeom>
          <a:noFill/>
          <a:ln>
            <a:noFill/>
          </a:ln>
        </p:spPr>
        <p:txBody>
          <a:bodyPr wrap="square" lIns="0" tIns="0" rIns="0" bIns="0" anchor="ctr"/>
          <a:lstStyle/>
          <a:p>
            <a:pPr>
              <a:buNone/>
            </a:pPr>
            <a:r>
              <a:rPr lang="en-US" sz="1000" b="1" spc="80" dirty="0">
                <a:solidFill>
                  <a:srgbClr val="458CCB"/>
                </a:solidFill>
                <a:latin typeface="Calibri"/>
              </a:rPr>
              <a:t>USER STORIES</a:t>
            </a:r>
          </a:p>
        </p:txBody>
      </p:sp>
      <p:sp>
        <p:nvSpPr>
          <p:cNvPr id="9" name="C130Div"/>
          <p:cNvSpPr/>
          <p:nvPr/>
        </p:nvSpPr>
        <p:spPr>
          <a:xfrm>
            <a:off x="431800" y="3302000"/>
            <a:ext cx="4013200" cy="12700"/>
          </a:xfrm>
          <a:prstGeom prst="rect">
            <a:avLst/>
          </a:prstGeom>
          <a:solidFill>
            <a:srgbClr val="E5E7EB"/>
          </a:solidFill>
          <a:ln>
            <a:noFill/>
          </a:ln>
        </p:spPr>
        <p:txBody>
          <a:bodyPr/>
          <a:lstStyle/>
          <a:p>
            <a:endParaRPr lang="en-US"/>
          </a:p>
        </p:txBody>
      </p:sp>
      <p:sp>
        <p:nvSpPr>
          <p:cNvPr id="133" name="C130Text"/>
          <p:cNvSpPr/>
          <p:nvPr/>
        </p:nvSpPr>
        <p:spPr>
          <a:xfrm>
            <a:off x="4318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What does the in-store POS configuration workflow look like today?</a:t>
            </a:r>
          </a:p>
          <a:p>
            <a:pPr>
              <a:lnSpc>
                <a:spcPts val="1300"/>
              </a:lnSpc>
              <a:spcBef>
                <a:spcPts val="300"/>
              </a:spcBef>
              <a:buNone/>
            </a:pPr>
            <a:r>
              <a:rPr lang="en-US" sz="1000" i="1" dirty="0">
                <a:solidFill>
                  <a:srgbClr val="6B7280"/>
                </a:solidFill>
                <a:latin typeface="Calibri"/>
              </a:rPr>
              <a:t>· Are there planned changes to the lovesac.com configurator UX?</a:t>
            </a:r>
          </a:p>
        </p:txBody>
      </p:sp>
      <p:sp>
        <p:nvSpPr>
          <p:cNvPr id="140" name="C140BG"/>
          <p:cNvSpPr/>
          <p:nvPr/>
        </p:nvSpPr>
        <p:spPr>
          <a:xfrm>
            <a:off x="4622800" y="2743200"/>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41" name="C140Bar"/>
          <p:cNvSpPr/>
          <p:nvPr/>
        </p:nvSpPr>
        <p:spPr>
          <a:xfrm>
            <a:off x="4622800" y="2743200"/>
            <a:ext cx="63500" cy="1727200"/>
          </a:xfrm>
          <a:prstGeom prst="rect">
            <a:avLst/>
          </a:prstGeom>
          <a:solidFill>
            <a:srgbClr val="F8981D"/>
          </a:solidFill>
          <a:ln>
            <a:noFill/>
          </a:ln>
        </p:spPr>
        <p:txBody>
          <a:bodyPr/>
          <a:lstStyle/>
          <a:p>
            <a:endParaRPr lang="en-US"/>
          </a:p>
        </p:txBody>
      </p:sp>
      <p:sp>
        <p:nvSpPr>
          <p:cNvPr id="142" name="C140Badge"/>
          <p:cNvSpPr/>
          <p:nvPr/>
        </p:nvSpPr>
        <p:spPr>
          <a:xfrm>
            <a:off x="4800600" y="2908300"/>
            <a:ext cx="660400" cy="304800"/>
          </a:xfrm>
          <a:prstGeom prst="roundRect">
            <a:avLst>
              <a:gd name="adj" fmla="val 16000"/>
            </a:avLst>
          </a:prstGeom>
          <a:solidFill>
            <a:srgbClr val="F8981D"/>
          </a:solidFill>
          <a:ln>
            <a:noFill/>
          </a:ln>
        </p:spPr>
        <p:txBody>
          <a:bodyPr/>
          <a:lstStyle/>
          <a:p>
            <a:endParaRPr lang="en-US"/>
          </a:p>
        </p:txBody>
      </p:sp>
      <p:sp>
        <p:nvSpPr>
          <p:cNvPr id="642" name="C140BadgeNum"/>
          <p:cNvSpPr/>
          <p:nvPr/>
        </p:nvSpPr>
        <p:spPr>
          <a:xfrm>
            <a:off x="4800600" y="2908300"/>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2</a:t>
            </a:r>
            <a:r>
              <a:rPr lang="en-US" sz="900" dirty="0">
                <a:solidFill>
                  <a:srgbClr val="FFFFFF"/>
                </a:solidFill>
                <a:latin typeface="Calibri"/>
              </a:rPr>
              <a:t> </a:t>
            </a:r>
            <a:r>
              <a:rPr lang="en-US" sz="900" b="1" dirty="0">
                <a:solidFill>
                  <a:srgbClr val="FFFFFF"/>
                </a:solidFill>
                <a:latin typeface="Calibri"/>
              </a:rPr>
              <a:t>Qs</a:t>
            </a:r>
          </a:p>
        </p:txBody>
      </p:sp>
      <p:sp>
        <p:nvSpPr>
          <p:cNvPr id="742" name="C140Label"/>
          <p:cNvSpPr/>
          <p:nvPr/>
        </p:nvSpPr>
        <p:spPr>
          <a:xfrm>
            <a:off x="5537200" y="2908300"/>
            <a:ext cx="3251200" cy="304800"/>
          </a:xfrm>
          <a:prstGeom prst="rect">
            <a:avLst/>
          </a:prstGeom>
          <a:noFill/>
          <a:ln>
            <a:noFill/>
          </a:ln>
        </p:spPr>
        <p:txBody>
          <a:bodyPr wrap="square" lIns="0" tIns="0" rIns="0" bIns="0" anchor="ctr"/>
          <a:lstStyle/>
          <a:p>
            <a:pPr>
              <a:buNone/>
            </a:pPr>
            <a:r>
              <a:rPr lang="en-US" sz="1000" b="1" spc="80" dirty="0">
                <a:solidFill>
                  <a:srgbClr val="F8981D"/>
                </a:solidFill>
                <a:latin typeface="Calibri"/>
              </a:rPr>
              <a:t>PROJECT &amp; GOVERNANCE</a:t>
            </a:r>
          </a:p>
        </p:txBody>
      </p:sp>
      <p:sp>
        <p:nvSpPr>
          <p:cNvPr id="10" name="C140Div"/>
          <p:cNvSpPr/>
          <p:nvPr/>
        </p:nvSpPr>
        <p:spPr>
          <a:xfrm>
            <a:off x="4800600" y="3302000"/>
            <a:ext cx="4013200" cy="12700"/>
          </a:xfrm>
          <a:prstGeom prst="rect">
            <a:avLst/>
          </a:prstGeom>
          <a:solidFill>
            <a:srgbClr val="E5E7EB"/>
          </a:solidFill>
          <a:ln>
            <a:noFill/>
          </a:ln>
        </p:spPr>
        <p:txBody>
          <a:bodyPr/>
          <a:lstStyle/>
          <a:p>
            <a:endParaRPr lang="en-US"/>
          </a:p>
        </p:txBody>
      </p:sp>
      <p:sp>
        <p:nvSpPr>
          <p:cNvPr id="143" name="C140Text"/>
          <p:cNvSpPr/>
          <p:nvPr/>
        </p:nvSpPr>
        <p:spPr>
          <a:xfrm>
            <a:off x="4800600" y="3378200"/>
            <a:ext cx="4013200" cy="1016000"/>
          </a:xfrm>
          <a:prstGeom prst="rect">
            <a:avLst/>
          </a:prstGeom>
          <a:noFill/>
          <a:ln>
            <a:noFill/>
          </a:ln>
        </p:spPr>
        <p:txBody>
          <a:bodyPr wrap="square" lIns="0" tIns="0" rIns="0" bIns="0" anchor="t"/>
          <a:lstStyle/>
          <a:p>
            <a:pPr>
              <a:lnSpc>
                <a:spcPts val="1300"/>
              </a:lnSpc>
              <a:spcBef>
                <a:spcPts val="0"/>
              </a:spcBef>
              <a:buNone/>
            </a:pPr>
            <a:r>
              <a:rPr lang="en-US" sz="1000" i="1" dirty="0">
                <a:solidFill>
                  <a:srgbClr val="6B7280"/>
                </a:solidFill>
                <a:latin typeface="Calibri"/>
              </a:rPr>
              <a:t>· Who is the named Lovesac PM?</a:t>
            </a:r>
          </a:p>
          <a:p>
            <a:pPr>
              <a:lnSpc>
                <a:spcPts val="1300"/>
              </a:lnSpc>
              <a:spcBef>
                <a:spcPts val="300"/>
              </a:spcBef>
              <a:buNone/>
            </a:pPr>
            <a:r>
              <a:rPr lang="en-US" sz="1000" i="1" dirty="0">
                <a:solidFill>
                  <a:srgbClr val="6B7280"/>
                </a:solidFill>
                <a:latin typeface="Calibri"/>
              </a:rPr>
              <a:t>· What are the POS volume and latency expectations?</a:t>
            </a:r>
          </a:p>
        </p:txBody>
      </p:sp>
      <p:sp>
        <p:nvSpPr>
          <p:cNvPr id="300" name="RefLine"/>
          <p:cNvSpPr/>
          <p:nvPr/>
        </p:nvSpPr>
        <p:spPr>
          <a:xfrm>
            <a:off x="254000" y="4546600"/>
            <a:ext cx="8636000" cy="177800"/>
          </a:xfrm>
          <a:prstGeom prst="rect">
            <a:avLst/>
          </a:prstGeom>
          <a:noFill/>
          <a:ln>
            <a:noFill/>
          </a:ln>
        </p:spPr>
        <p:txBody>
          <a:bodyPr wrap="square" lIns="0" tIns="0" rIns="0" bIns="0" anchor="ctr"/>
          <a:lstStyle/>
          <a:p>
            <a:pPr algn="ctr">
              <a:buNone/>
            </a:pPr>
            <a:r>
              <a:rPr lang="en-US" sz="850" dirty="0">
                <a:solidFill>
                  <a:srgbClr val="9CA3AF"/>
                </a:solidFill>
                <a:latin typeface="Calibri"/>
              </a:rPr>
              <a:t>Full document: </a:t>
            </a:r>
            <a:r>
              <a:rPr lang="en-US" sz="850" b="1" dirty="0">
                <a:solidFill>
                  <a:srgbClr val="6B7280"/>
                </a:solidFill>
                <a:latin typeface="Calibri"/>
              </a:rPr>
              <a:t>Questions_for_Lovesac_EXT_Conscia.docx</a:t>
            </a:r>
            <a:r>
              <a:rPr lang="en-US" sz="850" dirty="0">
                <a:solidFill>
                  <a:srgbClr val="9CA3AF"/>
                </a:solidFill>
                <a:latin typeface="Calibri"/>
              </a:rPr>
              <a:t> — sent April 2</a:t>
            </a:r>
          </a:p>
        </p:txBody>
      </p:sp>
    </p:spTree>
    <p:extLst>
      <p:ext uri="{BB962C8B-B14F-4D97-AF65-F5344CB8AC3E}">
        <p14:creationId xmlns:p14="http://schemas.microsoft.com/office/powerpoint/2010/main" val="4206672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6858000" cy="381000"/>
          </a:xfrm>
          <a:prstGeom prst="rect">
            <a:avLst/>
          </a:prstGeom>
          <a:noFill/>
          <a:ln>
            <a:noFill/>
          </a:ln>
        </p:spPr>
        <p:txBody>
          <a:bodyPr wrap="square" lIns="0" tIns="0" rIns="0" bIns="0" anchor="b"/>
          <a:lstStyle/>
          <a:p>
            <a:pPr>
              <a:buNone/>
            </a:pPr>
            <a:r>
              <a:rPr lang="en-US" sz="2000" b="1" dirty="0">
                <a:solidFill>
                  <a:srgbClr val="111827"/>
                </a:solidFill>
              </a:rPr>
              <a:t>Next Steps</a:t>
            </a:r>
          </a:p>
        </p:txBody>
      </p:sp>
      <p:sp>
        <p:nvSpPr>
          <p:cNvPr id="7" name="Subtitle"/>
          <p:cNvSpPr/>
          <p:nvPr/>
        </p:nvSpPr>
        <p:spPr>
          <a:xfrm>
            <a:off x="381000" y="533400"/>
            <a:ext cx="7772400" cy="228600"/>
          </a:xfrm>
          <a:prstGeom prst="rect">
            <a:avLst/>
          </a:prstGeom>
          <a:noFill/>
          <a:ln>
            <a:noFill/>
          </a:ln>
        </p:spPr>
        <p:txBody>
          <a:bodyPr wrap="square" lIns="0" tIns="0" rIns="0" bIns="0" anchor="t"/>
          <a:lstStyle/>
          <a:p>
            <a:pPr>
              <a:buNone/>
            </a:pPr>
            <a:r>
              <a:rPr lang="en-US" sz="1000" dirty="0">
                <a:solidFill>
                  <a:srgbClr val="6B7280"/>
                </a:solidFill>
              </a:rPr>
              <a:t>Actions coming out of today's session — owners and target dates for both teams.</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10" name="Row0BG"/>
          <p:cNvSpPr/>
          <p:nvPr/>
        </p:nvSpPr>
        <p:spPr>
          <a:xfrm>
            <a:off x="254000" y="10160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1" name="Row0Date"/>
          <p:cNvSpPr/>
          <p:nvPr/>
        </p:nvSpPr>
        <p:spPr>
          <a:xfrm>
            <a:off x="406400" y="10160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2" name="Row0Owner"/>
          <p:cNvSpPr/>
          <p:nvPr/>
        </p:nvSpPr>
        <p:spPr>
          <a:xfrm>
            <a:off x="1625600" y="11049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3" name="Row0Desc"/>
          <p:cNvSpPr/>
          <p:nvPr/>
        </p:nvSpPr>
        <p:spPr>
          <a:xfrm>
            <a:off x="2641600" y="10160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Distribute kickoff notes, decisions log, and open-question owners</a:t>
            </a:r>
          </a:p>
        </p:txBody>
      </p:sp>
      <p:sp>
        <p:nvSpPr>
          <p:cNvPr id="14" name="Row1BG"/>
          <p:cNvSpPr/>
          <p:nvPr/>
        </p:nvSpPr>
        <p:spPr>
          <a:xfrm>
            <a:off x="254000" y="14351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15" name="Row1Date"/>
          <p:cNvSpPr/>
          <p:nvPr/>
        </p:nvSpPr>
        <p:spPr>
          <a:xfrm>
            <a:off x="406400" y="14351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16" name="Row1Owner"/>
          <p:cNvSpPr/>
          <p:nvPr/>
        </p:nvSpPr>
        <p:spPr>
          <a:xfrm>
            <a:off x="1625600" y="15240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17" name="Row1Desc"/>
          <p:cNvSpPr/>
          <p:nvPr/>
        </p:nvSpPr>
        <p:spPr>
          <a:xfrm>
            <a:off x="2641600" y="14351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the 3 source backends — name, access method (API / file via Celigo / direct), refresh cadence</a:t>
            </a:r>
          </a:p>
        </p:txBody>
      </p:sp>
      <p:sp>
        <p:nvSpPr>
          <p:cNvPr id="18" name="Row2BG"/>
          <p:cNvSpPr/>
          <p:nvPr/>
        </p:nvSpPr>
        <p:spPr>
          <a:xfrm>
            <a:off x="254000" y="18542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9" name="Row2Date"/>
          <p:cNvSpPr/>
          <p:nvPr/>
        </p:nvSpPr>
        <p:spPr>
          <a:xfrm>
            <a:off x="406400" y="18542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20" name="Row2Owner"/>
          <p:cNvSpPr/>
          <p:nvPr/>
        </p:nvSpPr>
        <p:spPr>
          <a:xfrm>
            <a:off x="1625600" y="19431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1" name="Row2Desc"/>
          <p:cNvSpPr/>
          <p:nvPr/>
        </p:nvSpPr>
        <p:spPr>
          <a:xfrm>
            <a:off x="2641600" y="18542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which of the 3 hierarchy proposals from the March 12 review will be adopted</a:t>
            </a:r>
          </a:p>
        </p:txBody>
      </p:sp>
      <p:sp>
        <p:nvSpPr>
          <p:cNvPr id="22" name="Row3BG"/>
          <p:cNvSpPr/>
          <p:nvPr/>
        </p:nvSpPr>
        <p:spPr>
          <a:xfrm>
            <a:off x="254000" y="22733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23" name="Row3Date"/>
          <p:cNvSpPr/>
          <p:nvPr/>
        </p:nvSpPr>
        <p:spPr>
          <a:xfrm>
            <a:off x="406400" y="22733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14</a:t>
            </a:r>
          </a:p>
        </p:txBody>
      </p:sp>
      <p:sp>
        <p:nvSpPr>
          <p:cNvPr id="24" name="Row3Owner"/>
          <p:cNvSpPr/>
          <p:nvPr/>
        </p:nvSpPr>
        <p:spPr>
          <a:xfrm>
            <a:off x="1625600" y="23622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5" name="Row3Desc"/>
          <p:cNvSpPr/>
          <p:nvPr/>
        </p:nvSpPr>
        <p:spPr>
          <a:xfrm>
            <a:off x="2641600" y="22733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Validate the proposed component adjacency table (resolves Q5)</a:t>
            </a:r>
          </a:p>
        </p:txBody>
      </p:sp>
      <p:sp>
        <p:nvSpPr>
          <p:cNvPr id="26" name="Row4BG"/>
          <p:cNvSpPr/>
          <p:nvPr/>
        </p:nvSpPr>
        <p:spPr>
          <a:xfrm>
            <a:off x="254000" y="26924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27" name="Row4Date"/>
          <p:cNvSpPr/>
          <p:nvPr/>
        </p:nvSpPr>
        <p:spPr>
          <a:xfrm>
            <a:off x="406400" y="26924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28" name="Row4Owner"/>
          <p:cNvSpPr/>
          <p:nvPr/>
        </p:nvSpPr>
        <p:spPr>
          <a:xfrm>
            <a:off x="1625600" y="27813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9" name="Row4Desc"/>
          <p:cNvSpPr/>
          <p:nvPr/>
        </p:nvSpPr>
        <p:spPr>
          <a:xfrm>
            <a:off x="2641600" y="26924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Name the Lovesac Project Manager and Data Owner</a:t>
            </a:r>
          </a:p>
        </p:txBody>
      </p:sp>
      <p:sp>
        <p:nvSpPr>
          <p:cNvPr id="30" name="Row5BG"/>
          <p:cNvSpPr/>
          <p:nvPr/>
        </p:nvSpPr>
        <p:spPr>
          <a:xfrm>
            <a:off x="254000" y="31115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31" name="Row5Date"/>
          <p:cNvSpPr/>
          <p:nvPr/>
        </p:nvSpPr>
        <p:spPr>
          <a:xfrm>
            <a:off x="406400" y="31115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32" name="Row5Owner"/>
          <p:cNvSpPr/>
          <p:nvPr/>
        </p:nvSpPr>
        <p:spPr>
          <a:xfrm>
            <a:off x="1625600" y="32004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33" name="Row5Desc"/>
          <p:cNvSpPr/>
          <p:nvPr/>
        </p:nvSpPr>
        <p:spPr>
          <a:xfrm>
            <a:off x="2641600" y="31115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Provision DX Graph sandbox environment and share credentials</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NRow6BG"/>
          <p:cNvSpPr/>
          <p:nvPr/>
        </p:nvSpPr>
        <p:spPr>
          <a:xfrm>
            <a:off x="254000" y="3530600"/>
            <a:ext cx="8636000" cy="419100"/>
          </a:xfrm>
          <a:prstGeom prst="rect">
            <a:avLst/>
          </a:prstGeom>
          <a:solidFill>
            <a:srgbClr val="FFFFFF"/>
          </a:solidFill>
          <a:ln>
            <a:noFill/>
          </a:ln>
        </p:spPr>
        <p:txBody>
          <a:bodyPr/>
          <a:lstStyle/>
          <a:p>
            <a:endParaRPr lang="en-US"/>
          </a:p>
        </p:txBody>
      </p:sp>
      <p:sp>
        <p:nvSpPr>
          <p:cNvPr id="101" name="NRow6Date"/>
          <p:cNvSpPr/>
          <p:nvPr/>
        </p:nvSpPr>
        <p:spPr>
          <a:xfrm>
            <a:off x="406400" y="35306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02" name="NRow6Owner"/>
          <p:cNvSpPr/>
          <p:nvPr/>
        </p:nvSpPr>
        <p:spPr>
          <a:xfrm>
            <a:off x="1625600" y="36195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103" name="NRow6Desc"/>
          <p:cNvSpPr/>
          <p:nvPr/>
        </p:nvSpPr>
        <p:spPr>
          <a:xfrm>
            <a:off x="2641600" y="35306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Share the AI-derived compatibility rules document for product-team review</a:t>
            </a:r>
          </a:p>
        </p:txBody>
      </p:sp>
      <p:sp>
        <p:nvSpPr>
          <p:cNvPr id="104" name="NRow7BG"/>
          <p:cNvSpPr/>
          <p:nvPr/>
        </p:nvSpPr>
        <p:spPr>
          <a:xfrm>
            <a:off x="254000" y="3949700"/>
            <a:ext cx="8636000" cy="419100"/>
          </a:xfrm>
          <a:prstGeom prst="rect">
            <a:avLst/>
          </a:prstGeom>
          <a:solidFill>
            <a:srgbClr val="F9FAFB"/>
          </a:solidFill>
          <a:ln>
            <a:noFill/>
          </a:ln>
        </p:spPr>
        <p:txBody>
          <a:bodyPr/>
          <a:lstStyle/>
          <a:p>
            <a:endParaRPr lang="en-US"/>
          </a:p>
        </p:txBody>
      </p:sp>
      <p:sp>
        <p:nvSpPr>
          <p:cNvPr id="105" name="NRow7Date"/>
          <p:cNvSpPr/>
          <p:nvPr/>
        </p:nvSpPr>
        <p:spPr>
          <a:xfrm>
            <a:off x="406400" y="39497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15</a:t>
            </a:r>
          </a:p>
        </p:txBody>
      </p:sp>
      <p:sp>
        <p:nvSpPr>
          <p:cNvPr id="106" name="NRow7Owner"/>
          <p:cNvSpPr/>
          <p:nvPr/>
        </p:nvSpPr>
        <p:spPr>
          <a:xfrm>
            <a:off x="1625600" y="40386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07" name="NRow7Desc"/>
          <p:cNvSpPr/>
          <p:nvPr/>
        </p:nvSpPr>
        <p:spPr>
          <a:xfrm>
            <a:off x="2641600" y="39497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First weekly project standup — review readiness, lock Phase 1 sprint plan</a:t>
            </a:r>
          </a:p>
        </p:txBody>
      </p:sp>
    </p:spTree>
    <p:extLst>
      <p:ext uri="{BB962C8B-B14F-4D97-AF65-F5344CB8AC3E}">
        <p14:creationId xmlns:p14="http://schemas.microsoft.com/office/powerpoint/2010/main" val="2234415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30"/>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End-to-End Architecture</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BG0"/>
          <p:cNvSpPr>
            <a:spLocks noGrp="1"/>
          </p:cNvSpPr>
          <p:nvPr/>
        </p:nvSpPr>
        <p:spPr>
          <a:xfrm>
            <a:off x="266700" y="762000"/>
            <a:ext cx="14986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05" name="Hdr0"/>
          <p:cNvSpPr>
            <a:spLocks noGrp="1"/>
          </p:cNvSpPr>
          <p:nvPr/>
        </p:nvSpPr>
        <p:spPr>
          <a:xfrm>
            <a:off x="266700" y="762000"/>
            <a:ext cx="14986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SOURCE SYSTEMS</a:t>
            </a:r>
          </a:p>
        </p:txBody>
      </p:sp>
      <p:sp>
        <p:nvSpPr>
          <p:cNvPr id="310" name="C00"/>
          <p:cNvSpPr>
            <a:spLocks noGrp="1"/>
          </p:cNvSpPr>
          <p:nvPr/>
        </p:nvSpPr>
        <p:spPr>
          <a:xfrm>
            <a:off x="292100" y="9906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NetSuite</a:t>
            </a:r>
          </a:p>
          <a:p>
            <a:pPr>
              <a:spcBef>
                <a:spcPts val="30"/>
              </a:spcBef>
              <a:buNone/>
            </a:pPr>
            <a:r>
              <a:rPr lang="en-US" sz="575" b="1" spc="75" dirty="0">
                <a:solidFill>
                  <a:srgbClr val="6B7280"/>
                </a:solidFill>
                <a:latin typeface="Calibri"/>
              </a:rPr>
              <a:t>ERP</a:t>
            </a:r>
          </a:p>
          <a:p>
            <a:pPr>
              <a:lnSpc>
                <a:spcPts val="1000"/>
              </a:lnSpc>
              <a:spcBef>
                <a:spcPts val="40"/>
              </a:spcBef>
              <a:buNone/>
            </a:pPr>
            <a:r>
              <a:rPr lang="en-US" sz="600" dirty="0">
                <a:solidFill>
                  <a:srgbClr val="4B5563"/>
                </a:solidFill>
                <a:latin typeface="Calibri"/>
              </a:rPr>
              <a:t>Financial master for pricing, cost &amp; SKU lifecycle. Source of record for commercial attributes.</a:t>
            </a:r>
          </a:p>
        </p:txBody>
      </p:sp>
      <p:sp>
        <p:nvSpPr>
          <p:cNvPr id="311" name="C01"/>
          <p:cNvSpPr>
            <a:spLocks noGrp="1"/>
          </p:cNvSpPr>
          <p:nvPr/>
        </p:nvSpPr>
        <p:spPr>
          <a:xfrm>
            <a:off x="292100" y="21717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Adobe Commerce</a:t>
            </a:r>
          </a:p>
          <a:p>
            <a:pPr>
              <a:spcBef>
                <a:spcPts val="30"/>
              </a:spcBef>
              <a:buNone/>
            </a:pPr>
            <a:r>
              <a:rPr lang="en-US" sz="575" b="1" spc="75" dirty="0">
                <a:solidFill>
                  <a:srgbClr val="6B7280"/>
                </a:solidFill>
                <a:latin typeface="Calibri"/>
              </a:rPr>
              <a:t>ECOMMERCE</a:t>
            </a:r>
          </a:p>
          <a:p>
            <a:pPr>
              <a:lnSpc>
                <a:spcPts val="1000"/>
              </a:lnSpc>
              <a:spcBef>
                <a:spcPts val="40"/>
              </a:spcBef>
              <a:buNone/>
            </a:pPr>
            <a:r>
              <a:rPr lang="en-US" sz="600" dirty="0">
                <a:solidFill>
                  <a:srgbClr val="4B5563"/>
                </a:solidFill>
                <a:latin typeface="Calibri"/>
              </a:rPr>
              <a:t>Web-facing product content, merchandising &amp; storefront metadata.</a:t>
            </a:r>
          </a:p>
        </p:txBody>
      </p:sp>
      <p:sp>
        <p:nvSpPr>
          <p:cNvPr id="312" name="C02"/>
          <p:cNvSpPr>
            <a:spLocks noGrp="1"/>
          </p:cNvSpPr>
          <p:nvPr/>
        </p:nvSpPr>
        <p:spPr>
          <a:xfrm>
            <a:off x="292100" y="33528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Threekit</a:t>
            </a:r>
          </a:p>
          <a:p>
            <a:pPr>
              <a:spcBef>
                <a:spcPts val="30"/>
              </a:spcBef>
              <a:buNone/>
            </a:pPr>
            <a:r>
              <a:rPr lang="en-US" sz="575" b="1" spc="75" dirty="0">
                <a:solidFill>
                  <a:srgbClr val="6B7280"/>
                </a:solidFill>
                <a:latin typeface="Calibri"/>
              </a:rPr>
              <a:t>VISUAL CONFIGURATOR</a:t>
            </a:r>
          </a:p>
          <a:p>
            <a:pPr>
              <a:lnSpc>
                <a:spcPts val="1000"/>
              </a:lnSpc>
              <a:spcBef>
                <a:spcPts val="40"/>
              </a:spcBef>
              <a:buNone/>
            </a:pPr>
            <a:r>
              <a:rPr lang="en-US" sz="600" dirty="0">
                <a:solidFill>
                  <a:srgbClr val="4B5563"/>
                </a:solidFill>
                <a:latin typeface="Calibri"/>
              </a:rPr>
              <a:t>Compatibility rules migrating to DX Graph.</a:t>
            </a:r>
          </a:p>
        </p:txBody>
      </p:sp>
      <p:sp>
        <p:nvSpPr>
          <p:cNvPr id="350" name="Arr01"/>
          <p:cNvSpPr>
            <a:spLocks noGrp="1"/>
          </p:cNvSpPr>
          <p:nvPr/>
        </p:nvSpPr>
        <p:spPr>
          <a:xfrm>
            <a:off x="1790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60" name="BG1"/>
          <p:cNvSpPr>
            <a:spLocks noGrp="1"/>
          </p:cNvSpPr>
          <p:nvPr/>
        </p:nvSpPr>
        <p:spPr>
          <a:xfrm>
            <a:off x="1943100" y="762000"/>
            <a:ext cx="9652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65" name="Hdr1"/>
          <p:cNvSpPr>
            <a:spLocks noGrp="1"/>
          </p:cNvSpPr>
          <p:nvPr/>
        </p:nvSpPr>
        <p:spPr>
          <a:xfrm>
            <a:off x="1943100" y="762000"/>
            <a:ext cx="9652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INTEGRATION HUB</a:t>
            </a:r>
          </a:p>
        </p:txBody>
      </p:sp>
      <p:sp>
        <p:nvSpPr>
          <p:cNvPr id="366" name="Celigo"/>
          <p:cNvSpPr>
            <a:spLocks noGrp="1"/>
          </p:cNvSpPr>
          <p:nvPr/>
        </p:nvSpPr>
        <p:spPr>
          <a:xfrm>
            <a:off x="1968500" y="990600"/>
            <a:ext cx="914400" cy="35052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Celigo</a:t>
            </a:r>
          </a:p>
          <a:p>
            <a:pPr>
              <a:spcBef>
                <a:spcPts val="30"/>
              </a:spcBef>
              <a:buNone/>
            </a:pPr>
            <a:r>
              <a:rPr lang="en-US" sz="575" b="1" spc="75" dirty="0">
                <a:solidFill>
                  <a:srgbClr val="6B7280"/>
                </a:solidFill>
                <a:latin typeface="Calibri"/>
              </a:rPr>
              <a:t>INTEGRATION PLATFORM</a:t>
            </a:r>
          </a:p>
          <a:p>
            <a:pPr>
              <a:lnSpc>
                <a:spcPts val="1000"/>
              </a:lnSpc>
              <a:spcBef>
                <a:spcPts val="40"/>
              </a:spcBef>
              <a:buNone/>
            </a:pPr>
            <a:r>
              <a:rPr lang="en-US" sz="600" dirty="0">
                <a:solidFill>
                  <a:srgbClr val="4B5563"/>
                </a:solidFill>
                <a:latin typeface="Calibri"/>
              </a:rPr>
              <a:t>Connects NetSuite, Adobe Commerce, Manhattan Active Omni &amp; Conscia Layer via scheduled and event-driven flows.</a:t>
            </a:r>
          </a:p>
        </p:txBody>
      </p:sp>
      <p:sp>
        <p:nvSpPr>
          <p:cNvPr id="370" name="Arr12"/>
          <p:cNvSpPr>
            <a:spLocks noGrp="1"/>
          </p:cNvSpPr>
          <p:nvPr/>
        </p:nvSpPr>
        <p:spPr>
          <a:xfrm>
            <a:off x="2933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80" name="BG2"/>
          <p:cNvSpPr>
            <a:spLocks noGrp="1"/>
          </p:cNvSpPr>
          <p:nvPr/>
        </p:nvSpPr>
        <p:spPr>
          <a:xfrm>
            <a:off x="3086100" y="762000"/>
            <a:ext cx="1968500" cy="3759200"/>
          </a:xfrm>
          <a:prstGeom prst="roundRect">
            <a:avLst>
              <a:gd name="adj" fmla="val 2000"/>
            </a:avLst>
          </a:prstGeom>
          <a:solidFill>
            <a:srgbClr val="FDF2F8"/>
          </a:solidFill>
          <a:ln w="19050">
            <a:solidFill>
              <a:srgbClr val="C2185B"/>
            </a:solidFill>
          </a:ln>
        </p:spPr>
        <p:txBody>
          <a:bodyPr/>
          <a:lstStyle/>
          <a:p>
            <a:endParaRPr lang="en-GB"/>
          </a:p>
        </p:txBody>
      </p:sp>
      <p:sp>
        <p:nvSpPr>
          <p:cNvPr id="385" name="Hdr2"/>
          <p:cNvSpPr>
            <a:spLocks noGrp="1"/>
          </p:cNvSpPr>
          <p:nvPr/>
        </p:nvSpPr>
        <p:spPr>
          <a:xfrm>
            <a:off x="3086100" y="762000"/>
            <a:ext cx="1968500" cy="203200"/>
          </a:xfrm>
          <a:prstGeom prst="roundRect">
            <a:avLst>
              <a:gd name="adj" fmla="val 2000"/>
            </a:avLst>
          </a:prstGeom>
          <a:solidFill>
            <a:srgbClr val="C2185B"/>
          </a:solidFill>
          <a:ln w="19050">
            <a:solidFill>
              <a:srgbClr val="C2185B"/>
            </a:solidFill>
          </a:ln>
        </p:spPr>
        <p:txBody>
          <a:bodyPr wrap="square" lIns="25400" tIns="25400" rIns="25400" bIns="25400" anchor="ctr"/>
          <a:lstStyle/>
          <a:p>
            <a:pPr algn="ctr">
              <a:buNone/>
            </a:pPr>
            <a:r>
              <a:rPr lang="en-US" sz="700" b="1" spc="150" dirty="0">
                <a:solidFill>
                  <a:srgbClr val="FFFFFF"/>
                </a:solidFill>
                <a:latin typeface="Calibri"/>
              </a:rPr>
              <a:t>CONSCIA PLATFORM</a:t>
            </a:r>
          </a:p>
        </p:txBody>
      </p:sp>
      <p:sp>
        <p:nvSpPr>
          <p:cNvPr id="386" name="DXGraph"/>
          <p:cNvSpPr>
            <a:spLocks noGrp="1"/>
          </p:cNvSpPr>
          <p:nvPr/>
        </p:nvSpPr>
        <p:spPr>
          <a:xfrm>
            <a:off x="3111500" y="9906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Graph</a:t>
            </a:r>
          </a:p>
          <a:p>
            <a:pPr>
              <a:spcBef>
                <a:spcPts val="30"/>
              </a:spcBef>
              <a:buNone/>
            </a:pPr>
            <a:r>
              <a:rPr lang="en-US" sz="575" b="1" spc="75" dirty="0">
                <a:solidFill>
                  <a:srgbClr val="374151"/>
                </a:solidFill>
                <a:latin typeface="Calibri"/>
              </a:rPr>
              <a:t>GOVERNED PRODUCT MASTER</a:t>
            </a:r>
          </a:p>
          <a:p>
            <a:pPr>
              <a:lnSpc>
                <a:spcPts val="1000"/>
              </a:lnSpc>
              <a:spcBef>
                <a:spcPts val="40"/>
              </a:spcBef>
              <a:buNone/>
            </a:pPr>
            <a:r>
              <a:rPr lang="en-US" sz="600" dirty="0">
                <a:solidFill>
                  <a:srgbClr val="4B5563"/>
                </a:solidFill>
                <a:latin typeface="Calibri"/>
              </a:rPr>
              <a:t>Semantic data layer &amp; system of record for configurable products. Holds unified SKU collection, compatibility relationships, taxonomy hierarchies &amp; governed entities.</a:t>
            </a:r>
          </a:p>
        </p:txBody>
      </p:sp>
      <p:sp>
        <p:nvSpPr>
          <p:cNvPr id="387" name="ArrDn"/>
          <p:cNvSpPr>
            <a:spLocks noGrp="1"/>
          </p:cNvSpPr>
          <p:nvPr/>
        </p:nvSpPr>
        <p:spPr>
          <a:xfrm>
            <a:off x="4000500" y="2667000"/>
            <a:ext cx="127000" cy="127000"/>
          </a:xfrm>
          <a:prstGeom prst="downArrow">
            <a:avLst>
              <a:gd name="adj1" fmla="val 50000"/>
              <a:gd name="adj2" fmla="val 50000"/>
            </a:avLst>
          </a:prstGeom>
          <a:solidFill>
            <a:srgbClr val="C2185B"/>
          </a:solidFill>
          <a:ln>
            <a:noFill/>
          </a:ln>
        </p:spPr>
        <p:txBody>
          <a:bodyPr/>
          <a:lstStyle/>
          <a:p>
            <a:endParaRPr lang="en-GB"/>
          </a:p>
        </p:txBody>
      </p:sp>
      <p:sp>
        <p:nvSpPr>
          <p:cNvPr id="389" name="DXEngine"/>
          <p:cNvSpPr>
            <a:spLocks noGrp="1"/>
          </p:cNvSpPr>
          <p:nvPr/>
        </p:nvSpPr>
        <p:spPr>
          <a:xfrm>
            <a:off x="3111500" y="28321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Engine</a:t>
            </a:r>
          </a:p>
          <a:p>
            <a:pPr>
              <a:spcBef>
                <a:spcPts val="30"/>
              </a:spcBef>
              <a:buNone/>
            </a:pPr>
            <a:r>
              <a:rPr lang="en-US" sz="575" b="1" spc="75" dirty="0">
                <a:solidFill>
                  <a:srgbClr val="374151"/>
                </a:solidFill>
                <a:latin typeface="Calibri"/>
              </a:rPr>
              <a:t>REAL-TIME ORCHESTRATION</a:t>
            </a:r>
          </a:p>
          <a:p>
            <a:pPr>
              <a:lnSpc>
                <a:spcPts val="1000"/>
              </a:lnSpc>
              <a:spcBef>
                <a:spcPts val="40"/>
              </a:spcBef>
              <a:buNone/>
            </a:pPr>
            <a:r>
              <a:rPr lang="en-US" sz="600" dirty="0">
                <a:solidFill>
                  <a:srgbClr val="4B5563"/>
                </a:solidFill>
                <a:latin typeface="Calibri"/>
              </a:rPr>
              <a:t>Experience API: config validation, wizard steps, Config IDs, BOM explosion &amp; channel feeds. MCP-exposable for agentic commerce.</a:t>
            </a:r>
          </a:p>
        </p:txBody>
      </p:sp>
      <p:sp>
        <p:nvSpPr>
          <p:cNvPr id="390" name="Arr23"/>
          <p:cNvSpPr>
            <a:spLocks noGrp="1"/>
          </p:cNvSpPr>
          <p:nvPr/>
        </p:nvSpPr>
        <p:spPr>
          <a:xfrm>
            <a:off x="5080000" y="2590800"/>
            <a:ext cx="127000" cy="101600"/>
          </a:xfrm>
          <a:prstGeom prst="rightArrow">
            <a:avLst>
              <a:gd name="adj1" fmla="val 50000"/>
              <a:gd name="adj2" fmla="val 50000"/>
            </a:avLst>
          </a:prstGeom>
          <a:solidFill>
            <a:srgbClr val="C2185B"/>
          </a:solidFill>
          <a:ln>
            <a:noFill/>
          </a:ln>
        </p:spPr>
        <p:txBody>
          <a:bodyPr/>
          <a:lstStyle/>
          <a:p>
            <a:endParaRPr lang="en-GB"/>
          </a:p>
        </p:txBody>
      </p:sp>
      <p:sp>
        <p:nvSpPr>
          <p:cNvPr id="400" name="BG3"/>
          <p:cNvSpPr>
            <a:spLocks noGrp="1"/>
          </p:cNvSpPr>
          <p:nvPr/>
        </p:nvSpPr>
        <p:spPr>
          <a:xfrm>
            <a:off x="5232400" y="762000"/>
            <a:ext cx="15621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05" name="Hdr3"/>
          <p:cNvSpPr>
            <a:spLocks noGrp="1"/>
          </p:cNvSpPr>
          <p:nvPr/>
        </p:nvSpPr>
        <p:spPr>
          <a:xfrm>
            <a:off x="5232400" y="762000"/>
            <a:ext cx="15621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DOWNSTREAM</a:t>
            </a:r>
          </a:p>
        </p:txBody>
      </p:sp>
      <p:sp>
        <p:nvSpPr>
          <p:cNvPr id="406" name="C30"/>
          <p:cNvSpPr>
            <a:spLocks noGrp="1"/>
          </p:cNvSpPr>
          <p:nvPr/>
        </p:nvSpPr>
        <p:spPr>
          <a:xfrm>
            <a:off x="5257800" y="9906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Manhattan Active Omni</a:t>
            </a:r>
          </a:p>
          <a:p>
            <a:pPr>
              <a:spcBef>
                <a:spcPts val="30"/>
              </a:spcBef>
              <a:buNone/>
            </a:pPr>
            <a:r>
              <a:rPr lang="en-US" sz="575" b="1" spc="75" dirty="0">
                <a:solidFill>
                  <a:srgbClr val="6B7280"/>
                </a:solidFill>
                <a:latin typeface="Calibri"/>
              </a:rPr>
              <a:t>OMS</a:t>
            </a:r>
          </a:p>
          <a:p>
            <a:pPr>
              <a:lnSpc>
                <a:spcPts val="1000"/>
              </a:lnSpc>
              <a:spcBef>
                <a:spcPts val="40"/>
              </a:spcBef>
              <a:buNone/>
            </a:pPr>
            <a:r>
              <a:rPr lang="en-US" sz="600" dirty="0">
                <a:solidFill>
                  <a:srgbClr val="4B5563"/>
                </a:solidFill>
                <a:latin typeface="Calibri"/>
              </a:rPr>
              <a:t>Order master; receives exploded BOMs from DX Engine for fulfilment.</a:t>
            </a:r>
          </a:p>
        </p:txBody>
      </p:sp>
      <p:sp>
        <p:nvSpPr>
          <p:cNvPr id="407" name="C31"/>
          <p:cNvSpPr>
            <a:spLocks noGrp="1"/>
          </p:cNvSpPr>
          <p:nvPr/>
        </p:nvSpPr>
        <p:spPr>
          <a:xfrm>
            <a:off x="5257800" y="21717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Lovesac.com</a:t>
            </a:r>
          </a:p>
          <a:p>
            <a:pPr>
              <a:spcBef>
                <a:spcPts val="30"/>
              </a:spcBef>
              <a:buNone/>
            </a:pPr>
            <a:r>
              <a:rPr lang="en-US" sz="575" b="1" spc="75" dirty="0">
                <a:solidFill>
                  <a:srgbClr val="6B7280"/>
                </a:solidFill>
                <a:latin typeface="Calibri"/>
              </a:rPr>
              <a:t>STOREFRONT</a:t>
            </a:r>
          </a:p>
          <a:p>
            <a:pPr>
              <a:lnSpc>
                <a:spcPts val="1000"/>
              </a:lnSpc>
              <a:spcBef>
                <a:spcPts val="40"/>
              </a:spcBef>
              <a:buNone/>
            </a:pPr>
            <a:r>
              <a:rPr lang="en-US" sz="600" dirty="0">
                <a:solidFill>
                  <a:srgbClr val="4B5563"/>
                </a:solidFill>
                <a:latin typeface="Calibri"/>
              </a:rPr>
              <a:t>Adobe Commerce; consumes validated Config IDs via Experience API.</a:t>
            </a:r>
          </a:p>
        </p:txBody>
      </p:sp>
      <p:sp>
        <p:nvSpPr>
          <p:cNvPr id="408" name="C32"/>
          <p:cNvSpPr>
            <a:spLocks noGrp="1"/>
          </p:cNvSpPr>
          <p:nvPr/>
        </p:nvSpPr>
        <p:spPr>
          <a:xfrm>
            <a:off x="5257800" y="33528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Salesforce Retail Cloud</a:t>
            </a:r>
          </a:p>
          <a:p>
            <a:pPr>
              <a:spcBef>
                <a:spcPts val="30"/>
              </a:spcBef>
              <a:buNone/>
            </a:pPr>
            <a:r>
              <a:rPr lang="en-US" sz="575" b="1" spc="75" dirty="0">
                <a:solidFill>
                  <a:srgbClr val="6B7280"/>
                </a:solidFill>
                <a:latin typeface="Calibri"/>
              </a:rPr>
              <a:t>POS</a:t>
            </a:r>
          </a:p>
          <a:p>
            <a:pPr>
              <a:lnSpc>
                <a:spcPts val="1000"/>
              </a:lnSpc>
              <a:spcBef>
                <a:spcPts val="40"/>
              </a:spcBef>
              <a:buNone/>
            </a:pPr>
            <a:r>
              <a:rPr lang="en-US" sz="600" dirty="0">
                <a:solidFill>
                  <a:srgbClr val="4B5563"/>
                </a:solidFill>
                <a:latin typeface="Calibri"/>
              </a:rPr>
              <a:t>In-store config validation &amp; Config ID lookup at the register.</a:t>
            </a:r>
          </a:p>
        </p:txBody>
      </p:sp>
      <p:sp>
        <p:nvSpPr>
          <p:cNvPr id="410" name="Arr34"/>
          <p:cNvSpPr>
            <a:spLocks noGrp="1"/>
          </p:cNvSpPr>
          <p:nvPr/>
        </p:nvSpPr>
        <p:spPr>
          <a:xfrm>
            <a:off x="68199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420" name="BG4"/>
          <p:cNvSpPr>
            <a:spLocks noGrp="1"/>
          </p:cNvSpPr>
          <p:nvPr/>
        </p:nvSpPr>
        <p:spPr>
          <a:xfrm>
            <a:off x="6972300" y="762000"/>
            <a:ext cx="17780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25" name="Hdr4"/>
          <p:cNvSpPr>
            <a:spLocks noGrp="1"/>
          </p:cNvSpPr>
          <p:nvPr/>
        </p:nvSpPr>
        <p:spPr>
          <a:xfrm>
            <a:off x="6972300" y="762000"/>
            <a:ext cx="17780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CHANNELS &amp; AGENTS</a:t>
            </a:r>
          </a:p>
        </p:txBody>
      </p:sp>
      <p:sp>
        <p:nvSpPr>
          <p:cNvPr id="426" name="C40"/>
          <p:cNvSpPr>
            <a:spLocks noGrp="1"/>
          </p:cNvSpPr>
          <p:nvPr/>
        </p:nvSpPr>
        <p:spPr>
          <a:xfrm>
            <a:off x="6997700" y="990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POS Terminals</a:t>
            </a:r>
          </a:p>
          <a:p>
            <a:pPr>
              <a:spcBef>
                <a:spcPts val="30"/>
              </a:spcBef>
              <a:buNone/>
            </a:pPr>
            <a:r>
              <a:rPr lang="en-US" sz="575" b="1" spc="75" dirty="0">
                <a:solidFill>
                  <a:srgbClr val="6B7280"/>
                </a:solidFill>
                <a:latin typeface="Calibri"/>
              </a:rPr>
              <a:t>IN-STORE</a:t>
            </a:r>
          </a:p>
        </p:txBody>
      </p:sp>
      <p:sp>
        <p:nvSpPr>
          <p:cNvPr id="427" name="C41"/>
          <p:cNvSpPr>
            <a:spLocks noGrp="1"/>
          </p:cNvSpPr>
          <p:nvPr/>
        </p:nvSpPr>
        <p:spPr>
          <a:xfrm>
            <a:off x="6997700" y="15748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Lovesac.com</a:t>
            </a:r>
          </a:p>
          <a:p>
            <a:pPr>
              <a:spcBef>
                <a:spcPts val="30"/>
              </a:spcBef>
              <a:buNone/>
            </a:pPr>
            <a:r>
              <a:rPr lang="en-US" sz="575" b="1" spc="75" dirty="0">
                <a:solidFill>
                  <a:srgbClr val="6B7280"/>
                </a:solidFill>
                <a:latin typeface="Calibri"/>
              </a:rPr>
              <a:t>WEB</a:t>
            </a:r>
          </a:p>
        </p:txBody>
      </p:sp>
      <p:sp>
        <p:nvSpPr>
          <p:cNvPr id="428" name="C42"/>
          <p:cNvSpPr>
            <a:spLocks noGrp="1"/>
          </p:cNvSpPr>
          <p:nvPr/>
        </p:nvSpPr>
        <p:spPr>
          <a:xfrm>
            <a:off x="6997700" y="21590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Mobile Apps</a:t>
            </a:r>
          </a:p>
          <a:p>
            <a:pPr>
              <a:spcBef>
                <a:spcPts val="30"/>
              </a:spcBef>
              <a:buNone/>
            </a:pPr>
            <a:r>
              <a:rPr lang="en-US" sz="575" b="1" spc="75" dirty="0">
                <a:solidFill>
                  <a:srgbClr val="6B7280"/>
                </a:solidFill>
                <a:latin typeface="Calibri"/>
              </a:rPr>
              <a:t>STEALTHTECH V2.0</a:t>
            </a:r>
          </a:p>
        </p:txBody>
      </p:sp>
      <p:sp>
        <p:nvSpPr>
          <p:cNvPr id="429" name="C43"/>
          <p:cNvSpPr>
            <a:spLocks noGrp="1"/>
          </p:cNvSpPr>
          <p:nvPr/>
        </p:nvSpPr>
        <p:spPr>
          <a:xfrm>
            <a:off x="6997700" y="27432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AgentForce</a:t>
            </a:r>
          </a:p>
          <a:p>
            <a:pPr>
              <a:spcBef>
                <a:spcPts val="30"/>
              </a:spcBef>
              <a:buNone/>
            </a:pPr>
            <a:r>
              <a:rPr lang="en-US" sz="575" b="1" spc="75" dirty="0">
                <a:solidFill>
                  <a:srgbClr val="6B7280"/>
                </a:solidFill>
                <a:latin typeface="Calibri"/>
              </a:rPr>
              <a:t>AI AGENT</a:t>
            </a:r>
          </a:p>
        </p:txBody>
      </p:sp>
      <p:sp>
        <p:nvSpPr>
          <p:cNvPr id="430" name="C44"/>
          <p:cNvSpPr>
            <a:spLocks noGrp="1"/>
          </p:cNvSpPr>
          <p:nvPr/>
        </p:nvSpPr>
        <p:spPr>
          <a:xfrm>
            <a:off x="6997700" y="33274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Google Shopping</a:t>
            </a:r>
          </a:p>
          <a:p>
            <a:pPr>
              <a:spcBef>
                <a:spcPts val="30"/>
              </a:spcBef>
              <a:buNone/>
            </a:pPr>
            <a:r>
              <a:rPr lang="en-US" sz="575" b="1" spc="75" dirty="0">
                <a:solidFill>
                  <a:srgbClr val="6B7280"/>
                </a:solidFill>
                <a:latin typeface="Calibri"/>
              </a:rPr>
              <a:t>3RD-PARTY AGENTIC</a:t>
            </a:r>
          </a:p>
        </p:txBody>
      </p:sp>
      <p:sp>
        <p:nvSpPr>
          <p:cNvPr id="431" name="C45"/>
          <p:cNvSpPr>
            <a:spLocks noGrp="1"/>
          </p:cNvSpPr>
          <p:nvPr/>
        </p:nvSpPr>
        <p:spPr>
          <a:xfrm>
            <a:off x="6997700" y="3911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ChatGPT / 3rd-Party AI</a:t>
            </a:r>
          </a:p>
          <a:p>
            <a:pPr>
              <a:spcBef>
                <a:spcPts val="30"/>
              </a:spcBef>
              <a:buNone/>
            </a:pPr>
            <a:r>
              <a:rPr lang="en-US" sz="575" b="1" spc="75" dirty="0">
                <a:solidFill>
                  <a:srgbClr val="6B7280"/>
                </a:solidFill>
                <a:latin typeface="Calibri"/>
              </a:rPr>
              <a:t>EMERGING AI</a:t>
            </a:r>
          </a:p>
        </p:txBody>
      </p:sp>
      <p:sp>
        <p:nvSpPr>
          <p:cNvPr id="440" name="Footnote"/>
          <p:cNvSpPr>
            <a:spLocks noGrp="1"/>
          </p:cNvSpPr>
          <p:nvPr/>
        </p:nvSpPr>
        <p:spPr>
          <a:xfrm>
            <a:off x="266700" y="4572000"/>
            <a:ext cx="8864600" cy="152400"/>
          </a:xfrm>
          <a:prstGeom prst="rect">
            <a:avLst/>
          </a:prstGeom>
          <a:noFill/>
          <a:ln>
            <a:noFill/>
          </a:ln>
        </p:spPr>
        <p:txBody>
          <a:bodyPr wrap="square" lIns="12700" tIns="12700" rIns="12700" bIns="12700" anchor="ctr"/>
          <a:lstStyle/>
          <a:p>
            <a:pPr>
              <a:buNone/>
            </a:pPr>
            <a:r>
              <a:rPr lang="en-US" sz="575" i="1" dirty="0">
                <a:solidFill>
                  <a:srgbClr val="6B7280"/>
                </a:solidFill>
                <a:latin typeface="Calibri"/>
              </a:rPr>
              <a:t>System names and integration paths from Lovesac Enterprise Applications Architecture, Target State, January 2026.</a:t>
            </a:r>
          </a:p>
        </p:txBody>
      </p:sp>
    </p:spTree>
    <p:extLst>
      <p:ext uri="{BB962C8B-B14F-4D97-AF65-F5344CB8AC3E}">
        <p14:creationId xmlns:p14="http://schemas.microsoft.com/office/powerpoint/2010/main" val="4017244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1800" b="1" dirty="0">
                <a:solidFill>
                  <a:srgbClr val="111827"/>
                </a:solidFill>
                <a:latin typeface="Calibri"/>
              </a:rPr>
              <a:t>Project Scope — Phase 1</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810000"/>
          </a:xfrm>
          <a:prstGeom prst="roundRect">
            <a:avLst>
              <a:gd name="adj" fmla="val 3000"/>
            </a:avLst>
          </a:prstGeom>
          <a:solidFill>
            <a:srgbClr val="FFF8FB"/>
          </a:solidFill>
          <a:ln w="9525">
            <a:solidFill>
              <a:srgbClr val="FBD0DF"/>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635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79400"/>
          </a:xfrm>
          <a:prstGeom prst="rect">
            <a:avLst/>
          </a:prstGeom>
          <a:noFill/>
          <a:ln>
            <a:noFill/>
          </a:ln>
        </p:spPr>
        <p:txBody>
          <a:bodyPr wrap="square" lIns="0" tIns="0" rIns="0" bIns="0" anchor="t"/>
          <a:lstStyle/>
          <a:p>
            <a:pPr>
              <a:buNone/>
            </a:pPr>
            <a:r>
              <a:rPr lang="en-US" sz="900" b="1" spc="150" dirty="0">
                <a:solidFill>
                  <a:srgbClr val="EB1A63"/>
                </a:solidFill>
                <a:latin typeface="Calibri"/>
              </a:rPr>
              <a:t>DX GRAPH</a:t>
            </a:r>
          </a:p>
          <a:p>
            <a:pPr>
              <a:buNone/>
            </a:pPr>
            <a:r>
              <a:rPr lang="en-US" sz="750" i="1" dirty="0">
                <a:solidFill>
                  <a:srgbClr val="EB1A63"/>
                </a:solidFill>
                <a:latin typeface="Calibri"/>
              </a:rPr>
              <a:t>in scope</a:t>
            </a:r>
          </a:p>
        </p:txBody>
      </p:sp>
      <p:sp>
        <p:nvSpPr>
          <p:cNvPr id="103" name="SD0"/>
          <p:cNvSpPr/>
          <p:nvPr/>
        </p:nvSpPr>
        <p:spPr>
          <a:xfrm>
            <a:off x="482600" y="13208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DX Graph application provisioning and environment setup</a:t>
            </a:r>
          </a:p>
          <a:p>
            <a:pPr marL="171450" indent="-171450">
              <a:lnSpc>
                <a:spcPts val="1200"/>
              </a:lnSpc>
              <a:spcBef>
                <a:spcPts val="180"/>
              </a:spcBef>
              <a:buFont typeface="Arial"/>
              <a:buChar char="·"/>
            </a:pPr>
            <a:r>
              <a:rPr lang="en-US" sz="820" dirty="0">
                <a:solidFill>
                  <a:srgbClr val="374151"/>
                </a:solidFill>
                <a:latin typeface="Calibri"/>
              </a:rPr>
              <a:t>SKU Collection — all 28,089 SKUs (Sactional, Sac, Snugg, Accessories) in one unified collection</a:t>
            </a:r>
          </a:p>
          <a:p>
            <a:pPr marL="171450" indent="-171450">
              <a:lnSpc>
                <a:spcPts val="1200"/>
              </a:lnSpc>
              <a:spcBef>
                <a:spcPts val="180"/>
              </a:spcBef>
              <a:buFont typeface="Arial"/>
              <a:buChar char="·"/>
            </a:pPr>
            <a:r>
              <a:rPr lang="en-US" sz="820" dirty="0">
                <a:solidFill>
                  <a:srgbClr val="374151"/>
                </a:solidFill>
                <a:latin typeface="Calibri"/>
              </a:rPr>
              <a:t>Configuration Collection for saved configs</a:t>
            </a:r>
          </a:p>
          <a:p>
            <a:pPr marL="171450" indent="-171450">
              <a:lnSpc>
                <a:spcPts val="1200"/>
              </a:lnSpc>
              <a:spcBef>
                <a:spcPts val="180"/>
              </a:spcBef>
              <a:buFont typeface="Arial"/>
              <a:buChar char="·"/>
            </a:pPr>
            <a:r>
              <a:rPr lang="en-US" sz="820" dirty="0">
                <a:solidFill>
                  <a:srgbClr val="374151"/>
                </a:solidFill>
                <a:latin typeface="Calibri"/>
              </a:rPr>
              <a:t>Up to 3 Taxonomy Collections</a:t>
            </a:r>
          </a:p>
          <a:p>
            <a:pPr marL="171450" indent="-171450">
              <a:lnSpc>
                <a:spcPts val="1200"/>
              </a:lnSpc>
              <a:spcBef>
                <a:spcPts val="180"/>
              </a:spcBef>
              <a:buFont typeface="Arial"/>
              <a:buChar char="·"/>
            </a:pPr>
            <a:r>
              <a:rPr lang="en-US" sz="820" dirty="0">
                <a:solidFill>
                  <a:srgbClr val="374151"/>
                </a:solidFill>
                <a:latin typeface="Calibri"/>
              </a:rPr>
              <a:t>Relationships: COMPATIBLE_WITH (Dynamic), BUNDLES (1:M), CONTAINS (1:M), MAPS_TO (1:M)</a:t>
            </a:r>
          </a:p>
          <a:p>
            <a:pPr marL="171450" indent="-171450">
              <a:lnSpc>
                <a:spcPts val="1200"/>
              </a:lnSpc>
              <a:spcBef>
                <a:spcPts val="180"/>
              </a:spcBef>
              <a:buFont typeface="Arial"/>
              <a:buChar char="·"/>
            </a:pPr>
            <a:r>
              <a:rPr lang="en-US" sz="820" dirty="0">
                <a:solidFill>
                  <a:srgbClr val="374151"/>
                </a:solidFill>
                <a:latin typeface="Calibri"/>
              </a:rPr>
              <a:t>Data ingest from up to 3 source backends via Jobs (likely via Celigo)</a:t>
            </a:r>
          </a:p>
        </p:txBody>
      </p:sp>
      <p:sp>
        <p:nvSpPr>
          <p:cNvPr id="110" name="SC1"/>
          <p:cNvSpPr/>
          <p:nvPr/>
        </p:nvSpPr>
        <p:spPr>
          <a:xfrm>
            <a:off x="3213100" y="838200"/>
            <a:ext cx="2730500" cy="3810000"/>
          </a:xfrm>
          <a:prstGeom prst="roundRect">
            <a:avLst>
              <a:gd name="adj" fmla="val 3000"/>
            </a:avLst>
          </a:prstGeom>
          <a:solidFill>
            <a:srgbClr val="F0FBFD"/>
          </a:solidFill>
          <a:ln w="9525">
            <a:solidFill>
              <a:srgbClr val="B8EDF5"/>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635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79400"/>
          </a:xfrm>
          <a:prstGeom prst="rect">
            <a:avLst/>
          </a:prstGeom>
          <a:noFill/>
          <a:ln>
            <a:noFill/>
          </a:ln>
        </p:spPr>
        <p:txBody>
          <a:bodyPr wrap="square" lIns="0" tIns="0" rIns="0" bIns="0" anchor="t"/>
          <a:lstStyle/>
          <a:p>
            <a:pPr>
              <a:buNone/>
            </a:pPr>
            <a:r>
              <a:rPr lang="en-US" sz="900" b="1" spc="150" dirty="0">
                <a:solidFill>
                  <a:srgbClr val="07BCD6"/>
                </a:solidFill>
                <a:latin typeface="Calibri"/>
              </a:rPr>
              <a:t>DX ENGINE POC</a:t>
            </a:r>
          </a:p>
          <a:p>
            <a:pPr>
              <a:buNone/>
            </a:pPr>
            <a:r>
              <a:rPr lang="en-US" sz="750" i="1" dirty="0">
                <a:solidFill>
                  <a:srgbClr val="07BCD6"/>
                </a:solidFill>
                <a:latin typeface="Calibri"/>
              </a:rPr>
              <a:t>in scope</a:t>
            </a:r>
          </a:p>
        </p:txBody>
      </p:sp>
      <p:sp>
        <p:nvSpPr>
          <p:cNvPr id="113" name="SD1"/>
          <p:cNvSpPr/>
          <p:nvPr/>
        </p:nvSpPr>
        <p:spPr>
          <a:xfrm>
            <a:off x="3365500" y="13208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Config Validation orchestration flow</a:t>
            </a:r>
          </a:p>
          <a:p>
            <a:pPr marL="171450" indent="-171450">
              <a:lnSpc>
                <a:spcPts val="1200"/>
              </a:lnSpc>
              <a:spcBef>
                <a:spcPts val="180"/>
              </a:spcBef>
              <a:buFont typeface="Arial"/>
              <a:buChar char="·"/>
            </a:pPr>
            <a:r>
              <a:rPr lang="en-US" sz="820" dirty="0">
                <a:solidFill>
                  <a:srgbClr val="374151"/>
                </a:solidFill>
                <a:latin typeface="Calibri"/>
              </a:rPr>
              <a:t>Visual Configurator wizard step options flow</a:t>
            </a:r>
          </a:p>
          <a:p>
            <a:pPr marL="171450" indent="-171450">
              <a:lnSpc>
                <a:spcPts val="1200"/>
              </a:lnSpc>
              <a:spcBef>
                <a:spcPts val="180"/>
              </a:spcBef>
              <a:buFont typeface="Arial"/>
              <a:buChar char="·"/>
            </a:pPr>
            <a:r>
              <a:rPr lang="en-US" sz="820" dirty="0">
                <a:solidFill>
                  <a:srgbClr val="374151"/>
                </a:solidFill>
                <a:latin typeface="Calibri"/>
              </a:rPr>
              <a:t>Config ID Creation flow (with API write-back to DX Graph)</a:t>
            </a:r>
          </a:p>
          <a:p>
            <a:pPr marL="171450" indent="-171450">
              <a:lnSpc>
                <a:spcPts val="1200"/>
              </a:lnSpc>
              <a:spcBef>
                <a:spcPts val="180"/>
              </a:spcBef>
              <a:buFont typeface="Arial"/>
              <a:buChar char="·"/>
            </a:pPr>
            <a:r>
              <a:rPr lang="en-US" sz="820" dirty="0">
                <a:solidFill>
                  <a:srgbClr val="374151"/>
                </a:solidFill>
                <a:latin typeface="Calibri"/>
              </a:rPr>
              <a:t>Config ID → BOM Explosion flow (POS / OMS / warehouse output shapes)</a:t>
            </a:r>
          </a:p>
          <a:p>
            <a:pPr marL="171450" indent="-171450">
              <a:lnSpc>
                <a:spcPts val="1200"/>
              </a:lnSpc>
              <a:spcBef>
                <a:spcPts val="180"/>
              </a:spcBef>
              <a:buFont typeface="Arial"/>
              <a:buChar char="·"/>
            </a:pPr>
            <a:r>
              <a:rPr lang="en-US" sz="820" dirty="0">
                <a:solidFill>
                  <a:srgbClr val="374151"/>
                </a:solidFill>
                <a:latin typeface="Calibri"/>
              </a:rPr>
              <a:t>Experience Rules for series, Outdoor restrictions, and channel-specific constraints</a:t>
            </a:r>
          </a:p>
        </p:txBody>
      </p:sp>
      <p:sp>
        <p:nvSpPr>
          <p:cNvPr id="120" name="SC2"/>
          <p:cNvSpPr/>
          <p:nvPr/>
        </p:nvSpPr>
        <p:spPr>
          <a:xfrm>
            <a:off x="6096000" y="838200"/>
            <a:ext cx="2730500" cy="3810000"/>
          </a:xfrm>
          <a:prstGeom prst="roundRect">
            <a:avLst>
              <a:gd name="adj" fmla="val 3000"/>
            </a:avLst>
          </a:prstGeom>
          <a:solidFill>
            <a:srgbClr val="F9FAFB"/>
          </a:solidFill>
          <a:ln w="9525">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635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79400"/>
          </a:xfrm>
          <a:prstGeom prst="rect">
            <a:avLst/>
          </a:prstGeom>
          <a:noFill/>
          <a:ln>
            <a:noFill/>
          </a:ln>
        </p:spPr>
        <p:txBody>
          <a:bodyPr wrap="square" lIns="0" tIns="0" rIns="0" bIns="0" anchor="t"/>
          <a:lstStyle/>
          <a:p>
            <a:pPr>
              <a:buNone/>
            </a:pPr>
            <a:r>
              <a:rPr lang="en-US" sz="900" b="1" spc="150" dirty="0">
                <a:solidFill>
                  <a:srgbClr val="6B7280"/>
                </a:solidFill>
                <a:latin typeface="Calibri"/>
              </a:rPr>
              <a:t>OUT OF SCOPE — PHASE 1</a:t>
            </a:r>
          </a:p>
          <a:p>
            <a:pPr>
              <a:buNone/>
            </a:pPr>
            <a:r>
              <a:rPr lang="en-US" sz="750" i="1" dirty="0">
                <a:solidFill>
                  <a:srgbClr val="9CA3AF"/>
                </a:solidFill>
                <a:latin typeface="Calibri"/>
              </a:rPr>
              <a:t>not in Phase 1</a:t>
            </a:r>
          </a:p>
        </p:txBody>
      </p:sp>
      <p:sp>
        <p:nvSpPr>
          <p:cNvPr id="123" name="SD2"/>
          <p:cNvSpPr/>
          <p:nvPr/>
        </p:nvSpPr>
        <p:spPr>
          <a:xfrm>
            <a:off x="6248400" y="13208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6B7280"/>
                </a:solidFill>
                <a:latin typeface="Calibri"/>
              </a:rPr>
              <a:t>Lovesac.com frontend integration (handled by Lovesac team)</a:t>
            </a:r>
          </a:p>
          <a:p>
            <a:pPr marL="171450" indent="-171450">
              <a:lnSpc>
                <a:spcPts val="1200"/>
              </a:lnSpc>
              <a:spcBef>
                <a:spcPts val="180"/>
              </a:spcBef>
              <a:buFont typeface="Arial"/>
              <a:buChar char="·"/>
            </a:pPr>
            <a:r>
              <a:rPr lang="en-US" sz="820" dirty="0">
                <a:solidFill>
                  <a:srgbClr val="6B7280"/>
                </a:solidFill>
                <a:latin typeface="Calibri"/>
              </a:rPr>
              <a:t>Real-time inventory availability (depends on Q4 — Quickship resolution)</a:t>
            </a:r>
          </a:p>
          <a:p>
            <a:pPr marL="171450" indent="-171450">
              <a:lnSpc>
                <a:spcPts val="1200"/>
              </a:lnSpc>
              <a:spcBef>
                <a:spcPts val="180"/>
              </a:spcBef>
              <a:buFont typeface="Arial"/>
              <a:buChar char="·"/>
            </a:pPr>
            <a:r>
              <a:rPr lang="en-US" sz="820" dirty="0">
                <a:solidFill>
                  <a:srgbClr val="6B7280"/>
                </a:solidFill>
                <a:latin typeface="Calibri"/>
              </a:rPr>
              <a:t>Production deployment to AgentForce / ChatGPT / Google Shopping (POC only)</a:t>
            </a:r>
          </a:p>
          <a:p>
            <a:pPr marL="171450" indent="-171450">
              <a:lnSpc>
                <a:spcPts val="1200"/>
              </a:lnSpc>
              <a:spcBef>
                <a:spcPts val="180"/>
              </a:spcBef>
              <a:buFont typeface="Arial"/>
              <a:buChar char="·"/>
            </a:pPr>
            <a:r>
              <a:rPr lang="en-US" sz="820" dirty="0">
                <a:solidFill>
                  <a:srgbClr val="6B7280"/>
                </a:solidFill>
                <a:latin typeface="Calibri"/>
              </a:rPr>
              <a:t>Pricing engine integration (NetSuite continues as pricing master)</a:t>
            </a:r>
          </a:p>
          <a:p>
            <a:pPr marL="171450" indent="-171450">
              <a:lnSpc>
                <a:spcPts val="1200"/>
              </a:lnSpc>
              <a:spcBef>
                <a:spcPts val="180"/>
              </a:spcBef>
              <a:buFont typeface="Arial"/>
              <a:buChar char="·"/>
            </a:pPr>
            <a:r>
              <a:rPr lang="en-US" sz="820" dirty="0">
                <a:solidFill>
                  <a:srgbClr val="6B7280"/>
                </a:solidFill>
                <a:latin typeface="Calibri"/>
              </a:rPr>
              <a:t>Manhattan Active Omni / OMS integration (downstream of BOM explosion)</a:t>
            </a:r>
          </a:p>
          <a:p>
            <a:pPr marL="171450" indent="-171450">
              <a:lnSpc>
                <a:spcPts val="1200"/>
              </a:lnSpc>
              <a:spcBef>
                <a:spcPts val="180"/>
              </a:spcBef>
              <a:buFont typeface="Arial"/>
              <a:buChar char="·"/>
            </a:pPr>
            <a:r>
              <a:rPr lang="en-US" sz="820" dirty="0">
                <a:solidFill>
                  <a:srgbClr val="6B7280"/>
                </a:solidFill>
                <a:latin typeface="Calibri"/>
              </a:rPr>
              <a:t>PLM integration (TBD — depends on Q2)</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ScopeBadge500"/>
          <p:cNvSpPr/>
          <p:nvPr/>
        </p:nvSpPr>
        <p:spPr>
          <a:xfrm>
            <a:off x="482600" y="4368800"/>
            <a:ext cx="2425700" cy="203200"/>
          </a:xfrm>
          <a:prstGeom prst="roundRect">
            <a:avLst>
              <a:gd name="adj" fmla="val 50000"/>
            </a:avLst>
          </a:prstGeom>
          <a:solidFill>
            <a:srgbClr val="EB1A63"/>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1" name="ScopeBadge501"/>
          <p:cNvSpPr/>
          <p:nvPr/>
        </p:nvSpPr>
        <p:spPr>
          <a:xfrm>
            <a:off x="3365500" y="4368800"/>
            <a:ext cx="2425700" cy="203200"/>
          </a:xfrm>
          <a:prstGeom prst="roundRect">
            <a:avLst>
              <a:gd name="adj" fmla="val 50000"/>
            </a:avLst>
          </a:prstGeom>
          <a:solidFill>
            <a:srgbClr val="07BCD6"/>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2" name="ScopeBadge502"/>
          <p:cNvSpPr/>
          <p:nvPr/>
        </p:nvSpPr>
        <p:spPr>
          <a:xfrm>
            <a:off x="6248400" y="4368800"/>
            <a:ext cx="2425700" cy="203200"/>
          </a:xfrm>
          <a:prstGeom prst="roundRect">
            <a:avLst>
              <a:gd name="adj" fmla="val 50000"/>
            </a:avLst>
          </a:prstGeom>
          <a:solidFill>
            <a:srgbClr val="6B7280"/>
          </a:solidFill>
          <a:ln>
            <a:noFill/>
          </a:ln>
        </p:spPr>
        <p:txBody>
          <a:bodyPr wrap="square" lIns="0" tIns="0" rIns="0" bIns="0" anchor="ctr"/>
          <a:lstStyle/>
          <a:p>
            <a:pPr algn="ctr">
              <a:buNone/>
            </a:pPr>
            <a:r>
              <a:rPr lang="en-US" sz="700" b="1" spc="100" dirty="0">
                <a:solidFill>
                  <a:srgbClr val="FFFFFF"/>
                </a:solidFill>
                <a:latin typeface="Calibri"/>
              </a:rPr>
              <a:t>✕  OUT OF SCOPE</a:t>
            </a:r>
          </a:p>
        </p:txBody>
      </p:sp>
    </p:spTree>
    <p:extLst>
      <p:ext uri="{BB962C8B-B14F-4D97-AF65-F5344CB8AC3E}">
        <p14:creationId xmlns:p14="http://schemas.microsoft.com/office/powerpoint/2010/main" val="1466392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lnSpc>
                <a:spcPts val="1200"/>
              </a:lnSpc>
              <a:buNone/>
            </a:pPr>
            <a:r>
              <a:rPr lang="en-US" sz="1800" b="1" dirty="0">
                <a:solidFill>
                  <a:srgbClr val="111827"/>
                </a:solidFill>
                <a:latin typeface="Calibri"/>
              </a:rPr>
              <a:t>Collections, Hierarchies, Taxonomies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lnSpc>
                <a:spcPts val="1100"/>
              </a:lnSpc>
              <a:buNone/>
            </a:pPr>
            <a:r>
              <a:rPr lang="en-US" sz="1000" dirty="0">
                <a:solidFill>
                  <a:srgbClr val="6B7280"/>
                </a:solidFill>
                <a:latin typeface="Calibri"/>
              </a:rPr>
              <a:t>How DX Graph models Lovesac’s configurable catalogue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cxnSp>
        <p:nvCxnSpPr>
          <p:cNvPr id="342" name="LineRel"/>
          <p:cNvCxnSpPr/>
          <p:nvPr/>
        </p:nvCxnSpPr>
        <p:spPr>
          <a:xfrm flipH="1" flipV="1">
            <a:off x="4241800" y="2400300"/>
            <a:ext cx="177800" cy="101600"/>
          </a:xfrm>
          <a:prstGeom prst="line">
            <a:avLst/>
          </a:prstGeom>
          <a:ln w="9525" cap="flat">
            <a:solidFill>
              <a:srgbClr val="C2185B"/>
            </a:solidFill>
            <a:prstDash val="dash"/>
          </a:ln>
        </p:spPr>
      </p:cxnSp>
      <p:sp>
        <p:nvSpPr>
          <p:cNvPr id="600" name="ColDiv"/>
          <p:cNvSpPr>
            <a:spLocks noGrp="1"/>
          </p:cNvSpPr>
          <p:nvPr/>
        </p:nvSpPr>
        <p:spPr>
          <a:xfrm>
            <a:off x="5524500" y="889000"/>
            <a:ext cx="12700" cy="3886200"/>
          </a:xfrm>
          <a:prstGeom prst="rect">
            <a:avLst/>
          </a:prstGeom>
          <a:solidFill>
            <a:srgbClr val="E5E7EB"/>
          </a:solidFill>
          <a:ln>
            <a:noFill/>
          </a:ln>
        </p:spPr>
        <p:txBody>
          <a:bodyPr/>
          <a:lstStyle/>
          <a:p>
            <a:endParaRPr lang="en-GB"/>
          </a:p>
        </p:txBody>
      </p:sp>
      <p:sp>
        <p:nvSpPr>
          <p:cNvPr id="200" name="CollBG"/>
          <p:cNvSpPr>
            <a:spLocks noGrp="1"/>
          </p:cNvSpPr>
          <p:nvPr/>
        </p:nvSpPr>
        <p:spPr>
          <a:xfrm>
            <a:off x="1143000" y="1079500"/>
            <a:ext cx="2667000" cy="2438400"/>
          </a:xfrm>
          <a:prstGeom prst="roundRect">
            <a:avLst>
              <a:gd name="adj" fmla="val 1500"/>
            </a:avLst>
          </a:prstGeom>
          <a:solidFill>
            <a:srgbClr val="FDF2F8"/>
          </a:solidFill>
          <a:ln w="19050">
            <a:solidFill>
              <a:srgbClr val="EB1A63"/>
            </a:solidFill>
          </a:ln>
        </p:spPr>
        <p:txBody>
          <a:bodyPr/>
          <a:lstStyle/>
          <a:p>
            <a:endParaRPr lang="en-GB"/>
          </a:p>
        </p:txBody>
      </p:sp>
      <p:sp>
        <p:nvSpPr>
          <p:cNvPr id="201" name="CollHdr"/>
          <p:cNvSpPr>
            <a:spLocks noGrp="1"/>
          </p:cNvSpPr>
          <p:nvPr/>
        </p:nvSpPr>
        <p:spPr>
          <a:xfrm>
            <a:off x="1143000" y="1079500"/>
            <a:ext cx="2667000" cy="254000"/>
          </a:xfrm>
          <a:prstGeom prst="roundRect">
            <a:avLst>
              <a:gd name="adj" fmla="val 1500"/>
            </a:avLst>
          </a:prstGeom>
          <a:solidFill>
            <a:srgbClr val="EB1A63"/>
          </a:solidFill>
          <a:ln>
            <a:noFill/>
          </a:ln>
        </p:spPr>
        <p:txBody>
          <a:bodyPr wrap="square" lIns="88900" tIns="0" rIns="50800" bIns="0" anchor="ctr"/>
          <a:lstStyle/>
          <a:p>
            <a:pPr>
              <a:lnSpc>
                <a:spcPts val="1100"/>
              </a:lnSpc>
              <a:buNone/>
            </a:pPr>
            <a:r>
              <a:rPr lang="en-US" sz="825" b="1" dirty="0">
                <a:solidFill>
                  <a:srgbClr val="FFFFFF"/>
                </a:solidFill>
                <a:latin typeface="Calibri"/>
              </a:rPr>
              <a:t>SKU Collection</a:t>
            </a:r>
            <a:r>
              <a:rPr lang="en-US" sz="700" dirty="0">
                <a:solidFill>
                  <a:srgbClr val="FFE4F0"/>
                </a:solidFill>
                <a:latin typeface="Calibri"/>
              </a:rPr>
              <a:t>  ·  28,089 records</a:t>
            </a:r>
          </a:p>
        </p:txBody>
      </p:sp>
      <p:sp>
        <p:nvSpPr>
          <p:cNvPr id="202" name="CollHdrFix"/>
          <p:cNvSpPr>
            <a:spLocks noGrp="1"/>
          </p:cNvSpPr>
          <p:nvPr/>
        </p:nvSpPr>
        <p:spPr>
          <a:xfrm>
            <a:off x="1143000" y="1244600"/>
            <a:ext cx="2667000" cy="101600"/>
          </a:xfrm>
          <a:prstGeom prst="rect">
            <a:avLst/>
          </a:prstGeom>
          <a:solidFill>
            <a:srgbClr val="EB1A63"/>
          </a:solidFill>
          <a:ln>
            <a:noFill/>
          </a:ln>
        </p:spPr>
        <p:txBody>
          <a:bodyPr/>
          <a:lstStyle/>
          <a:p>
            <a:endParaRPr lang="en-GB"/>
          </a:p>
        </p:txBody>
      </p:sp>
      <p:sp>
        <p:nvSpPr>
          <p:cNvPr id="203" name="CollFlds"/>
          <p:cNvSpPr>
            <a:spLocks noGrp="1"/>
          </p:cNvSpPr>
          <p:nvPr/>
        </p:nvSpPr>
        <p:spPr>
          <a:xfrm>
            <a:off x="1168400" y="1333500"/>
            <a:ext cx="2616200" cy="152400"/>
          </a:xfrm>
          <a:prstGeom prst="rect">
            <a:avLst/>
          </a:prstGeom>
          <a:solidFill>
            <a:srgbClr val="FFEDF5"/>
          </a:solidFill>
          <a:ln>
            <a:noFill/>
          </a:ln>
        </p:spPr>
        <p:txBody>
          <a:bodyPr wrap="square" lIns="63500" tIns="25400" rIns="63500" bIns="25400" anchor="ctr"/>
          <a:lstStyle/>
          <a:p>
            <a:pPr>
              <a:lnSpc>
                <a:spcPts val="1050"/>
              </a:lnSpc>
              <a:buNone/>
            </a:pPr>
            <a:r>
              <a:rPr lang="en-US" sz="570" dirty="0">
                <a:solidFill>
                  <a:srgbClr val="6B7280"/>
                </a:solidFill>
                <a:latin typeface="Calibri"/>
              </a:rPr>
              <a:t>SKU ID  ·  Line  ·  Product  ·  Size  ·  Color</a:t>
            </a:r>
          </a:p>
        </p:txBody>
      </p:sp>
      <p:sp>
        <p:nvSpPr>
          <p:cNvPr id="210" name="TH0"/>
          <p:cNvSpPr>
            <a:spLocks noGrp="1"/>
          </p:cNvSpPr>
          <p:nvPr/>
        </p:nvSpPr>
        <p:spPr>
          <a:xfrm>
            <a:off x="1168400" y="1498600"/>
            <a:ext cx="939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SKU ID</a:t>
            </a:r>
          </a:p>
        </p:txBody>
      </p:sp>
      <p:sp>
        <p:nvSpPr>
          <p:cNvPr id="211" name="TH1"/>
          <p:cNvSpPr>
            <a:spLocks noGrp="1"/>
          </p:cNvSpPr>
          <p:nvPr/>
        </p:nvSpPr>
        <p:spPr>
          <a:xfrm>
            <a:off x="2108200" y="1498600"/>
            <a:ext cx="3302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Line</a:t>
            </a:r>
          </a:p>
        </p:txBody>
      </p:sp>
      <p:sp>
        <p:nvSpPr>
          <p:cNvPr id="212" name="TH2"/>
          <p:cNvSpPr>
            <a:spLocks noGrp="1"/>
          </p:cNvSpPr>
          <p:nvPr/>
        </p:nvSpPr>
        <p:spPr>
          <a:xfrm>
            <a:off x="2438400" y="1498600"/>
            <a:ext cx="558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Product</a:t>
            </a:r>
          </a:p>
        </p:txBody>
      </p:sp>
      <p:sp>
        <p:nvSpPr>
          <p:cNvPr id="213" name="TH3"/>
          <p:cNvSpPr>
            <a:spLocks noGrp="1"/>
          </p:cNvSpPr>
          <p:nvPr/>
        </p:nvSpPr>
        <p:spPr>
          <a:xfrm>
            <a:off x="2997200" y="1498600"/>
            <a:ext cx="7874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Color / Fabric</a:t>
            </a:r>
          </a:p>
        </p:txBody>
      </p:sp>
      <p:sp>
        <p:nvSpPr>
          <p:cNvPr id="220" name="TD0C0"/>
          <p:cNvSpPr>
            <a:spLocks noGrp="1"/>
          </p:cNvSpPr>
          <p:nvPr/>
        </p:nvSpPr>
        <p:spPr>
          <a:xfrm>
            <a:off x="1168400" y="16383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SAC-5S-COV</a:t>
            </a:r>
          </a:p>
        </p:txBody>
      </p:sp>
      <p:sp>
        <p:nvSpPr>
          <p:cNvPr id="221" name="TD0C1"/>
          <p:cNvSpPr>
            <a:spLocks noGrp="1"/>
          </p:cNvSpPr>
          <p:nvPr/>
        </p:nvSpPr>
        <p:spPr>
          <a:xfrm>
            <a:off x="2108200" y="16383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22" name="TD0C2"/>
          <p:cNvSpPr>
            <a:spLocks noGrp="1"/>
          </p:cNvSpPr>
          <p:nvPr/>
        </p:nvSpPr>
        <p:spPr>
          <a:xfrm>
            <a:off x="2438400" y="16383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3" name="TD0C3"/>
          <p:cNvSpPr>
            <a:spLocks noGrp="1"/>
          </p:cNvSpPr>
          <p:nvPr/>
        </p:nvSpPr>
        <p:spPr>
          <a:xfrm>
            <a:off x="2997200" y="16383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Charcoal Chenille</a:t>
            </a:r>
          </a:p>
        </p:txBody>
      </p:sp>
      <p:sp>
        <p:nvSpPr>
          <p:cNvPr id="224" name="TD1C0"/>
          <p:cNvSpPr>
            <a:spLocks noGrp="1"/>
          </p:cNvSpPr>
          <p:nvPr/>
        </p:nvSpPr>
        <p:spPr>
          <a:xfrm>
            <a:off x="1168400" y="17907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SAC-5S-INS</a:t>
            </a:r>
          </a:p>
        </p:txBody>
      </p:sp>
      <p:sp>
        <p:nvSpPr>
          <p:cNvPr id="225" name="TD1C1"/>
          <p:cNvSpPr>
            <a:spLocks noGrp="1"/>
          </p:cNvSpPr>
          <p:nvPr/>
        </p:nvSpPr>
        <p:spPr>
          <a:xfrm>
            <a:off x="2108200" y="17907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Insert</a:t>
            </a:r>
          </a:p>
        </p:txBody>
      </p:sp>
      <p:sp>
        <p:nvSpPr>
          <p:cNvPr id="226" name="TD1C2"/>
          <p:cNvSpPr>
            <a:spLocks noGrp="1"/>
          </p:cNvSpPr>
          <p:nvPr/>
        </p:nvSpPr>
        <p:spPr>
          <a:xfrm>
            <a:off x="2438400" y="17907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7" name="TD1C3"/>
          <p:cNvSpPr>
            <a:spLocks noGrp="1"/>
          </p:cNvSpPr>
          <p:nvPr/>
        </p:nvSpPr>
        <p:spPr>
          <a:xfrm>
            <a:off x="2997200" y="17907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Standard Fill</a:t>
            </a:r>
          </a:p>
        </p:txBody>
      </p:sp>
      <p:sp>
        <p:nvSpPr>
          <p:cNvPr id="228" name="TD2C0"/>
          <p:cNvSpPr>
            <a:spLocks noGrp="1"/>
          </p:cNvSpPr>
          <p:nvPr/>
        </p:nvSpPr>
        <p:spPr>
          <a:xfrm>
            <a:off x="1168400" y="19431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SAC-6S-COV</a:t>
            </a:r>
          </a:p>
        </p:txBody>
      </p:sp>
      <p:sp>
        <p:nvSpPr>
          <p:cNvPr id="229" name="TD2C1"/>
          <p:cNvSpPr>
            <a:spLocks noGrp="1"/>
          </p:cNvSpPr>
          <p:nvPr/>
        </p:nvSpPr>
        <p:spPr>
          <a:xfrm>
            <a:off x="2108200" y="19431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30" name="TD2C2"/>
          <p:cNvSpPr>
            <a:spLocks noGrp="1"/>
          </p:cNvSpPr>
          <p:nvPr/>
        </p:nvSpPr>
        <p:spPr>
          <a:xfrm>
            <a:off x="2438400" y="19431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Side</a:t>
            </a:r>
          </a:p>
        </p:txBody>
      </p:sp>
      <p:sp>
        <p:nvSpPr>
          <p:cNvPr id="231" name="TD2C3"/>
          <p:cNvSpPr>
            <a:spLocks noGrp="1"/>
          </p:cNvSpPr>
          <p:nvPr/>
        </p:nvSpPr>
        <p:spPr>
          <a:xfrm>
            <a:off x="2997200" y="19431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Oatmeal Linen</a:t>
            </a:r>
          </a:p>
        </p:txBody>
      </p:sp>
      <p:sp>
        <p:nvSpPr>
          <p:cNvPr id="232" name="TD3C0"/>
          <p:cNvSpPr>
            <a:spLocks noGrp="1"/>
          </p:cNvSpPr>
          <p:nvPr/>
        </p:nvSpPr>
        <p:spPr>
          <a:xfrm>
            <a:off x="1168400" y="20955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SAC-FG-3S</a:t>
            </a:r>
          </a:p>
        </p:txBody>
      </p:sp>
      <p:sp>
        <p:nvSpPr>
          <p:cNvPr id="233" name="TD3C1"/>
          <p:cNvSpPr>
            <a:spLocks noGrp="1"/>
          </p:cNvSpPr>
          <p:nvPr/>
        </p:nvSpPr>
        <p:spPr>
          <a:xfrm>
            <a:off x="2108200" y="20955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Fin.Good</a:t>
            </a:r>
          </a:p>
        </p:txBody>
      </p:sp>
      <p:sp>
        <p:nvSpPr>
          <p:cNvPr id="234" name="TD3C2"/>
          <p:cNvSpPr>
            <a:spLocks noGrp="1"/>
          </p:cNvSpPr>
          <p:nvPr/>
        </p:nvSpPr>
        <p:spPr>
          <a:xfrm>
            <a:off x="2438400" y="20955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Covered</a:t>
            </a:r>
          </a:p>
        </p:txBody>
      </p:sp>
      <p:sp>
        <p:nvSpPr>
          <p:cNvPr id="235" name="TD3C3"/>
          <p:cNvSpPr>
            <a:spLocks noGrp="1"/>
          </p:cNvSpPr>
          <p:nvPr/>
        </p:nvSpPr>
        <p:spPr>
          <a:xfrm>
            <a:off x="2997200" y="20955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3-Seat Bundle</a:t>
            </a:r>
          </a:p>
        </p:txBody>
      </p:sp>
      <p:sp>
        <p:nvSpPr>
          <p:cNvPr id="250" name="CollCap"/>
          <p:cNvSpPr>
            <a:spLocks noGrp="1"/>
          </p:cNvSpPr>
          <p:nvPr/>
        </p:nvSpPr>
        <p:spPr>
          <a:xfrm>
            <a:off x="1168400" y="2273300"/>
            <a:ext cx="2616200" cy="228600"/>
          </a:xfrm>
          <a:prstGeom prst="rect">
            <a:avLst/>
          </a:prstGeom>
          <a:solidFill>
            <a:srgbClr val="FDF2F8"/>
          </a:solidFill>
          <a:ln w="6350">
            <a:solidFill>
              <a:srgbClr val="F9A8C9"/>
            </a:solidFill>
          </a:ln>
        </p:spPr>
        <p:txBody>
          <a:bodyPr wrap="square" lIns="50800" tIns="25400" rIns="50800" bIns="25400" anchor="ctr"/>
          <a:lstStyle/>
          <a:p>
            <a:pPr algn="ctr">
              <a:lnSpc>
                <a:spcPts val="1100"/>
              </a:lnSpc>
              <a:buNone/>
            </a:pPr>
            <a:r>
              <a:rPr lang="en-US" sz="590" i="1" dirty="0">
                <a:solidFill>
                  <a:srgbClr val="6B7280"/>
                </a:solidFill>
                <a:latin typeface="Calibri"/>
              </a:rPr>
              <a:t>One Collection  ·  Four relationship types  ·  Three parallel taxonomies</a:t>
            </a:r>
          </a:p>
        </p:txBody>
      </p:sp>
      <p:sp>
        <p:nvSpPr>
          <p:cNvPr id="300" name="HieBG"/>
          <p:cNvSpPr>
            <a:spLocks noGrp="1"/>
          </p:cNvSpPr>
          <p:nvPr/>
        </p:nvSpPr>
        <p:spPr>
          <a:xfrm>
            <a:off x="203200" y="939800"/>
            <a:ext cx="889000" cy="762000"/>
          </a:xfrm>
          <a:prstGeom prst="roundRect">
            <a:avLst>
              <a:gd name="adj" fmla="val 2000"/>
            </a:avLst>
          </a:prstGeom>
          <a:solidFill>
            <a:srgbClr val="F0FDFA"/>
          </a:solidFill>
          <a:ln w="9525">
            <a:solidFill>
              <a:srgbClr val="0D9488"/>
            </a:solidFill>
          </a:ln>
        </p:spPr>
        <p:txBody>
          <a:bodyPr/>
          <a:lstStyle/>
          <a:p>
            <a:endParaRPr lang="en-GB"/>
          </a:p>
        </p:txBody>
      </p:sp>
      <p:sp>
        <p:nvSpPr>
          <p:cNvPr id="301" name="HieLbl"/>
          <p:cNvSpPr>
            <a:spLocks noGrp="1"/>
          </p:cNvSpPr>
          <p:nvPr/>
        </p:nvSpPr>
        <p:spPr>
          <a:xfrm>
            <a:off x="254000" y="9906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0D9488"/>
                </a:solidFill>
                <a:latin typeface="Calibri"/>
              </a:rPr>
              <a:t>HIERARCHIES</a:t>
            </a:r>
          </a:p>
        </p:txBody>
      </p:sp>
      <p:sp>
        <p:nvSpPr>
          <p:cNvPr id="302" name="HiePath"/>
          <p:cNvSpPr>
            <a:spLocks noGrp="1"/>
          </p:cNvSpPr>
          <p:nvPr/>
        </p:nvSpPr>
        <p:spPr>
          <a:xfrm>
            <a:off x="254000" y="1155700"/>
            <a:ext cx="787400" cy="495300"/>
          </a:xfrm>
          <a:prstGeom prst="rect">
            <a:avLst/>
          </a:prstGeom>
          <a:noFill/>
          <a:ln>
            <a:noFill/>
          </a:ln>
        </p:spPr>
        <p:txBody>
          <a:bodyPr wrap="square" lIns="50800" tIns="38100" rIns="50800" bIns="38100" anchor="t"/>
          <a:lstStyle/>
          <a:p>
            <a:pPr>
              <a:lnSpc>
                <a:spcPts val="1050"/>
              </a:lnSpc>
              <a:buNone/>
            </a:pPr>
            <a:r>
              <a:rPr lang="en-US" sz="575" dirty="0">
                <a:solidFill>
                  <a:srgbClr val="374151"/>
                </a:solidFill>
                <a:latin typeface="Calibri"/>
              </a:rPr>
              <a:t>Sactionals</a:t>
            </a:r>
          </a:p>
          <a:p>
            <a:pPr>
              <a:lnSpc>
                <a:spcPts val="1050"/>
              </a:lnSpc>
              <a:buNone/>
            </a:pPr>
            <a:r>
              <a:rPr lang="en-US" sz="575" dirty="0">
                <a:solidFill>
                  <a:srgbClr val="374151"/>
                </a:solidFill>
                <a:latin typeface="Calibri"/>
              </a:rPr>
              <a:t>  › Covers</a:t>
            </a:r>
          </a:p>
          <a:p>
            <a:pPr>
              <a:lnSpc>
                <a:spcPts val="1050"/>
              </a:lnSpc>
              <a:buNone/>
            </a:pPr>
            <a:r>
              <a:rPr lang="en-US" sz="575" dirty="0">
                <a:solidFill>
                  <a:srgbClr val="374151"/>
                </a:solidFill>
                <a:latin typeface="Calibri"/>
              </a:rPr>
              <a:t>    › 5 Series</a:t>
            </a:r>
          </a:p>
        </p:txBody>
      </p:sp>
      <p:sp>
        <p:nvSpPr>
          <p:cNvPr id="320" name="TaxBG"/>
          <p:cNvSpPr>
            <a:spLocks noGrp="1"/>
          </p:cNvSpPr>
          <p:nvPr/>
        </p:nvSpPr>
        <p:spPr>
          <a:xfrm>
            <a:off x="203200" y="3683000"/>
            <a:ext cx="889000" cy="1041400"/>
          </a:xfrm>
          <a:prstGeom prst="roundRect">
            <a:avLst>
              <a:gd name="adj" fmla="val 2000"/>
            </a:avLst>
          </a:prstGeom>
          <a:solidFill>
            <a:srgbClr val="EFF6FF"/>
          </a:solidFill>
          <a:ln w="9525">
            <a:solidFill>
              <a:srgbClr val="2563EB"/>
            </a:solidFill>
          </a:ln>
        </p:spPr>
        <p:txBody>
          <a:bodyPr/>
          <a:lstStyle/>
          <a:p>
            <a:endParaRPr lang="en-GB"/>
          </a:p>
        </p:txBody>
      </p:sp>
      <p:sp>
        <p:nvSpPr>
          <p:cNvPr id="321" name="TaxLbl"/>
          <p:cNvSpPr>
            <a:spLocks noGrp="1"/>
          </p:cNvSpPr>
          <p:nvPr/>
        </p:nvSpPr>
        <p:spPr>
          <a:xfrm>
            <a:off x="254000" y="37338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2563EB"/>
                </a:solidFill>
                <a:latin typeface="Calibri"/>
              </a:rPr>
              <a:t>TAXONOMIES</a:t>
            </a:r>
          </a:p>
        </p:txBody>
      </p:sp>
      <p:sp>
        <p:nvSpPr>
          <p:cNvPr id="322" name="TaxChip0"/>
          <p:cNvSpPr>
            <a:spLocks noGrp="1"/>
          </p:cNvSpPr>
          <p:nvPr/>
        </p:nvSpPr>
        <p:spPr>
          <a:xfrm>
            <a:off x="241300" y="3911600"/>
            <a:ext cx="812800" cy="165100"/>
          </a:xfrm>
          <a:prstGeom prst="roundRect">
            <a:avLst>
              <a:gd name="adj" fmla="val 2500"/>
            </a:avLst>
          </a:prstGeom>
          <a:solidFill>
            <a:srgbClr val="FFFFFF"/>
          </a:solidFill>
          <a:ln w="6350">
            <a:solidFill>
              <a:srgbClr val="374151"/>
            </a:solidFill>
          </a:ln>
        </p:spPr>
        <p:txBody>
          <a:bodyPr wrap="square" lIns="25400" tIns="12700" rIns="25400" bIns="12700" anchor="ctr"/>
          <a:lstStyle/>
          <a:p>
            <a:pPr algn="ctr">
              <a:lnSpc>
                <a:spcPts val="1050"/>
              </a:lnSpc>
              <a:buNone/>
            </a:pPr>
            <a:r>
              <a:rPr lang="en-US" sz="525" b="1" dirty="0">
                <a:solidFill>
                  <a:srgbClr val="374151"/>
                </a:solidFill>
                <a:latin typeface="Calibri"/>
              </a:rPr>
              <a:t>Internal Ops</a:t>
            </a:r>
          </a:p>
        </p:txBody>
      </p:sp>
      <p:sp>
        <p:nvSpPr>
          <p:cNvPr id="323" name="TaxChip1"/>
          <p:cNvSpPr>
            <a:spLocks noGrp="1"/>
          </p:cNvSpPr>
          <p:nvPr/>
        </p:nvSpPr>
        <p:spPr>
          <a:xfrm>
            <a:off x="241300" y="4127500"/>
            <a:ext cx="812800" cy="165100"/>
          </a:xfrm>
          <a:prstGeom prst="roundRect">
            <a:avLst>
              <a:gd name="adj" fmla="val 2500"/>
            </a:avLst>
          </a:prstGeom>
          <a:solidFill>
            <a:srgbClr val="FFFFFF"/>
          </a:solidFill>
          <a:ln w="6350">
            <a:solidFill>
              <a:srgbClr val="1D4ED8"/>
            </a:solidFill>
          </a:ln>
        </p:spPr>
        <p:txBody>
          <a:bodyPr wrap="square" lIns="25400" tIns="12700" rIns="25400" bIns="12700" anchor="ctr"/>
          <a:lstStyle/>
          <a:p>
            <a:pPr algn="ctr">
              <a:lnSpc>
                <a:spcPts val="1050"/>
              </a:lnSpc>
              <a:buNone/>
            </a:pPr>
            <a:r>
              <a:rPr lang="en-US" sz="525" b="1" dirty="0">
                <a:solidFill>
                  <a:srgbClr val="1D4ED8"/>
                </a:solidFill>
                <a:latin typeface="Calibri"/>
              </a:rPr>
              <a:t>Lovesac.com</a:t>
            </a:r>
          </a:p>
        </p:txBody>
      </p:sp>
      <p:sp>
        <p:nvSpPr>
          <p:cNvPr id="324" name="TaxChip2"/>
          <p:cNvSpPr>
            <a:spLocks noGrp="1"/>
          </p:cNvSpPr>
          <p:nvPr/>
        </p:nvSpPr>
        <p:spPr>
          <a:xfrm>
            <a:off x="241300" y="4343400"/>
            <a:ext cx="812800" cy="165100"/>
          </a:xfrm>
          <a:prstGeom prst="roundRect">
            <a:avLst>
              <a:gd name="adj" fmla="val 2500"/>
            </a:avLst>
          </a:prstGeom>
          <a:solidFill>
            <a:srgbClr val="FFFFFF"/>
          </a:solidFill>
          <a:ln w="6350">
            <a:solidFill>
              <a:srgbClr val="0F766E"/>
            </a:solidFill>
          </a:ln>
        </p:spPr>
        <p:txBody>
          <a:bodyPr wrap="square" lIns="25400" tIns="12700" rIns="25400" bIns="12700" anchor="ctr"/>
          <a:lstStyle/>
          <a:p>
            <a:pPr algn="ctr">
              <a:lnSpc>
                <a:spcPts val="1050"/>
              </a:lnSpc>
              <a:buNone/>
            </a:pPr>
            <a:r>
              <a:rPr lang="en-US" sz="525" b="1" dirty="0">
                <a:solidFill>
                  <a:srgbClr val="0F766E"/>
                </a:solidFill>
                <a:latin typeface="Calibri"/>
              </a:rPr>
              <a:t>Marketplace</a:t>
            </a:r>
          </a:p>
        </p:txBody>
      </p:sp>
      <p:sp>
        <p:nvSpPr>
          <p:cNvPr id="325" name="TaxNote"/>
          <p:cNvSpPr>
            <a:spLocks noGrp="1"/>
          </p:cNvSpPr>
          <p:nvPr/>
        </p:nvSpPr>
        <p:spPr>
          <a:xfrm>
            <a:off x="254000" y="4533900"/>
            <a:ext cx="787400" cy="139700"/>
          </a:xfrm>
          <a:prstGeom prst="rect">
            <a:avLst/>
          </a:prstGeom>
          <a:noFill/>
          <a:ln>
            <a:noFill/>
          </a:ln>
        </p:spPr>
        <p:txBody>
          <a:bodyPr wrap="square" lIns="50800" tIns="38100" rIns="50800" bIns="38100" anchor="t"/>
          <a:lstStyle/>
          <a:p>
            <a:pPr>
              <a:lnSpc>
                <a:spcPts val="1050"/>
              </a:lnSpc>
              <a:buNone/>
            </a:pPr>
            <a:r>
              <a:rPr lang="en-US" sz="575" i="1" dirty="0">
                <a:solidFill>
                  <a:srgbClr val="374151"/>
                </a:solidFill>
                <a:latin typeface="Calibri"/>
              </a:rPr>
              <a:t>via MAPS_TO</a:t>
            </a:r>
          </a:p>
        </p:txBody>
      </p:sp>
      <p:sp>
        <p:nvSpPr>
          <p:cNvPr id="340" name="RelBG"/>
          <p:cNvSpPr>
            <a:spLocks noGrp="1"/>
          </p:cNvSpPr>
          <p:nvPr/>
        </p:nvSpPr>
        <p:spPr>
          <a:xfrm>
            <a:off x="3898900" y="1181100"/>
            <a:ext cx="1536700" cy="2336800"/>
          </a:xfrm>
          <a:prstGeom prst="roundRect">
            <a:avLst>
              <a:gd name="adj" fmla="val 2000"/>
            </a:avLst>
          </a:prstGeom>
          <a:solidFill>
            <a:srgbClr val="F0FDF4"/>
          </a:solidFill>
          <a:ln w="9525">
            <a:solidFill>
              <a:srgbClr val="16A34A"/>
            </a:solidFill>
          </a:ln>
        </p:spPr>
        <p:txBody>
          <a:bodyPr/>
          <a:lstStyle/>
          <a:p>
            <a:endParaRPr lang="en-GB"/>
          </a:p>
        </p:txBody>
      </p:sp>
      <p:sp>
        <p:nvSpPr>
          <p:cNvPr id="341" name="RelLbl"/>
          <p:cNvSpPr>
            <a:spLocks noGrp="1"/>
          </p:cNvSpPr>
          <p:nvPr/>
        </p:nvSpPr>
        <p:spPr>
          <a:xfrm>
            <a:off x="3962400" y="1244600"/>
            <a:ext cx="1409700" cy="152400"/>
          </a:xfrm>
          <a:prstGeom prst="rect">
            <a:avLst/>
          </a:prstGeom>
          <a:noFill/>
          <a:ln>
            <a:noFill/>
          </a:ln>
        </p:spPr>
        <p:txBody>
          <a:bodyPr wrap="square" lIns="50800" tIns="38100" rIns="50800" bIns="38100" anchor="t"/>
          <a:lstStyle/>
          <a:p>
            <a:pPr>
              <a:lnSpc>
                <a:spcPts val="1100"/>
              </a:lnSpc>
              <a:buNone/>
            </a:pPr>
            <a:r>
              <a:rPr lang="en-US" sz="650" b="1" dirty="0">
                <a:solidFill>
                  <a:srgbClr val="16A34A"/>
                </a:solidFill>
                <a:latin typeface="Calibri"/>
              </a:rPr>
              <a:t>RELATIONSHIPS</a:t>
            </a:r>
          </a:p>
        </p:txBody>
      </p:sp>
      <p:sp>
        <p:nvSpPr>
          <p:cNvPr id="350" name="RDot0"/>
          <p:cNvSpPr>
            <a:spLocks noGrp="1"/>
          </p:cNvSpPr>
          <p:nvPr/>
        </p:nvSpPr>
        <p:spPr>
          <a:xfrm>
            <a:off x="3962400" y="1460500"/>
            <a:ext cx="50800" cy="50800"/>
          </a:xfrm>
          <a:prstGeom prst="roundRect">
            <a:avLst>
              <a:gd name="adj" fmla="val 50000"/>
            </a:avLst>
          </a:prstGeom>
          <a:solidFill>
            <a:srgbClr val="16A34A"/>
          </a:solidFill>
          <a:ln>
            <a:noFill/>
          </a:ln>
        </p:spPr>
        <p:txBody>
          <a:bodyPr/>
          <a:lstStyle/>
          <a:p>
            <a:endParaRPr lang="en-GB"/>
          </a:p>
        </p:txBody>
      </p:sp>
      <p:sp>
        <p:nvSpPr>
          <p:cNvPr id="351" name="RType0"/>
          <p:cNvSpPr>
            <a:spLocks noGrp="1"/>
          </p:cNvSpPr>
          <p:nvPr/>
        </p:nvSpPr>
        <p:spPr>
          <a:xfrm>
            <a:off x="4051300" y="14097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COMPATIBLE_WITH</a:t>
            </a:r>
            <a:r>
              <a:rPr lang="en-US" sz="550" i="1" dirty="0">
                <a:solidFill>
                  <a:srgbClr val="6B7280"/>
                </a:solidFill>
                <a:latin typeface="Calibri"/>
              </a:rPr>
              <a:t>  Dynamic</a:t>
            </a:r>
          </a:p>
        </p:txBody>
      </p:sp>
      <p:sp>
        <p:nvSpPr>
          <p:cNvPr id="352" name="REx0"/>
          <p:cNvSpPr>
            <a:spLocks noGrp="1"/>
          </p:cNvSpPr>
          <p:nvPr/>
        </p:nvSpPr>
        <p:spPr>
          <a:xfrm>
            <a:off x="4051300" y="15748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Cover ↔ Insert (Product + Size)</a:t>
            </a:r>
          </a:p>
        </p:txBody>
      </p:sp>
      <p:sp>
        <p:nvSpPr>
          <p:cNvPr id="353" name="RDiv0"/>
          <p:cNvSpPr>
            <a:spLocks noGrp="1"/>
          </p:cNvSpPr>
          <p:nvPr/>
        </p:nvSpPr>
        <p:spPr>
          <a:xfrm>
            <a:off x="3962400" y="1905000"/>
            <a:ext cx="1409700" cy="12700"/>
          </a:xfrm>
          <a:prstGeom prst="rect">
            <a:avLst/>
          </a:prstGeom>
          <a:solidFill>
            <a:srgbClr val="D1FAE5"/>
          </a:solidFill>
          <a:ln>
            <a:noFill/>
          </a:ln>
        </p:spPr>
        <p:txBody>
          <a:bodyPr/>
          <a:lstStyle/>
          <a:p>
            <a:endParaRPr lang="en-GB"/>
          </a:p>
        </p:txBody>
      </p:sp>
      <p:sp>
        <p:nvSpPr>
          <p:cNvPr id="354" name="RDot1"/>
          <p:cNvSpPr>
            <a:spLocks noGrp="1"/>
          </p:cNvSpPr>
          <p:nvPr/>
        </p:nvSpPr>
        <p:spPr>
          <a:xfrm>
            <a:off x="3962400" y="1981200"/>
            <a:ext cx="50800" cy="50800"/>
          </a:xfrm>
          <a:prstGeom prst="roundRect">
            <a:avLst>
              <a:gd name="adj" fmla="val 50000"/>
            </a:avLst>
          </a:prstGeom>
          <a:solidFill>
            <a:srgbClr val="16A34A"/>
          </a:solidFill>
          <a:ln>
            <a:noFill/>
          </a:ln>
        </p:spPr>
        <p:txBody>
          <a:bodyPr/>
          <a:lstStyle/>
          <a:p>
            <a:endParaRPr lang="en-GB"/>
          </a:p>
        </p:txBody>
      </p:sp>
      <p:sp>
        <p:nvSpPr>
          <p:cNvPr id="355" name="RType1"/>
          <p:cNvSpPr>
            <a:spLocks noGrp="1"/>
          </p:cNvSpPr>
          <p:nvPr/>
        </p:nvSpPr>
        <p:spPr>
          <a:xfrm>
            <a:off x="4051300" y="19304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BUNDLES</a:t>
            </a:r>
            <a:r>
              <a:rPr lang="en-US" sz="550" i="1" dirty="0">
                <a:solidFill>
                  <a:srgbClr val="6B7280"/>
                </a:solidFill>
                <a:latin typeface="Calibri"/>
              </a:rPr>
              <a:t>  1:M self-ref</a:t>
            </a:r>
          </a:p>
        </p:txBody>
      </p:sp>
      <p:sp>
        <p:nvSpPr>
          <p:cNvPr id="356" name="REx1"/>
          <p:cNvSpPr>
            <a:spLocks noGrp="1"/>
          </p:cNvSpPr>
          <p:nvPr/>
        </p:nvSpPr>
        <p:spPr>
          <a:xfrm>
            <a:off x="4051300" y="20955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Finished Good → component Covers + Inserts</a:t>
            </a:r>
          </a:p>
        </p:txBody>
      </p:sp>
      <p:sp>
        <p:nvSpPr>
          <p:cNvPr id="357" name="RDiv1"/>
          <p:cNvSpPr>
            <a:spLocks noGrp="1"/>
          </p:cNvSpPr>
          <p:nvPr/>
        </p:nvSpPr>
        <p:spPr>
          <a:xfrm>
            <a:off x="3962400" y="2425700"/>
            <a:ext cx="1409700" cy="12700"/>
          </a:xfrm>
          <a:prstGeom prst="rect">
            <a:avLst/>
          </a:prstGeom>
          <a:solidFill>
            <a:srgbClr val="D1FAE5"/>
          </a:solidFill>
          <a:ln>
            <a:noFill/>
          </a:ln>
        </p:spPr>
        <p:txBody>
          <a:bodyPr/>
          <a:lstStyle/>
          <a:p>
            <a:endParaRPr lang="en-GB"/>
          </a:p>
        </p:txBody>
      </p:sp>
      <p:sp>
        <p:nvSpPr>
          <p:cNvPr id="358" name="RDot2"/>
          <p:cNvSpPr>
            <a:spLocks noGrp="1"/>
          </p:cNvSpPr>
          <p:nvPr/>
        </p:nvSpPr>
        <p:spPr>
          <a:xfrm>
            <a:off x="3962400" y="2501900"/>
            <a:ext cx="50800" cy="50800"/>
          </a:xfrm>
          <a:prstGeom prst="roundRect">
            <a:avLst>
              <a:gd name="adj" fmla="val 50000"/>
            </a:avLst>
          </a:prstGeom>
          <a:solidFill>
            <a:srgbClr val="16A34A"/>
          </a:solidFill>
          <a:ln>
            <a:noFill/>
          </a:ln>
        </p:spPr>
        <p:txBody>
          <a:bodyPr/>
          <a:lstStyle/>
          <a:p>
            <a:endParaRPr lang="en-GB"/>
          </a:p>
        </p:txBody>
      </p:sp>
      <p:sp>
        <p:nvSpPr>
          <p:cNvPr id="359" name="RType2"/>
          <p:cNvSpPr>
            <a:spLocks noGrp="1"/>
          </p:cNvSpPr>
          <p:nvPr/>
        </p:nvSpPr>
        <p:spPr>
          <a:xfrm>
            <a:off x="4051300" y="24511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CONTAINS</a:t>
            </a:r>
            <a:r>
              <a:rPr lang="en-US" sz="550" i="1" dirty="0">
                <a:solidFill>
                  <a:srgbClr val="6B7280"/>
                </a:solidFill>
                <a:latin typeface="Calibri"/>
              </a:rPr>
              <a:t>  1:M</a:t>
            </a:r>
          </a:p>
        </p:txBody>
      </p:sp>
      <p:sp>
        <p:nvSpPr>
          <p:cNvPr id="360" name="REx2"/>
          <p:cNvSpPr>
            <a:spLocks noGrp="1"/>
          </p:cNvSpPr>
          <p:nvPr/>
        </p:nvSpPr>
        <p:spPr>
          <a:xfrm>
            <a:off x="4051300" y="26162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Composition relationships</a:t>
            </a:r>
          </a:p>
        </p:txBody>
      </p:sp>
      <p:sp>
        <p:nvSpPr>
          <p:cNvPr id="361" name="RDiv2"/>
          <p:cNvSpPr>
            <a:spLocks noGrp="1"/>
          </p:cNvSpPr>
          <p:nvPr/>
        </p:nvSpPr>
        <p:spPr>
          <a:xfrm>
            <a:off x="3962400" y="2946400"/>
            <a:ext cx="1409700" cy="12700"/>
          </a:xfrm>
          <a:prstGeom prst="rect">
            <a:avLst/>
          </a:prstGeom>
          <a:solidFill>
            <a:srgbClr val="D1FAE5"/>
          </a:solidFill>
          <a:ln>
            <a:noFill/>
          </a:ln>
        </p:spPr>
        <p:txBody>
          <a:bodyPr/>
          <a:lstStyle/>
          <a:p>
            <a:endParaRPr lang="en-GB"/>
          </a:p>
        </p:txBody>
      </p:sp>
      <p:sp>
        <p:nvSpPr>
          <p:cNvPr id="362" name="RDot3"/>
          <p:cNvSpPr>
            <a:spLocks noGrp="1"/>
          </p:cNvSpPr>
          <p:nvPr/>
        </p:nvSpPr>
        <p:spPr>
          <a:xfrm>
            <a:off x="3962400" y="3022600"/>
            <a:ext cx="50800" cy="50800"/>
          </a:xfrm>
          <a:prstGeom prst="roundRect">
            <a:avLst>
              <a:gd name="adj" fmla="val 50000"/>
            </a:avLst>
          </a:prstGeom>
          <a:solidFill>
            <a:srgbClr val="16A34A"/>
          </a:solidFill>
          <a:ln>
            <a:noFill/>
          </a:ln>
        </p:spPr>
        <p:txBody>
          <a:bodyPr/>
          <a:lstStyle/>
          <a:p>
            <a:endParaRPr lang="en-GB"/>
          </a:p>
        </p:txBody>
      </p:sp>
      <p:sp>
        <p:nvSpPr>
          <p:cNvPr id="363" name="RType3"/>
          <p:cNvSpPr>
            <a:spLocks noGrp="1"/>
          </p:cNvSpPr>
          <p:nvPr/>
        </p:nvSpPr>
        <p:spPr>
          <a:xfrm>
            <a:off x="4051300" y="29718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MAPS_TO</a:t>
            </a:r>
            <a:r>
              <a:rPr lang="en-US" sz="550" i="1" dirty="0">
                <a:solidFill>
                  <a:srgbClr val="6B7280"/>
                </a:solidFill>
                <a:latin typeface="Calibri"/>
              </a:rPr>
              <a:t>  cross-collection</a:t>
            </a:r>
          </a:p>
        </p:txBody>
      </p:sp>
      <p:sp>
        <p:nvSpPr>
          <p:cNvPr id="364" name="REx3"/>
          <p:cNvSpPr>
            <a:spLocks noGrp="1"/>
          </p:cNvSpPr>
          <p:nvPr/>
        </p:nvSpPr>
        <p:spPr>
          <a:xfrm>
            <a:off x="4051300" y="31369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SKU → Taxonomy node</a:t>
            </a:r>
          </a:p>
        </p:txBody>
      </p:sp>
      <p:sp>
        <p:nvSpPr>
          <p:cNvPr id="400" name="LBG0"/>
          <p:cNvSpPr>
            <a:spLocks noGrp="1"/>
          </p:cNvSpPr>
          <p:nvPr/>
        </p:nvSpPr>
        <p:spPr>
          <a:xfrm>
            <a:off x="5613400" y="8890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01" name="LAcc0"/>
          <p:cNvSpPr>
            <a:spLocks noGrp="1"/>
          </p:cNvSpPr>
          <p:nvPr/>
        </p:nvSpPr>
        <p:spPr>
          <a:xfrm>
            <a:off x="5613400" y="889000"/>
            <a:ext cx="50800" cy="939800"/>
          </a:xfrm>
          <a:prstGeom prst="roundRect">
            <a:avLst>
              <a:gd name="adj" fmla="val 2000"/>
            </a:avLst>
          </a:prstGeom>
          <a:solidFill>
            <a:srgbClr val="EB1A63"/>
          </a:solidFill>
          <a:ln>
            <a:noFill/>
          </a:ln>
        </p:spPr>
        <p:txBody>
          <a:bodyPr/>
          <a:lstStyle/>
          <a:p>
            <a:endParaRPr lang="en-GB"/>
          </a:p>
        </p:txBody>
      </p:sp>
      <p:sp>
        <p:nvSpPr>
          <p:cNvPr id="402" name="LTerm0"/>
          <p:cNvSpPr>
            <a:spLocks noGrp="1"/>
          </p:cNvSpPr>
          <p:nvPr/>
        </p:nvSpPr>
        <p:spPr>
          <a:xfrm>
            <a:off x="5727700" y="9652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EB1A63"/>
                </a:solidFill>
                <a:latin typeface="Calibri"/>
              </a:rPr>
              <a:t>Collections</a:t>
            </a:r>
          </a:p>
        </p:txBody>
      </p:sp>
      <p:sp>
        <p:nvSpPr>
          <p:cNvPr id="403" name="LBody0"/>
          <p:cNvSpPr>
            <a:spLocks noGrp="1"/>
          </p:cNvSpPr>
          <p:nvPr/>
        </p:nvSpPr>
        <p:spPr>
          <a:xfrm>
            <a:off x="5727700" y="11684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The foundation. Typed records with a defined schema. Lovesac’s SKU Collection holds 28,089 records across all brands and lines.</a:t>
            </a:r>
          </a:p>
        </p:txBody>
      </p:sp>
      <p:sp>
        <p:nvSpPr>
          <p:cNvPr id="410" name="LBG1"/>
          <p:cNvSpPr>
            <a:spLocks noGrp="1"/>
          </p:cNvSpPr>
          <p:nvPr/>
        </p:nvSpPr>
        <p:spPr>
          <a:xfrm>
            <a:off x="5613400" y="18669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11" name="LAcc1"/>
          <p:cNvSpPr>
            <a:spLocks noGrp="1"/>
          </p:cNvSpPr>
          <p:nvPr/>
        </p:nvSpPr>
        <p:spPr>
          <a:xfrm>
            <a:off x="5613400" y="1866900"/>
            <a:ext cx="50800" cy="939800"/>
          </a:xfrm>
          <a:prstGeom prst="roundRect">
            <a:avLst>
              <a:gd name="adj" fmla="val 2000"/>
            </a:avLst>
          </a:prstGeom>
          <a:solidFill>
            <a:srgbClr val="16A34A"/>
          </a:solidFill>
          <a:ln>
            <a:noFill/>
          </a:ln>
        </p:spPr>
        <p:txBody>
          <a:bodyPr/>
          <a:lstStyle/>
          <a:p>
            <a:endParaRPr lang="en-GB"/>
          </a:p>
        </p:txBody>
      </p:sp>
      <p:sp>
        <p:nvSpPr>
          <p:cNvPr id="412" name="LTerm1"/>
          <p:cNvSpPr>
            <a:spLocks noGrp="1"/>
          </p:cNvSpPr>
          <p:nvPr/>
        </p:nvSpPr>
        <p:spPr>
          <a:xfrm>
            <a:off x="5727700" y="19431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16A34A"/>
                </a:solidFill>
                <a:latin typeface="Calibri"/>
              </a:rPr>
              <a:t>Relationships</a:t>
            </a:r>
          </a:p>
        </p:txBody>
      </p:sp>
      <p:sp>
        <p:nvSpPr>
          <p:cNvPr id="413" name="LBody1"/>
          <p:cNvSpPr>
            <a:spLocks noGrp="1"/>
          </p:cNvSpPr>
          <p:nvPr/>
        </p:nvSpPr>
        <p:spPr>
          <a:xfrm>
            <a:off x="5727700" y="21463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Connect records together. 1:1 or 1:M lookups for explicit links; Dynamic relationships use rule expressions — how Cover ↔ Insert compatibility is encoded.</a:t>
            </a:r>
          </a:p>
        </p:txBody>
      </p:sp>
      <p:sp>
        <p:nvSpPr>
          <p:cNvPr id="420" name="LBG2"/>
          <p:cNvSpPr>
            <a:spLocks noGrp="1"/>
          </p:cNvSpPr>
          <p:nvPr/>
        </p:nvSpPr>
        <p:spPr>
          <a:xfrm>
            <a:off x="5613400" y="28448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21" name="LAcc2"/>
          <p:cNvSpPr>
            <a:spLocks noGrp="1"/>
          </p:cNvSpPr>
          <p:nvPr/>
        </p:nvSpPr>
        <p:spPr>
          <a:xfrm>
            <a:off x="5613400" y="2844800"/>
            <a:ext cx="50800" cy="939800"/>
          </a:xfrm>
          <a:prstGeom prst="roundRect">
            <a:avLst>
              <a:gd name="adj" fmla="val 2000"/>
            </a:avLst>
          </a:prstGeom>
          <a:solidFill>
            <a:srgbClr val="0D9488"/>
          </a:solidFill>
          <a:ln>
            <a:noFill/>
          </a:ln>
        </p:spPr>
        <p:txBody>
          <a:bodyPr/>
          <a:lstStyle/>
          <a:p>
            <a:endParaRPr lang="en-GB"/>
          </a:p>
        </p:txBody>
      </p:sp>
      <p:sp>
        <p:nvSpPr>
          <p:cNvPr id="422" name="LTerm2"/>
          <p:cNvSpPr>
            <a:spLocks noGrp="1"/>
          </p:cNvSpPr>
          <p:nvPr/>
        </p:nvSpPr>
        <p:spPr>
          <a:xfrm>
            <a:off x="5727700" y="29210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0D9488"/>
                </a:solidFill>
                <a:latin typeface="Calibri"/>
              </a:rPr>
              <a:t>Hierarchies</a:t>
            </a:r>
          </a:p>
        </p:txBody>
      </p:sp>
      <p:sp>
        <p:nvSpPr>
          <p:cNvPr id="423" name="LBody2"/>
          <p:cNvSpPr>
            <a:spLocks noGrp="1"/>
          </p:cNvSpPr>
          <p:nvPr/>
        </p:nvSpPr>
        <p:spPr>
          <a:xfrm>
            <a:off x="5727700" y="31242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Special collections where records have a parent record, forming a tree. Paths recalculate automatically when records move.</a:t>
            </a:r>
          </a:p>
        </p:txBody>
      </p:sp>
      <p:sp>
        <p:nvSpPr>
          <p:cNvPr id="430" name="LBG3"/>
          <p:cNvSpPr>
            <a:spLocks noGrp="1"/>
          </p:cNvSpPr>
          <p:nvPr/>
        </p:nvSpPr>
        <p:spPr>
          <a:xfrm>
            <a:off x="5613400" y="38227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31" name="LAcc3"/>
          <p:cNvSpPr>
            <a:spLocks noGrp="1"/>
          </p:cNvSpPr>
          <p:nvPr/>
        </p:nvSpPr>
        <p:spPr>
          <a:xfrm>
            <a:off x="5613400" y="3822700"/>
            <a:ext cx="50800" cy="939800"/>
          </a:xfrm>
          <a:prstGeom prst="roundRect">
            <a:avLst>
              <a:gd name="adj" fmla="val 2000"/>
            </a:avLst>
          </a:prstGeom>
          <a:solidFill>
            <a:srgbClr val="2563EB"/>
          </a:solidFill>
          <a:ln>
            <a:noFill/>
          </a:ln>
        </p:spPr>
        <p:txBody>
          <a:bodyPr/>
          <a:lstStyle/>
          <a:p>
            <a:endParaRPr lang="en-GB"/>
          </a:p>
        </p:txBody>
      </p:sp>
      <p:sp>
        <p:nvSpPr>
          <p:cNvPr id="432" name="LTerm3"/>
          <p:cNvSpPr>
            <a:spLocks noGrp="1"/>
          </p:cNvSpPr>
          <p:nvPr/>
        </p:nvSpPr>
        <p:spPr>
          <a:xfrm>
            <a:off x="5727700" y="38989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2563EB"/>
                </a:solidFill>
                <a:latin typeface="Calibri"/>
              </a:rPr>
              <a:t>Taxonomies</a:t>
            </a:r>
          </a:p>
        </p:txBody>
      </p:sp>
      <p:sp>
        <p:nvSpPr>
          <p:cNvPr id="433" name="LBody3"/>
          <p:cNvSpPr>
            <a:spLocks noGrp="1"/>
          </p:cNvSpPr>
          <p:nvPr/>
        </p:nvSpPr>
        <p:spPr>
          <a:xfrm>
            <a:off x="5727700" y="41021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Sit on top of Collections to tag records dynamically by rule. Lovesac uses three in parallel — Internal Ops, Lovesac.com, and Marketplace — so the same SKU is classified differently per channel.</a:t>
            </a:r>
          </a:p>
        </p:txBody>
      </p:sp>
    </p:spTree>
    <p:extLst>
      <p:ext uri="{BB962C8B-B14F-4D97-AF65-F5344CB8AC3E}">
        <p14:creationId xmlns:p14="http://schemas.microsoft.com/office/powerpoint/2010/main" val="2475856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3" name="Title"/>
          <p:cNvSpPr>
            <a:spLocks noGrp="1"/>
          </p:cNvSpPr>
          <p:nvPr/>
        </p:nvSpPr>
        <p:spPr>
          <a:xfrm>
            <a:off x="381000" y="76200"/>
            <a:ext cx="6858000" cy="457200"/>
          </a:xfrm>
          <a:prstGeom prst="rect">
            <a:avLst/>
          </a:prstGeom>
          <a:noFill/>
          <a:ln>
            <a:noFill/>
          </a:ln>
        </p:spPr>
        <p:txBody>
          <a:bodyPr wrap="square" lIns="50800" tIns="50800" rIns="50800" bIns="50800" anchor="t"/>
          <a:lstStyle/>
          <a:p>
            <a:pPr>
              <a:buNone/>
            </a:pPr>
            <a:r>
              <a:rPr lang="en-US" sz="2000" b="1" dirty="0">
                <a:solidFill>
                  <a:srgbClr val="111827"/>
                </a:solidFill>
                <a:latin typeface="Calibri"/>
              </a:rPr>
              <a:t>Collections, Hierarchies, Taxonomies</a:t>
            </a:r>
          </a:p>
        </p:txBody>
      </p:sp>
      <p:sp>
        <p:nvSpPr>
          <p:cNvPr id="7" name="Subtitle"/>
          <p:cNvSpPr>
            <a:spLocks noGrp="1"/>
          </p:cNvSpPr>
          <p:nvPr/>
        </p:nvSpPr>
        <p:spPr>
          <a:xfrm>
            <a:off x="355600" y="533400"/>
            <a:ext cx="8432800" cy="254000"/>
          </a:xfrm>
          <a:prstGeom prst="rect">
            <a:avLst/>
          </a:prstGeom>
          <a:noFill/>
          <a:ln>
            <a:noFill/>
          </a:ln>
        </p:spPr>
        <p:txBody>
          <a:bodyPr wrap="square" lIns="25400" tIns="25400" rIns="25400" bIns="25400" anchor="t"/>
          <a:lstStyle/>
          <a:p>
            <a:pPr>
              <a:buNone/>
            </a:pPr>
            <a:r>
              <a:rPr lang="en-US" sz="1050" dirty="0">
                <a:solidFill>
                  <a:srgbClr val="6B7280"/>
                </a:solidFill>
                <a:latin typeface="Calibri"/>
              </a:rPr>
              <a:t>Demo of compatibility rules and data model in a sample hierarchy using Lovesac's data and Conscia's tooling</a:t>
            </a:r>
          </a:p>
        </p:txBody>
      </p:sp>
      <p:sp>
        <p:nvSpPr>
          <p:cNvPr id="5" name="Divider"/>
          <p:cNvSpPr>
            <a:spLocks noGrp="1"/>
          </p:cNvSpPr>
          <p:nvPr/>
        </p:nvSpPr>
        <p:spPr>
          <a:xfrm>
            <a:off x="254000" y="838200"/>
            <a:ext cx="8636000" cy="1270"/>
          </a:xfrm>
          <a:prstGeom prst="line">
            <a:avLst/>
          </a:prstGeom>
          <a:noFill/>
          <a:ln w="9525">
            <a:solidFill>
              <a:srgbClr val="E5E7EB"/>
            </a:solidFill>
          </a:ln>
        </p:spPr>
        <p:txBody>
          <a:bodyPr/>
          <a:lstStyle/>
          <a:p>
            <a:endParaRPr lang="en-GB"/>
          </a:p>
        </p:txBody>
      </p:sp>
      <p:sp>
        <p:nvSpPr>
          <p:cNvPr id="910" name="Bar0"/>
          <p:cNvSpPr>
            <a:spLocks noGrp="1"/>
          </p:cNvSpPr>
          <p:nvPr/>
        </p:nvSpPr>
        <p:spPr>
          <a:xfrm>
            <a:off x="0" y="5092700"/>
            <a:ext cx="1524000" cy="50800"/>
          </a:xfrm>
          <a:prstGeom prst="rect">
            <a:avLst/>
          </a:prstGeom>
          <a:solidFill>
            <a:srgbClr val="EB1A63"/>
          </a:solidFill>
          <a:ln>
            <a:noFill/>
          </a:ln>
        </p:spPr>
        <p:txBody>
          <a:bodyPr/>
          <a:lstStyle/>
          <a:p>
            <a:endParaRPr lang="en-GB"/>
          </a:p>
        </p:txBody>
      </p:sp>
      <p:sp>
        <p:nvSpPr>
          <p:cNvPr id="911" name="Bar1"/>
          <p:cNvSpPr>
            <a:spLocks noGrp="1"/>
          </p:cNvSpPr>
          <p:nvPr/>
        </p:nvSpPr>
        <p:spPr>
          <a:xfrm>
            <a:off x="1524000" y="5092700"/>
            <a:ext cx="1524000" cy="50800"/>
          </a:xfrm>
          <a:prstGeom prst="rect">
            <a:avLst/>
          </a:prstGeom>
          <a:solidFill>
            <a:srgbClr val="F8981D"/>
          </a:solidFill>
          <a:ln>
            <a:noFill/>
          </a:ln>
        </p:spPr>
        <p:txBody>
          <a:bodyPr/>
          <a:lstStyle/>
          <a:p>
            <a:endParaRPr lang="en-GB"/>
          </a:p>
        </p:txBody>
      </p:sp>
      <p:sp>
        <p:nvSpPr>
          <p:cNvPr id="912" name="Bar2"/>
          <p:cNvSpPr>
            <a:spLocks noGrp="1"/>
          </p:cNvSpPr>
          <p:nvPr/>
        </p:nvSpPr>
        <p:spPr>
          <a:xfrm>
            <a:off x="3048000" y="5092700"/>
            <a:ext cx="1524000" cy="50800"/>
          </a:xfrm>
          <a:prstGeom prst="rect">
            <a:avLst/>
          </a:prstGeom>
          <a:solidFill>
            <a:srgbClr val="FABF2D"/>
          </a:solidFill>
          <a:ln>
            <a:noFill/>
          </a:ln>
        </p:spPr>
        <p:txBody>
          <a:bodyPr/>
          <a:lstStyle/>
          <a:p>
            <a:endParaRPr lang="en-GB"/>
          </a:p>
        </p:txBody>
      </p:sp>
      <p:sp>
        <p:nvSpPr>
          <p:cNvPr id="913" name="Bar3"/>
          <p:cNvSpPr>
            <a:spLocks noGrp="1"/>
          </p:cNvSpPr>
          <p:nvPr/>
        </p:nvSpPr>
        <p:spPr>
          <a:xfrm>
            <a:off x="4572000" y="5092700"/>
            <a:ext cx="1524000" cy="50800"/>
          </a:xfrm>
          <a:prstGeom prst="rect">
            <a:avLst/>
          </a:prstGeom>
          <a:solidFill>
            <a:srgbClr val="8AC542"/>
          </a:solidFill>
          <a:ln>
            <a:noFill/>
          </a:ln>
        </p:spPr>
        <p:txBody>
          <a:bodyPr/>
          <a:lstStyle/>
          <a:p>
            <a:endParaRPr lang="en-GB"/>
          </a:p>
        </p:txBody>
      </p:sp>
      <p:sp>
        <p:nvSpPr>
          <p:cNvPr id="914" name="Bar4"/>
          <p:cNvSpPr>
            <a:spLocks noGrp="1"/>
          </p:cNvSpPr>
          <p:nvPr/>
        </p:nvSpPr>
        <p:spPr>
          <a:xfrm>
            <a:off x="6096000" y="5092700"/>
            <a:ext cx="1524000" cy="50800"/>
          </a:xfrm>
          <a:prstGeom prst="rect">
            <a:avLst/>
          </a:prstGeom>
          <a:solidFill>
            <a:srgbClr val="07BCD6"/>
          </a:solidFill>
          <a:ln>
            <a:noFill/>
          </a:ln>
        </p:spPr>
        <p:txBody>
          <a:bodyPr/>
          <a:lstStyle/>
          <a:p>
            <a:endParaRPr lang="en-GB"/>
          </a:p>
        </p:txBody>
      </p:sp>
      <p:sp>
        <p:nvSpPr>
          <p:cNvPr id="915" name="Bar5"/>
          <p:cNvSpPr>
            <a:spLocks noGrp="1"/>
          </p:cNvSpPr>
          <p:nvPr/>
        </p:nvSpPr>
        <p:spPr>
          <a:xfrm>
            <a:off x="7620000" y="5092700"/>
            <a:ext cx="1524000" cy="50800"/>
          </a:xfrm>
          <a:prstGeom prst="rect">
            <a:avLst/>
          </a:prstGeom>
          <a:solidFill>
            <a:srgbClr val="6366F1"/>
          </a:solidFill>
          <a:ln>
            <a:noFill/>
          </a:ln>
        </p:spPr>
        <p:txBody>
          <a:bodyPr/>
          <a:lstStyle/>
          <a:p>
            <a:endParaRPr lang="en-GB"/>
          </a:p>
        </p:txBody>
      </p:sp>
      <p:sp>
        <p:nvSpPr>
          <p:cNvPr id="100" name="C0BG"/>
          <p:cNvSpPr>
            <a:spLocks noGrp="1"/>
          </p:cNvSpPr>
          <p:nvPr/>
        </p:nvSpPr>
        <p:spPr>
          <a:xfrm>
            <a:off x="254000" y="914400"/>
            <a:ext cx="2886765" cy="1752600"/>
          </a:xfrm>
          <a:prstGeom prst="rect">
            <a:avLst/>
          </a:prstGeom>
          <a:solidFill>
            <a:srgbClr val="FFFFFF"/>
          </a:solidFill>
          <a:ln w="9525">
            <a:solidFill>
              <a:srgbClr val="E5E7EB"/>
            </a:solidFill>
          </a:ln>
        </p:spPr>
        <p:txBody>
          <a:bodyPr/>
          <a:lstStyle/>
          <a:p>
            <a:endParaRPr lang="en-GB"/>
          </a:p>
        </p:txBody>
      </p:sp>
      <p:sp>
        <p:nvSpPr>
          <p:cNvPr id="101" name="C0Bar"/>
          <p:cNvSpPr>
            <a:spLocks noGrp="1"/>
          </p:cNvSpPr>
          <p:nvPr/>
        </p:nvSpPr>
        <p:spPr>
          <a:xfrm>
            <a:off x="254000" y="914400"/>
            <a:ext cx="63500" cy="1752600"/>
          </a:xfrm>
          <a:prstGeom prst="rect">
            <a:avLst/>
          </a:prstGeom>
          <a:solidFill>
            <a:srgbClr val="EB1A63"/>
          </a:solidFill>
          <a:ln>
            <a:noFill/>
          </a:ln>
        </p:spPr>
        <p:txBody>
          <a:bodyPr/>
          <a:lstStyle/>
          <a:p>
            <a:endParaRPr lang="en-GB"/>
          </a:p>
        </p:txBody>
      </p:sp>
      <p:sp>
        <p:nvSpPr>
          <p:cNvPr id="102" name="C0Badge"/>
          <p:cNvSpPr>
            <a:spLocks noGrp="1"/>
          </p:cNvSpPr>
          <p:nvPr/>
        </p:nvSpPr>
        <p:spPr>
          <a:xfrm>
            <a:off x="431800" y="1066800"/>
            <a:ext cx="584200" cy="228600"/>
          </a:xfrm>
          <a:prstGeom prst="roundRect">
            <a:avLst>
              <a:gd name="adj" fmla="val 2500"/>
            </a:avLst>
          </a:prstGeom>
          <a:solidFill>
            <a:srgbClr val="EB1A63"/>
          </a:solidFill>
          <a:ln>
            <a:noFill/>
          </a:ln>
        </p:spPr>
        <p:txBody>
          <a:bodyPr wrap="square" lIns="25400" tIns="25400" rIns="25400" bIns="25400" anchor="ctr"/>
          <a:lstStyle/>
          <a:p>
            <a:pPr algn="ctr">
              <a:buNone/>
            </a:pPr>
            <a:r>
              <a:rPr lang="en-US" sz="700" b="1" dirty="0">
                <a:solidFill>
                  <a:srgbClr val="FFFFFF"/>
                </a:solidFill>
                <a:latin typeface="Calibri"/>
              </a:rPr>
              <a:t>GRAPH</a:t>
            </a:r>
          </a:p>
        </p:txBody>
      </p:sp>
      <p:sp>
        <p:nvSpPr>
          <p:cNvPr id="103" name="C0Label"/>
          <p:cNvSpPr>
            <a:spLocks noGrp="1"/>
          </p:cNvSpPr>
          <p:nvPr/>
        </p:nvSpPr>
        <p:spPr>
          <a:xfrm>
            <a:off x="1092200" y="1066800"/>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DX Graph — Product Model</a:t>
            </a:r>
          </a:p>
        </p:txBody>
      </p:sp>
      <p:sp>
        <p:nvSpPr>
          <p:cNvPr id="104" name="C0Div"/>
          <p:cNvSpPr>
            <a:spLocks noGrp="1"/>
          </p:cNvSpPr>
          <p:nvPr/>
        </p:nvSpPr>
        <p:spPr>
          <a:xfrm>
            <a:off x="431800" y="1371600"/>
            <a:ext cx="2527300" cy="1270"/>
          </a:xfrm>
          <a:prstGeom prst="line">
            <a:avLst/>
          </a:prstGeom>
          <a:noFill/>
          <a:ln w="6350">
            <a:solidFill>
              <a:srgbClr val="E5E7EB"/>
            </a:solidFill>
          </a:ln>
        </p:spPr>
        <p:txBody>
          <a:bodyPr/>
          <a:lstStyle/>
          <a:p>
            <a:endParaRPr lang="en-GB"/>
          </a:p>
        </p:txBody>
      </p:sp>
      <p:sp>
        <p:nvSpPr>
          <p:cNvPr id="105" name="C0Text"/>
          <p:cNvSpPr>
            <a:spLocks noGrp="1"/>
          </p:cNvSpPr>
          <p:nvPr/>
        </p:nvSpPr>
        <p:spPr>
          <a:xfrm>
            <a:off x="431800" y="1422400"/>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i="1" dirty="0">
                <a:solidFill>
                  <a:srgbClr val="6B7280"/>
                </a:solidFill>
                <a:latin typeface="Calibri"/>
              </a:rPr>
              <a:t>· SKU Collection: 28,089 records ingested from NetSuite</a:t>
            </a:r>
          </a:p>
          <a:p>
            <a:pPr>
              <a:lnSpc>
                <a:spcPts val="1250"/>
              </a:lnSpc>
              <a:spcBef>
                <a:spcPts val="200"/>
              </a:spcBef>
              <a:buNone/>
            </a:pPr>
            <a:r>
              <a:rPr lang="en-US" sz="900" i="1" dirty="0">
                <a:solidFill>
                  <a:srgbClr val="6B7280"/>
                </a:solidFill>
                <a:latin typeface="Calibri"/>
              </a:rPr>
              <a:t>· Matrix items exploded into individual variant nodes</a:t>
            </a:r>
          </a:p>
          <a:p>
            <a:pPr>
              <a:lnSpc>
                <a:spcPts val="1250"/>
              </a:lnSpc>
              <a:spcBef>
                <a:spcPts val="200"/>
              </a:spcBef>
              <a:buNone/>
            </a:pPr>
            <a:r>
              <a:rPr lang="en-US" sz="900" i="1" dirty="0">
                <a:solidFill>
                  <a:srgbClr val="6B7280"/>
                </a:solidFill>
                <a:latin typeface="Calibri"/>
              </a:rPr>
              <a:t>· Each node carries colour, cover, configuration attributes</a:t>
            </a:r>
          </a:p>
          <a:p>
            <a:pPr>
              <a:lnSpc>
                <a:spcPts val="1250"/>
              </a:lnSpc>
              <a:spcBef>
                <a:spcPts val="200"/>
              </a:spcBef>
              <a:buNone/>
            </a:pPr>
            <a:r>
              <a:rPr lang="en-US" sz="900" i="1" dirty="0">
                <a:solidFill>
                  <a:srgbClr val="6B7280"/>
                </a:solidFill>
                <a:latin typeface="Calibri"/>
              </a:rPr>
              <a:t>· Relationships typed: COMPATIBLE_WITH, BUNDLES, CONTAINS</a:t>
            </a:r>
          </a:p>
        </p:txBody>
      </p:sp>
      <p:sp>
        <p:nvSpPr>
          <p:cNvPr id="4" name="F">
            <a:extLst>
              <a:ext uri="{FF2B5EF4-FFF2-40B4-BE49-F238E27FC236}">
                <a16:creationId xmlns:a16="http://schemas.microsoft.com/office/drawing/2014/main" id="{10F5A100-A664-9536-7413-7B18D83886DC}"/>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sp>
        <p:nvSpPr>
          <p:cNvPr id="6" name="TextBox 5">
            <a:extLst>
              <a:ext uri="{FF2B5EF4-FFF2-40B4-BE49-F238E27FC236}">
                <a16:creationId xmlns:a16="http://schemas.microsoft.com/office/drawing/2014/main" id="{2B1850DF-9255-C244-2A28-761426901097}"/>
              </a:ext>
            </a:extLst>
          </p:cNvPr>
          <p:cNvSpPr txBox="1"/>
          <p:nvPr/>
        </p:nvSpPr>
        <p:spPr>
          <a:xfrm>
            <a:off x="3719443" y="1493078"/>
            <a:ext cx="4717774" cy="584775"/>
          </a:xfrm>
          <a:prstGeom prst="rect">
            <a:avLst/>
          </a:prstGeom>
          <a:noFill/>
        </p:spPr>
        <p:txBody>
          <a:bodyPr wrap="square" rtlCol="0">
            <a:spAutoFit/>
          </a:bodyPr>
          <a:lstStyle/>
          <a:p>
            <a:r>
              <a:rPr lang="en-GB" sz="3200" b="1" dirty="0">
                <a:solidFill>
                  <a:srgbClr val="FF0000"/>
                </a:solidFill>
              </a:rPr>
              <a:t>Laurel to change / add</a:t>
            </a:r>
          </a:p>
        </p:txBody>
      </p:sp>
    </p:spTree>
    <p:extLst>
      <p:ext uri="{BB962C8B-B14F-4D97-AF65-F5344CB8AC3E}">
        <p14:creationId xmlns:p14="http://schemas.microsoft.com/office/powerpoint/2010/main" val="3458257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b"/>
          <a:lstStyle/>
          <a:p>
            <a:pPr>
              <a:buNone/>
            </a:pPr>
            <a:r>
              <a:rPr lang="en-US" sz="2000" b="1" dirty="0">
                <a:solidFill>
                  <a:srgbClr val="111827"/>
                </a:solidFill>
              </a:rPr>
              <a:t>Implementation Timeline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 name="Phase1BG"/>
          <p:cNvSpPr>
            <a:spLocks noGrp="1"/>
          </p:cNvSpPr>
          <p:nvPr/>
        </p:nvSpPr>
        <p:spPr>
          <a:xfrm>
            <a:off x="254000" y="914400"/>
            <a:ext cx="2006600" cy="2946400"/>
          </a:xfrm>
          <a:prstGeom prst="rect">
            <a:avLst/>
          </a:prstGeom>
          <a:solidFill>
            <a:srgbClr val="FFFFFF"/>
          </a:solidFill>
          <a:ln w="9525">
            <a:solidFill>
              <a:srgbClr val="E5E7EB"/>
            </a:solidFill>
          </a:ln>
        </p:spPr>
        <p:txBody>
          <a:bodyPr/>
          <a:lstStyle/>
          <a:p>
            <a:endParaRPr lang="en-GB"/>
          </a:p>
        </p:txBody>
      </p:sp>
      <p:sp>
        <p:nvSpPr>
          <p:cNvPr id="11" name="Phase1Accent"/>
          <p:cNvSpPr>
            <a:spLocks noGrp="1"/>
          </p:cNvSpPr>
          <p:nvPr/>
        </p:nvSpPr>
        <p:spPr>
          <a:xfrm>
            <a:off x="254000" y="914400"/>
            <a:ext cx="2006600" cy="50800"/>
          </a:xfrm>
          <a:prstGeom prst="rect">
            <a:avLst/>
          </a:prstGeom>
          <a:solidFill>
            <a:srgbClr val="EB1A63"/>
          </a:solidFill>
          <a:ln>
            <a:noFill/>
          </a:ln>
        </p:spPr>
        <p:txBody>
          <a:bodyPr/>
          <a:lstStyle/>
          <a:p>
            <a:endParaRPr lang="en-GB"/>
          </a:p>
        </p:txBody>
      </p:sp>
      <p:sp>
        <p:nvSpPr>
          <p:cNvPr id="12" name="Phase1Text"/>
          <p:cNvSpPr>
            <a:spLocks noGrp="1"/>
          </p:cNvSpPr>
          <p:nvPr/>
        </p:nvSpPr>
        <p:spPr>
          <a:xfrm>
            <a:off x="3556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EB1A63"/>
                </a:solidFill>
                <a:latin typeface="Calibri"/>
              </a:rPr>
              <a:t>PHASE 1</a:t>
            </a:r>
          </a:p>
          <a:p>
            <a:pPr>
              <a:lnSpc>
                <a:spcPts val="1200"/>
              </a:lnSpc>
              <a:spcBef>
                <a:spcPts val="40"/>
              </a:spcBef>
              <a:buNone/>
            </a:pPr>
            <a:r>
              <a:rPr lang="en-US" sz="800" dirty="0">
                <a:solidFill>
                  <a:srgbClr val="9CA3AF"/>
                </a:solidFill>
                <a:latin typeface="Calibri"/>
              </a:rPr>
              <a:t>Weeks 1–3</a:t>
            </a:r>
          </a:p>
          <a:p>
            <a:pPr>
              <a:lnSpc>
                <a:spcPts val="1200"/>
              </a:lnSpc>
              <a:spcBef>
                <a:spcPts val="20"/>
              </a:spcBef>
              <a:buNone/>
            </a:pPr>
            <a:r>
              <a:rPr lang="en-US" sz="850" dirty="0">
                <a:solidFill>
                  <a:srgbClr val="6B7280"/>
                </a:solidFill>
                <a:latin typeface="Calibri"/>
              </a:rPr>
              <a:t>Apr 14 – May 2</a:t>
            </a:r>
          </a:p>
          <a:p>
            <a:pPr>
              <a:lnSpc>
                <a:spcPts val="1200"/>
              </a:lnSpc>
              <a:spcBef>
                <a:spcPts val="180"/>
              </a:spcBef>
              <a:buNone/>
            </a:pPr>
            <a:r>
              <a:rPr lang="en-US" sz="1050" b="1" dirty="0">
                <a:solidFill>
                  <a:srgbClr val="111827"/>
                </a:solidFill>
                <a:latin typeface="Calibri"/>
              </a:rPr>
              <a:t>Foundation &amp; Data</a:t>
            </a:r>
          </a:p>
          <a:p>
            <a:pPr marL="137160" indent="-137160">
              <a:lnSpc>
                <a:spcPts val="1200"/>
              </a:lnSpc>
              <a:spcBef>
                <a:spcPts val="150"/>
              </a:spcBef>
              <a:buFont typeface="Arial"/>
              <a:buChar char="•"/>
            </a:pPr>
            <a:r>
              <a:rPr lang="en-US" sz="875" dirty="0">
                <a:solidFill>
                  <a:srgbClr val="374151"/>
                </a:solidFill>
                <a:latin typeface="Calibri"/>
              </a:rPr>
              <a:t>Provision DX Graph environment</a:t>
            </a:r>
          </a:p>
          <a:p>
            <a:pPr marL="137160" indent="-137160">
              <a:lnSpc>
                <a:spcPts val="1200"/>
              </a:lnSpc>
              <a:spcBef>
                <a:spcPts val="80"/>
              </a:spcBef>
              <a:buFont typeface="Arial"/>
              <a:buChar char="•"/>
            </a:pPr>
            <a:r>
              <a:rPr lang="en-US" sz="875" dirty="0">
                <a:solidFill>
                  <a:srgbClr val="374151"/>
                </a:solidFill>
                <a:latin typeface="Calibri"/>
              </a:rPr>
              <a:t>Model SKU Collection (single collection, all 28,089 SKUs)</a:t>
            </a:r>
          </a:p>
          <a:p>
            <a:pPr marL="137160" indent="-137160">
              <a:lnSpc>
                <a:spcPts val="1200"/>
              </a:lnSpc>
              <a:spcBef>
                <a:spcPts val="80"/>
              </a:spcBef>
              <a:buFont typeface="Arial"/>
              <a:buChar char="•"/>
            </a:pPr>
            <a:r>
              <a:rPr lang="en-US" sz="875" dirty="0">
                <a:solidFill>
                  <a:srgbClr val="374151"/>
                </a:solidFill>
                <a:latin typeface="Calibri"/>
              </a:rPr>
              <a:t>Model Configuration Collection</a:t>
            </a:r>
          </a:p>
          <a:p>
            <a:pPr marL="137160" indent="-137160">
              <a:lnSpc>
                <a:spcPts val="1200"/>
              </a:lnSpc>
              <a:spcBef>
                <a:spcPts val="80"/>
              </a:spcBef>
              <a:buFont typeface="Arial"/>
              <a:buChar char="•"/>
            </a:pPr>
            <a:r>
              <a:rPr lang="en-US" sz="875" dirty="0">
                <a:solidFill>
                  <a:srgbClr val="374151"/>
                </a:solidFill>
                <a:latin typeface="Calibri"/>
              </a:rPr>
              <a:t>Build Cover↔Insert COMPATIBLE_WITH Dynamic Relationship</a:t>
            </a:r>
          </a:p>
        </p:txBody>
      </p:sp>
      <p:sp>
        <p:nvSpPr>
          <p:cNvPr id="20" name="Phase2BG"/>
          <p:cNvSpPr>
            <a:spLocks noGrp="1"/>
          </p:cNvSpPr>
          <p:nvPr/>
        </p:nvSpPr>
        <p:spPr>
          <a:xfrm>
            <a:off x="2362200" y="914400"/>
            <a:ext cx="2006600" cy="2946400"/>
          </a:xfrm>
          <a:prstGeom prst="rect">
            <a:avLst/>
          </a:prstGeom>
          <a:solidFill>
            <a:srgbClr val="FFFFFF"/>
          </a:solidFill>
          <a:ln w="9525">
            <a:solidFill>
              <a:srgbClr val="E5E7EB"/>
            </a:solidFill>
          </a:ln>
        </p:spPr>
        <p:txBody>
          <a:bodyPr/>
          <a:lstStyle/>
          <a:p>
            <a:endParaRPr lang="en-GB"/>
          </a:p>
        </p:txBody>
      </p:sp>
      <p:sp>
        <p:nvSpPr>
          <p:cNvPr id="21" name="Phase2Accent"/>
          <p:cNvSpPr>
            <a:spLocks noGrp="1"/>
          </p:cNvSpPr>
          <p:nvPr/>
        </p:nvSpPr>
        <p:spPr>
          <a:xfrm>
            <a:off x="2362200" y="914400"/>
            <a:ext cx="2006600" cy="50800"/>
          </a:xfrm>
          <a:prstGeom prst="rect">
            <a:avLst/>
          </a:prstGeom>
          <a:solidFill>
            <a:srgbClr val="F8981D"/>
          </a:solidFill>
          <a:ln>
            <a:noFill/>
          </a:ln>
        </p:spPr>
        <p:txBody>
          <a:bodyPr/>
          <a:lstStyle/>
          <a:p>
            <a:endParaRPr lang="en-GB"/>
          </a:p>
        </p:txBody>
      </p:sp>
      <p:sp>
        <p:nvSpPr>
          <p:cNvPr id="22" name="Phase2Text"/>
          <p:cNvSpPr>
            <a:spLocks noGrp="1"/>
          </p:cNvSpPr>
          <p:nvPr/>
        </p:nvSpPr>
        <p:spPr>
          <a:xfrm>
            <a:off x="24638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F8981D"/>
                </a:solidFill>
                <a:latin typeface="Calibri"/>
              </a:rPr>
              <a:t>PHASE 2</a:t>
            </a:r>
          </a:p>
          <a:p>
            <a:pPr>
              <a:lnSpc>
                <a:spcPts val="1200"/>
              </a:lnSpc>
              <a:spcBef>
                <a:spcPts val="40"/>
              </a:spcBef>
              <a:buNone/>
            </a:pPr>
            <a:r>
              <a:rPr lang="en-US" sz="800" dirty="0">
                <a:solidFill>
                  <a:srgbClr val="9CA3AF"/>
                </a:solidFill>
                <a:latin typeface="Calibri"/>
              </a:rPr>
              <a:t>Weeks 4–6</a:t>
            </a:r>
          </a:p>
          <a:p>
            <a:pPr>
              <a:lnSpc>
                <a:spcPts val="1200"/>
              </a:lnSpc>
              <a:spcBef>
                <a:spcPts val="20"/>
              </a:spcBef>
              <a:buNone/>
            </a:pPr>
            <a:r>
              <a:rPr lang="en-US" sz="850" dirty="0">
                <a:solidFill>
                  <a:srgbClr val="6B7280"/>
                </a:solidFill>
                <a:latin typeface="Calibri"/>
              </a:rPr>
              <a:t>May 5 – May 23</a:t>
            </a:r>
          </a:p>
          <a:p>
            <a:pPr>
              <a:lnSpc>
                <a:spcPts val="1200"/>
              </a:lnSpc>
              <a:spcBef>
                <a:spcPts val="180"/>
              </a:spcBef>
              <a:buNone/>
            </a:pPr>
            <a:r>
              <a:rPr lang="en-US" sz="1050" b="1" dirty="0">
                <a:solidFill>
                  <a:srgbClr val="111827"/>
                </a:solidFill>
                <a:latin typeface="Calibri"/>
              </a:rPr>
              <a:t>Taxonomy &amp; Ingest</a:t>
            </a:r>
          </a:p>
          <a:p>
            <a:pPr marL="137160" indent="-137160">
              <a:lnSpc>
                <a:spcPts val="1200"/>
              </a:lnSpc>
              <a:spcBef>
                <a:spcPts val="150"/>
              </a:spcBef>
              <a:buFont typeface="Arial"/>
              <a:buChar char="•"/>
            </a:pPr>
            <a:r>
              <a:rPr lang="en-US" sz="875" dirty="0">
                <a:solidFill>
                  <a:srgbClr val="374151"/>
                </a:solidFill>
                <a:latin typeface="Calibri"/>
              </a:rPr>
              <a:t>Model up to 3 Taxonomy Collections</a:t>
            </a:r>
          </a:p>
          <a:p>
            <a:pPr marL="137160" indent="-137160">
              <a:lnSpc>
                <a:spcPts val="1200"/>
              </a:lnSpc>
              <a:spcBef>
                <a:spcPts val="80"/>
              </a:spcBef>
              <a:buFont typeface="Arial"/>
              <a:buChar char="•"/>
            </a:pPr>
            <a:r>
              <a:rPr lang="en-US" sz="875" dirty="0">
                <a:solidFill>
                  <a:srgbClr val="374151"/>
                </a:solidFill>
                <a:latin typeface="Calibri"/>
              </a:rPr>
              <a:t>Map all SKUs via MAPS_TO</a:t>
            </a:r>
          </a:p>
          <a:p>
            <a:pPr marL="137160" indent="-137160">
              <a:lnSpc>
                <a:spcPts val="1200"/>
              </a:lnSpc>
              <a:spcBef>
                <a:spcPts val="80"/>
              </a:spcBef>
              <a:buFont typeface="Arial"/>
              <a:buChar char="•"/>
            </a:pPr>
            <a:r>
              <a:rPr lang="en-US" sz="875" dirty="0">
                <a:solidFill>
                  <a:srgbClr val="374151"/>
                </a:solidFill>
                <a:latin typeface="Calibri"/>
              </a:rPr>
              <a:t>Configure ingest Jobs from 3 source backends (via Celigo where applicable)</a:t>
            </a:r>
          </a:p>
          <a:p>
            <a:pPr marL="137160" indent="-137160">
              <a:lnSpc>
                <a:spcPts val="1200"/>
              </a:lnSpc>
              <a:spcBef>
                <a:spcPts val="80"/>
              </a:spcBef>
              <a:buFont typeface="Arial"/>
              <a:buChar char="•"/>
            </a:pPr>
            <a:r>
              <a:rPr lang="en-US" sz="875" dirty="0">
                <a:solidFill>
                  <a:srgbClr val="374151"/>
                </a:solidFill>
                <a:latin typeface="Calibri"/>
              </a:rPr>
              <a:t>Validate data completeness and AI-derived compatibility rules with Lovesac team</a:t>
            </a:r>
          </a:p>
        </p:txBody>
      </p:sp>
      <p:sp>
        <p:nvSpPr>
          <p:cNvPr id="30" name="Phase3BG"/>
          <p:cNvSpPr>
            <a:spLocks noGrp="1"/>
          </p:cNvSpPr>
          <p:nvPr/>
        </p:nvSpPr>
        <p:spPr>
          <a:xfrm>
            <a:off x="4470400" y="914400"/>
            <a:ext cx="2006600" cy="2946400"/>
          </a:xfrm>
          <a:prstGeom prst="rect">
            <a:avLst/>
          </a:prstGeom>
          <a:solidFill>
            <a:srgbClr val="FFFFFF"/>
          </a:solidFill>
          <a:ln w="9525">
            <a:solidFill>
              <a:srgbClr val="E5E7EB"/>
            </a:solidFill>
          </a:ln>
        </p:spPr>
        <p:txBody>
          <a:bodyPr/>
          <a:lstStyle/>
          <a:p>
            <a:endParaRPr lang="en-GB"/>
          </a:p>
        </p:txBody>
      </p:sp>
      <p:sp>
        <p:nvSpPr>
          <p:cNvPr id="31" name="Phase3Accent"/>
          <p:cNvSpPr>
            <a:spLocks noGrp="1"/>
          </p:cNvSpPr>
          <p:nvPr/>
        </p:nvSpPr>
        <p:spPr>
          <a:xfrm>
            <a:off x="4470400" y="914400"/>
            <a:ext cx="2006600" cy="50800"/>
          </a:xfrm>
          <a:prstGeom prst="rect">
            <a:avLst/>
          </a:prstGeom>
          <a:solidFill>
            <a:srgbClr val="07BCD6"/>
          </a:solidFill>
          <a:ln>
            <a:noFill/>
          </a:ln>
        </p:spPr>
        <p:txBody>
          <a:bodyPr/>
          <a:lstStyle/>
          <a:p>
            <a:endParaRPr lang="en-GB"/>
          </a:p>
        </p:txBody>
      </p:sp>
      <p:sp>
        <p:nvSpPr>
          <p:cNvPr id="32" name="Phase3Text"/>
          <p:cNvSpPr>
            <a:spLocks noGrp="1"/>
          </p:cNvSpPr>
          <p:nvPr/>
        </p:nvSpPr>
        <p:spPr>
          <a:xfrm>
            <a:off x="45720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07BCD6"/>
                </a:solidFill>
                <a:latin typeface="Calibri"/>
              </a:rPr>
              <a:t>PHASE 3</a:t>
            </a:r>
          </a:p>
          <a:p>
            <a:pPr>
              <a:lnSpc>
                <a:spcPts val="1200"/>
              </a:lnSpc>
              <a:spcBef>
                <a:spcPts val="40"/>
              </a:spcBef>
              <a:buNone/>
            </a:pPr>
            <a:r>
              <a:rPr lang="en-US" sz="800" dirty="0">
                <a:solidFill>
                  <a:srgbClr val="9CA3AF"/>
                </a:solidFill>
                <a:latin typeface="Calibri"/>
              </a:rPr>
              <a:t>Weeks 7–10</a:t>
            </a:r>
          </a:p>
          <a:p>
            <a:pPr>
              <a:lnSpc>
                <a:spcPts val="1200"/>
              </a:lnSpc>
              <a:spcBef>
                <a:spcPts val="20"/>
              </a:spcBef>
              <a:buNone/>
            </a:pPr>
            <a:r>
              <a:rPr lang="en-US" sz="850" dirty="0">
                <a:solidFill>
                  <a:srgbClr val="6B7280"/>
                </a:solidFill>
                <a:latin typeface="Calibri"/>
              </a:rPr>
              <a:t>May 26 – Jun 20</a:t>
            </a:r>
          </a:p>
          <a:p>
            <a:pPr>
              <a:lnSpc>
                <a:spcPts val="1200"/>
              </a:lnSpc>
              <a:spcBef>
                <a:spcPts val="180"/>
              </a:spcBef>
              <a:buNone/>
            </a:pPr>
            <a:r>
              <a:rPr lang="en-US" sz="1050" b="1" dirty="0">
                <a:solidFill>
                  <a:srgbClr val="111827"/>
                </a:solidFill>
                <a:latin typeface="Calibri"/>
              </a:rPr>
              <a:t>DX Engine POC</a:t>
            </a:r>
          </a:p>
          <a:p>
            <a:pPr marL="137160" indent="-137160">
              <a:lnSpc>
                <a:spcPts val="1200"/>
              </a:lnSpc>
              <a:spcBef>
                <a:spcPts val="150"/>
              </a:spcBef>
              <a:buFont typeface="Arial"/>
              <a:buChar char="•"/>
            </a:pPr>
            <a:r>
              <a:rPr lang="en-US" sz="875" dirty="0">
                <a:solidFill>
                  <a:srgbClr val="374151"/>
                </a:solidFill>
                <a:latin typeface="Calibri"/>
              </a:rPr>
              <a:t>Build Config Validation orchestration flow</a:t>
            </a:r>
          </a:p>
          <a:p>
            <a:pPr marL="137160" indent="-137160">
              <a:lnSpc>
                <a:spcPts val="1200"/>
              </a:lnSpc>
              <a:spcBef>
                <a:spcPts val="80"/>
              </a:spcBef>
              <a:buFont typeface="Arial"/>
              <a:buChar char="•"/>
            </a:pPr>
            <a:r>
              <a:rPr lang="en-US" sz="875" dirty="0">
                <a:solidFill>
                  <a:srgbClr val="374151"/>
                </a:solidFill>
                <a:latin typeface="Calibri"/>
              </a:rPr>
              <a:t>Build Wizard Step Options flow</a:t>
            </a:r>
          </a:p>
          <a:p>
            <a:pPr marL="137160" indent="-137160">
              <a:lnSpc>
                <a:spcPts val="1200"/>
              </a:lnSpc>
              <a:spcBef>
                <a:spcPts val="80"/>
              </a:spcBef>
              <a:buFont typeface="Arial"/>
              <a:buChar char="•"/>
            </a:pPr>
            <a:r>
              <a:rPr lang="en-US" sz="875" dirty="0">
                <a:solidFill>
                  <a:srgbClr val="374151"/>
                </a:solidFill>
                <a:latin typeface="Calibri"/>
              </a:rPr>
              <a:t>Build Config ID Creation flow (with DX Graph API write-back)</a:t>
            </a:r>
          </a:p>
          <a:p>
            <a:pPr marL="137160" indent="-137160">
              <a:lnSpc>
                <a:spcPts val="1200"/>
              </a:lnSpc>
              <a:spcBef>
                <a:spcPts val="80"/>
              </a:spcBef>
              <a:buFont typeface="Arial"/>
              <a:buChar char="•"/>
            </a:pPr>
            <a:r>
              <a:rPr lang="en-US" sz="875" dirty="0">
                <a:solidFill>
                  <a:srgbClr val="374151"/>
                </a:solidFill>
                <a:latin typeface="Calibri"/>
              </a:rPr>
              <a:t>Build BOM Explosion flow (POS / OMS / warehouse output shapes)</a:t>
            </a:r>
          </a:p>
        </p:txBody>
      </p:sp>
      <p:sp>
        <p:nvSpPr>
          <p:cNvPr id="40" name="Phase4BG"/>
          <p:cNvSpPr>
            <a:spLocks noGrp="1"/>
          </p:cNvSpPr>
          <p:nvPr/>
        </p:nvSpPr>
        <p:spPr>
          <a:xfrm>
            <a:off x="6578600" y="914400"/>
            <a:ext cx="2006600" cy="2946400"/>
          </a:xfrm>
          <a:prstGeom prst="rect">
            <a:avLst/>
          </a:prstGeom>
          <a:solidFill>
            <a:srgbClr val="FFFFFF"/>
          </a:solidFill>
          <a:ln w="9525">
            <a:solidFill>
              <a:srgbClr val="E5E7EB"/>
            </a:solidFill>
          </a:ln>
        </p:spPr>
        <p:txBody>
          <a:bodyPr/>
          <a:lstStyle/>
          <a:p>
            <a:endParaRPr lang="en-GB"/>
          </a:p>
        </p:txBody>
      </p:sp>
      <p:sp>
        <p:nvSpPr>
          <p:cNvPr id="41" name="Phase4Accent"/>
          <p:cNvSpPr>
            <a:spLocks noGrp="1"/>
          </p:cNvSpPr>
          <p:nvPr/>
        </p:nvSpPr>
        <p:spPr>
          <a:xfrm>
            <a:off x="6578600" y="914400"/>
            <a:ext cx="2006600" cy="50800"/>
          </a:xfrm>
          <a:prstGeom prst="rect">
            <a:avLst/>
          </a:prstGeom>
          <a:solidFill>
            <a:srgbClr val="8AC542"/>
          </a:solidFill>
          <a:ln>
            <a:noFill/>
          </a:ln>
        </p:spPr>
        <p:txBody>
          <a:bodyPr/>
          <a:lstStyle/>
          <a:p>
            <a:endParaRPr lang="en-GB"/>
          </a:p>
        </p:txBody>
      </p:sp>
      <p:sp>
        <p:nvSpPr>
          <p:cNvPr id="42" name="Phase4Text"/>
          <p:cNvSpPr>
            <a:spLocks noGrp="1"/>
          </p:cNvSpPr>
          <p:nvPr/>
        </p:nvSpPr>
        <p:spPr>
          <a:xfrm>
            <a:off x="66802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8AC542"/>
                </a:solidFill>
                <a:latin typeface="Calibri"/>
              </a:rPr>
              <a:t>PHASE 4</a:t>
            </a:r>
          </a:p>
          <a:p>
            <a:pPr>
              <a:lnSpc>
                <a:spcPts val="1200"/>
              </a:lnSpc>
              <a:spcBef>
                <a:spcPts val="40"/>
              </a:spcBef>
              <a:buNone/>
            </a:pPr>
            <a:r>
              <a:rPr lang="en-US" sz="800" dirty="0">
                <a:solidFill>
                  <a:srgbClr val="9CA3AF"/>
                </a:solidFill>
                <a:latin typeface="Calibri"/>
              </a:rPr>
              <a:t>Weeks 11–12</a:t>
            </a:r>
          </a:p>
          <a:p>
            <a:pPr>
              <a:lnSpc>
                <a:spcPts val="1200"/>
              </a:lnSpc>
              <a:spcBef>
                <a:spcPts val="20"/>
              </a:spcBef>
              <a:buNone/>
            </a:pPr>
            <a:r>
              <a:rPr lang="en-US" sz="850" dirty="0">
                <a:solidFill>
                  <a:srgbClr val="6B7280"/>
                </a:solidFill>
                <a:latin typeface="Calibri"/>
              </a:rPr>
              <a:t>Jun 23 – Jul 4</a:t>
            </a:r>
          </a:p>
          <a:p>
            <a:pPr>
              <a:lnSpc>
                <a:spcPts val="1200"/>
              </a:lnSpc>
              <a:spcBef>
                <a:spcPts val="180"/>
              </a:spcBef>
              <a:buNone/>
            </a:pPr>
            <a:r>
              <a:rPr lang="en-US" sz="1050" b="1" dirty="0">
                <a:solidFill>
                  <a:srgbClr val="111827"/>
                </a:solidFill>
                <a:latin typeface="Calibri"/>
              </a:rPr>
              <a:t>Testing &amp; Handoff</a:t>
            </a:r>
          </a:p>
          <a:p>
            <a:pPr marL="137160" indent="-137160">
              <a:lnSpc>
                <a:spcPts val="1200"/>
              </a:lnSpc>
              <a:spcBef>
                <a:spcPts val="150"/>
              </a:spcBef>
              <a:buFont typeface="Arial"/>
              <a:buChar char="•"/>
            </a:pPr>
            <a:r>
              <a:rPr lang="en-US" sz="875" dirty="0">
                <a:solidFill>
                  <a:srgbClr val="374151"/>
                </a:solidFill>
                <a:latin typeface="Calibri"/>
              </a:rPr>
              <a:t>End-to-end integration testing across all flows</a:t>
            </a:r>
          </a:p>
          <a:p>
            <a:pPr marL="137160" indent="-137160">
              <a:lnSpc>
                <a:spcPts val="1200"/>
              </a:lnSpc>
              <a:spcBef>
                <a:spcPts val="80"/>
              </a:spcBef>
              <a:buFont typeface="Arial"/>
              <a:buChar char="•"/>
            </a:pPr>
            <a:r>
              <a:rPr lang="en-US" sz="875" dirty="0">
                <a:solidFill>
                  <a:srgbClr val="374151"/>
                </a:solidFill>
                <a:latin typeface="Calibri"/>
              </a:rPr>
              <a:t>Channel QA (POS via Salesforce Retail Cloud, Lovesac.com sandbox)</a:t>
            </a:r>
          </a:p>
          <a:p>
            <a:pPr marL="137160" indent="-137160">
              <a:lnSpc>
                <a:spcPts val="1200"/>
              </a:lnSpc>
              <a:spcBef>
                <a:spcPts val="80"/>
              </a:spcBef>
              <a:buFont typeface="Arial"/>
              <a:buChar char="•"/>
            </a:pPr>
            <a:r>
              <a:rPr lang="en-US" sz="875" dirty="0">
                <a:solidFill>
                  <a:srgbClr val="374151"/>
                </a:solidFill>
                <a:latin typeface="Calibri"/>
              </a:rPr>
              <a:t>Documentation and runbooks</a:t>
            </a:r>
          </a:p>
          <a:p>
            <a:pPr marL="137160" indent="-137160">
              <a:lnSpc>
                <a:spcPts val="1200"/>
              </a:lnSpc>
              <a:spcBef>
                <a:spcPts val="80"/>
              </a:spcBef>
              <a:buFont typeface="Arial"/>
              <a:buChar char="•"/>
            </a:pPr>
            <a:r>
              <a:rPr lang="en-US" sz="875" dirty="0">
                <a:solidFill>
                  <a:srgbClr val="374151"/>
                </a:solidFill>
                <a:latin typeface="Calibri"/>
              </a:rPr>
              <a:t>Knowledge transfer to Lovesac team</a:t>
            </a:r>
          </a:p>
        </p:txBody>
      </p:sp>
      <p:sp>
        <p:nvSpPr>
          <p:cNvPr id="50" name="Arr1"/>
          <p:cNvSpPr>
            <a:spLocks noGrp="1"/>
          </p:cNvSpPr>
          <p:nvPr/>
        </p:nvSpPr>
        <p:spPr>
          <a:xfrm>
            <a:off x="22606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1" name="Arr2"/>
          <p:cNvSpPr>
            <a:spLocks noGrp="1"/>
          </p:cNvSpPr>
          <p:nvPr/>
        </p:nvSpPr>
        <p:spPr>
          <a:xfrm>
            <a:off x="43688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2" name="Arr3"/>
          <p:cNvSpPr>
            <a:spLocks noGrp="1"/>
          </p:cNvSpPr>
          <p:nvPr/>
        </p:nvSpPr>
        <p:spPr>
          <a:xfrm>
            <a:off x="64770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60" name="DepBG"/>
          <p:cNvSpPr>
            <a:spLocks noGrp="1"/>
          </p:cNvSpPr>
          <p:nvPr/>
        </p:nvSpPr>
        <p:spPr>
          <a:xfrm>
            <a:off x="254000" y="3987800"/>
            <a:ext cx="8636000" cy="584200"/>
          </a:xfrm>
          <a:prstGeom prst="roundRect">
            <a:avLst>
              <a:gd name="adj" fmla="val 1500"/>
            </a:avLst>
          </a:prstGeom>
          <a:solidFill>
            <a:srgbClr val="FFFBEB"/>
          </a:solidFill>
          <a:ln w="9525">
            <a:solidFill>
              <a:srgbClr val="FDE68A"/>
            </a:solidFill>
          </a:ln>
        </p:spPr>
        <p:txBody>
          <a:bodyPr/>
          <a:lstStyle/>
          <a:p>
            <a:endParaRPr lang="en-GB"/>
          </a:p>
        </p:txBody>
      </p:sp>
      <p:sp>
        <p:nvSpPr>
          <p:cNvPr id="70" name="DepBadge0"/>
          <p:cNvSpPr>
            <a:spLocks noGrp="1"/>
          </p:cNvSpPr>
          <p:nvPr/>
        </p:nvSpPr>
        <p:spPr>
          <a:xfrm>
            <a:off x="2540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EB1A63"/>
                </a:solidFill>
                <a:latin typeface="Calibri"/>
              </a:rPr>
              <a:t>⚠  Phase 1 dependency</a:t>
            </a:r>
          </a:p>
        </p:txBody>
      </p:sp>
      <p:sp>
        <p:nvSpPr>
          <p:cNvPr id="71" name="DepText0"/>
          <p:cNvSpPr>
            <a:spLocks noGrp="1"/>
          </p:cNvSpPr>
          <p:nvPr/>
        </p:nvSpPr>
        <p:spPr>
          <a:xfrm>
            <a:off x="2540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Source backend confirmation (Q1)</a:t>
            </a:r>
          </a:p>
          <a:p>
            <a:pPr>
              <a:lnSpc>
                <a:spcPts val="1200"/>
              </a:lnSpc>
              <a:spcBef>
                <a:spcPts val="40"/>
              </a:spcBef>
              <a:buNone/>
            </a:pPr>
            <a:r>
              <a:rPr lang="en-US" sz="725" b="1" dirty="0">
                <a:solidFill>
                  <a:srgbClr val="B45309"/>
                </a:solidFill>
                <a:latin typeface="Calibri"/>
              </a:rPr>
              <a:t>Required by Apr 11</a:t>
            </a:r>
          </a:p>
        </p:txBody>
      </p:sp>
      <p:sp>
        <p:nvSpPr>
          <p:cNvPr id="73" name="DepBadge1"/>
          <p:cNvSpPr>
            <a:spLocks noGrp="1"/>
          </p:cNvSpPr>
          <p:nvPr/>
        </p:nvSpPr>
        <p:spPr>
          <a:xfrm>
            <a:off x="23622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F8981D"/>
                </a:solidFill>
                <a:latin typeface="Calibri"/>
              </a:rPr>
              <a:t>⚠  Phase 2 dependency</a:t>
            </a:r>
          </a:p>
        </p:txBody>
      </p:sp>
      <p:sp>
        <p:nvSpPr>
          <p:cNvPr id="74" name="DepText1"/>
          <p:cNvSpPr>
            <a:spLocks noGrp="1"/>
          </p:cNvSpPr>
          <p:nvPr/>
        </p:nvSpPr>
        <p:spPr>
          <a:xfrm>
            <a:off x="23622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Hierarchy decision (Q3) + adjacency rules (Q5)</a:t>
            </a:r>
          </a:p>
          <a:p>
            <a:pPr>
              <a:lnSpc>
                <a:spcPts val="1200"/>
              </a:lnSpc>
              <a:spcBef>
                <a:spcPts val="40"/>
              </a:spcBef>
              <a:buNone/>
            </a:pPr>
            <a:r>
              <a:rPr lang="en-US" sz="725" b="1" dirty="0">
                <a:solidFill>
                  <a:srgbClr val="B45309"/>
                </a:solidFill>
                <a:latin typeface="Calibri"/>
              </a:rPr>
              <a:t>Required by May 2</a:t>
            </a:r>
          </a:p>
        </p:txBody>
      </p:sp>
      <p:sp>
        <p:nvSpPr>
          <p:cNvPr id="76" name="DepBadge2"/>
          <p:cNvSpPr>
            <a:spLocks noGrp="1"/>
          </p:cNvSpPr>
          <p:nvPr/>
        </p:nvSpPr>
        <p:spPr>
          <a:xfrm>
            <a:off x="44704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07BCD6"/>
                </a:solidFill>
                <a:latin typeface="Calibri"/>
              </a:rPr>
              <a:t>⚠  Phase 3 dependency</a:t>
            </a:r>
          </a:p>
        </p:txBody>
      </p:sp>
      <p:sp>
        <p:nvSpPr>
          <p:cNvPr id="77" name="DepText2"/>
          <p:cNvSpPr>
            <a:spLocks noGrp="1"/>
          </p:cNvSpPr>
          <p:nvPr/>
        </p:nvSpPr>
        <p:spPr>
          <a:xfrm>
            <a:off x="44704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Quickship resolution (Q4) + PLM alignment (Q2)</a:t>
            </a:r>
          </a:p>
          <a:p>
            <a:pPr>
              <a:lnSpc>
                <a:spcPts val="1200"/>
              </a:lnSpc>
              <a:spcBef>
                <a:spcPts val="40"/>
              </a:spcBef>
              <a:buNone/>
            </a:pPr>
            <a:r>
              <a:rPr lang="en-US" sz="725" b="1" dirty="0">
                <a:solidFill>
                  <a:srgbClr val="B45309"/>
                </a:solidFill>
                <a:latin typeface="Calibri"/>
              </a:rPr>
              <a:t>Required by May 23</a:t>
            </a:r>
          </a:p>
        </p:txBody>
      </p:sp>
      <p:sp>
        <p:nvSpPr>
          <p:cNvPr id="79" name="DepNone"/>
          <p:cNvSpPr>
            <a:spLocks noGrp="1"/>
          </p:cNvSpPr>
          <p:nvPr/>
        </p:nvSpPr>
        <p:spPr>
          <a:xfrm>
            <a:off x="6578600" y="4038600"/>
            <a:ext cx="1955800" cy="127000"/>
          </a:xfrm>
          <a:prstGeom prst="rect">
            <a:avLst/>
          </a:prstGeom>
          <a:noFill/>
          <a:ln>
            <a:noFill/>
          </a:ln>
        </p:spPr>
        <p:txBody>
          <a:bodyPr wrap="square" lIns="50800" tIns="50800" rIns="50800" bIns="50800" anchor="t"/>
          <a:lstStyle/>
          <a:p>
            <a:pPr>
              <a:lnSpc>
                <a:spcPts val="1200"/>
              </a:lnSpc>
              <a:spcBef>
                <a:spcPts val="0"/>
              </a:spcBef>
              <a:buNone/>
            </a:pPr>
            <a:r>
              <a:rPr lang="en-US" sz="750" b="1" dirty="0">
                <a:solidFill>
                  <a:srgbClr val="8AC542"/>
                </a:solidFill>
                <a:latin typeface="Calibri"/>
              </a:rPr>
              <a:t>✓  Phase 4 — clear to proceed</a:t>
            </a:r>
          </a:p>
        </p:txBody>
      </p:sp>
      <p:sp>
        <p:nvSpPr>
          <p:cNvPr id="80" name="Footnote"/>
          <p:cNvSpPr>
            <a:spLocks noGrp="1"/>
          </p:cNvSpPr>
          <p:nvPr/>
        </p:nvSpPr>
        <p:spPr>
          <a:xfrm>
            <a:off x="254000" y="4648200"/>
            <a:ext cx="8636000" cy="177800"/>
          </a:xfrm>
          <a:prstGeom prst="rect">
            <a:avLst/>
          </a:prstGeom>
          <a:noFill/>
          <a:ln>
            <a:noFill/>
          </a:ln>
        </p:spPr>
        <p:txBody>
          <a:bodyPr wrap="square" lIns="25400" tIns="25400" rIns="25400" bIns="25400" anchor="t"/>
          <a:lstStyle/>
          <a:p>
            <a:pPr>
              <a:lnSpc>
                <a:spcPts val="1200"/>
              </a:lnSpc>
              <a:spcBef>
                <a:spcPts val="0"/>
              </a:spcBef>
              <a:buNone/>
            </a:pPr>
            <a:r>
              <a:rPr lang="en-US" sz="775" i="1" dirty="0">
                <a:solidFill>
                  <a:srgbClr val="9CA3AF"/>
                </a:solidFill>
                <a:latin typeface="Calibri"/>
              </a:rPr>
              <a:t>Calendar dates are indicative and assume open questions are resolved per the dependency flags above. </a:t>
            </a:r>
          </a:p>
        </p:txBody>
      </p:sp>
      <p:sp>
        <p:nvSpPr>
          <p:cNvPr id="82" name="DepText3"/>
          <p:cNvSpPr>
            <a:spLocks noGrp="1"/>
          </p:cNvSpPr>
          <p:nvPr/>
        </p:nvSpPr>
        <p:spPr>
          <a:xfrm>
            <a:off x="6578600" y="4191000"/>
            <a:ext cx="1955800" cy="381000"/>
          </a:xfrm>
          <a:prstGeom prst="rect">
            <a:avLst/>
          </a:prstGeom>
          <a:noFill/>
          <a:ln>
            <a:noFill/>
          </a:ln>
        </p:spPr>
        <p:txBody>
          <a:bodyPr wrap="square" lIns="25400" tIns="25400" rIns="25400" bIns="25400" anchor="t"/>
          <a:lstStyle/>
          <a:p>
            <a:pPr>
              <a:lnSpc>
                <a:spcPts val="1200"/>
              </a:lnSpc>
              <a:spcBef>
                <a:spcPts val="0"/>
              </a:spcBef>
              <a:buNone/>
            </a:pPr>
            <a:r>
              <a:rPr lang="en-US" sz="725" dirty="0">
                <a:solidFill>
                  <a:srgbClr val="6B7280"/>
                </a:solidFill>
                <a:latin typeface="Calibri"/>
              </a:rPr>
              <a:t>No blocking dependencies</a:t>
            </a:r>
          </a:p>
          <a:p>
            <a:pPr>
              <a:lnSpc>
                <a:spcPts val="1200"/>
              </a:lnSpc>
              <a:spcBef>
                <a:spcPts val="40"/>
              </a:spcBef>
              <a:buNone/>
            </a:pPr>
            <a:r>
              <a:rPr lang="en-US" sz="725" i="1" dirty="0">
                <a:solidFill>
                  <a:srgbClr val="6B7280"/>
                </a:solidFill>
                <a:latin typeface="Calibri"/>
              </a:rPr>
              <a:t>Contingent on Phases 1–3 completing on schedule</a:t>
            </a:r>
          </a:p>
        </p:txBody>
      </p:sp>
    </p:spTree>
    <p:extLst>
      <p:ext uri="{BB962C8B-B14F-4D97-AF65-F5344CB8AC3E}">
        <p14:creationId xmlns:p14="http://schemas.microsoft.com/office/powerpoint/2010/main" val="2525875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G"/>
          <p:cNvSpPr>
            <a:spLocks noGrp="1"/>
          </p:cNvSpPr>
          <p:nvPr/>
        </p:nvSpPr>
        <p:spPr>
          <a:xfrm>
            <a:off x="0" y="0"/>
            <a:ext cx="9144000" cy="5143500"/>
          </a:xfrm>
          <a:prstGeom prst="rect">
            <a:avLst/>
          </a:prstGeom>
          <a:solidFill>
            <a:srgbClr val="FDF2F8"/>
          </a:solidFill>
          <a:ln>
            <a:noFill/>
          </a:ln>
        </p:spPr>
        <p:txBody>
          <a:bodyPr/>
          <a:lstStyle/>
          <a:p>
            <a:endParaRPr lang="en-GB"/>
          </a:p>
        </p:txBody>
      </p:sp>
      <p:sp>
        <p:nvSpPr>
          <p:cNvPr id="5" name="DecCircle"/>
          <p:cNvSpPr>
            <a:spLocks noGrp="1"/>
          </p:cNvSpPr>
          <p:nvPr/>
        </p:nvSpPr>
        <p:spPr>
          <a:xfrm>
            <a:off x="6223000" y="3810000"/>
            <a:ext cx="3810000" cy="3810000"/>
          </a:xfrm>
          <a:prstGeom prst="ellipse">
            <a:avLst/>
          </a:prstGeom>
          <a:solidFill>
            <a:srgbClr val="FBCFE8">
              <a:alpha val="30000"/>
            </a:srgbClr>
          </a:solidFill>
          <a:ln>
            <a:noFill/>
          </a:ln>
        </p:spPr>
        <p:txBody>
          <a:bodyPr/>
          <a:lstStyle/>
          <a:p>
            <a:endParaRPr lang="en-GB"/>
          </a:p>
        </p:txBody>
      </p:sp>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10" name="SectionTag"/>
          <p:cNvSpPr>
            <a:spLocks noGrp="1"/>
          </p:cNvSpPr>
          <p:nvPr/>
        </p:nvSpPr>
        <p:spPr>
          <a:xfrm>
            <a:off x="3759200" y="1930400"/>
            <a:ext cx="1625600" cy="304800"/>
          </a:xfrm>
          <a:prstGeom prst="roundRect">
            <a:avLst>
              <a:gd name="adj" fmla="val 50000"/>
            </a:avLst>
          </a:prstGeom>
          <a:solidFill>
            <a:srgbClr val="C2185B"/>
          </a:solidFill>
          <a:ln>
            <a:noFill/>
          </a:ln>
        </p:spPr>
        <p:txBody>
          <a:bodyPr wrap="square" lIns="50800" tIns="25400" rIns="50800" bIns="25400" anchor="ctr"/>
          <a:lstStyle/>
          <a:p>
            <a:pPr algn="ctr">
              <a:buNone/>
            </a:pPr>
            <a:r>
              <a:rPr lang="en-US" sz="850" b="1" spc="150" dirty="0">
                <a:solidFill>
                  <a:srgbClr val="FFFFFF"/>
                </a:solidFill>
                <a:latin typeface="Calibri"/>
              </a:rPr>
              <a:t>SECTION 02</a:t>
            </a:r>
          </a:p>
        </p:txBody>
      </p:sp>
      <p:sp>
        <p:nvSpPr>
          <p:cNvPr id="20" name="AppendixTitle"/>
          <p:cNvSpPr>
            <a:spLocks noGrp="1"/>
          </p:cNvSpPr>
          <p:nvPr/>
        </p:nvSpPr>
        <p:spPr>
          <a:xfrm>
            <a:off x="762000" y="2362200"/>
            <a:ext cx="7620000" cy="863600"/>
          </a:xfrm>
          <a:prstGeom prst="rect">
            <a:avLst/>
          </a:prstGeom>
          <a:noFill/>
          <a:ln>
            <a:noFill/>
          </a:ln>
        </p:spPr>
        <p:txBody>
          <a:bodyPr wrap="square" lIns="0" tIns="0" rIns="0" bIns="0" anchor="ctr"/>
          <a:lstStyle/>
          <a:p>
            <a:pPr algn="ctr">
              <a:buNone/>
            </a:pPr>
            <a:r>
              <a:rPr lang="en-US" sz="5600" b="1" spc="-100" dirty="0">
                <a:solidFill>
                  <a:srgbClr val="111827"/>
                </a:solidFill>
                <a:latin typeface="Calibri"/>
              </a:rPr>
              <a:t>APPENDIX</a:t>
            </a:r>
          </a:p>
        </p:txBody>
      </p:sp>
      <p:sp>
        <p:nvSpPr>
          <p:cNvPr id="21" name="AppendixSub"/>
          <p:cNvSpPr>
            <a:spLocks noGrp="1"/>
          </p:cNvSpPr>
          <p:nvPr/>
        </p:nvSpPr>
        <p:spPr>
          <a:xfrm>
            <a:off x="1016000" y="3276600"/>
            <a:ext cx="7112000" cy="431800"/>
          </a:xfrm>
          <a:prstGeom prst="rect">
            <a:avLst/>
          </a:prstGeom>
          <a:noFill/>
          <a:ln>
            <a:noFill/>
          </a:ln>
        </p:spPr>
        <p:txBody>
          <a:bodyPr wrap="square" lIns="0" tIns="0" rIns="0" bIns="0" anchor="ctr"/>
          <a:lstStyle/>
          <a:p>
            <a:pPr algn="ctr">
              <a:buNone/>
            </a:pPr>
            <a:r>
              <a:rPr lang="en-US" sz="1400" dirty="0">
                <a:solidFill>
                  <a:srgbClr val="6B7280"/>
                </a:solidFill>
                <a:latin typeface="Calibri"/>
              </a:rPr>
              <a:t>Reference material — Threekit &amp; Conscia comparison and phased role transition.</a:t>
            </a:r>
          </a:p>
        </p:txBody>
      </p:sp>
      <p:sp>
        <p:nvSpPr>
          <p:cNvPr id="910" name="Bar0"/>
          <p:cNvSpPr>
            <a:spLocks noGrp="1"/>
          </p:cNvSpPr>
          <p:nvPr/>
        </p:nvSpPr>
        <p:spPr>
          <a:xfrm>
            <a:off x="0" y="5092700"/>
            <a:ext cx="1524000" cy="50800"/>
          </a:xfrm>
          <a:prstGeom prst="rect">
            <a:avLst/>
          </a:prstGeom>
          <a:solidFill>
            <a:srgbClr val="EB1A63"/>
          </a:solidFill>
          <a:ln>
            <a:noFill/>
          </a:ln>
        </p:spPr>
        <p:txBody>
          <a:bodyPr/>
          <a:lstStyle/>
          <a:p>
            <a:endParaRPr lang="en-GB"/>
          </a:p>
        </p:txBody>
      </p:sp>
      <p:sp>
        <p:nvSpPr>
          <p:cNvPr id="911" name="Bar1"/>
          <p:cNvSpPr>
            <a:spLocks noGrp="1"/>
          </p:cNvSpPr>
          <p:nvPr/>
        </p:nvSpPr>
        <p:spPr>
          <a:xfrm>
            <a:off x="1524000" y="5092700"/>
            <a:ext cx="1524000" cy="50800"/>
          </a:xfrm>
          <a:prstGeom prst="rect">
            <a:avLst/>
          </a:prstGeom>
          <a:solidFill>
            <a:srgbClr val="F8981D"/>
          </a:solidFill>
          <a:ln>
            <a:noFill/>
          </a:ln>
        </p:spPr>
        <p:txBody>
          <a:bodyPr/>
          <a:lstStyle/>
          <a:p>
            <a:endParaRPr lang="en-GB"/>
          </a:p>
        </p:txBody>
      </p:sp>
      <p:sp>
        <p:nvSpPr>
          <p:cNvPr id="912" name="Bar2"/>
          <p:cNvSpPr>
            <a:spLocks noGrp="1"/>
          </p:cNvSpPr>
          <p:nvPr/>
        </p:nvSpPr>
        <p:spPr>
          <a:xfrm>
            <a:off x="3048000" y="5092700"/>
            <a:ext cx="1524000" cy="50800"/>
          </a:xfrm>
          <a:prstGeom prst="rect">
            <a:avLst/>
          </a:prstGeom>
          <a:solidFill>
            <a:srgbClr val="FABF2D"/>
          </a:solidFill>
          <a:ln>
            <a:noFill/>
          </a:ln>
        </p:spPr>
        <p:txBody>
          <a:bodyPr/>
          <a:lstStyle/>
          <a:p>
            <a:endParaRPr lang="en-GB"/>
          </a:p>
        </p:txBody>
      </p:sp>
      <p:sp>
        <p:nvSpPr>
          <p:cNvPr id="913" name="Bar3"/>
          <p:cNvSpPr>
            <a:spLocks noGrp="1"/>
          </p:cNvSpPr>
          <p:nvPr/>
        </p:nvSpPr>
        <p:spPr>
          <a:xfrm>
            <a:off x="4572000" y="5092700"/>
            <a:ext cx="1524000" cy="50800"/>
          </a:xfrm>
          <a:prstGeom prst="rect">
            <a:avLst/>
          </a:prstGeom>
          <a:solidFill>
            <a:srgbClr val="8AC542"/>
          </a:solidFill>
          <a:ln>
            <a:noFill/>
          </a:ln>
        </p:spPr>
        <p:txBody>
          <a:bodyPr/>
          <a:lstStyle/>
          <a:p>
            <a:endParaRPr lang="en-GB"/>
          </a:p>
        </p:txBody>
      </p:sp>
      <p:sp>
        <p:nvSpPr>
          <p:cNvPr id="914" name="Bar4"/>
          <p:cNvSpPr>
            <a:spLocks noGrp="1"/>
          </p:cNvSpPr>
          <p:nvPr/>
        </p:nvSpPr>
        <p:spPr>
          <a:xfrm>
            <a:off x="6096000" y="5092700"/>
            <a:ext cx="1524000" cy="50800"/>
          </a:xfrm>
          <a:prstGeom prst="rect">
            <a:avLst/>
          </a:prstGeom>
          <a:solidFill>
            <a:srgbClr val="07BCD6"/>
          </a:solidFill>
          <a:ln>
            <a:noFill/>
          </a:ln>
        </p:spPr>
        <p:txBody>
          <a:bodyPr/>
          <a:lstStyle/>
          <a:p>
            <a:endParaRPr lang="en-GB"/>
          </a:p>
        </p:txBody>
      </p:sp>
      <p:sp>
        <p:nvSpPr>
          <p:cNvPr id="915" name="Bar5"/>
          <p:cNvSpPr>
            <a:spLocks noGrp="1"/>
          </p:cNvSpPr>
          <p:nvPr/>
        </p:nvSpPr>
        <p:spPr>
          <a:xfrm>
            <a:off x="7620000" y="5092700"/>
            <a:ext cx="1524000" cy="50800"/>
          </a:xfrm>
          <a:prstGeom prst="rect">
            <a:avLst/>
          </a:prstGeom>
          <a:solidFill>
            <a:srgbClr val="6366F1"/>
          </a:solidFill>
          <a:ln>
            <a:noFill/>
          </a:ln>
        </p:spPr>
        <p:txBody>
          <a:bodyPr/>
          <a:lstStyle/>
          <a:p>
            <a:endParaRPr lang="en-GB"/>
          </a:p>
        </p:txBody>
      </p:sp>
      <p:sp>
        <p:nvSpPr>
          <p:cNvPr id="4" name="Footer">
            <a:extLst>
              <a:ext uri="{FF2B5EF4-FFF2-40B4-BE49-F238E27FC236}">
                <a16:creationId xmlns:a16="http://schemas.microsoft.com/office/drawing/2014/main" id="{37F38B2E-6F4F-B866-11D3-506E130F1916}"/>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Tree>
    <p:extLst>
      <p:ext uri="{BB962C8B-B14F-4D97-AF65-F5344CB8AC3E}">
        <p14:creationId xmlns:p14="http://schemas.microsoft.com/office/powerpoint/2010/main" val="13913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0" y="0"/>
            <a:ext cx="9144000" cy="5143500"/>
          </a:xfrm>
          <a:prstGeom prst="rect">
            <a:avLst/>
          </a:prstGeom>
          <a:gradFill>
            <a:gsLst>
              <a:gs pos="0">
                <a:srgbClr val="FBF2F4"/>
              </a:gs>
              <a:gs pos="100000">
                <a:srgbClr val="F5EDF0"/>
              </a:gs>
            </a:gsLst>
            <a:lin ang="5400000" scaled="1"/>
          </a:gradFill>
          <a:ln>
            <a:noFill/>
          </a:ln>
        </p:spPr>
        <p:txBody>
          <a:bodyPr/>
          <a:lstStyle/>
          <a:p>
            <a:endParaRPr/>
          </a:p>
        </p:txBody>
      </p:sp>
      <p:sp>
        <p:nvSpPr>
          <p:cNvPr id="10" name="LeftBar"/>
          <p:cNvSpPr>
            <a:spLocks noGrp="1"/>
          </p:cNvSpPr>
          <p:nvPr/>
        </p:nvSpPr>
        <p:spPr>
          <a:xfrm>
            <a:off x="0" y="0"/>
            <a:ext cx="101600" cy="5143500"/>
          </a:xfrm>
          <a:prstGeom prst="rect">
            <a:avLst/>
          </a:prstGeom>
          <a:solidFill>
            <a:srgbClr val="EB1A63"/>
          </a:solidFill>
          <a:ln>
            <a:noFill/>
          </a:ln>
        </p:spPr>
        <p:txBody>
          <a:bodyPr wrap="square" lIns="63500" tIns="25400" rIns="63500" bIns="25400" anchor="ctr"/>
          <a:lstStyle/>
          <a:p>
            <a:endParaRPr/>
          </a:p>
        </p:txBody>
      </p:sp>
      <p:sp>
        <p:nvSpPr>
          <p:cNvPr id="11" name="Header"/>
          <p:cNvSpPr>
            <a:spLocks noGrp="1"/>
          </p:cNvSpPr>
          <p:nvPr/>
        </p:nvSpPr>
        <p:spPr>
          <a:xfrm>
            <a:off x="101600" y="0"/>
            <a:ext cx="9042400" cy="711200"/>
          </a:xfrm>
          <a:prstGeom prst="rect">
            <a:avLst/>
          </a:prstGeom>
          <a:solidFill>
            <a:srgbClr val="FFFFFF"/>
          </a:solidFill>
          <a:ln>
            <a:noFill/>
          </a:ln>
        </p:spPr>
        <p:txBody>
          <a:bodyPr wrap="square" lIns="63500" tIns="25400" rIns="63500" bIns="25400" anchor="ctr"/>
          <a:lstStyle/>
          <a:p>
            <a:endParaRPr/>
          </a:p>
        </p:txBody>
      </p:sp>
      <p:sp>
        <p:nvSpPr>
          <p:cNvPr id="12" name="Title"/>
          <p:cNvSpPr>
            <a:spLocks noGrp="1"/>
          </p:cNvSpPr>
          <p:nvPr/>
        </p:nvSpPr>
        <p:spPr>
          <a:xfrm>
            <a:off x="254000" y="152400"/>
            <a:ext cx="6350000" cy="406400"/>
          </a:xfrm>
          <a:prstGeom prst="rect">
            <a:avLst/>
          </a:prstGeom>
          <a:noFill/>
          <a:ln>
            <a:noFill/>
          </a:ln>
        </p:spPr>
        <p:txBody>
          <a:bodyPr wrap="square" lIns="63500" tIns="25400" rIns="63500" bIns="25400" anchor="ctr"/>
          <a:lstStyle/>
          <a:p>
            <a:pPr algn="l">
              <a:buNone/>
            </a:pPr>
            <a:r>
              <a:rPr lang="en-US" sz="2000" b="1" dirty="0">
                <a:solidFill>
                  <a:srgbClr val="111827"/>
                </a:solidFill>
                <a:latin typeface="Calibri"/>
              </a:rPr>
              <a:t>Threekit &amp; Conscia: Different Jobs, Different Tools</a:t>
            </a:r>
          </a:p>
        </p:txBody>
      </p:sp>
      <p:sp>
        <p:nvSpPr>
          <p:cNvPr id="14" name="Div"/>
          <p:cNvSpPr>
            <a:spLocks noGrp="1"/>
          </p:cNvSpPr>
          <p:nvPr/>
        </p:nvSpPr>
        <p:spPr>
          <a:xfrm>
            <a:off x="101600" y="711200"/>
            <a:ext cx="9042400" cy="12700"/>
          </a:xfrm>
          <a:prstGeom prst="rect">
            <a:avLst/>
          </a:prstGeom>
          <a:solidFill>
            <a:srgbClr val="E5E7EB"/>
          </a:solidFill>
          <a:ln>
            <a:noFill/>
          </a:ln>
        </p:spPr>
        <p:txBody>
          <a:bodyPr wrap="square" lIns="63500" tIns="25400" rIns="63500" bIns="25400" anchor="ctr"/>
          <a:lstStyle/>
          <a:p>
            <a:endParaRPr/>
          </a:p>
        </p:txBody>
      </p:sp>
      <p:sp>
        <p:nvSpPr>
          <p:cNvPr id="710" name="Bar0"/>
          <p:cNvSpPr>
            <a:spLocks noGrp="1"/>
          </p:cNvSpPr>
          <p:nvPr/>
        </p:nvSpPr>
        <p:spPr>
          <a:xfrm>
            <a:off x="0" y="5092700"/>
            <a:ext cx="1524000" cy="50800"/>
          </a:xfrm>
          <a:prstGeom prst="rect">
            <a:avLst/>
          </a:prstGeom>
          <a:solidFill>
            <a:srgbClr val="EB1A63"/>
          </a:solidFill>
          <a:ln>
            <a:noFill/>
          </a:ln>
        </p:spPr>
        <p:txBody>
          <a:bodyPr wrap="square" lIns="63500" tIns="25400" rIns="635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wrap="square" lIns="63500" tIns="25400" rIns="635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wrap="square" lIns="63500" tIns="25400" rIns="635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wrap="square" lIns="63500" tIns="25400" rIns="635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wrap="square" lIns="63500" tIns="25400" rIns="63500" bIns="25400" anchor="ctr"/>
          <a:lstStyle/>
          <a:p>
            <a:endParaRPr/>
          </a:p>
        </p:txBody>
      </p:sp>
      <p:sp>
        <p:nvSpPr>
          <p:cNvPr id="715" name="Bar5"/>
          <p:cNvSpPr>
            <a:spLocks noGrp="1"/>
          </p:cNvSpPr>
          <p:nvPr/>
        </p:nvSpPr>
        <p:spPr>
          <a:xfrm>
            <a:off x="7620000" y="5092700"/>
            <a:ext cx="1524000" cy="50800"/>
          </a:xfrm>
          <a:prstGeom prst="rect">
            <a:avLst/>
          </a:prstGeom>
          <a:solidFill>
            <a:srgbClr val="458CCB"/>
          </a:solidFill>
          <a:ln>
            <a:noFill/>
          </a:ln>
        </p:spPr>
        <p:txBody>
          <a:bodyPr wrap="square" lIns="63500" tIns="25400" rIns="63500" bIns="25400" anchor="ctr"/>
          <a:lstStyle/>
          <a:p>
            <a:endParaRPr/>
          </a:p>
        </p:txBody>
      </p:sp>
      <p:sp>
        <p:nvSpPr>
          <p:cNvPr id="50" name="HdrDim"/>
          <p:cNvSpPr>
            <a:spLocks noGrp="1"/>
          </p:cNvSpPr>
          <p:nvPr/>
        </p:nvSpPr>
        <p:spPr>
          <a:xfrm>
            <a:off x="254000" y="825500"/>
            <a:ext cx="2349500" cy="254000"/>
          </a:xfrm>
          <a:prstGeom prst="rect">
            <a:avLst/>
          </a:prstGeom>
          <a:solidFill>
            <a:srgbClr val="F3F4F6"/>
          </a:solidFill>
          <a:ln w="6350">
            <a:solidFill>
              <a:srgbClr val="E5E7EB"/>
            </a:solidFill>
          </a:ln>
        </p:spPr>
        <p:txBody>
          <a:bodyPr wrap="square" lIns="63500" tIns="25400" rIns="63500" bIns="25400" anchor="ctr"/>
          <a:lstStyle/>
          <a:p>
            <a:pPr algn="l">
              <a:buNone/>
            </a:pPr>
            <a:r>
              <a:rPr lang="en-US" sz="900" b="1" dirty="0">
                <a:solidFill>
                  <a:srgbClr val="6B7280"/>
                </a:solidFill>
                <a:latin typeface="Calibri"/>
              </a:rPr>
              <a:t>Dimension</a:t>
            </a:r>
          </a:p>
        </p:txBody>
      </p:sp>
      <p:sp>
        <p:nvSpPr>
          <p:cNvPr id="51" name="HdrTK"/>
          <p:cNvSpPr>
            <a:spLocks noGrp="1"/>
          </p:cNvSpPr>
          <p:nvPr/>
        </p:nvSpPr>
        <p:spPr>
          <a:xfrm>
            <a:off x="2667000" y="825500"/>
            <a:ext cx="3073400" cy="254000"/>
          </a:xfrm>
          <a:prstGeom prst="rect">
            <a:avLst/>
          </a:prstGeom>
          <a:solidFill>
            <a:srgbClr val="F3F4F6"/>
          </a:solidFill>
          <a:ln w="6350">
            <a:solidFill>
              <a:srgbClr val="E5E7EB"/>
            </a:solidFill>
          </a:ln>
        </p:spPr>
        <p:txBody>
          <a:bodyPr wrap="square" lIns="63500" tIns="25400" rIns="63500" bIns="25400" anchor="ctr"/>
          <a:lstStyle/>
          <a:p>
            <a:pPr algn="ctr">
              <a:buNone/>
            </a:pPr>
            <a:r>
              <a:rPr lang="en-US" sz="1000" b="1" dirty="0">
                <a:solidFill>
                  <a:srgbClr val="374151"/>
                </a:solidFill>
                <a:latin typeface="Calibri"/>
              </a:rPr>
              <a:t>Threekit</a:t>
            </a:r>
          </a:p>
        </p:txBody>
      </p:sp>
      <p:sp>
        <p:nvSpPr>
          <p:cNvPr id="52" name="HdrCo"/>
          <p:cNvSpPr>
            <a:spLocks noGrp="1"/>
          </p:cNvSpPr>
          <p:nvPr/>
        </p:nvSpPr>
        <p:spPr>
          <a:xfrm>
            <a:off x="5842000" y="825500"/>
            <a:ext cx="3073400" cy="254000"/>
          </a:xfrm>
          <a:prstGeom prst="rect">
            <a:avLst/>
          </a:prstGeom>
          <a:solidFill>
            <a:srgbClr val="FDF2F5"/>
          </a:solidFill>
          <a:ln w="9525">
            <a:solidFill>
              <a:srgbClr val="EB1A63"/>
            </a:solidFill>
          </a:ln>
        </p:spPr>
        <p:txBody>
          <a:bodyPr wrap="square" lIns="63500" tIns="25400" rIns="63500" bIns="25400" anchor="ctr"/>
          <a:lstStyle/>
          <a:p>
            <a:pPr algn="ctr">
              <a:buNone/>
            </a:pPr>
            <a:r>
              <a:rPr lang="en-US" sz="1000" b="1" dirty="0">
                <a:solidFill>
                  <a:srgbClr val="EB1A63"/>
                </a:solidFill>
                <a:latin typeface="Calibri"/>
              </a:rPr>
              <a:t>Conscia</a:t>
            </a:r>
          </a:p>
        </p:txBody>
      </p:sp>
      <p:sp>
        <p:nvSpPr>
          <p:cNvPr id="100" name="Dim0"/>
          <p:cNvSpPr>
            <a:spLocks noGrp="1"/>
          </p:cNvSpPr>
          <p:nvPr/>
        </p:nvSpPr>
        <p:spPr>
          <a:xfrm>
            <a:off x="254000" y="1079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Primary job</a:t>
            </a:r>
          </a:p>
        </p:txBody>
      </p:sp>
      <p:sp>
        <p:nvSpPr>
          <p:cNvPr id="101" name="TK0"/>
          <p:cNvSpPr>
            <a:spLocks noGrp="1"/>
          </p:cNvSpPr>
          <p:nvPr/>
        </p:nvSpPr>
        <p:spPr>
          <a:xfrm>
            <a:off x="2667000" y="1079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3D product visualisation &amp; configuration</a:t>
            </a:r>
          </a:p>
        </p:txBody>
      </p:sp>
      <p:sp>
        <p:nvSpPr>
          <p:cNvPr id="102" name="Co0"/>
          <p:cNvSpPr>
            <a:spLocks noGrp="1"/>
          </p:cNvSpPr>
          <p:nvPr/>
        </p:nvSpPr>
        <p:spPr>
          <a:xfrm>
            <a:off x="5842000" y="1079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API-layer orchestration across all systems</a:t>
            </a:r>
          </a:p>
        </p:txBody>
      </p:sp>
      <p:sp>
        <p:nvSpPr>
          <p:cNvPr id="103" name="Dim1"/>
          <p:cNvSpPr>
            <a:spLocks noGrp="1"/>
          </p:cNvSpPr>
          <p:nvPr/>
        </p:nvSpPr>
        <p:spPr>
          <a:xfrm>
            <a:off x="254000" y="1587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Data stored</a:t>
            </a:r>
          </a:p>
        </p:txBody>
      </p:sp>
      <p:sp>
        <p:nvSpPr>
          <p:cNvPr id="104" name="TK1"/>
          <p:cNvSpPr>
            <a:spLocks noGrp="1"/>
          </p:cNvSpPr>
          <p:nvPr/>
        </p:nvSpPr>
        <p:spPr>
          <a:xfrm>
            <a:off x="2667000" y="1587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Visual assets, component rules, constraints</a:t>
            </a:r>
          </a:p>
        </p:txBody>
      </p:sp>
      <p:sp>
        <p:nvSpPr>
          <p:cNvPr id="105" name="Co1"/>
          <p:cNvSpPr>
            <a:spLocks noGrp="1"/>
          </p:cNvSpPr>
          <p:nvPr/>
        </p:nvSpPr>
        <p:spPr>
          <a:xfrm>
            <a:off x="5842000" y="1587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Product graph, business logic, channel rules</a:t>
            </a:r>
          </a:p>
        </p:txBody>
      </p:sp>
      <p:sp>
        <p:nvSpPr>
          <p:cNvPr id="106" name="Dim2"/>
          <p:cNvSpPr>
            <a:spLocks noGrp="1"/>
          </p:cNvSpPr>
          <p:nvPr/>
        </p:nvSpPr>
        <p:spPr>
          <a:xfrm>
            <a:off x="254000" y="2095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Who queries it</a:t>
            </a:r>
          </a:p>
        </p:txBody>
      </p:sp>
      <p:sp>
        <p:nvSpPr>
          <p:cNvPr id="107" name="TK2"/>
          <p:cNvSpPr>
            <a:spLocks noGrp="1"/>
          </p:cNvSpPr>
          <p:nvPr/>
        </p:nvSpPr>
        <p:spPr>
          <a:xfrm>
            <a:off x="2667000" y="2095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Lovesac.com configurator only</a:t>
            </a:r>
          </a:p>
        </p:txBody>
      </p:sp>
      <p:sp>
        <p:nvSpPr>
          <p:cNvPr id="108" name="Co2"/>
          <p:cNvSpPr>
            <a:spLocks noGrp="1"/>
          </p:cNvSpPr>
          <p:nvPr/>
        </p:nvSpPr>
        <p:spPr>
          <a:xfrm>
            <a:off x="5842000" y="2095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Any channel — web, app, kiosk, AI agent</a:t>
            </a:r>
          </a:p>
        </p:txBody>
      </p:sp>
      <p:sp>
        <p:nvSpPr>
          <p:cNvPr id="109" name="Dim3"/>
          <p:cNvSpPr>
            <a:spLocks noGrp="1"/>
          </p:cNvSpPr>
          <p:nvPr/>
        </p:nvSpPr>
        <p:spPr>
          <a:xfrm>
            <a:off x="254000" y="2603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How data flows</a:t>
            </a:r>
          </a:p>
        </p:txBody>
      </p:sp>
      <p:sp>
        <p:nvSpPr>
          <p:cNvPr id="110" name="TK3"/>
          <p:cNvSpPr>
            <a:spLocks noGrp="1"/>
          </p:cNvSpPr>
          <p:nvPr/>
        </p:nvSpPr>
        <p:spPr>
          <a:xfrm>
            <a:off x="2667000" y="2603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Push: Lovesac team uploads updates manually</a:t>
            </a:r>
          </a:p>
        </p:txBody>
      </p:sp>
      <p:sp>
        <p:nvSpPr>
          <p:cNvPr id="111" name="Co3"/>
          <p:cNvSpPr>
            <a:spLocks noGrp="1"/>
          </p:cNvSpPr>
          <p:nvPr/>
        </p:nvSpPr>
        <p:spPr>
          <a:xfrm>
            <a:off x="5842000" y="2603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Pull: real-time API calls, live sync</a:t>
            </a:r>
          </a:p>
        </p:txBody>
      </p:sp>
      <p:sp>
        <p:nvSpPr>
          <p:cNvPr id="112" name="Dim4"/>
          <p:cNvSpPr>
            <a:spLocks noGrp="1"/>
          </p:cNvSpPr>
          <p:nvPr/>
        </p:nvSpPr>
        <p:spPr>
          <a:xfrm>
            <a:off x="254000" y="3111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AI / agent access</a:t>
            </a:r>
          </a:p>
        </p:txBody>
      </p:sp>
      <p:sp>
        <p:nvSpPr>
          <p:cNvPr id="113" name="TK4"/>
          <p:cNvSpPr>
            <a:spLocks noGrp="1"/>
          </p:cNvSpPr>
          <p:nvPr/>
        </p:nvSpPr>
        <p:spPr>
          <a:xfrm>
            <a:off x="2667000" y="3111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Not designed for programmatic access</a:t>
            </a:r>
          </a:p>
        </p:txBody>
      </p:sp>
      <p:sp>
        <p:nvSpPr>
          <p:cNvPr id="114" name="Co4"/>
          <p:cNvSpPr>
            <a:spLocks noGrp="1"/>
          </p:cNvSpPr>
          <p:nvPr/>
        </p:nvSpPr>
        <p:spPr>
          <a:xfrm>
            <a:off x="5842000" y="3111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Native MCP endpoint; agent-ready by design</a:t>
            </a:r>
          </a:p>
        </p:txBody>
      </p:sp>
      <p:sp>
        <p:nvSpPr>
          <p:cNvPr id="115" name="Dim5"/>
          <p:cNvSpPr>
            <a:spLocks noGrp="1"/>
          </p:cNvSpPr>
          <p:nvPr/>
        </p:nvSpPr>
        <p:spPr>
          <a:xfrm>
            <a:off x="254000" y="3619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Where it lives</a:t>
            </a:r>
          </a:p>
        </p:txBody>
      </p:sp>
      <p:sp>
        <p:nvSpPr>
          <p:cNvPr id="116" name="TK5"/>
          <p:cNvSpPr>
            <a:spLocks noGrp="1"/>
          </p:cNvSpPr>
          <p:nvPr/>
        </p:nvSpPr>
        <p:spPr>
          <a:xfrm>
            <a:off x="2667000" y="3619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SaaS, Threekit-hosted</a:t>
            </a:r>
          </a:p>
        </p:txBody>
      </p:sp>
      <p:sp>
        <p:nvSpPr>
          <p:cNvPr id="117" name="Co5"/>
          <p:cNvSpPr>
            <a:spLocks noGrp="1"/>
          </p:cNvSpPr>
          <p:nvPr/>
        </p:nvSpPr>
        <p:spPr>
          <a:xfrm>
            <a:off x="5842000" y="3619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Orchestration layer above your existing stack</a:t>
            </a:r>
          </a:p>
        </p:txBody>
      </p:sp>
      <p:sp>
        <p:nvSpPr>
          <p:cNvPr id="118" name="Dim6"/>
          <p:cNvSpPr>
            <a:spLocks noGrp="1"/>
          </p:cNvSpPr>
          <p:nvPr/>
        </p:nvSpPr>
        <p:spPr>
          <a:xfrm>
            <a:off x="254000" y="4127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Phase 1 role</a:t>
            </a:r>
          </a:p>
        </p:txBody>
      </p:sp>
      <p:sp>
        <p:nvSpPr>
          <p:cNvPr id="119" name="TK6"/>
          <p:cNvSpPr>
            <a:spLocks noGrp="1"/>
          </p:cNvSpPr>
          <p:nvPr/>
        </p:nvSpPr>
        <p:spPr>
          <a:xfrm>
            <a:off x="2667000" y="4127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Continues as the rendering engine</a:t>
            </a:r>
          </a:p>
        </p:txBody>
      </p:sp>
      <p:sp>
        <p:nvSpPr>
          <p:cNvPr id="120" name="Co6"/>
          <p:cNvSpPr>
            <a:spLocks noGrp="1"/>
          </p:cNvSpPr>
          <p:nvPr/>
        </p:nvSpPr>
        <p:spPr>
          <a:xfrm>
            <a:off x="5842000" y="4127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Reads from Threekit, exposes data everywhere</a:t>
            </a:r>
          </a:p>
        </p:txBody>
      </p:sp>
      <p:sp>
        <p:nvSpPr>
          <p:cNvPr id="3" name="Footer">
            <a:extLst>
              <a:ext uri="{FF2B5EF4-FFF2-40B4-BE49-F238E27FC236}">
                <a16:creationId xmlns:a16="http://schemas.microsoft.com/office/drawing/2014/main" id="{3FA2449A-239F-53DE-38CA-887B20FAAAD8}"/>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4" name="AppxTag">
            <a:extLst>
              <a:ext uri="{FF2B5EF4-FFF2-40B4-BE49-F238E27FC236}">
                <a16:creationId xmlns:a16="http://schemas.microsoft.com/office/drawing/2014/main" id="{1FB2A70D-BF01-17A7-2D7F-BE0E8E13640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204803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7112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A Phased Approach</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SC0"/>
          <p:cNvSpPr/>
          <p:nvPr/>
        </p:nvSpPr>
        <p:spPr>
          <a:xfrm>
            <a:off x="3302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01" name="SA0"/>
          <p:cNvSpPr/>
          <p:nvPr/>
        </p:nvSpPr>
        <p:spPr>
          <a:xfrm>
            <a:off x="330200" y="787400"/>
            <a:ext cx="2730500" cy="50800"/>
          </a:xfrm>
          <a:prstGeom prst="roundRect">
            <a:avLst>
              <a:gd name="adj" fmla="val 3000"/>
            </a:avLst>
          </a:prstGeom>
          <a:solidFill>
            <a:srgbClr val="EB1A63"/>
          </a:solidFill>
          <a:ln>
            <a:noFill/>
          </a:ln>
        </p:spPr>
        <p:txBody>
          <a:bodyPr/>
          <a:lstStyle/>
          <a:p>
            <a:endParaRPr lang="en-US"/>
          </a:p>
        </p:txBody>
      </p:sp>
      <p:sp>
        <p:nvSpPr>
          <p:cNvPr id="202" name="SL0"/>
          <p:cNvSpPr/>
          <p:nvPr/>
        </p:nvSpPr>
        <p:spPr>
          <a:xfrm>
            <a:off x="482600" y="914400"/>
            <a:ext cx="2400300" cy="177800"/>
          </a:xfrm>
          <a:prstGeom prst="rect">
            <a:avLst/>
          </a:prstGeom>
          <a:noFill/>
          <a:ln>
            <a:noFill/>
          </a:ln>
        </p:spPr>
        <p:txBody>
          <a:bodyPr wrap="square" lIns="0" tIns="0" rIns="0" bIns="0" anchor="t"/>
          <a:lstStyle/>
          <a:p>
            <a:pPr>
              <a:buNone/>
            </a:pPr>
            <a:r>
              <a:rPr lang="en-US" sz="750" b="1" dirty="0">
                <a:solidFill>
                  <a:srgbClr val="EB1A63"/>
                </a:solidFill>
                <a:latin typeface="Calibri"/>
              </a:rPr>
              <a:t>PHASE 1  ·  WEEKS 1–6</a:t>
            </a:r>
          </a:p>
        </p:txBody>
      </p:sp>
      <p:sp>
        <p:nvSpPr>
          <p:cNvPr id="203" name="ST0"/>
          <p:cNvSpPr/>
          <p:nvPr/>
        </p:nvSpPr>
        <p:spPr>
          <a:xfrm>
            <a:off x="4826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Ingest &amp; Model</a:t>
            </a:r>
          </a:p>
        </p:txBody>
      </p:sp>
      <p:sp>
        <p:nvSpPr>
          <p:cNvPr id="204" name="SD0"/>
          <p:cNvSpPr/>
          <p:nvPr/>
        </p:nvSpPr>
        <p:spPr>
          <a:xfrm>
            <a:off x="482600" y="1447800"/>
            <a:ext cx="2400300" cy="12700"/>
          </a:xfrm>
          <a:prstGeom prst="rect">
            <a:avLst/>
          </a:prstGeom>
          <a:solidFill>
            <a:srgbClr val="E5E7EB"/>
          </a:solidFill>
          <a:ln>
            <a:noFill/>
          </a:ln>
        </p:spPr>
        <p:txBody>
          <a:bodyPr/>
          <a:lstStyle/>
          <a:p>
            <a:endParaRPr lang="en-US"/>
          </a:p>
        </p:txBody>
      </p:sp>
      <p:sp>
        <p:nvSpPr>
          <p:cNvPr id="205" name="SB0"/>
          <p:cNvSpPr/>
          <p:nvPr/>
        </p:nvSpPr>
        <p:spPr>
          <a:xfrm>
            <a:off x="4826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Connect NetSuite, Magento &amp; Threekit to DX Graph</a:t>
            </a:r>
          </a:p>
          <a:p>
            <a:pPr marL="171450" indent="-171450">
              <a:buChar char="·"/>
            </a:pPr>
            <a:r>
              <a:rPr lang="en-US" sz="1100" dirty="0">
                <a:solidFill>
                  <a:srgbClr val="374151"/>
                </a:solidFill>
                <a:latin typeface="Calibri"/>
              </a:rPr>
              <a:t>Model Sactional SKUs as collection nodes</a:t>
            </a:r>
          </a:p>
          <a:p>
            <a:pPr marL="171450" indent="-171450">
              <a:buChar char="·"/>
            </a:pPr>
            <a:r>
              <a:rPr lang="en-US" sz="1100" dirty="0">
                <a:solidFill>
                  <a:srgbClr val="374151"/>
                </a:solidFill>
                <a:latin typeface="Calibri"/>
              </a:rPr>
              <a:t>Define canonical attribute schema</a:t>
            </a:r>
          </a:p>
          <a:p>
            <a:pPr marL="171450" indent="-171450">
              <a:buChar char="·"/>
            </a:pPr>
            <a:r>
              <a:rPr lang="en-US" sz="1100" dirty="0">
                <a:solidFill>
                  <a:srgbClr val="374151"/>
                </a:solidFill>
                <a:latin typeface="Calibri"/>
              </a:rPr>
              <a:t>Validate data quality with Lovesac team</a:t>
            </a:r>
          </a:p>
        </p:txBody>
      </p:sp>
      <p:sp>
        <p:nvSpPr>
          <p:cNvPr id="206" name="SO0"/>
          <p:cNvSpPr/>
          <p:nvPr/>
        </p:nvSpPr>
        <p:spPr>
          <a:xfrm>
            <a:off x="3302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Single source of truth — queryable via API</a:t>
            </a:r>
          </a:p>
        </p:txBody>
      </p:sp>
      <p:sp>
        <p:nvSpPr>
          <p:cNvPr id="210" name="SC1"/>
          <p:cNvSpPr/>
          <p:nvPr/>
        </p:nvSpPr>
        <p:spPr>
          <a:xfrm>
            <a:off x="32131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1" name="SA1"/>
          <p:cNvSpPr/>
          <p:nvPr/>
        </p:nvSpPr>
        <p:spPr>
          <a:xfrm>
            <a:off x="3213100" y="787400"/>
            <a:ext cx="2730500" cy="50800"/>
          </a:xfrm>
          <a:prstGeom prst="roundRect">
            <a:avLst>
              <a:gd name="adj" fmla="val 3000"/>
            </a:avLst>
          </a:prstGeom>
          <a:solidFill>
            <a:srgbClr val="458CCB"/>
          </a:solidFill>
          <a:ln>
            <a:noFill/>
          </a:ln>
        </p:spPr>
        <p:txBody>
          <a:bodyPr/>
          <a:lstStyle/>
          <a:p>
            <a:endParaRPr lang="en-US"/>
          </a:p>
        </p:txBody>
      </p:sp>
      <p:sp>
        <p:nvSpPr>
          <p:cNvPr id="212" name="SL1"/>
          <p:cNvSpPr/>
          <p:nvPr/>
        </p:nvSpPr>
        <p:spPr>
          <a:xfrm>
            <a:off x="3365500" y="914400"/>
            <a:ext cx="2400300" cy="177800"/>
          </a:xfrm>
          <a:prstGeom prst="rect">
            <a:avLst/>
          </a:prstGeom>
          <a:noFill/>
          <a:ln>
            <a:noFill/>
          </a:ln>
        </p:spPr>
        <p:txBody>
          <a:bodyPr wrap="square" lIns="0" tIns="0" rIns="0" bIns="0" anchor="t"/>
          <a:lstStyle/>
          <a:p>
            <a:pPr>
              <a:buNone/>
            </a:pPr>
            <a:r>
              <a:rPr lang="en-US" sz="750" b="1" dirty="0">
                <a:solidFill>
                  <a:srgbClr val="458CCB"/>
                </a:solidFill>
                <a:latin typeface="Calibri"/>
              </a:rPr>
              <a:t>PHASE 2  ·  WEEKS 7–12</a:t>
            </a:r>
          </a:p>
        </p:txBody>
      </p:sp>
      <p:sp>
        <p:nvSpPr>
          <p:cNvPr id="213" name="ST1"/>
          <p:cNvSpPr/>
          <p:nvPr/>
        </p:nvSpPr>
        <p:spPr>
          <a:xfrm>
            <a:off x="33655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Orchestrate &amp; Serve</a:t>
            </a:r>
          </a:p>
        </p:txBody>
      </p:sp>
      <p:sp>
        <p:nvSpPr>
          <p:cNvPr id="214" name="SD1"/>
          <p:cNvSpPr/>
          <p:nvPr/>
        </p:nvSpPr>
        <p:spPr>
          <a:xfrm>
            <a:off x="3365500" y="1447800"/>
            <a:ext cx="2400300" cy="12700"/>
          </a:xfrm>
          <a:prstGeom prst="rect">
            <a:avLst/>
          </a:prstGeom>
          <a:solidFill>
            <a:srgbClr val="E5E7EB"/>
          </a:solidFill>
          <a:ln>
            <a:noFill/>
          </a:ln>
        </p:spPr>
        <p:txBody>
          <a:bodyPr/>
          <a:lstStyle/>
          <a:p>
            <a:endParaRPr lang="en-US"/>
          </a:p>
        </p:txBody>
      </p:sp>
      <p:sp>
        <p:nvSpPr>
          <p:cNvPr id="215" name="SB1"/>
          <p:cNvSpPr/>
          <p:nvPr/>
        </p:nvSpPr>
        <p:spPr>
          <a:xfrm>
            <a:off x="33655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Wire DX Engine rules for pricing &amp; eligibility</a:t>
            </a:r>
          </a:p>
          <a:p>
            <a:pPr marL="171450" indent="-171450">
              <a:buChar char="·"/>
            </a:pPr>
            <a:r>
              <a:rPr lang="en-US" sz="1100" dirty="0">
                <a:solidFill>
                  <a:srgbClr val="374151"/>
                </a:solidFill>
                <a:latin typeface="Calibri"/>
              </a:rPr>
              <a:t>Launch Experience API for Lovesac.com configurator</a:t>
            </a:r>
          </a:p>
          <a:p>
            <a:pPr marL="171450" indent="-171450">
              <a:buChar char="·"/>
            </a:pPr>
            <a:r>
              <a:rPr lang="en-US" sz="1100" dirty="0">
                <a:solidFill>
                  <a:srgbClr val="374151"/>
                </a:solidFill>
                <a:latin typeface="Calibri"/>
              </a:rPr>
              <a:t>Serve Salesforce POS &amp; Manhattan Active Omni</a:t>
            </a:r>
          </a:p>
          <a:p>
            <a:pPr marL="171450" indent="-171450">
              <a:buChar char="·"/>
            </a:pPr>
            <a:r>
              <a:rPr lang="en-US" sz="1100" dirty="0">
                <a:solidFill>
                  <a:srgbClr val="374151"/>
                </a:solidFill>
                <a:latin typeface="Calibri"/>
              </a:rPr>
              <a:t>UAT with Lovesac team, iterate on rule logic</a:t>
            </a:r>
          </a:p>
        </p:txBody>
      </p:sp>
      <p:sp>
        <p:nvSpPr>
          <p:cNvPr id="216" name="SO1"/>
          <p:cNvSpPr/>
          <p:nvPr/>
        </p:nvSpPr>
        <p:spPr>
          <a:xfrm>
            <a:off x="32131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Consistent product data across 3 touchpoints</a:t>
            </a:r>
          </a:p>
        </p:txBody>
      </p:sp>
      <p:sp>
        <p:nvSpPr>
          <p:cNvPr id="220" name="SC2"/>
          <p:cNvSpPr/>
          <p:nvPr/>
        </p:nvSpPr>
        <p:spPr>
          <a:xfrm>
            <a:off x="6096000" y="7874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21" name="SA2"/>
          <p:cNvSpPr/>
          <p:nvPr/>
        </p:nvSpPr>
        <p:spPr>
          <a:xfrm>
            <a:off x="6096000" y="787400"/>
            <a:ext cx="2730500" cy="50800"/>
          </a:xfrm>
          <a:prstGeom prst="roundRect">
            <a:avLst>
              <a:gd name="adj" fmla="val 3000"/>
            </a:avLst>
          </a:prstGeom>
          <a:solidFill>
            <a:srgbClr val="8AC542"/>
          </a:solidFill>
          <a:ln>
            <a:noFill/>
          </a:ln>
        </p:spPr>
        <p:txBody>
          <a:bodyPr/>
          <a:lstStyle/>
          <a:p>
            <a:endParaRPr lang="en-US"/>
          </a:p>
        </p:txBody>
      </p:sp>
      <p:sp>
        <p:nvSpPr>
          <p:cNvPr id="222" name="SL2"/>
          <p:cNvSpPr/>
          <p:nvPr/>
        </p:nvSpPr>
        <p:spPr>
          <a:xfrm>
            <a:off x="6248400" y="914400"/>
            <a:ext cx="2400300" cy="177800"/>
          </a:xfrm>
          <a:prstGeom prst="rect">
            <a:avLst/>
          </a:prstGeom>
          <a:noFill/>
          <a:ln>
            <a:noFill/>
          </a:ln>
        </p:spPr>
        <p:txBody>
          <a:bodyPr wrap="square" lIns="0" tIns="0" rIns="0" bIns="0" anchor="t"/>
          <a:lstStyle/>
          <a:p>
            <a:pPr>
              <a:buNone/>
            </a:pPr>
            <a:r>
              <a:rPr lang="en-US" sz="750" b="1" dirty="0">
                <a:solidFill>
                  <a:srgbClr val="8AC542"/>
                </a:solidFill>
                <a:latin typeface="Calibri"/>
              </a:rPr>
              <a:t>PHASE 3  ·  WEEKS 13–20</a:t>
            </a:r>
          </a:p>
        </p:txBody>
      </p:sp>
      <p:sp>
        <p:nvSpPr>
          <p:cNvPr id="223" name="ST2"/>
          <p:cNvSpPr/>
          <p:nvPr/>
        </p:nvSpPr>
        <p:spPr>
          <a:xfrm>
            <a:off x="6248400" y="1117600"/>
            <a:ext cx="2400300" cy="279400"/>
          </a:xfrm>
          <a:prstGeom prst="rect">
            <a:avLst/>
          </a:prstGeom>
          <a:noFill/>
          <a:ln>
            <a:noFill/>
          </a:ln>
        </p:spPr>
        <p:txBody>
          <a:bodyPr wrap="square" lIns="0" tIns="0" rIns="0" bIns="0" anchor="t"/>
          <a:lstStyle/>
          <a:p>
            <a:pPr>
              <a:buNone/>
            </a:pPr>
            <a:r>
              <a:rPr lang="en-US" sz="1300" b="1" dirty="0">
                <a:solidFill>
                  <a:srgbClr val="111827"/>
                </a:solidFill>
                <a:latin typeface="Calibri"/>
              </a:rPr>
              <a:t>Expand &amp; Activate</a:t>
            </a:r>
          </a:p>
        </p:txBody>
      </p:sp>
      <p:sp>
        <p:nvSpPr>
          <p:cNvPr id="224" name="SD2"/>
          <p:cNvSpPr/>
          <p:nvPr/>
        </p:nvSpPr>
        <p:spPr>
          <a:xfrm>
            <a:off x="6248400" y="1447800"/>
            <a:ext cx="2400300" cy="12700"/>
          </a:xfrm>
          <a:prstGeom prst="rect">
            <a:avLst/>
          </a:prstGeom>
          <a:solidFill>
            <a:srgbClr val="E5E7EB"/>
          </a:solidFill>
          <a:ln>
            <a:noFill/>
          </a:ln>
        </p:spPr>
        <p:txBody>
          <a:bodyPr/>
          <a:lstStyle/>
          <a:p>
            <a:endParaRPr lang="en-US"/>
          </a:p>
        </p:txBody>
      </p:sp>
      <p:sp>
        <p:nvSpPr>
          <p:cNvPr id="225" name="SB2"/>
          <p:cNvSpPr/>
          <p:nvPr/>
        </p:nvSpPr>
        <p:spPr>
          <a:xfrm>
            <a:off x="6248400" y="1511300"/>
            <a:ext cx="2400300" cy="2806700"/>
          </a:xfrm>
          <a:prstGeom prst="rect">
            <a:avLst/>
          </a:prstGeom>
          <a:noFill/>
          <a:ln>
            <a:noFill/>
          </a:ln>
        </p:spPr>
        <p:txBody>
          <a:bodyPr wrap="square" lIns="0" tIns="0" rIns="0" bIns="0" anchor="t"/>
          <a:lstStyle/>
          <a:p>
            <a:pPr marL="171450" indent="-171450">
              <a:buChar char="·"/>
            </a:pPr>
            <a:r>
              <a:rPr lang="en-US" sz="1100" dirty="0">
                <a:solidFill>
                  <a:srgbClr val="374151"/>
                </a:solidFill>
                <a:latin typeface="Calibri"/>
              </a:rPr>
              <a:t>Expose MCP endpoint for Agentforce &amp; ChatGPT</a:t>
            </a:r>
          </a:p>
          <a:p>
            <a:pPr marL="171450" indent="-171450">
              <a:buChar char="·"/>
            </a:pPr>
            <a:r>
              <a:rPr lang="en-US" sz="1100" dirty="0">
                <a:solidFill>
                  <a:srgbClr val="374151"/>
                </a:solidFill>
                <a:latin typeface="Calibri"/>
              </a:rPr>
              <a:t>Add Google Shopping feed via DX Engine</a:t>
            </a:r>
          </a:p>
          <a:p>
            <a:pPr marL="171450" indent="-171450">
              <a:buChar char="·"/>
            </a:pPr>
            <a:r>
              <a:rPr lang="en-US" sz="1100" dirty="0">
                <a:solidFill>
                  <a:srgbClr val="374151"/>
                </a:solidFill>
                <a:latin typeface="Calibri"/>
              </a:rPr>
              <a:t>Enable real-time configuration session analytics</a:t>
            </a:r>
          </a:p>
          <a:p>
            <a:pPr marL="171450" indent="-171450">
              <a:buChar char="·"/>
            </a:pPr>
            <a:r>
              <a:rPr lang="en-US" sz="1100" dirty="0">
                <a:solidFill>
                  <a:srgbClr val="374151"/>
                </a:solidFill>
                <a:latin typeface="Calibri"/>
              </a:rPr>
              <a:t>Expand to additional channels on single API</a:t>
            </a:r>
          </a:p>
        </p:txBody>
      </p:sp>
      <p:sp>
        <p:nvSpPr>
          <p:cNvPr id="226" name="SO2"/>
          <p:cNvSpPr/>
          <p:nvPr/>
        </p:nvSpPr>
        <p:spPr>
          <a:xfrm>
            <a:off x="6096000" y="4394200"/>
            <a:ext cx="2730500" cy="304800"/>
          </a:xfrm>
          <a:solidFill>
            <a:srgbClr val="F3F4F6"/>
          </a:solidFill>
          <a:ln>
            <a:noFill/>
          </a:ln>
        </p:spPr>
        <p:txBody>
          <a:bodyPr wrap="square" lIns="91440" tIns="0" rIns="91440" bIns="0" anchor="ctr"/>
          <a:lstStyle/>
          <a:p>
            <a:pPr algn="ctr">
              <a:buNone/>
            </a:pPr>
            <a:r>
              <a:rPr lang="en-US" sz="850" b="1" i="1" dirty="0">
                <a:solidFill>
                  <a:srgbClr val="374151"/>
                </a:solidFill>
                <a:latin typeface="Calibri"/>
              </a:rPr>
              <a:t>Every channel, every agent — one governed API</a:t>
            </a:r>
          </a:p>
        </p:txBody>
      </p:sp>
      <p:sp>
        <p:nvSpPr>
          <p:cNvPr id="2"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sp>
        <p:nvSpPr>
          <p:cNvPr id="3"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0"/>
          </a:gradFill>
          <a:ln>
            <a:noFill/>
          </a:ln>
        </p:spPr>
        <p:txBody>
          <a:bodyPr/>
          <a:lstStyle/>
          <a:p>
            <a:endParaRPr lang="en-US"/>
          </a:p>
        </p:txBody>
      </p:sp>
      <p:sp>
        <p:nvSpPr>
          <p:cNvPr id="4" name="AppxTag">
            <a:extLst>
              <a:ext uri="{FF2B5EF4-FFF2-40B4-BE49-F238E27FC236}">
                <a16:creationId xmlns:a16="http://schemas.microsoft.com/office/drawing/2014/main" id="{74AFD3D5-7526-A4BB-9667-AFD1D650F612}"/>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68187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Celigo and Conscia: Complementary Layers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Different categories of tool solving different problems in the Lovesac stack</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10" name="Hdr0"/>
          <p:cNvSpPr>
            <a:spLocks noGrp="1"/>
          </p:cNvSpPr>
          <p:nvPr/>
        </p:nvSpPr>
        <p:spPr>
          <a:xfrm>
            <a:off x="203200" y="888999"/>
            <a:ext cx="13716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Concern</a:t>
            </a:r>
          </a:p>
        </p:txBody>
      </p:sp>
      <p:sp>
        <p:nvSpPr>
          <p:cNvPr id="111" name="Hdr1"/>
          <p:cNvSpPr>
            <a:spLocks noGrp="1"/>
          </p:cNvSpPr>
          <p:nvPr/>
        </p:nvSpPr>
        <p:spPr>
          <a:xfrm>
            <a:off x="1574800" y="888999"/>
            <a:ext cx="35560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Celigo (iPaaS)</a:t>
            </a:r>
          </a:p>
        </p:txBody>
      </p:sp>
      <p:sp>
        <p:nvSpPr>
          <p:cNvPr id="112" name="Hdr2"/>
          <p:cNvSpPr>
            <a:spLocks noGrp="1"/>
          </p:cNvSpPr>
          <p:nvPr/>
        </p:nvSpPr>
        <p:spPr>
          <a:xfrm>
            <a:off x="5130800" y="888999"/>
            <a:ext cx="3810000" cy="228600"/>
          </a:xfrm>
          <a:prstGeom prst="roundRect">
            <a:avLst>
              <a:gd name="adj" fmla="val 2000"/>
            </a:avLst>
          </a:prstGeom>
          <a:solidFill>
            <a:srgbClr val="0D9488"/>
          </a:solidFill>
          <a:ln w="9525">
            <a:solidFill>
              <a:srgbClr val="D1D5DB"/>
            </a:solidFill>
          </a:ln>
        </p:spPr>
        <p:txBody>
          <a:bodyPr wrap="square" lIns="50800" tIns="50800" rIns="50800" bIns="50800" anchor="ctr"/>
          <a:lstStyle/>
          <a:p>
            <a:pPr algn="ctr">
              <a:lnSpc>
                <a:spcPts val="1100"/>
              </a:lnSpc>
              <a:buNone/>
            </a:pPr>
            <a:r>
              <a:rPr lang="en-US" sz="700" b="1" dirty="0">
                <a:solidFill>
                  <a:srgbClr val="FFFFFF"/>
                </a:solidFill>
                <a:latin typeface="Calibri"/>
              </a:rPr>
              <a:t>Conscia  (DX Graph + DX Engine)</a:t>
            </a:r>
          </a:p>
        </p:txBody>
      </p:sp>
      <p:sp>
        <p:nvSpPr>
          <p:cNvPr id="120" name="R0C0"/>
          <p:cNvSpPr>
            <a:spLocks noGrp="1"/>
          </p:cNvSpPr>
          <p:nvPr/>
        </p:nvSpPr>
        <p:spPr>
          <a:xfrm>
            <a:off x="203200" y="1117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Category</a:t>
            </a:r>
          </a:p>
        </p:txBody>
      </p:sp>
      <p:sp>
        <p:nvSpPr>
          <p:cNvPr id="121" name="R0C1"/>
          <p:cNvSpPr>
            <a:spLocks noGrp="1"/>
          </p:cNvSpPr>
          <p:nvPr/>
        </p:nvSpPr>
        <p:spPr>
          <a:xfrm>
            <a:off x="1574800" y="1117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Integration Platform as a Service</a:t>
            </a:r>
          </a:p>
        </p:txBody>
      </p:sp>
      <p:sp>
        <p:nvSpPr>
          <p:cNvPr id="122" name="R0C2"/>
          <p:cNvSpPr>
            <a:spLocks noGrp="1"/>
          </p:cNvSpPr>
          <p:nvPr/>
        </p:nvSpPr>
        <p:spPr>
          <a:xfrm>
            <a:off x="5130800" y="1117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Governed semantic layer + experience orchestration</a:t>
            </a:r>
          </a:p>
        </p:txBody>
      </p:sp>
      <p:sp>
        <p:nvSpPr>
          <p:cNvPr id="123" name="R1C0"/>
          <p:cNvSpPr>
            <a:spLocks noGrp="1"/>
          </p:cNvSpPr>
          <p:nvPr/>
        </p:nvSpPr>
        <p:spPr>
          <a:xfrm>
            <a:off x="203200" y="1498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Core job</a:t>
            </a:r>
          </a:p>
        </p:txBody>
      </p:sp>
      <p:sp>
        <p:nvSpPr>
          <p:cNvPr id="124" name="R1C1"/>
          <p:cNvSpPr>
            <a:spLocks noGrp="1"/>
          </p:cNvSpPr>
          <p:nvPr/>
        </p:nvSpPr>
        <p:spPr>
          <a:xfrm>
            <a:off x="1574800" y="1498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Move records between SaaS apps with mapping and error handling</a:t>
            </a:r>
          </a:p>
        </p:txBody>
      </p:sp>
      <p:sp>
        <p:nvSpPr>
          <p:cNvPr id="125" name="R1C2"/>
          <p:cNvSpPr>
            <a:spLocks noGrp="1"/>
          </p:cNvSpPr>
          <p:nvPr/>
        </p:nvSpPr>
        <p:spPr>
          <a:xfrm>
            <a:off x="5130800" y="1498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Hold the canonical product model and serve real-time channel APIs</a:t>
            </a:r>
          </a:p>
        </p:txBody>
      </p:sp>
      <p:sp>
        <p:nvSpPr>
          <p:cNvPr id="126" name="R2C0"/>
          <p:cNvSpPr>
            <a:spLocks noGrp="1"/>
          </p:cNvSpPr>
          <p:nvPr/>
        </p:nvSpPr>
        <p:spPr>
          <a:xfrm>
            <a:off x="203200" y="1879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Data pattern</a:t>
            </a:r>
          </a:p>
        </p:txBody>
      </p:sp>
      <p:sp>
        <p:nvSpPr>
          <p:cNvPr id="127" name="R2C1"/>
          <p:cNvSpPr>
            <a:spLocks noGrp="1"/>
          </p:cNvSpPr>
          <p:nvPr/>
        </p:nvSpPr>
        <p:spPr>
          <a:xfrm>
            <a:off x="1574800" y="1879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Batch and event-driven flows, source-to-destination</a:t>
            </a:r>
          </a:p>
        </p:txBody>
      </p:sp>
      <p:sp>
        <p:nvSpPr>
          <p:cNvPr id="128" name="R2C2"/>
          <p:cNvSpPr>
            <a:spLocks noGrp="1"/>
          </p:cNvSpPr>
          <p:nvPr/>
        </p:nvSpPr>
        <p:spPr>
          <a:xfrm>
            <a:off x="5130800" y="1879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Unified graph with relationships (COMPATIBLE_WITH, BUNDLES, CONTAINS)</a:t>
            </a:r>
          </a:p>
        </p:txBody>
      </p:sp>
      <p:sp>
        <p:nvSpPr>
          <p:cNvPr id="129" name="R3C0"/>
          <p:cNvSpPr>
            <a:spLocks noGrp="1"/>
          </p:cNvSpPr>
          <p:nvPr/>
        </p:nvSpPr>
        <p:spPr>
          <a:xfrm>
            <a:off x="203200" y="2260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Latency</a:t>
            </a:r>
          </a:p>
        </p:txBody>
      </p:sp>
      <p:sp>
        <p:nvSpPr>
          <p:cNvPr id="130" name="R3C1"/>
          <p:cNvSpPr>
            <a:spLocks noGrp="1"/>
          </p:cNvSpPr>
          <p:nvPr/>
        </p:nvSpPr>
        <p:spPr>
          <a:xfrm>
            <a:off x="1574800" y="2260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Throughput-optimised: scheduled or webhook</a:t>
            </a:r>
          </a:p>
        </p:txBody>
      </p:sp>
      <p:sp>
        <p:nvSpPr>
          <p:cNvPr id="131" name="R3C2"/>
          <p:cNvSpPr>
            <a:spLocks noGrp="1"/>
          </p:cNvSpPr>
          <p:nvPr/>
        </p:nvSpPr>
        <p:spPr>
          <a:xfrm>
            <a:off x="5130800" y="2260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Sub-second synchronous, on the critical path of POS and web</a:t>
            </a:r>
          </a:p>
        </p:txBody>
      </p:sp>
      <p:sp>
        <p:nvSpPr>
          <p:cNvPr id="132" name="R4C0"/>
          <p:cNvSpPr>
            <a:spLocks noGrp="1"/>
          </p:cNvSpPr>
          <p:nvPr/>
        </p:nvSpPr>
        <p:spPr>
          <a:xfrm>
            <a:off x="203200" y="2641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Rules</a:t>
            </a:r>
          </a:p>
        </p:txBody>
      </p:sp>
      <p:sp>
        <p:nvSpPr>
          <p:cNvPr id="133" name="R4C1"/>
          <p:cNvSpPr>
            <a:spLocks noGrp="1"/>
          </p:cNvSpPr>
          <p:nvPr/>
        </p:nvSpPr>
        <p:spPr>
          <a:xfrm>
            <a:off x="1574800" y="2641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Flow-level branching for integration builders</a:t>
            </a:r>
          </a:p>
        </p:txBody>
      </p:sp>
      <p:sp>
        <p:nvSpPr>
          <p:cNvPr id="134" name="R4C2"/>
          <p:cNvSpPr>
            <a:spLocks noGrp="1"/>
          </p:cNvSpPr>
          <p:nvPr/>
        </p:nvSpPr>
        <p:spPr>
          <a:xfrm>
            <a:off x="5130800" y="2641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Business-user Experience Rules: priority, A/B, segmentation</a:t>
            </a:r>
          </a:p>
        </p:txBody>
      </p:sp>
      <p:sp>
        <p:nvSpPr>
          <p:cNvPr id="135" name="R5C0"/>
          <p:cNvSpPr>
            <a:spLocks noGrp="1"/>
          </p:cNvSpPr>
          <p:nvPr/>
        </p:nvSpPr>
        <p:spPr>
          <a:xfrm>
            <a:off x="203200" y="3022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Frontend</a:t>
            </a:r>
          </a:p>
        </p:txBody>
      </p:sp>
      <p:sp>
        <p:nvSpPr>
          <p:cNvPr id="136" name="R5C1"/>
          <p:cNvSpPr>
            <a:spLocks noGrp="1"/>
          </p:cNvSpPr>
          <p:nvPr/>
        </p:nvSpPr>
        <p:spPr>
          <a:xfrm>
            <a:off x="1574800" y="3022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None — frontends call multiple flows or build their own BFF</a:t>
            </a:r>
          </a:p>
        </p:txBody>
      </p:sp>
      <p:sp>
        <p:nvSpPr>
          <p:cNvPr id="137" name="R5C2"/>
          <p:cNvSpPr>
            <a:spLocks noGrp="1"/>
          </p:cNvSpPr>
          <p:nvPr/>
        </p:nvSpPr>
        <p:spPr>
          <a:xfrm>
            <a:off x="5130800" y="3022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Single Experience API call returns unified, channel-shaped JSON</a:t>
            </a:r>
          </a:p>
        </p:txBody>
      </p:sp>
      <p:sp>
        <p:nvSpPr>
          <p:cNvPr id="138" name="R6C0"/>
          <p:cNvSpPr>
            <a:spLocks noGrp="1"/>
          </p:cNvSpPr>
          <p:nvPr/>
        </p:nvSpPr>
        <p:spPr>
          <a:xfrm>
            <a:off x="203200" y="3403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Agentic / MCP</a:t>
            </a:r>
          </a:p>
        </p:txBody>
      </p:sp>
      <p:sp>
        <p:nvSpPr>
          <p:cNvPr id="139" name="R6C1"/>
          <p:cNvSpPr>
            <a:spLocks noGrp="1"/>
          </p:cNvSpPr>
          <p:nvPr/>
        </p:nvSpPr>
        <p:spPr>
          <a:xfrm>
            <a:off x="1574800" y="3403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MCP server exposes integration flows</a:t>
            </a:r>
          </a:p>
        </p:txBody>
      </p:sp>
      <p:sp>
        <p:nvSpPr>
          <p:cNvPr id="140" name="R6C2"/>
          <p:cNvSpPr>
            <a:spLocks noGrp="1"/>
          </p:cNvSpPr>
          <p:nvPr/>
        </p:nvSpPr>
        <p:spPr>
          <a:xfrm>
            <a:off x="5130800" y="3403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MCP server exposes governed semantic capabilities</a:t>
            </a:r>
          </a:p>
        </p:txBody>
      </p:sp>
      <p:sp>
        <p:nvSpPr>
          <p:cNvPr id="141" name="R7C0"/>
          <p:cNvSpPr>
            <a:spLocks noGrp="1"/>
          </p:cNvSpPr>
          <p:nvPr/>
        </p:nvSpPr>
        <p:spPr>
          <a:xfrm>
            <a:off x="203200" y="3784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Where it shines</a:t>
            </a:r>
          </a:p>
        </p:txBody>
      </p:sp>
      <p:sp>
        <p:nvSpPr>
          <p:cNvPr id="142" name="R7C1"/>
          <p:cNvSpPr>
            <a:spLocks noGrp="1"/>
          </p:cNvSpPr>
          <p:nvPr/>
        </p:nvSpPr>
        <p:spPr>
          <a:xfrm>
            <a:off x="1574800" y="3784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NetSuite ↔ Magento ↔ MAO ↔ Salesforce plumbing</a:t>
            </a:r>
          </a:p>
        </p:txBody>
      </p:sp>
      <p:sp>
        <p:nvSpPr>
          <p:cNvPr id="143" name="R7C2"/>
          <p:cNvSpPr>
            <a:spLocks noGrp="1"/>
          </p:cNvSpPr>
          <p:nvPr/>
        </p:nvSpPr>
        <p:spPr>
          <a:xfrm>
            <a:off x="5130800" y="3784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Config validation, BOM explosion, wizard steps, agentic channels</a:t>
            </a:r>
          </a:p>
        </p:txBody>
      </p:sp>
      <p:sp>
        <p:nvSpPr>
          <p:cNvPr id="200" name="Summary"/>
          <p:cNvSpPr>
            <a:spLocks noGrp="1"/>
          </p:cNvSpPr>
          <p:nvPr/>
        </p:nvSpPr>
        <p:spPr>
          <a:xfrm>
            <a:off x="203200" y="4254501"/>
            <a:ext cx="8737600" cy="596899"/>
          </a:xfrm>
          <a:prstGeom prst="roundRect">
            <a:avLst>
              <a:gd name="adj" fmla="val 1500"/>
            </a:avLst>
          </a:prstGeom>
          <a:solidFill>
            <a:srgbClr val="FEF2F2"/>
          </a:solidFill>
          <a:ln w="9525">
            <a:solidFill>
              <a:srgbClr val="FECACA"/>
            </a:solidFill>
          </a:ln>
        </p:spPr>
        <p:txBody>
          <a:bodyPr wrap="square" lIns="63500" tIns="63500" rIns="63500" bIns="63500" anchor="ctr"/>
          <a:lstStyle/>
          <a:p>
            <a:pPr algn="ctr">
              <a:lnSpc>
                <a:spcPct val="150000"/>
              </a:lnSpc>
            </a:pPr>
            <a:r>
              <a:rPr lang="en-US" sz="1100" i="1" dirty="0">
                <a:solidFill>
                  <a:srgbClr val="991B1B"/>
                </a:solidFill>
                <a:latin typeface="Calibri"/>
              </a:rPr>
              <a:t>The </a:t>
            </a:r>
            <a:r>
              <a:rPr lang="en-US" sz="1100" i="1" dirty="0" err="1">
                <a:solidFill>
                  <a:srgbClr val="991B1B"/>
                </a:solidFill>
                <a:latin typeface="Calibri"/>
              </a:rPr>
              <a:t>Sactional</a:t>
            </a:r>
            <a:r>
              <a:rPr lang="en-US" sz="1100" i="1" dirty="0">
                <a:solidFill>
                  <a:srgbClr val="991B1B"/>
                </a:solidFill>
                <a:latin typeface="Calibri"/>
              </a:rPr>
              <a:t> SKU-explosion problem is a model and orchestration problem, not a transport problem. </a:t>
            </a:r>
          </a:p>
          <a:p>
            <a:pPr algn="ctr">
              <a:lnSpc>
                <a:spcPct val="150000"/>
              </a:lnSpc>
            </a:pPr>
            <a:r>
              <a:rPr lang="en-US" sz="1100" i="1" dirty="0" err="1">
                <a:solidFill>
                  <a:srgbClr val="991B1B"/>
                </a:solidFill>
                <a:latin typeface="Calibri"/>
              </a:rPr>
              <a:t>Celigo</a:t>
            </a:r>
            <a:r>
              <a:rPr lang="en-US" sz="1100" i="1" dirty="0">
                <a:solidFill>
                  <a:srgbClr val="991B1B"/>
                </a:solidFill>
                <a:latin typeface="Calibri"/>
              </a:rPr>
              <a:t> moves data between systems.  </a:t>
            </a:r>
            <a:r>
              <a:rPr lang="en-US" sz="1100" i="1" dirty="0" err="1">
                <a:solidFill>
                  <a:srgbClr val="991B1B"/>
                </a:solidFill>
                <a:latin typeface="Calibri"/>
              </a:rPr>
              <a:t>Conscia</a:t>
            </a:r>
            <a:r>
              <a:rPr lang="en-US" sz="1100" i="1" dirty="0">
                <a:solidFill>
                  <a:srgbClr val="991B1B"/>
                </a:solidFill>
                <a:latin typeface="Calibri"/>
              </a:rPr>
              <a:t> gives that data meaning and serves it in real time.</a:t>
            </a:r>
          </a:p>
        </p:txBody>
      </p:sp>
      <p:sp>
        <p:nvSpPr>
          <p:cNvPr id="6" name="AppxTag">
            <a:extLst>
              <a:ext uri="{FF2B5EF4-FFF2-40B4-BE49-F238E27FC236}">
                <a16:creationId xmlns:a16="http://schemas.microsoft.com/office/drawing/2014/main" id="{D740C0C8-2A73-A6E3-4880-795488BC53F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20514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How Conscia Integrates with Celigo</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Three patterns, one end-state architecture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A_BG"/>
          <p:cNvSpPr>
            <a:spLocks noGrp="1"/>
          </p:cNvSpPr>
          <p:nvPr/>
        </p:nvSpPr>
        <p:spPr>
          <a:xfrm>
            <a:off x="203200" y="889000"/>
            <a:ext cx="2768600" cy="1549400"/>
          </a:xfrm>
          <a:prstGeom prst="roundRect">
            <a:avLst>
              <a:gd name="adj" fmla="val 2000"/>
            </a:avLst>
          </a:prstGeom>
          <a:solidFill>
            <a:srgbClr val="F9FAFB"/>
          </a:solidFill>
          <a:ln w="9525">
            <a:solidFill>
              <a:srgbClr val="EB1A63"/>
            </a:solidFill>
          </a:ln>
        </p:spPr>
        <p:txBody>
          <a:bodyPr/>
          <a:lstStyle/>
          <a:p>
            <a:endParaRPr lang="en-GB"/>
          </a:p>
        </p:txBody>
      </p:sp>
      <p:sp>
        <p:nvSpPr>
          <p:cNvPr id="101" name="CA_Rec"/>
          <p:cNvSpPr>
            <a:spLocks noGrp="1"/>
          </p:cNvSpPr>
          <p:nvPr/>
        </p:nvSpPr>
        <p:spPr>
          <a:xfrm>
            <a:off x="2235200" y="939800"/>
            <a:ext cx="685800" cy="139700"/>
          </a:xfrm>
          <a:prstGeom prst="roundRect">
            <a:avLst>
              <a:gd name="adj" fmla="val 3000"/>
            </a:avLst>
          </a:prstGeom>
          <a:solidFill>
            <a:srgbClr val="EB1A63"/>
          </a:solidFill>
          <a:ln>
            <a:noFill/>
          </a:ln>
        </p:spPr>
        <p:txBody>
          <a:bodyPr wrap="square" lIns="25400" tIns="25400" rIns="25400" bIns="25400" anchor="ctr"/>
          <a:lstStyle/>
          <a:p>
            <a:pPr algn="ctr">
              <a:lnSpc>
                <a:spcPts val="1050"/>
              </a:lnSpc>
              <a:buNone/>
            </a:pPr>
            <a:r>
              <a:rPr lang="en-US" sz="525" b="1" dirty="0">
                <a:solidFill>
                  <a:srgbClr val="FFFFFF"/>
                </a:solidFill>
                <a:latin typeface="Calibri"/>
              </a:rPr>
              <a:t>RECOMMENDED</a:t>
            </a:r>
          </a:p>
        </p:txBody>
      </p:sp>
      <p:sp>
        <p:nvSpPr>
          <p:cNvPr id="102" name="CA_Tag"/>
          <p:cNvSpPr>
            <a:spLocks noGrp="1"/>
          </p:cNvSpPr>
          <p:nvPr/>
        </p:nvSpPr>
        <p:spPr>
          <a:xfrm>
            <a:off x="254000" y="939800"/>
            <a:ext cx="1016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A.  INGEST</a:t>
            </a:r>
          </a:p>
        </p:txBody>
      </p:sp>
      <p:sp>
        <p:nvSpPr>
          <p:cNvPr id="103" name="CA_T"/>
          <p:cNvSpPr>
            <a:spLocks noGrp="1"/>
          </p:cNvSpPr>
          <p:nvPr/>
        </p:nvSpPr>
        <p:spPr>
          <a:xfrm>
            <a:off x="266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Celigo feeds Conscia</a:t>
            </a:r>
          </a:p>
        </p:txBody>
      </p:sp>
      <p:sp>
        <p:nvSpPr>
          <p:cNvPr id="104" name="CA_B"/>
          <p:cNvSpPr>
            <a:spLocks noGrp="1"/>
          </p:cNvSpPr>
          <p:nvPr/>
        </p:nvSpPr>
        <p:spPr>
          <a:xfrm>
            <a:off x="266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Celigo's existing NetSuite item/matrix/kit exports also write to Conscia ingest endpoint</a:t>
            </a:r>
          </a:p>
          <a:p>
            <a:pPr marL="120960" indent="-120960">
              <a:lnSpc>
                <a:spcPts val="1100"/>
              </a:lnSpc>
              <a:spcBef>
                <a:spcPts val="30"/>
              </a:spcBef>
              <a:buFont typeface="Arial"/>
              <a:buChar char="•"/>
            </a:pPr>
            <a:r>
              <a:rPr lang="en-US" sz="620" dirty="0">
                <a:solidFill>
                  <a:srgbClr val="374151"/>
                </a:solidFill>
                <a:latin typeface="Calibri"/>
              </a:rPr>
              <a:t>Reuses existing saved searches, custom fields, and field mappings</a:t>
            </a:r>
          </a:p>
          <a:p>
            <a:pPr marL="120960" indent="-120960">
              <a:lnSpc>
                <a:spcPts val="1100"/>
              </a:lnSpc>
              <a:spcBef>
                <a:spcPts val="30"/>
              </a:spcBef>
              <a:buFont typeface="Arial"/>
              <a:buChar char="•"/>
            </a:pPr>
            <a:r>
              <a:rPr lang="en-US" sz="620" dirty="0">
                <a:solidFill>
                  <a:srgbClr val="374151"/>
                </a:solidFill>
                <a:latin typeface="Calibri"/>
              </a:rPr>
              <a:t>JSON webhook or SFTP — nightly delta + on-demand full refresh</a:t>
            </a:r>
          </a:p>
          <a:p>
            <a:pPr>
              <a:lnSpc>
                <a:spcPts val="1050"/>
              </a:lnSpc>
              <a:buNone/>
            </a:pPr>
            <a:r>
              <a:rPr lang="en-US" sz="600" i="1" dirty="0">
                <a:solidFill>
                  <a:srgbClr val="6B7280"/>
                </a:solidFill>
                <a:latin typeface="Calibri"/>
              </a:rPr>
              <a:t>Why: don't rebuild work Celigo is already doing well</a:t>
            </a:r>
          </a:p>
        </p:txBody>
      </p:sp>
      <p:sp>
        <p:nvSpPr>
          <p:cNvPr id="110" name="CB_BG"/>
          <p:cNvSpPr>
            <a:spLocks noGrp="1"/>
          </p:cNvSpPr>
          <p:nvPr/>
        </p:nvSpPr>
        <p:spPr>
          <a:xfrm>
            <a:off x="3060700" y="889000"/>
            <a:ext cx="2768600" cy="1549400"/>
          </a:xfrm>
          <a:prstGeom prst="roundRect">
            <a:avLst>
              <a:gd name="adj" fmla="val 2000"/>
            </a:avLst>
          </a:prstGeom>
          <a:solidFill>
            <a:srgbClr val="F0FDFA"/>
          </a:solidFill>
          <a:ln w="9525">
            <a:solidFill>
              <a:srgbClr val="5EEAD4"/>
            </a:solidFill>
          </a:ln>
        </p:spPr>
        <p:txBody>
          <a:bodyPr/>
          <a:lstStyle/>
          <a:p>
            <a:endParaRPr lang="en-GB"/>
          </a:p>
        </p:txBody>
      </p:sp>
      <p:sp>
        <p:nvSpPr>
          <p:cNvPr id="111" name="CB_Tag"/>
          <p:cNvSpPr>
            <a:spLocks noGrp="1"/>
          </p:cNvSpPr>
          <p:nvPr/>
        </p:nvSpPr>
        <p:spPr>
          <a:xfrm>
            <a:off x="3111500" y="939800"/>
            <a:ext cx="1143000" cy="139700"/>
          </a:xfrm>
          <a:prstGeom prst="rect">
            <a:avLst/>
          </a:prstGeom>
          <a:noFill/>
          <a:ln>
            <a:noFill/>
          </a:ln>
        </p:spPr>
        <p:txBody>
          <a:bodyPr wrap="square" lIns="25400" tIns="25400" rIns="25400" bIns="25400" anchor="t"/>
          <a:lstStyle/>
          <a:p>
            <a:pPr>
              <a:lnSpc>
                <a:spcPts val="1050"/>
              </a:lnSpc>
              <a:buNone/>
            </a:pPr>
            <a:r>
              <a:rPr lang="en-US" sz="600" b="1" dirty="0">
                <a:solidFill>
                  <a:srgbClr val="134E4A"/>
                </a:solidFill>
                <a:latin typeface="Calibri"/>
              </a:rPr>
              <a:t>B.  READ PATH</a:t>
            </a:r>
          </a:p>
        </p:txBody>
      </p:sp>
      <p:sp>
        <p:nvSpPr>
          <p:cNvPr id="112" name="CB_T"/>
          <p:cNvSpPr>
            <a:spLocks noGrp="1"/>
          </p:cNvSpPr>
          <p:nvPr/>
        </p:nvSpPr>
        <p:spPr>
          <a:xfrm>
            <a:off x="31242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POS calls </a:t>
            </a:r>
            <a:r>
              <a:rPr lang="en-US" sz="750" b="1" dirty="0" err="1">
                <a:solidFill>
                  <a:srgbClr val="111827"/>
                </a:solidFill>
                <a:latin typeface="Calibri"/>
              </a:rPr>
              <a:t>Conscia</a:t>
            </a:r>
            <a:r>
              <a:rPr lang="en-US" sz="750" b="1" dirty="0">
                <a:solidFill>
                  <a:srgbClr val="111827"/>
                </a:solidFill>
                <a:latin typeface="Calibri"/>
              </a:rPr>
              <a:t> direct, Lovesac.com calls Experience API &amp; Agent shopping calls via MCP</a:t>
            </a:r>
          </a:p>
        </p:txBody>
      </p:sp>
      <p:sp>
        <p:nvSpPr>
          <p:cNvPr id="113" name="CB_B"/>
          <p:cNvSpPr>
            <a:spLocks noGrp="1"/>
          </p:cNvSpPr>
          <p:nvPr/>
        </p:nvSpPr>
        <p:spPr>
          <a:xfrm>
            <a:off x="3124200" y="1424058"/>
            <a:ext cx="2641600" cy="950841"/>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134E4A"/>
                </a:solidFill>
                <a:latin typeface="Calibri"/>
              </a:rPr>
              <a:t>Salesforce Retail Cloud calls DX Engine Experience API directly for real-time config validation</a:t>
            </a:r>
          </a:p>
          <a:p>
            <a:pPr marL="120960" indent="-120960">
              <a:lnSpc>
                <a:spcPts val="1100"/>
              </a:lnSpc>
              <a:spcBef>
                <a:spcPts val="30"/>
              </a:spcBef>
              <a:buFont typeface="Arial"/>
              <a:buChar char="•"/>
            </a:pPr>
            <a:r>
              <a:rPr lang="en-US" sz="620" dirty="0">
                <a:solidFill>
                  <a:srgbClr val="134E4A"/>
                </a:solidFill>
                <a:latin typeface="Calibri"/>
              </a:rPr>
              <a:t>Celigo is not on this path — wrong latency profile for synchronous checkout</a:t>
            </a:r>
          </a:p>
          <a:p>
            <a:pPr>
              <a:lnSpc>
                <a:spcPts val="1050"/>
              </a:lnSpc>
              <a:buNone/>
            </a:pPr>
            <a:r>
              <a:rPr lang="en-US" sz="600" i="1" dirty="0">
                <a:solidFill>
                  <a:srgbClr val="0D9488"/>
                </a:solidFill>
                <a:latin typeface="Calibri"/>
              </a:rPr>
              <a:t>Phase 1 POC scope</a:t>
            </a:r>
          </a:p>
        </p:txBody>
      </p:sp>
      <p:sp>
        <p:nvSpPr>
          <p:cNvPr id="120" name="CC_BG"/>
          <p:cNvSpPr>
            <a:spLocks noGrp="1"/>
          </p:cNvSpPr>
          <p:nvPr/>
        </p:nvSpPr>
        <p:spPr>
          <a:xfrm>
            <a:off x="5918200" y="889000"/>
            <a:ext cx="2768600" cy="1549400"/>
          </a:xfrm>
          <a:prstGeom prst="roundRect">
            <a:avLst>
              <a:gd name="adj" fmla="val 2000"/>
            </a:avLst>
          </a:prstGeom>
          <a:solidFill>
            <a:srgbClr val="FAFAF9"/>
          </a:solidFill>
          <a:ln w="9525">
            <a:solidFill>
              <a:srgbClr val="D1D5DB"/>
            </a:solidFill>
          </a:ln>
        </p:spPr>
        <p:txBody>
          <a:bodyPr/>
          <a:lstStyle/>
          <a:p>
            <a:endParaRPr lang="en-GB"/>
          </a:p>
        </p:txBody>
      </p:sp>
      <p:sp>
        <p:nvSpPr>
          <p:cNvPr id="121" name="CC_Tag"/>
          <p:cNvSpPr>
            <a:spLocks noGrp="1"/>
          </p:cNvSpPr>
          <p:nvPr/>
        </p:nvSpPr>
        <p:spPr>
          <a:xfrm>
            <a:off x="5969000" y="939800"/>
            <a:ext cx="1270000" cy="139700"/>
          </a:xfrm>
          <a:prstGeom prst="rect">
            <a:avLst/>
          </a:prstGeom>
          <a:noFill/>
          <a:ln>
            <a:noFill/>
          </a:ln>
        </p:spPr>
        <p:txBody>
          <a:bodyPr wrap="square" lIns="25400" tIns="25400" rIns="25400" bIns="25400" anchor="t"/>
          <a:lstStyle/>
          <a:p>
            <a:pPr>
              <a:lnSpc>
                <a:spcPts val="1050"/>
              </a:lnSpc>
              <a:buNone/>
            </a:pPr>
            <a:r>
              <a:rPr lang="en-US" sz="600" b="1" dirty="0">
                <a:solidFill>
                  <a:srgbClr val="374151"/>
                </a:solidFill>
                <a:latin typeface="Calibri"/>
              </a:rPr>
              <a:t>C.  BOM HANDOFF</a:t>
            </a:r>
          </a:p>
        </p:txBody>
      </p:sp>
      <p:sp>
        <p:nvSpPr>
          <p:cNvPr id="122" name="CC_T"/>
          <p:cNvSpPr>
            <a:spLocks noGrp="1"/>
          </p:cNvSpPr>
          <p:nvPr/>
        </p:nvSpPr>
        <p:spPr>
          <a:xfrm>
            <a:off x="5981700" y="110490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Conscia hands off via Celigo</a:t>
            </a:r>
          </a:p>
        </p:txBody>
      </p:sp>
      <p:sp>
        <p:nvSpPr>
          <p:cNvPr id="123" name="CC_B"/>
          <p:cNvSpPr>
            <a:spLocks noGrp="1"/>
          </p:cNvSpPr>
          <p:nvPr/>
        </p:nvSpPr>
        <p:spPr>
          <a:xfrm>
            <a:off x="5981700" y="1295400"/>
            <a:ext cx="2641600" cy="10795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DX Engine produces exploded BOM from a Config ID</a:t>
            </a:r>
          </a:p>
          <a:p>
            <a:pPr marL="120960" indent="-120960">
              <a:lnSpc>
                <a:spcPts val="1100"/>
              </a:lnSpc>
              <a:spcBef>
                <a:spcPts val="30"/>
              </a:spcBef>
              <a:buFont typeface="Arial"/>
              <a:buChar char="•"/>
            </a:pPr>
            <a:r>
              <a:rPr lang="en-US" sz="620" dirty="0">
                <a:solidFill>
                  <a:srgbClr val="374151"/>
                </a:solidFill>
                <a:latin typeface="Calibri"/>
              </a:rPr>
              <a:t>Hands off to existing Celigo flow talking to Manhattan Active Omni</a:t>
            </a:r>
          </a:p>
          <a:p>
            <a:pPr>
              <a:lnSpc>
                <a:spcPts val="1050"/>
              </a:lnSpc>
              <a:buNone/>
            </a:pPr>
            <a:r>
              <a:rPr lang="en-US" sz="600" i="1" dirty="0">
                <a:solidFill>
                  <a:srgbClr val="6B7280"/>
                </a:solidFill>
                <a:latin typeface="Calibri"/>
              </a:rPr>
              <a:t>Conscia = config brain;  Celigo = logistics plumbing</a:t>
            </a:r>
          </a:p>
        </p:txBody>
      </p:sp>
      <p:sp>
        <p:nvSpPr>
          <p:cNvPr id="130" name="Div"/>
          <p:cNvSpPr>
            <a:spLocks noGrp="1"/>
          </p:cNvSpPr>
          <p:nvPr/>
        </p:nvSpPr>
        <p:spPr>
          <a:xfrm>
            <a:off x="203200" y="2489200"/>
            <a:ext cx="8737600" cy="12700"/>
          </a:xfrm>
          <a:prstGeom prst="rect">
            <a:avLst/>
          </a:prstGeom>
          <a:noFill/>
          <a:ln w="6350">
            <a:solidFill>
              <a:srgbClr val="D1D5DB"/>
            </a:solidFill>
          </a:ln>
        </p:spPr>
        <p:txBody>
          <a:bodyPr/>
          <a:lstStyle/>
          <a:p>
            <a:endParaRPr lang="en-GB"/>
          </a:p>
        </p:txBody>
      </p:sp>
      <p:sp>
        <p:nvSpPr>
          <p:cNvPr id="131" name="DiagLbl"/>
          <p:cNvSpPr>
            <a:spLocks noGrp="1"/>
          </p:cNvSpPr>
          <p:nvPr/>
        </p:nvSpPr>
        <p:spPr>
          <a:xfrm>
            <a:off x="203200" y="2514600"/>
            <a:ext cx="2540000" cy="139700"/>
          </a:xfrm>
          <a:prstGeom prst="rect">
            <a:avLst/>
          </a:prstGeom>
          <a:noFill/>
          <a:ln>
            <a:noFill/>
          </a:ln>
        </p:spPr>
        <p:txBody>
          <a:bodyPr wrap="square" lIns="25400" tIns="25400" rIns="25400" bIns="25400" anchor="t"/>
          <a:lstStyle/>
          <a:p>
            <a:pPr>
              <a:lnSpc>
                <a:spcPts val="1050"/>
              </a:lnSpc>
              <a:buNone/>
            </a:pPr>
            <a:r>
              <a:rPr lang="en-US" sz="625" i="1" dirty="0">
                <a:solidFill>
                  <a:srgbClr val="9CA3AF"/>
                </a:solidFill>
                <a:latin typeface="Calibri"/>
              </a:rPr>
              <a:t>Data flow diagram</a:t>
            </a:r>
          </a:p>
        </p:txBody>
      </p:sp>
      <p:sp>
        <p:nvSpPr>
          <p:cNvPr id="132" name="Appx"/>
          <p:cNvSpPr>
            <a:spLocks noGrp="1"/>
          </p:cNvSpPr>
          <p:nvPr/>
        </p:nvSpPr>
        <p:spPr>
          <a:xfrm>
            <a:off x="8140700" y="114300"/>
            <a:ext cx="863600" cy="1397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050"/>
              </a:lnSpc>
              <a:buNone/>
            </a:pPr>
            <a:r>
              <a:rPr lang="en-US" sz="575" b="1" dirty="0">
                <a:solidFill>
                  <a:srgbClr val="9CA3AF"/>
                </a:solidFill>
                <a:latin typeface="Calibri"/>
              </a:rPr>
              <a:t>APPENDIX</a:t>
            </a:r>
          </a:p>
        </p:txBody>
      </p:sp>
      <p:sp>
        <p:nvSpPr>
          <p:cNvPr id="200" name="NS"/>
          <p:cNvSpPr>
            <a:spLocks noGrp="1"/>
          </p:cNvSpPr>
          <p:nvPr/>
        </p:nvSpPr>
        <p:spPr>
          <a:xfrm>
            <a:off x="203200" y="2717800"/>
            <a:ext cx="1117600" cy="355600"/>
          </a:xfrm>
          <a:prstGeom prst="roundRect">
            <a:avLst>
              <a:gd name="adj" fmla="val 2000"/>
            </a:avLst>
          </a:prstGeom>
          <a:solidFill>
            <a:srgbClr val="EFF6FF"/>
          </a:solidFill>
          <a:ln w="9525">
            <a:solidFill>
              <a:srgbClr val="93C5FD"/>
            </a:solidFill>
          </a:ln>
        </p:spPr>
        <p:txBody>
          <a:bodyPr wrap="square" lIns="38100" tIns="38100" rIns="38100" bIns="38100" anchor="ctr"/>
          <a:lstStyle/>
          <a:p>
            <a:pPr algn="ctr">
              <a:lnSpc>
                <a:spcPts val="1050"/>
              </a:lnSpc>
              <a:buNone/>
            </a:pPr>
            <a:r>
              <a:rPr lang="en-US" sz="700" b="1" dirty="0">
                <a:solidFill>
                  <a:srgbClr val="1E40AF"/>
                </a:solidFill>
                <a:latin typeface="Calibri"/>
              </a:rPr>
              <a:t>NetSuite</a:t>
            </a:r>
          </a:p>
          <a:p>
            <a:pPr algn="ctr">
              <a:lnSpc>
                <a:spcPts val="1050"/>
              </a:lnSpc>
              <a:buNone/>
            </a:pPr>
            <a:r>
              <a:rPr lang="en-US" sz="575" dirty="0">
                <a:solidFill>
                  <a:srgbClr val="1E40AF"/>
                </a:solidFill>
                <a:latin typeface="Calibri"/>
              </a:rPr>
              <a:t>ERP / Product Master</a:t>
            </a:r>
          </a:p>
        </p:txBody>
      </p:sp>
      <p:sp>
        <p:nvSpPr>
          <p:cNvPr id="201" name="A_NS_Cel"/>
          <p:cNvSpPr>
            <a:spLocks noGrp="1"/>
          </p:cNvSpPr>
          <p:nvPr/>
        </p:nvSpPr>
        <p:spPr>
          <a:xfrm>
            <a:off x="13462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2" name="Celigo"/>
          <p:cNvSpPr>
            <a:spLocks noGrp="1"/>
          </p:cNvSpPr>
          <p:nvPr/>
        </p:nvSpPr>
        <p:spPr>
          <a:xfrm>
            <a:off x="1524000" y="2717800"/>
            <a:ext cx="2234096" cy="355600"/>
          </a:xfrm>
          <a:prstGeom prst="roundRect">
            <a:avLst>
              <a:gd name="adj" fmla="val 2000"/>
            </a:avLst>
          </a:prstGeom>
          <a:solidFill>
            <a:srgbClr val="F9FAFB"/>
          </a:solidFill>
          <a:ln w="9525">
            <a:solidFill>
              <a:srgbClr val="D1D5DB"/>
            </a:solidFill>
          </a:ln>
        </p:spPr>
        <p:txBody>
          <a:bodyPr wrap="square" lIns="38100" tIns="38100" rIns="38100" bIns="38100" anchor="ctr"/>
          <a:lstStyle/>
          <a:p>
            <a:pPr algn="ctr">
              <a:lnSpc>
                <a:spcPts val="1050"/>
              </a:lnSpc>
              <a:buNone/>
            </a:pPr>
            <a:r>
              <a:rPr lang="en-US" sz="700" b="1" dirty="0">
                <a:solidFill>
                  <a:srgbClr val="374151"/>
                </a:solidFill>
                <a:latin typeface="Calibri"/>
              </a:rPr>
              <a:t>Celigo</a:t>
            </a:r>
          </a:p>
          <a:p>
            <a:pPr algn="ctr">
              <a:lnSpc>
                <a:spcPts val="1050"/>
              </a:lnSpc>
              <a:buNone/>
            </a:pPr>
            <a:r>
              <a:rPr lang="en-US" sz="575" dirty="0">
                <a:solidFill>
                  <a:srgbClr val="374151"/>
                </a:solidFill>
                <a:latin typeface="Calibri"/>
              </a:rPr>
              <a:t>iPaaS</a:t>
            </a:r>
          </a:p>
        </p:txBody>
      </p:sp>
      <p:sp>
        <p:nvSpPr>
          <p:cNvPr id="203" name="A_Cel_BO"/>
          <p:cNvSpPr>
            <a:spLocks noGrp="1"/>
          </p:cNvSpPr>
          <p:nvPr/>
        </p:nvSpPr>
        <p:spPr>
          <a:xfrm>
            <a:off x="3847548" y="291603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4" name="BO0"/>
          <p:cNvSpPr>
            <a:spLocks noGrp="1"/>
          </p:cNvSpPr>
          <p:nvPr/>
        </p:nvSpPr>
        <p:spPr>
          <a:xfrm>
            <a:off x="4089400" y="2603500"/>
            <a:ext cx="1676400" cy="184703"/>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Magento / Adobe Commerce</a:t>
            </a:r>
          </a:p>
        </p:txBody>
      </p:sp>
      <p:sp>
        <p:nvSpPr>
          <p:cNvPr id="205" name="BO1"/>
          <p:cNvSpPr>
            <a:spLocks noGrp="1"/>
          </p:cNvSpPr>
          <p:nvPr/>
        </p:nvSpPr>
        <p:spPr>
          <a:xfrm>
            <a:off x="4089400" y="3098040"/>
            <a:ext cx="1676400" cy="19478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Manhattan Active Omni</a:t>
            </a:r>
          </a:p>
        </p:txBody>
      </p:sp>
      <p:sp>
        <p:nvSpPr>
          <p:cNvPr id="206" name="BO2"/>
          <p:cNvSpPr>
            <a:spLocks noGrp="1"/>
          </p:cNvSpPr>
          <p:nvPr/>
        </p:nvSpPr>
        <p:spPr>
          <a:xfrm>
            <a:off x="4089400" y="2851702"/>
            <a:ext cx="1676400" cy="178627"/>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Salesforce Retail Cloud</a:t>
            </a:r>
          </a:p>
        </p:txBody>
      </p:sp>
      <p:sp>
        <p:nvSpPr>
          <p:cNvPr id="210" name="A_Cel_DXG"/>
          <p:cNvSpPr>
            <a:spLocks noGrp="1"/>
          </p:cNvSpPr>
          <p:nvPr/>
        </p:nvSpPr>
        <p:spPr>
          <a:xfrm>
            <a:off x="2019300" y="3093830"/>
            <a:ext cx="101600" cy="898940"/>
          </a:xfrm>
          <a:prstGeom prst="downArrow">
            <a:avLst>
              <a:gd name="adj1" fmla="val 50000"/>
              <a:gd name="adj2" fmla="val 50000"/>
            </a:avLst>
          </a:prstGeom>
          <a:solidFill>
            <a:srgbClr val="EB1A63"/>
          </a:solidFill>
          <a:ln>
            <a:noFill/>
          </a:ln>
        </p:spPr>
        <p:txBody>
          <a:bodyPr/>
          <a:lstStyle/>
          <a:p>
            <a:endParaRPr lang="en-GB"/>
          </a:p>
        </p:txBody>
      </p:sp>
      <p:sp>
        <p:nvSpPr>
          <p:cNvPr id="212" name="DXG"/>
          <p:cNvSpPr>
            <a:spLocks noGrp="1"/>
          </p:cNvSpPr>
          <p:nvPr/>
        </p:nvSpPr>
        <p:spPr>
          <a:xfrm>
            <a:off x="15869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Graph</a:t>
            </a:r>
          </a:p>
          <a:p>
            <a:pPr algn="ctr">
              <a:lnSpc>
                <a:spcPts val="1050"/>
              </a:lnSpc>
              <a:buNone/>
            </a:pPr>
            <a:r>
              <a:rPr lang="en-US" sz="575" dirty="0">
                <a:solidFill>
                  <a:srgbClr val="0D9488"/>
                </a:solidFill>
                <a:latin typeface="Calibri"/>
              </a:rPr>
              <a:t>Governed Product Master</a:t>
            </a:r>
          </a:p>
        </p:txBody>
      </p:sp>
      <p:sp>
        <p:nvSpPr>
          <p:cNvPr id="213" name="A_DXG_DXE"/>
          <p:cNvSpPr>
            <a:spLocks noGrp="1"/>
          </p:cNvSpPr>
          <p:nvPr/>
        </p:nvSpPr>
        <p:spPr>
          <a:xfrm>
            <a:off x="29839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14" name="DXE"/>
          <p:cNvSpPr>
            <a:spLocks noGrp="1"/>
          </p:cNvSpPr>
          <p:nvPr/>
        </p:nvSpPr>
        <p:spPr>
          <a:xfrm>
            <a:off x="31617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Engine</a:t>
            </a:r>
          </a:p>
          <a:p>
            <a:pPr algn="ctr">
              <a:lnSpc>
                <a:spcPts val="1050"/>
              </a:lnSpc>
              <a:buNone/>
            </a:pPr>
            <a:r>
              <a:rPr lang="en-US" sz="575" dirty="0">
                <a:solidFill>
                  <a:srgbClr val="0D9488"/>
                </a:solidFill>
                <a:latin typeface="Calibri"/>
              </a:rPr>
              <a:t>Real-Time Orchestration</a:t>
            </a:r>
          </a:p>
        </p:txBody>
      </p:sp>
      <p:sp>
        <p:nvSpPr>
          <p:cNvPr id="215" name="A_DXE_Out"/>
          <p:cNvSpPr>
            <a:spLocks noGrp="1"/>
          </p:cNvSpPr>
          <p:nvPr/>
        </p:nvSpPr>
        <p:spPr>
          <a:xfrm>
            <a:off x="45587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20" name="Out0"/>
          <p:cNvSpPr>
            <a:spLocks noGrp="1"/>
          </p:cNvSpPr>
          <p:nvPr/>
        </p:nvSpPr>
        <p:spPr>
          <a:xfrm>
            <a:off x="4784588" y="3616187"/>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POS Terminals</a:t>
            </a:r>
          </a:p>
          <a:p>
            <a:pPr>
              <a:lnSpc>
                <a:spcPts val="1050"/>
              </a:lnSpc>
              <a:buNone/>
            </a:pPr>
            <a:r>
              <a:rPr lang="en-US" sz="800" i="1" dirty="0">
                <a:solidFill>
                  <a:srgbClr val="134E4A"/>
                </a:solidFill>
                <a:latin typeface="Calibri"/>
              </a:rPr>
              <a:t>(B) real-time validation</a:t>
            </a:r>
          </a:p>
        </p:txBody>
      </p:sp>
      <p:sp>
        <p:nvSpPr>
          <p:cNvPr id="221" name="Out1"/>
          <p:cNvSpPr>
            <a:spLocks noGrp="1"/>
          </p:cNvSpPr>
          <p:nvPr/>
        </p:nvSpPr>
        <p:spPr>
          <a:xfrm>
            <a:off x="4798392" y="402383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Lovesac.com</a:t>
            </a:r>
          </a:p>
          <a:p>
            <a:pPr>
              <a:lnSpc>
                <a:spcPts val="1050"/>
              </a:lnSpc>
              <a:buNone/>
            </a:pPr>
            <a:r>
              <a:rPr lang="en-US" sz="900" i="1" dirty="0">
                <a:solidFill>
                  <a:srgbClr val="134E4A"/>
                </a:solidFill>
                <a:latin typeface="Calibri"/>
              </a:rPr>
              <a:t>(B) </a:t>
            </a:r>
            <a:r>
              <a:rPr lang="en-US" sz="800" i="1" dirty="0">
                <a:solidFill>
                  <a:srgbClr val="134E4A"/>
                </a:solidFill>
                <a:latin typeface="Calibri"/>
              </a:rPr>
              <a:t>Experience API</a:t>
            </a:r>
          </a:p>
        </p:txBody>
      </p:sp>
      <p:sp>
        <p:nvSpPr>
          <p:cNvPr id="222" name="Out2"/>
          <p:cNvSpPr>
            <a:spLocks noGrp="1"/>
          </p:cNvSpPr>
          <p:nvPr/>
        </p:nvSpPr>
        <p:spPr>
          <a:xfrm>
            <a:off x="4781827" y="4399722"/>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pPr>
            <a:r>
              <a:rPr lang="en-US" sz="600" b="1" dirty="0">
                <a:solidFill>
                  <a:srgbClr val="134E4A"/>
                </a:solidFill>
                <a:latin typeface="Calibri"/>
              </a:rPr>
              <a:t>Google Shopping / ChatGPT</a:t>
            </a:r>
          </a:p>
          <a:p>
            <a:pPr>
              <a:lnSpc>
                <a:spcPts val="1050"/>
              </a:lnSpc>
            </a:pPr>
            <a:r>
              <a:rPr lang="en-US" sz="800" i="1" dirty="0">
                <a:solidFill>
                  <a:srgbClr val="134E4A"/>
                </a:solidFill>
                <a:latin typeface="Calibri"/>
              </a:rPr>
              <a:t>(B) via MCP</a:t>
            </a:r>
          </a:p>
        </p:txBody>
      </p:sp>
      <p:sp>
        <p:nvSpPr>
          <p:cNvPr id="500" name="IngestLblNew"/>
          <p:cNvSpPr>
            <a:spLocks noGrp="1"/>
          </p:cNvSpPr>
          <p:nvPr/>
        </p:nvSpPr>
        <p:spPr>
          <a:xfrm>
            <a:off x="2034209" y="3479800"/>
            <a:ext cx="1270000" cy="127000"/>
          </a:xfrm>
          <a:prstGeom prst="rect">
            <a:avLst/>
          </a:prstGeom>
          <a:noFill/>
          <a:ln>
            <a:noFill/>
          </a:ln>
        </p:spPr>
        <p:txBody>
          <a:bodyPr wrap="square" lIns="25400" tIns="25400" rIns="25400" bIns="25400" anchor="ctr"/>
          <a:lstStyle/>
          <a:p>
            <a:pPr algn="ctr">
              <a:lnSpc>
                <a:spcPts val="1050"/>
              </a:lnSpc>
              <a:buNone/>
            </a:pPr>
            <a:r>
              <a:rPr lang="en-US" sz="800" i="1" dirty="0">
                <a:solidFill>
                  <a:srgbClr val="EB1A63"/>
                </a:solidFill>
                <a:latin typeface="Calibri"/>
              </a:rPr>
              <a:t>(A) ingest feed → DX Graph</a:t>
            </a:r>
          </a:p>
        </p:txBody>
      </p:sp>
      <p:sp>
        <p:nvSpPr>
          <p:cNvPr id="501" name="ArrPatLbl"/>
          <p:cNvSpPr>
            <a:spLocks noGrp="1"/>
          </p:cNvSpPr>
          <p:nvPr/>
        </p:nvSpPr>
        <p:spPr>
          <a:xfrm>
            <a:off x="4558748" y="4018170"/>
            <a:ext cx="177800" cy="101600"/>
          </a:xfrm>
          <a:prstGeom prst="rect">
            <a:avLst/>
          </a:prstGeom>
          <a:noFill/>
          <a:ln>
            <a:noFill/>
          </a:ln>
        </p:spPr>
        <p:txBody>
          <a:bodyPr wrap="square" lIns="25400" tIns="25400" rIns="25400" bIns="25400" anchor="ctr"/>
          <a:lstStyle/>
          <a:p>
            <a:pPr algn="ctr">
              <a:lnSpc>
                <a:spcPts val="1050"/>
              </a:lnSpc>
              <a:buNone/>
            </a:pPr>
            <a:endParaRPr lang="en-US" sz="600" b="1" dirty="0">
              <a:solidFill>
                <a:srgbClr val="0D9488"/>
              </a:solidFill>
              <a:latin typeface="Calibri"/>
            </a:endParaRPr>
          </a:p>
        </p:txBody>
      </p:sp>
      <p:sp>
        <p:nvSpPr>
          <p:cNvPr id="6" name="A_Cel_DXG">
            <a:extLst>
              <a:ext uri="{FF2B5EF4-FFF2-40B4-BE49-F238E27FC236}">
                <a16:creationId xmlns:a16="http://schemas.microsoft.com/office/drawing/2014/main" id="{94E9C3CE-7B0E-5ED7-BEF9-E9356B9D8012}"/>
              </a:ext>
            </a:extLst>
          </p:cNvPr>
          <p:cNvSpPr>
            <a:spLocks noGrp="1"/>
          </p:cNvSpPr>
          <p:nvPr/>
        </p:nvSpPr>
        <p:spPr>
          <a:xfrm rot="10800000">
            <a:off x="3479524" y="3084443"/>
            <a:ext cx="101600" cy="898940"/>
          </a:xfrm>
          <a:prstGeom prst="downArrow">
            <a:avLst>
              <a:gd name="adj1" fmla="val 50000"/>
              <a:gd name="adj2" fmla="val 50000"/>
            </a:avLst>
          </a:prstGeom>
          <a:solidFill>
            <a:srgbClr val="D1D5DB"/>
          </a:solidFill>
          <a:ln>
            <a:noFill/>
          </a:ln>
        </p:spPr>
        <p:txBody>
          <a:bodyPr/>
          <a:lstStyle/>
          <a:p>
            <a:endParaRPr lang="en-GB"/>
          </a:p>
        </p:txBody>
      </p:sp>
      <p:sp>
        <p:nvSpPr>
          <p:cNvPr id="8" name="TextBox 7">
            <a:extLst>
              <a:ext uri="{FF2B5EF4-FFF2-40B4-BE49-F238E27FC236}">
                <a16:creationId xmlns:a16="http://schemas.microsoft.com/office/drawing/2014/main" id="{4729F272-4B16-4776-763C-674CE207F625}"/>
              </a:ext>
            </a:extLst>
          </p:cNvPr>
          <p:cNvSpPr txBox="1"/>
          <p:nvPr/>
        </p:nvSpPr>
        <p:spPr>
          <a:xfrm>
            <a:off x="3479523" y="3431760"/>
            <a:ext cx="915504" cy="225254"/>
          </a:xfrm>
          <a:prstGeom prst="rect">
            <a:avLst/>
          </a:prstGeom>
          <a:noFill/>
        </p:spPr>
        <p:txBody>
          <a:bodyPr wrap="square">
            <a:spAutoFit/>
          </a:bodyPr>
          <a:lstStyle/>
          <a:p>
            <a:pPr>
              <a:lnSpc>
                <a:spcPts val="1050"/>
              </a:lnSpc>
              <a:buNone/>
            </a:pPr>
            <a:r>
              <a:rPr lang="en-US" sz="800" i="1" dirty="0">
                <a:solidFill>
                  <a:srgbClr val="374151"/>
                </a:solidFill>
                <a:latin typeface="Calibri"/>
              </a:rPr>
              <a:t>(C) BOM handoff</a:t>
            </a:r>
          </a:p>
        </p:txBody>
      </p:sp>
    </p:spTree>
    <p:extLst>
      <p:ext uri="{BB962C8B-B14F-4D97-AF65-F5344CB8AC3E}">
        <p14:creationId xmlns:p14="http://schemas.microsoft.com/office/powerpoint/2010/main" val="19491350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1112"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63CBA7-DA38-4B63-A77E-B112D0F83CBE}">
  <we:reference id="wa200010001" version="1.0.0.1" store="en-US" storeType="OMEX"/>
  <we:alternateReferences>
    <we:reference id="wa200010001" version="1.0.0.1" store="wa200010001" storeType="OMEX"/>
  </we:alternateReferences>
  <we:properties>
    <we:property name="claude.fileId" value="&quot;28162e83-ee21-4051-98bf-0d36cacca1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2332</TotalTime>
  <Words>4427</Words>
  <Application>Microsoft Office PowerPoint</Application>
  <PresentationFormat>On-screen Show (16:9)</PresentationFormat>
  <Paragraphs>628</Paragraphs>
  <Slides>22</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Conscia</dc:creator>
  <cp:lastModifiedBy>David Uccelli</cp:lastModifiedBy>
  <cp:revision>6</cp:revision>
  <dcterms:created xsi:type="dcterms:W3CDTF">2026-03-28T20:38:14Z</dcterms:created>
  <dcterms:modified xsi:type="dcterms:W3CDTF">2026-04-08T12:25:51Z</dcterms:modified>
</cp:coreProperties>
</file>