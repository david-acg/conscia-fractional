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206D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6784848"/>
            <a:ext cx="211120" cy="73152"/>
          </a:xfrm>
          <a:prstGeom prst="rect">
            <a:avLst/>
          </a:prstGeom>
          <a:solidFill>
            <a:srgbClr val="8B1653"/>
          </a:solidFill>
          <a:ln/>
        </p:spPr>
      </p:sp>
      <p:sp>
        <p:nvSpPr>
          <p:cNvPr id="4" name="Shape 2"/>
          <p:cNvSpPr/>
          <p:nvPr/>
        </p:nvSpPr>
        <p:spPr>
          <a:xfrm>
            <a:off x="275128" y="6784848"/>
            <a:ext cx="211120" cy="73152"/>
          </a:xfrm>
          <a:prstGeom prst="rect">
            <a:avLst/>
          </a:prstGeom>
          <a:solidFill>
            <a:srgbClr val="911755"/>
          </a:solidFill>
          <a:ln/>
        </p:spPr>
      </p:sp>
      <p:sp>
        <p:nvSpPr>
          <p:cNvPr id="5" name="Shape 3"/>
          <p:cNvSpPr/>
          <p:nvPr/>
        </p:nvSpPr>
        <p:spPr>
          <a:xfrm>
            <a:off x="477103" y="6784848"/>
            <a:ext cx="211120" cy="73152"/>
          </a:xfrm>
          <a:prstGeom prst="rect">
            <a:avLst/>
          </a:prstGeom>
          <a:solidFill>
            <a:srgbClr val="961858"/>
          </a:solidFill>
          <a:ln/>
        </p:spPr>
      </p:sp>
      <p:sp>
        <p:nvSpPr>
          <p:cNvPr id="6" name="Shape 4"/>
          <p:cNvSpPr/>
          <p:nvPr/>
        </p:nvSpPr>
        <p:spPr>
          <a:xfrm>
            <a:off x="679079" y="6784848"/>
            <a:ext cx="211120" cy="73152"/>
          </a:xfrm>
          <a:prstGeom prst="rect">
            <a:avLst/>
          </a:prstGeom>
          <a:solidFill>
            <a:srgbClr val="9C195A"/>
          </a:solidFill>
          <a:ln/>
        </p:spPr>
      </p:sp>
      <p:sp>
        <p:nvSpPr>
          <p:cNvPr id="7" name="Shape 5"/>
          <p:cNvSpPr/>
          <p:nvPr/>
        </p:nvSpPr>
        <p:spPr>
          <a:xfrm>
            <a:off x="881055" y="6784848"/>
            <a:ext cx="211120" cy="73152"/>
          </a:xfrm>
          <a:prstGeom prst="rect">
            <a:avLst/>
          </a:prstGeom>
          <a:solidFill>
            <a:srgbClr val="A21A5D"/>
          </a:solidFill>
          <a:ln/>
        </p:spPr>
      </p:sp>
      <p:sp>
        <p:nvSpPr>
          <p:cNvPr id="8" name="Shape 6"/>
          <p:cNvSpPr/>
          <p:nvPr/>
        </p:nvSpPr>
        <p:spPr>
          <a:xfrm>
            <a:off x="1083031" y="6784848"/>
            <a:ext cx="211120" cy="73152"/>
          </a:xfrm>
          <a:prstGeom prst="rect">
            <a:avLst/>
          </a:prstGeom>
          <a:solidFill>
            <a:srgbClr val="A81B5F"/>
          </a:solidFill>
          <a:ln/>
        </p:spPr>
      </p:sp>
      <p:sp>
        <p:nvSpPr>
          <p:cNvPr id="9" name="Shape 7"/>
          <p:cNvSpPr/>
          <p:nvPr/>
        </p:nvSpPr>
        <p:spPr>
          <a:xfrm>
            <a:off x="1285006" y="6784848"/>
            <a:ext cx="211120" cy="73152"/>
          </a:xfrm>
          <a:prstGeom prst="rect">
            <a:avLst/>
          </a:prstGeom>
          <a:solidFill>
            <a:srgbClr val="AD1C62"/>
          </a:solidFill>
          <a:ln/>
        </p:spPr>
      </p:sp>
      <p:sp>
        <p:nvSpPr>
          <p:cNvPr id="10" name="Shape 8"/>
          <p:cNvSpPr/>
          <p:nvPr/>
        </p:nvSpPr>
        <p:spPr>
          <a:xfrm>
            <a:off x="1486982" y="6784848"/>
            <a:ext cx="211120" cy="73152"/>
          </a:xfrm>
          <a:prstGeom prst="rect">
            <a:avLst/>
          </a:prstGeom>
          <a:solidFill>
            <a:srgbClr val="B31D64"/>
          </a:solidFill>
          <a:ln/>
        </p:spPr>
      </p:sp>
      <p:sp>
        <p:nvSpPr>
          <p:cNvPr id="11" name="Shape 9"/>
          <p:cNvSpPr/>
          <p:nvPr/>
        </p:nvSpPr>
        <p:spPr>
          <a:xfrm>
            <a:off x="1688958" y="6784848"/>
            <a:ext cx="211120" cy="73152"/>
          </a:xfrm>
          <a:prstGeom prst="rect">
            <a:avLst/>
          </a:prstGeom>
          <a:solidFill>
            <a:srgbClr val="B91E67"/>
          </a:solidFill>
          <a:ln/>
        </p:spPr>
      </p:sp>
      <p:sp>
        <p:nvSpPr>
          <p:cNvPr id="12" name="Shape 10"/>
          <p:cNvSpPr/>
          <p:nvPr/>
        </p:nvSpPr>
        <p:spPr>
          <a:xfrm>
            <a:off x="1890933" y="6784848"/>
            <a:ext cx="211120" cy="73152"/>
          </a:xfrm>
          <a:prstGeom prst="rect">
            <a:avLst/>
          </a:prstGeom>
          <a:solidFill>
            <a:srgbClr val="BF1E69"/>
          </a:solidFill>
          <a:ln/>
        </p:spPr>
      </p:sp>
      <p:sp>
        <p:nvSpPr>
          <p:cNvPr id="13" name="Shape 11"/>
          <p:cNvSpPr/>
          <p:nvPr/>
        </p:nvSpPr>
        <p:spPr>
          <a:xfrm>
            <a:off x="2092909" y="6784848"/>
            <a:ext cx="211120" cy="73152"/>
          </a:xfrm>
          <a:prstGeom prst="rect">
            <a:avLst/>
          </a:prstGeom>
          <a:solidFill>
            <a:srgbClr val="C41F6B"/>
          </a:solidFill>
          <a:ln/>
        </p:spPr>
      </p:sp>
      <p:sp>
        <p:nvSpPr>
          <p:cNvPr id="14" name="Shape 12"/>
          <p:cNvSpPr/>
          <p:nvPr/>
        </p:nvSpPr>
        <p:spPr>
          <a:xfrm>
            <a:off x="2294885" y="6784848"/>
            <a:ext cx="211120" cy="73152"/>
          </a:xfrm>
          <a:prstGeom prst="rect">
            <a:avLst/>
          </a:prstGeom>
          <a:solidFill>
            <a:srgbClr val="C9226B"/>
          </a:solidFill>
          <a:ln/>
        </p:spPr>
      </p:sp>
      <p:sp>
        <p:nvSpPr>
          <p:cNvPr id="15" name="Shape 13"/>
          <p:cNvSpPr/>
          <p:nvPr/>
        </p:nvSpPr>
        <p:spPr>
          <a:xfrm>
            <a:off x="2496861" y="6784848"/>
            <a:ext cx="211120" cy="73152"/>
          </a:xfrm>
          <a:prstGeom prst="rect">
            <a:avLst/>
          </a:prstGeom>
          <a:solidFill>
            <a:srgbClr val="CB2667"/>
          </a:solidFill>
          <a:ln/>
        </p:spPr>
      </p:sp>
      <p:sp>
        <p:nvSpPr>
          <p:cNvPr id="16" name="Shape 14"/>
          <p:cNvSpPr/>
          <p:nvPr/>
        </p:nvSpPr>
        <p:spPr>
          <a:xfrm>
            <a:off x="2698836" y="6784848"/>
            <a:ext cx="211120" cy="73152"/>
          </a:xfrm>
          <a:prstGeom prst="rect">
            <a:avLst/>
          </a:prstGeom>
          <a:solidFill>
            <a:srgbClr val="CE2B62"/>
          </a:solidFill>
          <a:ln/>
        </p:spPr>
      </p:sp>
      <p:sp>
        <p:nvSpPr>
          <p:cNvPr id="17" name="Shape 15"/>
          <p:cNvSpPr/>
          <p:nvPr/>
        </p:nvSpPr>
        <p:spPr>
          <a:xfrm>
            <a:off x="2900812" y="6784848"/>
            <a:ext cx="211120" cy="73152"/>
          </a:xfrm>
          <a:prstGeom prst="rect">
            <a:avLst/>
          </a:prstGeom>
          <a:solidFill>
            <a:srgbClr val="D02F5D"/>
          </a:solidFill>
          <a:ln/>
        </p:spPr>
      </p:sp>
      <p:sp>
        <p:nvSpPr>
          <p:cNvPr id="18" name="Shape 16"/>
          <p:cNvSpPr/>
          <p:nvPr/>
        </p:nvSpPr>
        <p:spPr>
          <a:xfrm>
            <a:off x="3102788" y="6784848"/>
            <a:ext cx="211120" cy="73152"/>
          </a:xfrm>
          <a:prstGeom prst="rect">
            <a:avLst/>
          </a:prstGeom>
          <a:solidFill>
            <a:srgbClr val="D33458"/>
          </a:solidFill>
          <a:ln/>
        </p:spPr>
      </p:sp>
      <p:sp>
        <p:nvSpPr>
          <p:cNvPr id="19" name="Shape 17"/>
          <p:cNvSpPr/>
          <p:nvPr/>
        </p:nvSpPr>
        <p:spPr>
          <a:xfrm>
            <a:off x="3304764" y="6784848"/>
            <a:ext cx="211120" cy="73152"/>
          </a:xfrm>
          <a:prstGeom prst="rect">
            <a:avLst/>
          </a:prstGeom>
          <a:solidFill>
            <a:srgbClr val="D53854"/>
          </a:solidFill>
          <a:ln/>
        </p:spPr>
      </p:sp>
      <p:sp>
        <p:nvSpPr>
          <p:cNvPr id="20" name="Shape 18"/>
          <p:cNvSpPr/>
          <p:nvPr/>
        </p:nvSpPr>
        <p:spPr>
          <a:xfrm>
            <a:off x="3506739" y="6784848"/>
            <a:ext cx="211120" cy="73152"/>
          </a:xfrm>
          <a:prstGeom prst="rect">
            <a:avLst/>
          </a:prstGeom>
          <a:solidFill>
            <a:srgbClr val="D83D4F"/>
          </a:solidFill>
          <a:ln/>
        </p:spPr>
      </p:sp>
      <p:sp>
        <p:nvSpPr>
          <p:cNvPr id="21" name="Shape 19"/>
          <p:cNvSpPr/>
          <p:nvPr/>
        </p:nvSpPr>
        <p:spPr>
          <a:xfrm>
            <a:off x="3708715" y="6784848"/>
            <a:ext cx="211120" cy="73152"/>
          </a:xfrm>
          <a:prstGeom prst="rect">
            <a:avLst/>
          </a:prstGeom>
          <a:solidFill>
            <a:srgbClr val="DA414A"/>
          </a:solidFill>
          <a:ln/>
        </p:spPr>
      </p:sp>
      <p:sp>
        <p:nvSpPr>
          <p:cNvPr id="22" name="Shape 20"/>
          <p:cNvSpPr/>
          <p:nvPr/>
        </p:nvSpPr>
        <p:spPr>
          <a:xfrm>
            <a:off x="3910691" y="6784848"/>
            <a:ext cx="211120" cy="73152"/>
          </a:xfrm>
          <a:prstGeom prst="rect">
            <a:avLst/>
          </a:prstGeom>
          <a:solidFill>
            <a:srgbClr val="DD4546"/>
          </a:solidFill>
          <a:ln/>
        </p:spPr>
      </p:sp>
      <p:sp>
        <p:nvSpPr>
          <p:cNvPr id="23" name="Shape 21"/>
          <p:cNvSpPr/>
          <p:nvPr/>
        </p:nvSpPr>
        <p:spPr>
          <a:xfrm>
            <a:off x="4112666" y="6784848"/>
            <a:ext cx="211120" cy="73152"/>
          </a:xfrm>
          <a:prstGeom prst="rect">
            <a:avLst/>
          </a:prstGeom>
          <a:solidFill>
            <a:srgbClr val="DF4A41"/>
          </a:solidFill>
          <a:ln/>
        </p:spPr>
      </p:sp>
      <p:sp>
        <p:nvSpPr>
          <p:cNvPr id="24" name="Shape 22"/>
          <p:cNvSpPr/>
          <p:nvPr/>
        </p:nvSpPr>
        <p:spPr>
          <a:xfrm>
            <a:off x="4314642" y="6784848"/>
            <a:ext cx="211120" cy="73152"/>
          </a:xfrm>
          <a:prstGeom prst="rect">
            <a:avLst/>
          </a:prstGeom>
          <a:solidFill>
            <a:srgbClr val="E24E3C"/>
          </a:solidFill>
          <a:ln/>
        </p:spPr>
      </p:sp>
      <p:sp>
        <p:nvSpPr>
          <p:cNvPr id="25" name="Shape 23"/>
          <p:cNvSpPr/>
          <p:nvPr/>
        </p:nvSpPr>
        <p:spPr>
          <a:xfrm>
            <a:off x="4516618" y="6784848"/>
            <a:ext cx="211120" cy="73152"/>
          </a:xfrm>
          <a:prstGeom prst="rect">
            <a:avLst/>
          </a:prstGeom>
          <a:solidFill>
            <a:srgbClr val="E45338"/>
          </a:solidFill>
          <a:ln/>
        </p:spPr>
      </p:sp>
      <p:sp>
        <p:nvSpPr>
          <p:cNvPr id="26" name="Shape 24"/>
          <p:cNvSpPr/>
          <p:nvPr/>
        </p:nvSpPr>
        <p:spPr>
          <a:xfrm>
            <a:off x="4718594" y="6784848"/>
            <a:ext cx="211120" cy="73152"/>
          </a:xfrm>
          <a:prstGeom prst="rect">
            <a:avLst/>
          </a:prstGeom>
          <a:solidFill>
            <a:srgbClr val="E75733"/>
          </a:solidFill>
          <a:ln/>
        </p:spPr>
      </p:sp>
      <p:sp>
        <p:nvSpPr>
          <p:cNvPr id="27" name="Shape 25"/>
          <p:cNvSpPr/>
          <p:nvPr/>
        </p:nvSpPr>
        <p:spPr>
          <a:xfrm>
            <a:off x="4920569" y="6784848"/>
            <a:ext cx="211120" cy="73152"/>
          </a:xfrm>
          <a:prstGeom prst="rect">
            <a:avLst/>
          </a:prstGeom>
          <a:solidFill>
            <a:srgbClr val="E85C2F"/>
          </a:solidFill>
          <a:ln/>
        </p:spPr>
      </p:sp>
      <p:sp>
        <p:nvSpPr>
          <p:cNvPr id="28" name="Shape 26"/>
          <p:cNvSpPr/>
          <p:nvPr/>
        </p:nvSpPr>
        <p:spPr>
          <a:xfrm>
            <a:off x="5122545" y="6784848"/>
            <a:ext cx="211120" cy="73152"/>
          </a:xfrm>
          <a:prstGeom prst="rect">
            <a:avLst/>
          </a:prstGeom>
          <a:solidFill>
            <a:srgbClr val="EA622C"/>
          </a:solidFill>
          <a:ln/>
        </p:spPr>
      </p:sp>
      <p:sp>
        <p:nvSpPr>
          <p:cNvPr id="29" name="Shape 27"/>
          <p:cNvSpPr/>
          <p:nvPr/>
        </p:nvSpPr>
        <p:spPr>
          <a:xfrm>
            <a:off x="5324521" y="6784848"/>
            <a:ext cx="211120" cy="73152"/>
          </a:xfrm>
          <a:prstGeom prst="rect">
            <a:avLst/>
          </a:prstGeom>
          <a:solidFill>
            <a:srgbClr val="EB6828"/>
          </a:solidFill>
          <a:ln/>
        </p:spPr>
      </p:sp>
      <p:sp>
        <p:nvSpPr>
          <p:cNvPr id="30" name="Shape 28"/>
          <p:cNvSpPr/>
          <p:nvPr/>
        </p:nvSpPr>
        <p:spPr>
          <a:xfrm>
            <a:off x="5526496" y="6784848"/>
            <a:ext cx="211120" cy="73152"/>
          </a:xfrm>
          <a:prstGeom prst="rect">
            <a:avLst/>
          </a:prstGeom>
          <a:solidFill>
            <a:srgbClr val="EC6E25"/>
          </a:solidFill>
          <a:ln/>
        </p:spPr>
      </p:sp>
      <p:sp>
        <p:nvSpPr>
          <p:cNvPr id="31" name="Shape 29"/>
          <p:cNvSpPr/>
          <p:nvPr/>
        </p:nvSpPr>
        <p:spPr>
          <a:xfrm>
            <a:off x="5728472" y="6784848"/>
            <a:ext cx="211120" cy="73152"/>
          </a:xfrm>
          <a:prstGeom prst="rect">
            <a:avLst/>
          </a:prstGeom>
          <a:solidFill>
            <a:srgbClr val="ED7322"/>
          </a:solidFill>
          <a:ln/>
        </p:spPr>
      </p:sp>
      <p:sp>
        <p:nvSpPr>
          <p:cNvPr id="32" name="Shape 30"/>
          <p:cNvSpPr/>
          <p:nvPr/>
        </p:nvSpPr>
        <p:spPr>
          <a:xfrm>
            <a:off x="5930448" y="6784848"/>
            <a:ext cx="211120" cy="73152"/>
          </a:xfrm>
          <a:prstGeom prst="rect">
            <a:avLst/>
          </a:prstGeom>
          <a:solidFill>
            <a:srgbClr val="EE791F"/>
          </a:solidFill>
          <a:ln/>
        </p:spPr>
      </p:sp>
      <p:sp>
        <p:nvSpPr>
          <p:cNvPr id="33" name="Shape 31"/>
          <p:cNvSpPr/>
          <p:nvPr/>
        </p:nvSpPr>
        <p:spPr>
          <a:xfrm>
            <a:off x="6132424" y="6784848"/>
            <a:ext cx="211120" cy="73152"/>
          </a:xfrm>
          <a:prstGeom prst="rect">
            <a:avLst/>
          </a:prstGeom>
          <a:solidFill>
            <a:srgbClr val="EF7F1C"/>
          </a:solidFill>
          <a:ln/>
        </p:spPr>
      </p:sp>
      <p:sp>
        <p:nvSpPr>
          <p:cNvPr id="34" name="Shape 32"/>
          <p:cNvSpPr/>
          <p:nvPr/>
        </p:nvSpPr>
        <p:spPr>
          <a:xfrm>
            <a:off x="6334399" y="6784848"/>
            <a:ext cx="211120" cy="73152"/>
          </a:xfrm>
          <a:prstGeom prst="rect">
            <a:avLst/>
          </a:prstGeom>
          <a:solidFill>
            <a:srgbClr val="F08519"/>
          </a:solidFill>
          <a:ln/>
        </p:spPr>
      </p:sp>
      <p:sp>
        <p:nvSpPr>
          <p:cNvPr id="35" name="Shape 33"/>
          <p:cNvSpPr/>
          <p:nvPr/>
        </p:nvSpPr>
        <p:spPr>
          <a:xfrm>
            <a:off x="6536375" y="6784848"/>
            <a:ext cx="211120" cy="73152"/>
          </a:xfrm>
          <a:prstGeom prst="rect">
            <a:avLst/>
          </a:prstGeom>
          <a:solidFill>
            <a:srgbClr val="F18A16"/>
          </a:solidFill>
          <a:ln/>
        </p:spPr>
      </p:sp>
      <p:sp>
        <p:nvSpPr>
          <p:cNvPr id="36" name="Shape 34"/>
          <p:cNvSpPr/>
          <p:nvPr/>
        </p:nvSpPr>
        <p:spPr>
          <a:xfrm>
            <a:off x="6738351" y="6784848"/>
            <a:ext cx="211120" cy="73152"/>
          </a:xfrm>
          <a:prstGeom prst="rect">
            <a:avLst/>
          </a:prstGeom>
          <a:solidFill>
            <a:srgbClr val="F29013"/>
          </a:solidFill>
          <a:ln/>
        </p:spPr>
      </p:sp>
      <p:sp>
        <p:nvSpPr>
          <p:cNvPr id="37" name="Shape 35"/>
          <p:cNvSpPr/>
          <p:nvPr/>
        </p:nvSpPr>
        <p:spPr>
          <a:xfrm>
            <a:off x="6940326" y="6784848"/>
            <a:ext cx="211120" cy="73152"/>
          </a:xfrm>
          <a:prstGeom prst="rect">
            <a:avLst/>
          </a:prstGeom>
          <a:solidFill>
            <a:srgbClr val="F3960F"/>
          </a:solidFill>
          <a:ln/>
        </p:spPr>
      </p:sp>
      <p:sp>
        <p:nvSpPr>
          <p:cNvPr id="38" name="Shape 36"/>
          <p:cNvSpPr/>
          <p:nvPr/>
        </p:nvSpPr>
        <p:spPr>
          <a:xfrm>
            <a:off x="7142302" y="6784848"/>
            <a:ext cx="211120" cy="73152"/>
          </a:xfrm>
          <a:prstGeom prst="rect">
            <a:avLst/>
          </a:prstGeom>
          <a:solidFill>
            <a:srgbClr val="F59C0C"/>
          </a:solidFill>
          <a:ln/>
        </p:spPr>
      </p:sp>
      <p:sp>
        <p:nvSpPr>
          <p:cNvPr id="39" name="Shape 37"/>
          <p:cNvSpPr/>
          <p:nvPr/>
        </p:nvSpPr>
        <p:spPr>
          <a:xfrm>
            <a:off x="7344278" y="6784848"/>
            <a:ext cx="211120" cy="73152"/>
          </a:xfrm>
          <a:prstGeom prst="rect">
            <a:avLst/>
          </a:prstGeom>
          <a:solidFill>
            <a:srgbClr val="E8A012"/>
          </a:solidFill>
          <a:ln/>
        </p:spPr>
      </p:sp>
      <p:sp>
        <p:nvSpPr>
          <p:cNvPr id="40" name="Shape 38"/>
          <p:cNvSpPr/>
          <p:nvPr/>
        </p:nvSpPr>
        <p:spPr>
          <a:xfrm>
            <a:off x="7546254" y="6784848"/>
            <a:ext cx="211120" cy="73152"/>
          </a:xfrm>
          <a:prstGeom prst="rect">
            <a:avLst/>
          </a:prstGeom>
          <a:solidFill>
            <a:srgbClr val="D2A21D"/>
          </a:solidFill>
          <a:ln/>
        </p:spPr>
      </p:sp>
      <p:sp>
        <p:nvSpPr>
          <p:cNvPr id="41" name="Shape 39"/>
          <p:cNvSpPr/>
          <p:nvPr/>
        </p:nvSpPr>
        <p:spPr>
          <a:xfrm>
            <a:off x="7748229" y="6784848"/>
            <a:ext cx="211120" cy="73152"/>
          </a:xfrm>
          <a:prstGeom prst="rect">
            <a:avLst/>
          </a:prstGeom>
          <a:solidFill>
            <a:srgbClr val="BDA528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0205" y="6784848"/>
            <a:ext cx="211120" cy="73152"/>
          </a:xfrm>
          <a:prstGeom prst="rect">
            <a:avLst/>
          </a:prstGeom>
          <a:solidFill>
            <a:srgbClr val="A7A733"/>
          </a:solidFill>
          <a:ln/>
        </p:spPr>
      </p:sp>
      <p:sp>
        <p:nvSpPr>
          <p:cNvPr id="43" name="Shape 41"/>
          <p:cNvSpPr/>
          <p:nvPr/>
        </p:nvSpPr>
        <p:spPr>
          <a:xfrm>
            <a:off x="8152181" y="6784848"/>
            <a:ext cx="211120" cy="73152"/>
          </a:xfrm>
          <a:prstGeom prst="rect">
            <a:avLst/>
          </a:prstGeom>
          <a:solidFill>
            <a:srgbClr val="92AA3E"/>
          </a:solidFill>
          <a:ln/>
        </p:spPr>
      </p:sp>
      <p:sp>
        <p:nvSpPr>
          <p:cNvPr id="44" name="Shape 42"/>
          <p:cNvSpPr/>
          <p:nvPr/>
        </p:nvSpPr>
        <p:spPr>
          <a:xfrm>
            <a:off x="8354157" y="6784848"/>
            <a:ext cx="211120" cy="73152"/>
          </a:xfrm>
          <a:prstGeom prst="rect">
            <a:avLst/>
          </a:prstGeom>
          <a:solidFill>
            <a:srgbClr val="7CAC49"/>
          </a:solidFill>
          <a:ln/>
        </p:spPr>
      </p:sp>
      <p:sp>
        <p:nvSpPr>
          <p:cNvPr id="45" name="Shape 43"/>
          <p:cNvSpPr/>
          <p:nvPr/>
        </p:nvSpPr>
        <p:spPr>
          <a:xfrm>
            <a:off x="8556132" y="6784848"/>
            <a:ext cx="211120" cy="73152"/>
          </a:xfrm>
          <a:prstGeom prst="rect">
            <a:avLst/>
          </a:prstGeom>
          <a:solidFill>
            <a:srgbClr val="67AF54"/>
          </a:solidFill>
          <a:ln/>
        </p:spPr>
      </p:sp>
      <p:sp>
        <p:nvSpPr>
          <p:cNvPr id="46" name="Shape 44"/>
          <p:cNvSpPr/>
          <p:nvPr/>
        </p:nvSpPr>
        <p:spPr>
          <a:xfrm>
            <a:off x="8758108" y="6784848"/>
            <a:ext cx="211120" cy="73152"/>
          </a:xfrm>
          <a:prstGeom prst="rect">
            <a:avLst/>
          </a:prstGeom>
          <a:solidFill>
            <a:srgbClr val="51B15F"/>
          </a:solidFill>
          <a:ln/>
        </p:spPr>
      </p:sp>
      <p:sp>
        <p:nvSpPr>
          <p:cNvPr id="47" name="Shape 45"/>
          <p:cNvSpPr/>
          <p:nvPr/>
        </p:nvSpPr>
        <p:spPr>
          <a:xfrm>
            <a:off x="8960084" y="6784848"/>
            <a:ext cx="211120" cy="73152"/>
          </a:xfrm>
          <a:prstGeom prst="rect">
            <a:avLst/>
          </a:prstGeom>
          <a:solidFill>
            <a:srgbClr val="3CB46B"/>
          </a:solidFill>
          <a:ln/>
        </p:spPr>
      </p:sp>
      <p:sp>
        <p:nvSpPr>
          <p:cNvPr id="48" name="Shape 46"/>
          <p:cNvSpPr/>
          <p:nvPr/>
        </p:nvSpPr>
        <p:spPr>
          <a:xfrm>
            <a:off x="9162059" y="6784848"/>
            <a:ext cx="211120" cy="73152"/>
          </a:xfrm>
          <a:prstGeom prst="rect">
            <a:avLst/>
          </a:prstGeom>
          <a:solidFill>
            <a:srgbClr val="26B676"/>
          </a:solidFill>
          <a:ln/>
        </p:spPr>
      </p:sp>
      <p:sp>
        <p:nvSpPr>
          <p:cNvPr id="49" name="Shape 47"/>
          <p:cNvSpPr/>
          <p:nvPr/>
        </p:nvSpPr>
        <p:spPr>
          <a:xfrm>
            <a:off x="9364035" y="6784848"/>
            <a:ext cx="21112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0" name="Shape 48"/>
          <p:cNvSpPr/>
          <p:nvPr/>
        </p:nvSpPr>
        <p:spPr>
          <a:xfrm>
            <a:off x="9566011" y="6784848"/>
            <a:ext cx="211120" cy="73152"/>
          </a:xfrm>
          <a:prstGeom prst="rect">
            <a:avLst/>
          </a:prstGeom>
          <a:solidFill>
            <a:srgbClr val="11B585"/>
          </a:solidFill>
          <a:ln/>
        </p:spPr>
      </p:sp>
      <p:sp>
        <p:nvSpPr>
          <p:cNvPr id="51" name="Shape 49"/>
          <p:cNvSpPr/>
          <p:nvPr/>
        </p:nvSpPr>
        <p:spPr>
          <a:xfrm>
            <a:off x="9767987" y="6784848"/>
            <a:ext cx="211120" cy="73152"/>
          </a:xfrm>
          <a:prstGeom prst="rect">
            <a:avLst/>
          </a:prstGeom>
          <a:solidFill>
            <a:srgbClr val="12B089"/>
          </a:solidFill>
          <a:ln/>
        </p:spPr>
      </p:sp>
      <p:sp>
        <p:nvSpPr>
          <p:cNvPr id="52" name="Shape 50"/>
          <p:cNvSpPr/>
          <p:nvPr/>
        </p:nvSpPr>
        <p:spPr>
          <a:xfrm>
            <a:off x="9969962" y="6784848"/>
            <a:ext cx="211120" cy="73152"/>
          </a:xfrm>
          <a:prstGeom prst="rect">
            <a:avLst/>
          </a:prstGeom>
          <a:solidFill>
            <a:srgbClr val="13AC8D"/>
          </a:solidFill>
          <a:ln/>
        </p:spPr>
      </p:sp>
      <p:sp>
        <p:nvSpPr>
          <p:cNvPr id="53" name="Shape 51"/>
          <p:cNvSpPr/>
          <p:nvPr/>
        </p:nvSpPr>
        <p:spPr>
          <a:xfrm>
            <a:off x="10171938" y="6784848"/>
            <a:ext cx="211120" cy="73152"/>
          </a:xfrm>
          <a:prstGeom prst="rect">
            <a:avLst/>
          </a:prstGeom>
          <a:solidFill>
            <a:srgbClr val="14A791"/>
          </a:solidFill>
          <a:ln/>
        </p:spPr>
      </p:sp>
      <p:sp>
        <p:nvSpPr>
          <p:cNvPr id="54" name="Shape 52"/>
          <p:cNvSpPr/>
          <p:nvPr/>
        </p:nvSpPr>
        <p:spPr>
          <a:xfrm>
            <a:off x="10373914" y="6784848"/>
            <a:ext cx="211120" cy="73152"/>
          </a:xfrm>
          <a:prstGeom prst="rect">
            <a:avLst/>
          </a:prstGeom>
          <a:solidFill>
            <a:srgbClr val="15A395"/>
          </a:solidFill>
          <a:ln/>
        </p:spPr>
      </p:sp>
      <p:sp>
        <p:nvSpPr>
          <p:cNvPr id="55" name="Shape 53"/>
          <p:cNvSpPr/>
          <p:nvPr/>
        </p:nvSpPr>
        <p:spPr>
          <a:xfrm>
            <a:off x="10575889" y="6784848"/>
            <a:ext cx="211120" cy="73152"/>
          </a:xfrm>
          <a:prstGeom prst="rect">
            <a:avLst/>
          </a:prstGeom>
          <a:solidFill>
            <a:srgbClr val="169E99"/>
          </a:solidFill>
          <a:ln/>
        </p:spPr>
      </p:sp>
      <p:sp>
        <p:nvSpPr>
          <p:cNvPr id="56" name="Shape 54"/>
          <p:cNvSpPr/>
          <p:nvPr/>
        </p:nvSpPr>
        <p:spPr>
          <a:xfrm>
            <a:off x="10777865" y="6784848"/>
            <a:ext cx="211120" cy="73152"/>
          </a:xfrm>
          <a:prstGeom prst="rect">
            <a:avLst/>
          </a:prstGeom>
          <a:solidFill>
            <a:srgbClr val="189A9D"/>
          </a:solidFill>
          <a:ln/>
        </p:spPr>
      </p:sp>
      <p:sp>
        <p:nvSpPr>
          <p:cNvPr id="57" name="Shape 55"/>
          <p:cNvSpPr/>
          <p:nvPr/>
        </p:nvSpPr>
        <p:spPr>
          <a:xfrm>
            <a:off x="10979841" y="6784848"/>
            <a:ext cx="211120" cy="73152"/>
          </a:xfrm>
          <a:prstGeom prst="rect">
            <a:avLst/>
          </a:prstGeom>
          <a:solidFill>
            <a:srgbClr val="1995A1"/>
          </a:solidFill>
          <a:ln/>
        </p:spPr>
      </p:sp>
      <p:sp>
        <p:nvSpPr>
          <p:cNvPr id="58" name="Shape 56"/>
          <p:cNvSpPr/>
          <p:nvPr/>
        </p:nvSpPr>
        <p:spPr>
          <a:xfrm>
            <a:off x="11181817" y="6784848"/>
            <a:ext cx="211120" cy="73152"/>
          </a:xfrm>
          <a:prstGeom prst="rect">
            <a:avLst/>
          </a:prstGeom>
          <a:solidFill>
            <a:srgbClr val="1A91A5"/>
          </a:solidFill>
          <a:ln/>
        </p:spPr>
      </p:sp>
      <p:sp>
        <p:nvSpPr>
          <p:cNvPr id="59" name="Shape 57"/>
          <p:cNvSpPr/>
          <p:nvPr/>
        </p:nvSpPr>
        <p:spPr>
          <a:xfrm>
            <a:off x="11383792" y="6784848"/>
            <a:ext cx="211120" cy="73152"/>
          </a:xfrm>
          <a:prstGeom prst="rect">
            <a:avLst/>
          </a:prstGeom>
          <a:solidFill>
            <a:srgbClr val="1B8CA9"/>
          </a:solidFill>
          <a:ln/>
        </p:spPr>
      </p:sp>
      <p:sp>
        <p:nvSpPr>
          <p:cNvPr id="60" name="Shape 58"/>
          <p:cNvSpPr/>
          <p:nvPr/>
        </p:nvSpPr>
        <p:spPr>
          <a:xfrm>
            <a:off x="11585768" y="6784848"/>
            <a:ext cx="211120" cy="73152"/>
          </a:xfrm>
          <a:prstGeom prst="rect">
            <a:avLst/>
          </a:prstGeom>
          <a:solidFill>
            <a:srgbClr val="1C88AD"/>
          </a:solidFill>
          <a:ln/>
        </p:spPr>
      </p:sp>
      <p:sp>
        <p:nvSpPr>
          <p:cNvPr id="61" name="Shape 59"/>
          <p:cNvSpPr/>
          <p:nvPr/>
        </p:nvSpPr>
        <p:spPr>
          <a:xfrm>
            <a:off x="11787744" y="6784848"/>
            <a:ext cx="211120" cy="73152"/>
          </a:xfrm>
          <a:prstGeom prst="rect">
            <a:avLst/>
          </a:prstGeom>
          <a:solidFill>
            <a:srgbClr val="1D83B1"/>
          </a:solidFill>
          <a:ln/>
        </p:spPr>
      </p:sp>
      <p:sp>
        <p:nvSpPr>
          <p:cNvPr id="62" name="Shape 60"/>
          <p:cNvSpPr/>
          <p:nvPr/>
        </p:nvSpPr>
        <p:spPr>
          <a:xfrm>
            <a:off x="11989719" y="6784848"/>
            <a:ext cx="211120" cy="73152"/>
          </a:xfrm>
          <a:prstGeom prst="rect">
            <a:avLst/>
          </a:prstGeom>
          <a:solidFill>
            <a:srgbClr val="1E7FB5"/>
          </a:solidFill>
          <a:ln/>
        </p:spPr>
      </p:sp>
      <p:sp>
        <p:nvSpPr>
          <p:cNvPr id="63" name="Shape 61"/>
          <p:cNvSpPr/>
          <p:nvPr/>
        </p:nvSpPr>
        <p:spPr>
          <a:xfrm>
            <a:off x="502920" y="320040"/>
            <a:ext cx="2788920" cy="365760"/>
          </a:xfrm>
          <a:prstGeom prst="roundRect">
            <a:avLst>
              <a:gd name="adj" fmla="val 50000"/>
            </a:avLst>
          </a:prstGeom>
          <a:solidFill>
            <a:srgbClr val="C8206D"/>
          </a:solidFill>
          <a:ln/>
        </p:spPr>
      </p:sp>
      <p:sp>
        <p:nvSpPr>
          <p:cNvPr id="64" name="Text 62"/>
          <p:cNvSpPr/>
          <p:nvPr/>
        </p:nvSpPr>
        <p:spPr>
          <a:xfrm>
            <a:off x="502920" y="3200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PROBLEM STATEMENT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57200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Bottleneck</a:t>
            </a:r>
            <a:endParaRPr lang="en-US" sz="4000" dirty="0"/>
          </a:p>
        </p:txBody>
      </p:sp>
      <p:sp>
        <p:nvSpPr>
          <p:cNvPr id="66" name="Text 64"/>
          <p:cNvSpPr/>
          <p:nvPr/>
        </p:nvSpPr>
        <p:spPr>
          <a:xfrm>
            <a:off x="502920" y="1572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88620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CATALOGUE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635240" y="1572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02920" y="196596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EEF0FB"/>
          </a:solidFill>
          <a:ln w="9525">
            <a:solidFill>
              <a:srgbClr val="C9CFE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0080" y="2039112"/>
            <a:ext cx="1920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NetSuite ERP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D9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pricing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502920" y="352044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EEF0FB"/>
          </a:solidFill>
          <a:ln w="9525">
            <a:solidFill>
              <a:srgbClr val="C9CFE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0080" y="3593592"/>
            <a:ext cx="1920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Threekit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D9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configurator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502920" y="507492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EEF0FB"/>
          </a:solidFill>
          <a:ln w="9525">
            <a:solidFill>
              <a:srgbClr val="C9CFE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0080" y="5148072"/>
            <a:ext cx="1920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Team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D9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updates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3886200" y="1965960"/>
            <a:ext cx="2743200" cy="39776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4A4E6A"/>
            </a:solidFill>
            <a:prstDash val="dash"/>
          </a:ln>
        </p:spPr>
      </p:sp>
      <p:sp>
        <p:nvSpPr>
          <p:cNvPr id="76" name="Text 74"/>
          <p:cNvSpPr/>
          <p:nvPr/>
        </p:nvSpPr>
        <p:spPr>
          <a:xfrm>
            <a:off x="4069080" y="2240280"/>
            <a:ext cx="23774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Commerce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D9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Catalogue</a:t>
            </a:r>
            <a:endParaRPr lang="en-US" sz="1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rules locked inside.</a:t>
            </a:r>
            <a:endParaRPr lang="en-US" sz="1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API.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4434840" y="1801368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1A1D3A"/>
          </a:solidFill>
          <a:ln/>
        </p:spPr>
      </p:sp>
      <p:sp>
        <p:nvSpPr>
          <p:cNvPr id="78" name="Text 76"/>
          <p:cNvSpPr/>
          <p:nvPr/>
        </p:nvSpPr>
        <p:spPr>
          <a:xfrm>
            <a:off x="4434840" y="18013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AS PIM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589520" y="1920240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FDF6E7"/>
          </a:solidFill>
          <a:ln w="11430">
            <a:solidFill>
              <a:srgbClr val="D9770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726680" y="19659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4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Retail Cloud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7589520" y="2743200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EEEFF2"/>
          </a:solidFill>
          <a:ln w="11430">
            <a:solidFill>
              <a:srgbClr val="C9CCD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726680" y="27889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Active Omni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7589520" y="3566160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E6F7F0"/>
          </a:solidFill>
          <a:ln w="11430">
            <a:solidFill>
              <a:srgbClr val="10B98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726680" y="36118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Lovesac.com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7589520" y="4389120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EEEFF2"/>
          </a:solidFill>
          <a:ln w="11430">
            <a:solidFill>
              <a:srgbClr val="C9CCD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726680" y="44348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Shopping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7589520" y="5212080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EEEFF2"/>
          </a:solidFill>
          <a:ln w="11430">
            <a:solidFill>
              <a:srgbClr val="C9CCD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726680" y="5257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AgentForce / ChatGPT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2743200" y="2354580"/>
            <a:ext cx="1097280" cy="91440"/>
          </a:xfrm>
          <a:prstGeom prst="line">
            <a:avLst/>
          </a:prstGeom>
          <a:noFill/>
          <a:ln w="25400">
            <a:solidFill>
              <a:srgbClr val="C8206D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2743200" y="3909060"/>
            <a:ext cx="1097280" cy="0"/>
          </a:xfrm>
          <a:prstGeom prst="line">
            <a:avLst/>
          </a:prstGeom>
          <a:noFill/>
          <a:ln w="25400">
            <a:solidFill>
              <a:srgbClr val="C8206D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2743200" y="5463540"/>
            <a:ext cx="1097280" cy="-91440"/>
          </a:xfrm>
          <a:prstGeom prst="line">
            <a:avLst/>
          </a:prstGeom>
          <a:noFill/>
          <a:ln w="25400">
            <a:solidFill>
              <a:srgbClr val="C8206D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6675120" y="3954780"/>
            <a:ext cx="868680" cy="-1737360"/>
          </a:xfrm>
          <a:prstGeom prst="line">
            <a:avLst/>
          </a:prstGeom>
          <a:noFill/>
          <a:ln w="15875">
            <a:solidFill>
              <a:srgbClr val="B8BCC4"/>
            </a:solidFill>
            <a:prstDash val="dash"/>
            <a:tailEnd type="triangle"/>
          </a:ln>
        </p:spPr>
      </p:sp>
      <p:sp>
        <p:nvSpPr>
          <p:cNvPr id="93" name="Shape 91"/>
          <p:cNvSpPr/>
          <p:nvPr/>
        </p:nvSpPr>
        <p:spPr>
          <a:xfrm>
            <a:off x="6942582" y="2898648"/>
            <a:ext cx="420624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4" name="Text 92"/>
          <p:cNvSpPr/>
          <p:nvPr/>
        </p:nvSpPr>
        <p:spPr>
          <a:xfrm>
            <a:off x="6970014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1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800" dirty="0"/>
          </a:p>
        </p:txBody>
      </p:sp>
      <p:sp>
        <p:nvSpPr>
          <p:cNvPr id="95" name="Shape 93"/>
          <p:cNvSpPr/>
          <p:nvPr/>
        </p:nvSpPr>
        <p:spPr>
          <a:xfrm>
            <a:off x="6675120" y="3954780"/>
            <a:ext cx="868680" cy="-914400"/>
          </a:xfrm>
          <a:prstGeom prst="line">
            <a:avLst/>
          </a:prstGeom>
          <a:noFill/>
          <a:ln w="15875">
            <a:solidFill>
              <a:srgbClr val="B8BCC4"/>
            </a:solidFill>
            <a:prstDash val="dash"/>
            <a:tailEnd type="triangle"/>
          </a:ln>
        </p:spPr>
      </p:sp>
      <p:sp>
        <p:nvSpPr>
          <p:cNvPr id="96" name="Shape 94"/>
          <p:cNvSpPr/>
          <p:nvPr/>
        </p:nvSpPr>
        <p:spPr>
          <a:xfrm>
            <a:off x="6942582" y="3351276"/>
            <a:ext cx="420624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95"/>
          <p:cNvSpPr/>
          <p:nvPr/>
        </p:nvSpPr>
        <p:spPr>
          <a:xfrm>
            <a:off x="6970014" y="32689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1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800" dirty="0"/>
          </a:p>
        </p:txBody>
      </p:sp>
      <p:sp>
        <p:nvSpPr>
          <p:cNvPr id="98" name="Shape 96"/>
          <p:cNvSpPr/>
          <p:nvPr/>
        </p:nvSpPr>
        <p:spPr>
          <a:xfrm>
            <a:off x="6675120" y="3954780"/>
            <a:ext cx="868680" cy="-91440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99" name="Shape 97"/>
          <p:cNvSpPr/>
          <p:nvPr/>
        </p:nvSpPr>
        <p:spPr>
          <a:xfrm>
            <a:off x="6675120" y="3954780"/>
            <a:ext cx="868680" cy="731520"/>
          </a:xfrm>
          <a:prstGeom prst="line">
            <a:avLst/>
          </a:prstGeom>
          <a:noFill/>
          <a:ln w="15875">
            <a:solidFill>
              <a:srgbClr val="B8BCC4"/>
            </a:solidFill>
            <a:prstDash val="dash"/>
            <a:tailEnd type="triangle"/>
          </a:ln>
        </p:spPr>
      </p:sp>
      <p:sp>
        <p:nvSpPr>
          <p:cNvPr id="100" name="Shape 98"/>
          <p:cNvSpPr/>
          <p:nvPr/>
        </p:nvSpPr>
        <p:spPr>
          <a:xfrm>
            <a:off x="6942582" y="4256532"/>
            <a:ext cx="420624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1" name="Text 99"/>
          <p:cNvSpPr/>
          <p:nvPr/>
        </p:nvSpPr>
        <p:spPr>
          <a:xfrm>
            <a:off x="6970014" y="41742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1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800" dirty="0"/>
          </a:p>
        </p:txBody>
      </p:sp>
      <p:sp>
        <p:nvSpPr>
          <p:cNvPr id="102" name="Shape 100"/>
          <p:cNvSpPr/>
          <p:nvPr/>
        </p:nvSpPr>
        <p:spPr>
          <a:xfrm>
            <a:off x="6675120" y="3954780"/>
            <a:ext cx="868680" cy="1554480"/>
          </a:xfrm>
          <a:prstGeom prst="line">
            <a:avLst/>
          </a:prstGeom>
          <a:noFill/>
          <a:ln w="15875">
            <a:solidFill>
              <a:srgbClr val="B8BCC4"/>
            </a:solidFill>
            <a:prstDash val="dash"/>
            <a:tailEnd type="triangle"/>
          </a:ln>
        </p:spPr>
      </p:sp>
      <p:sp>
        <p:nvSpPr>
          <p:cNvPr id="103" name="Shape 101"/>
          <p:cNvSpPr/>
          <p:nvPr/>
        </p:nvSpPr>
        <p:spPr>
          <a:xfrm>
            <a:off x="6942582" y="4709160"/>
            <a:ext cx="420624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Text 102"/>
          <p:cNvSpPr/>
          <p:nvPr/>
        </p:nvSpPr>
        <p:spPr>
          <a:xfrm>
            <a:off x="6970014" y="4626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1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800" dirty="0"/>
          </a:p>
        </p:txBody>
      </p:sp>
      <p:sp>
        <p:nvSpPr>
          <p:cNvPr id="105" name="Shape 103"/>
          <p:cNvSpPr/>
          <p:nvPr/>
        </p:nvSpPr>
        <p:spPr>
          <a:xfrm>
            <a:off x="2743200" y="2263140"/>
            <a:ext cx="0" cy="-635508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06" name="Shape 104"/>
          <p:cNvSpPr/>
          <p:nvPr/>
        </p:nvSpPr>
        <p:spPr>
          <a:xfrm>
            <a:off x="2743200" y="1627632"/>
            <a:ext cx="4782312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525512" y="1627632"/>
            <a:ext cx="0" cy="589788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08" name="Text 106"/>
          <p:cNvSpPr/>
          <p:nvPr/>
        </p:nvSpPr>
        <p:spPr>
          <a:xfrm>
            <a:off x="4206240" y="131673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pricing (direct)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502920" y="5989320"/>
            <a:ext cx="6355080" cy="50292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 w="7620">
            <a:solidFill>
              <a:srgbClr val="D97706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58368" y="6135624"/>
            <a:ext cx="201168" cy="20116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1" name="Text 109"/>
          <p:cNvSpPr/>
          <p:nvPr/>
        </p:nvSpPr>
        <p:spPr>
          <a:xfrm>
            <a:off x="658368" y="61356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300" dirty="0"/>
          </a:p>
        </p:txBody>
      </p:sp>
      <p:sp>
        <p:nvSpPr>
          <p:cNvPr id="112" name="Text 110"/>
          <p:cNvSpPr/>
          <p:nvPr/>
        </p:nvSpPr>
        <p:spPr>
          <a:xfrm>
            <a:off x="960120" y="6035040"/>
            <a:ext cx="5806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A4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is scattered: </a:t>
            </a:r>
            <a:pPr algn="l" indent="0" marL="0">
              <a:buNone/>
            </a:pPr>
            <a:r>
              <a:rPr lang="en-US" sz="1150" dirty="0">
                <a:solidFill>
                  <a:srgbClr val="7A4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Threekit rules reach Lovesac.com but not Retail Cloud — the same product can behave differently in each channel.</a:t>
            </a:r>
            <a:endParaRPr lang="en-US" sz="1150" dirty="0"/>
          </a:p>
        </p:txBody>
      </p:sp>
      <p:sp>
        <p:nvSpPr>
          <p:cNvPr id="113" name="Text 111"/>
          <p:cNvSpPr/>
          <p:nvPr/>
        </p:nvSpPr>
        <p:spPr>
          <a:xfrm>
            <a:off x="10195560" y="1965960"/>
            <a:ext cx="1828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D9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Problem:</a:t>
            </a:r>
            <a:endParaRPr lang="en-US" sz="1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250" i="1" dirty="0">
                <a:solidFill>
                  <a:srgbClr val="2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Compatibility intelligence is locked inside one tool. No downstream channel can query it directly — so agents, search, and retail all fall back to a partial view of the catalogue.</a:t>
            </a:r>
            <a:endParaRPr lang="en-US" sz="1600" dirty="0"/>
          </a:p>
        </p:txBody>
      </p:sp>
      <p:sp>
        <p:nvSpPr>
          <p:cNvPr id="114" name="Text 112"/>
          <p:cNvSpPr/>
          <p:nvPr/>
        </p:nvSpPr>
        <p:spPr>
          <a:xfrm>
            <a:off x="10195560" y="5532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Appendix for detail.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502920" y="64008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Lovesac × Conscia  ·  Project Kick-off  ·  April 15, 2026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7132320" y="5989320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FBFBFC"/>
          </a:solidFill>
          <a:ln w="7620">
            <a:solidFill>
              <a:srgbClr val="E3DEE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269480" y="6163056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8" name="Text 116"/>
          <p:cNvSpPr/>
          <p:nvPr/>
        </p:nvSpPr>
        <p:spPr>
          <a:xfrm>
            <a:off x="7452360" y="606247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A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Flowing</a:t>
            </a:r>
            <a:endParaRPr lang="en-US" sz="1050" dirty="0"/>
          </a:p>
        </p:txBody>
      </p:sp>
      <p:sp>
        <p:nvSpPr>
          <p:cNvPr id="119" name="Shape 117"/>
          <p:cNvSpPr/>
          <p:nvPr/>
        </p:nvSpPr>
        <p:spPr>
          <a:xfrm>
            <a:off x="8321040" y="6163056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20" name="Text 118"/>
          <p:cNvSpPr/>
          <p:nvPr/>
        </p:nvSpPr>
        <p:spPr>
          <a:xfrm>
            <a:off x="8503920" y="606247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A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50" dirty="0"/>
          </a:p>
        </p:txBody>
      </p:sp>
      <p:sp>
        <p:nvSpPr>
          <p:cNvPr id="121" name="Text 119"/>
          <p:cNvSpPr/>
          <p:nvPr/>
        </p:nvSpPr>
        <p:spPr>
          <a:xfrm>
            <a:off x="9281160" y="606247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1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800" dirty="0"/>
          </a:p>
        </p:txBody>
      </p:sp>
      <p:sp>
        <p:nvSpPr>
          <p:cNvPr id="122" name="Text 120"/>
          <p:cNvSpPr/>
          <p:nvPr/>
        </p:nvSpPr>
        <p:spPr>
          <a:xfrm>
            <a:off x="9509760" y="60624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A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(no compatibility data)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Lovesac x Conscia — Problem Statement</dc:title>
  <dc:subject>PptxGenJS Presentation</dc:subject>
  <dc:creator>Conscia</dc:creator>
  <cp:lastModifiedBy>Conscia</cp:lastModifiedBy>
  <cp:revision>1</cp:revision>
  <dcterms:created xsi:type="dcterms:W3CDTF">2026-04-16T11:54:23Z</dcterms:created>
  <dcterms:modified xsi:type="dcterms:W3CDTF">2026-04-16T11:54:23Z</dcterms:modified>
</cp:coreProperties>
</file>